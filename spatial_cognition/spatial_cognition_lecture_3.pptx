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lecture is the implementational level. In the first lecture of this module, we asked what an animal needs to know to reach a place it cannot sense. In the second, we gave procedures that could keep track of heading and position, build a map and use it, in any substrate. In this lecture, we ask how real nervous systems do it. Which cells respond to what, and how are they wired? What happens when they are damaged, and how old is this tissue?</a:t>
            </a:r>
          </a:p>
          <a:p/>
          <a:p>
            <a:r>
              <a:t>We end with the small warm animal from the start of the module, far from its nest. And we end with the conclusion that it did not need a new map so much as an old one, put to harder use.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theme of the second lecture was that the procedures for finding the way are substrate-neutral. A ring attractor, a running sum, and a set of repeating codes could each be built in a robot. The question is what each would look like if a brain had one.</a:t>
            </a:r>
          </a:p>
          <a:p/>
          <a:p>
            <a:r>
              <a:t>Groups usually get further than they expect. A ring attractor for heading predicts cells that each fire for one direction the head points, wherever the animal is, with the whole set covering the circle. A running sum of position predicts cells that fire at one place, and that keep firing there when the landmarks are taken away, at least for a while. Repeating codes predict something stranger: a cell that fires at many places, evenly spaced, and other cells with the same pattern at a different size.</a:t>
            </a:r>
          </a:p>
          <a:p/>
          <a:p>
            <a:r>
              <a:t>All three kinds of cell exist, and finding them is most of this lecture. So is the evidence that they are not quite what the simplest version of each procedure predicts.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**head-direction cell** fires when the animal’s head points in one direction, whatever the animal is doing and wherever it is. Different cells prefer different directions, and together they cover the whole circle. Head-direction cells were found in rats in the 1980s and first described in 1990. They lie along a chain of structures running from the brainstem, through the thalamus, to the cortex beside the hippocampus. Damage low in the chain abolishes the signal in the structures above it.</a:t>
            </a:r>
          </a:p>
          <a:p/>
          <a:p>
            <a:r>
              <a:t>The input that keeps the signal going comes from turning. In Module 8, we described the vestibular system, the organs of balance in the inner ear. Its semicircular canals sense rotation of the head, not where the head points, so a heading has to be added up from turns. When the vestibular organs were destroyed in rats, head-direction cells in the thalamus stopped signaling direction within a day. They kept firing, but not for any one heading, and the direction signal never came back, even though a familiar card on the wall stayed in view. Without the turn signal, there was no heading for a landmark to correct. The rats themselves still moved about and found food.</a:t>
            </a:r>
          </a:p>
          <a:p/>
          <a:p>
            <a:r>
              <a:t>In the dark, the signal keeps going but drifts within minutes, and a familiar landmark pulls it back. When a familiar card on the wall is rotated, every cell’s preferred direction rotates with it, all together. A card takes control of the cells after about 8 minutes in a new room, not after 1, and a card loses control if the animal has seen it move. That is the principle from the second lecture, in cells: a landmark is worth using only if it stays put.</a:t>
            </a:r>
          </a:p>
          <a:p/>
          <a:p>
            <a:r>
              <a:t>So turns update one heading signal, and stable landmarks correct it. That is the behavior of a ring attractor. But in the rat, the cells are not laid out in a circle. The ring is a way of arranging them on paper, by the direction each one prefers, and the cells behave as such a ring would.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fruit fly, the ring can be seen in the tissue. Neurons tile a doughnut-shaped structure in the middle of the fly’s brain, and at any moment the activity among them forms a single bump. As a fly walking on a ball turns, the bump turns with a landmark the fly can see. When the landmark jumps, the bump jumps. In darkness, the bump follows the fly’s turns, drifting slowly, and when the fly stands still, the bump holds still too, sometimes for more than 30 seconds. The researchers called the activity “suggestive of ring attractors”, and the wiring of the fly’s ring has since been traced.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a vertebrate, too, the ring can be seen. In larval zebrafish, the activity among about 50 to 100 inhibitory neurons in the front of the hindbrain forms one patch. The patch slides as the larva swims left or right, holds for tens of seconds when it rests, and tracks its summed turns for minutes, drifting slowly. The larvae were held by the head during recording, with the tail free to swim, and vision made no difference. So the heading is kept from copies of the larva’s own swim commands, the efference copy we described in Module 8.</a:t>
            </a:r>
          </a:p>
          <a:p/>
          <a:p>
            <a:r>
              <a:t>Each neuron’s output crosses the ring to inhibit neurons tuned to the opposite direction. That is a different wiring from the one we described in the second lecture, but it does the same job. Activity at one direction suppresses the directions across from it, so only one patch can be active at a time. This network lies far from the hippocampus. Its wiring has been traced in one larva, it has not been tested by perturbing it, and whether landmarks can set its direction is not yet known.</a:t>
            </a:r>
          </a:p>
          <a:p/>
          <a:p>
            <a:r>
              <a:t>The fly and the fish solve the problem with a similar arrangement. The researchers read this as shared principles of circuit design, not as shared ancestry. We take a heading signal arising separately in insects and vertebrates to be a likely case of convergent evolution.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Module 6, we located the **hippocampus** as an old part of the pallium. In 1971, John O’Keefe, looking for cells involved in memory, recorded from the rat hippocampus and found something else. A **place cell** fires when the animal is in one part of its surroundings, whichever way it is facing. That part of the surroundings is the cell’s **place field**, and together the place cells cover the whole space.</a:t>
            </a:r>
          </a:p>
          <a:p/>
          <a:p>
            <a:r>
              <a:t>Place cells do not simply respond to what the animal senses. Their fields survive the removal of landmarks and changes in the lighting. On a track, they at first fire by the distance run from the start, before landmarks correct them, which is the running sum corrected by landmarks from the second lecture. Walls matter most. When a box is stretched, the fields stretch by about half as much, a compromise between the walls and the distance run. A single small object barely moves them.</a:t>
            </a:r>
          </a:p>
          <a:p/>
          <a:p>
            <a:r>
              <a:t>Place fields also depend on how the animal moves. In rats trained to run one way along a track, fields stretched backward, against the direction of travel. When a barrier was put across a familiar maze, fields near the barrier changed while distant ones did not. The predictive map proposed for the hippocampus reproduces both results, though it does not reproduce the size of fields near a goal. Place cells are found in rats and mice, in bats, in monkeys, and in people. In bats, some fields are up to 32 meters across. In people with electrodes placed in the brain to treat epilepsy, some cells fired at particular places in a virtual town.</a:t>
            </a:r>
          </a:p>
          <a:p/>
          <a:p>
            <a:r>
              <a:t>What is the hippocampus needed for? Rats with damage to the hippocampus still swim to a platform they can see. But they cannot find a hidden one whose position is defined only by the room around the pool. Rats with damage to the striatum, part of the basal ganglia from Module 6, show the reverse. In a plus-shaped maze, rats first learn where the food is, and with more training learn a turn. Silencing the hippocampus with a drug removes the place, and silencing the striatum removes the turn. So rats learn both places and responses, each depending on a different structure. That fits what experiments on behavior had found, as we described in the first lecture: both tendencies are present, and the setting decides which is stronger.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Next to the hippocampus, and feeding it, lies the **entorhinal cortex**. In its medial part, a **grid cell** fires at many places, laid out at the corners of equilateral triangles across the whole floor. Grid cells were found in 2005, in the laboratory of May-Britt and Edvard Moser, who shared the 2014 Nobel Prize with John O’Keefe.</a:t>
            </a:r>
          </a:p>
          <a:p/>
          <a:p>
            <a:r>
              <a:t>A grid is described by its spacing, its orientation, and its offset. Neighboring grid cells share spacing and orientation. Spacing grows from the top of the entorhinal cortex to the bottom, up to about 3 meters, and the growth comes in steps. Within one rat, grid cells fall into a few groups, four or five in the most thoroughly recorded animals. Each group has its own spacing and orientation, and each spacing is about 1.4 times the one before. When a familiar box was made shorter, cells in the larger groups stretched their grids to fit, and cells in the smallest group barely changed. So the groups can respond independently. Grids appear within the first minutes in a new place, and survive the removal of landmarks.</a:t>
            </a:r>
          </a:p>
          <a:p/>
          <a:p>
            <a:r>
              <a:t>The leading hypothesis is that grids are the repeating codes from the second lecture, and that grid cells may keep the running sum of position. There is evidence against a simple version of that hypothesis. Grids stretch when a box is stretched, distort in oddly shaped rooms, and break up when travel is interrupted. And evidence from development, which we come to shortly, counts against grid cells being the only route to place cells.</a:t>
            </a:r>
          </a:p>
          <a:p/>
          <a:p>
            <a:r>
              <a:t>Other cells mark the edges of a space. A **border cell** fires along a wall, and related boundary cells fire when a wall lies at a particular distance and direction from the animal. Touching a wall corrects drift in grid cells, and some entorhinal cells combine head direction, speed, and grid firing, which are the inputs that models of the running sum need.</a:t>
            </a:r>
          </a:p>
          <a:p/>
          <a:p/>
          <a:p>
            <a:r>
              <a:t>In people, brain scans show a sixfold pattern in entorhinal activity during navigation in a virtual space, as expected if many grid cells share an orientation. That is an indirect signal, not a recording of grid cells. But single cells with grid-like firing have also been recorded in people with electrodes placed in the brain to treat epilepsy.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parts of the hippocampus form a loop with the entorhinal cortex. The entorhinal cortex sends its output from its outer layers, and its axons reach the **dentate gyrus** and **CA3**. Each dentate cell sends very large synapses onto only about fourteen CA3 cells. CA3 cells also excite one another, each contacting about 5% of the rest. CA3 sends its output to **CA1**, which the entorhinal cortex also reaches directly. CA1 and a neighboring region, the subiculum, send the result back to the deep layers of the entorhinal cortex.</a:t>
            </a:r>
          </a:p>
          <a:p/>
          <a:p>
            <a:r>
              <a:t>The numbers are lopsided. In the rat, about 200,000 entorhinal cells feed about a million dentate cells; CA3 has about 300,000 cells, and CA1 about 400,000. Dentate cells also fire more sparsely than the rest. So the step from the entorhinal cortex into the dentate gyrus expands the input into many more cells, few of them active at a time. That is the same arrangement as the insect mushroom body from Module 7. There, a small number of input channels fan out onto many more cells, few of them active at a time.</a:t>
            </a:r>
          </a:p>
          <a:p/>
          <a:p>
            <a:r>
              <a:t>Two streams of input arrive. A more spatial one comes through the medial entorhinal cortex, and one about objects and context comes through the lateral entorhinal cortex.</a:t>
            </a:r>
          </a:p>
          <a:p/>
          <a:p>
            <a:r>
              <a:t>This loop is the mammalian form. Reptiles and birds have a hippocampus in the same place, connected to the thalamus, to the septum below it, and to the cortex above it. But its two or three parts are connected back and forth, rather than mostly one way, and no part of it has been agreed to match the dentate gyrus.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Move a rat to a new room, and its place cells reorganize all at once: some fire in new places, and others fall silent. This is **remapping**. One rat kept separate maps for eleven rooms.</a:t>
            </a:r>
          </a:p>
          <a:p/>
          <a:p>
            <a:r>
              <a:t>In Module 7, we described **pattern separation**, making overlapping inputs less alike, so that a later stage can tell them apart. The dentate gyrus is thought to separate places in this way. Dentate cells respond to small changes in the shape of a box that CA3 cells ignore. Damage to the dentate gyrus impairs telling apart places that differ only slightly. And CA3 needs input from the dentate gyrus to keep maps separate, but not to recall a map it already has. Whether the sparse firing of dentate cells is what does the separating is still a model, not a finding.</a:t>
            </a:r>
          </a:p>
          <a:p/>
          <a:p>
            <a:r>
              <a:t>The choice between maps from the second lecture can be seen in place cells. In one experiment, a square box was changed step by step toward a circle. The place cells kept the square’s map for a while, and then switched all at once to the circle’s map. That is how a set of cells with a few stable states would behave. In the other direction, CA3 keeps place fields intact when some landmarks are removed. That is pattern completion, recovering a whole stored pattern from part of it, applied to a place.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Remapping is not only separation. When place cells remap, grid cells and head-direction cells shift together into a new alignment, and silencing input from the entorhinal cortex causes remapping.</a:t>
            </a:r>
          </a:p>
          <a:p/>
          <a:p>
            <a:r>
              <a:t>And remapping keeps something. In rats moved between two boxes with different cues, and in mice moved between a real box and a virtual one, the place cells remapped and the grids shifted. Yet a place cell tended to fire where the same grid cell was active in both rooms. The relation was modest: a correlation of 0.322 across 115 pairs of cells in seven rats, and 0.273 across 64 pairs in four mice. One model had predicted this result. In it, entorhinal cells code layout in the same way in every room, and hippocampal cells tie that code to what is sensed in each room.</a:t>
            </a:r>
          </a:p>
          <a:p/>
          <a:p>
            <a:r>
              <a:t>Only stable landmarks anchor these maps. Cues that a rat has seen move have little control over its place fields. For an animal in a changed room, this is the procedure of choosing a map, carried out by cells.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structure that keeps a map can keep more than places. The hippocampus codes little about objects in themselves, and much about the place and context an object was in. Damage to it spares a sense of familiarity, and impairs learning where objects are. Rats explore a familiar object longer when it turns up in a different familiar setting. Damage to an input of the entorhinal cortex removes that preference, while sparing ordinary recognition. People with damage to the hippocampus have trouble remembering where several objects were in a room. And in one recent study of food-caching chickadees, each hidden seed was marked by activity in its own group of hippocampal cells. The same activity returned when the bird came back for it.</a:t>
            </a:r>
          </a:p>
          <a:p/>
          <a:p>
            <a:r>
              <a:t>There are three views of what the hippocampus is for. On the first, it served first as a map, and memory for what happened where grew out of that. On the second, memory came first, and space is one relation among many. On the third, the same circuit suits both equally. The comparative evidence from fish, reptiles, and birds, which we turn to next, gives the first view its weight. But that evidence is partly a matter of what was tested, since nearly all comparative work has looked at memory for places. We do not choose among the three.</a:t>
            </a:r>
          </a:p>
          <a:p/>
          <a:p>
            <a:r>
              <a:t>The hippocampus is also needed to learn from exploring. A rat given a shock moments after entering a box learns little fear of the box. A rat that explored the box first learns a lot, and silencing its hippocampus during the exploration removes that head start. That is the latent-learning finding from Module 5, now located in tissue.</a:t>
            </a:r>
          </a:p>
          <a:p/>
          <a:p>
            <a:r>
              <a:t>Novelty also releases dopamine in the hippocampus, from two sources. One is the *ventral tegmental area*, a source of dopamine in the midbrain. The other is the *locus coeruleus*, the main source of norepinephrine, whose axons release dopamine as well. Neurons in both become more active when an animal encounters something new. In mice, stimulating either input while the animal learns a new maze makes its new place map steadier. And silencing the locus coeruleus input to CA3 blocks the memory of a new setting. These results concern maps and memory, not whether the animal explores. How the brain detects that a place is new is less settled, and why the hippocampus has two dopamine inputs is not known. Dopamine neurons in monkeys are also reported to respond to the chance of early information and to novelty, which extends the prediction error from Module 5.</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first lecture, we dated spatial abilities by comparing living animals. When distantly related species share a capacity, homology is the simplest reading, and the more distant the species, the older the capacity. The same reasoning applies to tissue. If damage to a corresponding region does the same thing in very distant animals, the region and its job are very probably inherited from a common ancestor.</a:t>
            </a:r>
          </a:p>
          <a:p/>
          <a:p>
            <a:r>
              <a:t>The same split between place and cue that we saw in rats appears in animals far from mammals. Goldfish trained in a maze chose the rewarded place about 85% of the time. After damage to one region of the forebrain, they fell to about 60–65%, and from new starting points to about chance. Yet they learned a goal marked by a visible cue as well as before. In a grid of feeders, damaged fish did as well as intact ones until the cues near the goal were removed. So they had been steering to a nearby cue.</a:t>
            </a:r>
          </a:p>
          <a:p/>
          <a:p>
            <a:r>
              <a:t>Turtles with damage to the corresponding region chose the rewarded place about 32% of the time, against 74% for intact turtles, and still learned a marked goal. With more training they relearned the place, but only while they could see the part of the room behind the goal, as if matching a snapshot. Birds show the same split: chickadees and zebra finches with damage to the hippocampus cannot find a place by its position, but can when a color marks it. In lizards, the one lesion study is unclear.</a:t>
            </a:r>
          </a:p>
          <a:p/>
          <a:p>
            <a:r>
              <a:t>In each case, damage removes the place strategy and spares cue-following, as in rats. That is evidence that these regions are homologs, inherited from a common ancestor, doing the same job.</a:t>
            </a:r>
          </a:p>
          <a:p/>
          <a:p/>
          <a:p>
            <a:r>
              <a:t>In goldfish, though, the region sits on the side of the forebrain, not at its inner edge. In ray-finned fish, the forebrain develops by folding outward instead of inward, which moves the counterpart of the hippocampus to the lateral part of the pallium.</a:t>
            </a:r>
          </a:p>
          <a:p/>
          <a:p>
            <a:r>
              <a:t>Caching birds show the same link between place and hippocampus. Chickadees with damage to the hippocampus hide food normally but rarely find it again. Nutcrackers with damage find seeds hidden 15 minutes earlier, but not ones hidden hours earlier. Families of birds that store food have a larger hippocampus for the size of their forebrain. A correlation cannot by itself tell cause from consequence, but young tits allowed to store seeds grow a larger hippocampus than young tits that are not.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cells match the lesions, with differences. In freely swimming goldfish, some cells in the lateral pallium fire by head direction, 31 of 132 cells. Others fire near the walls of the tank, whichever wall it is, 11 of 132, or with swimming speed, 43 of 132. None had a place field or a grid. In quails, about one hippocampal cell in eight is a head-direction cell, more broadly tuned than a rat’s. In tufted titmice, food-storing songbirds, most excitatory hippocampal cells are place cells, much as in rats. Zebra finches, which do not store food, have fewer, 48 of 179 cells against 321 of 538 in titmice. The researchers offer the link to storing food only as speculation.</a:t>
            </a:r>
          </a:p>
          <a:p/>
          <a:p>
            <a:r>
              <a:t>A 2017 review found no spatial cells reported in reptiles, which is an absence of evidence rather than evidence of absence. Grid cells have so far been found only in mammals: rats, mice, bats, monkeys, and people. So place cells are not new in mammals.</a:t>
            </a:r>
          </a:p>
          <a:p/>
          <a:p>
            <a:r>
              <a:t>What is new in the mammalian version? As far as the evidence goes, mammals have a dentate gyrus, with no agreed counterpart in reptiles or birds. The mammalian hippocampus has more parts, several with more than one layer of cells, and signals pass through them mostly one way. Beside them lies an entorhinal cortex, with its grid system. And the mammalian hippocampus has stronger ties to the neocortex and weaker ones to the septum below it. Nocturnal mammals also have larger smell structures.</a:t>
            </a:r>
          </a:p>
          <a:p/>
          <a:p>
            <a:r>
              <a:t>The region is agreed to be the same region across these animals, but which part matches which is argued. One reviewer suggests that memory for many places arose partly in parallel in birds and in mammals.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spatial cells appear in rat pups in a particular order. Head-direction cells are adultlike at about two weeks old, around the time the eyes open, and they act together as one ring even before single cells settle. Place cells are present at 16 to 17 days, but are the slowest to mature, into the sixth week. Border cells are present by about 17 days. Grid cells appear last, at about 20 to 21 days, and mature almost at once.</a:t>
            </a:r>
          </a:p>
          <a:p/>
          <a:p>
            <a:r>
              <a:t>Pups find their way home by path integration, and their place cells track distance traveled, before grid cells appear. That counts against grid cells being the only route to place cells.</a:t>
            </a:r>
          </a:p>
          <a:p/>
          <a:p>
            <a:r>
              <a:t>A map can also change in adulthood. London taxi drivers train for three to four years to learn the city’s streets. One research team followed 79 men through that training. The 39 who qualified gained gray matter in the back part of the hippocampus; those who failed, and a control group, did not. The qualifiers also got worse at recalling a complex drawing. The researchers followed the same people over time, which is a strength, but the trainees were not randomly assigned to train. The qualifiers also trained more hours a week, and a predisposition cannot be ruled out.</a:t>
            </a:r>
          </a:p>
          <a:p/>
          <a:p/>
          <a:p>
            <a:r>
              <a:t>Navigation also changes in later life. In aging, path integration is particularly vulnerable, and strategies that use a map decline more than those that use the body’s own frame.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the beginning of this module, a small warm animal was out of sight, smell, and hearing of its nest, with daylight coming. We can now say what it needed to get home.</a:t>
            </a:r>
          </a:p>
          <a:p/>
          <a:p>
            <a:r>
              <a:t>The problem was older than the animal. To reach a place it cannot sense, an animal has to know which place is worth going to, where it is, where that place is, and which way to go. Six kinds of knowledge can supply the last three. Only the highest, knowing where places lie relative to one another, lets an animal take a route it has never taken. Animals rarely rely on one source alone. They combine their own movement, kept as a running sum, with landmarks, familiar routes, and the shape of their surroundings, and each source corrects errors in the others. And knowing where places lie has to be learned before it can be used, which means exploring. Exploring gives up a known meal for information that may never be needed. No best answer to that trade-off can be computed in a realistic world. Animals also seek information that no reward depends on.</a:t>
            </a:r>
          </a:p>
          <a:p/>
          <a:p>
            <a:r>
              <a:t>The tissue that does this work is old too. A goldfish, a turtle, a bird, and a rat are all impaired at finding a place by its position when a corresponding region of the forebrain is damaged. All four can still find a goal marked by a cue. That region is the same region in each line, inherited from a common ancestor, and reworked in each. In a goldfish, it sits on the side of the forebrain, and its cells respond to heading, to walls, and to swimming speed. In a rat, it is a hippocampus with a dentate gyrus, and a grid system beside it. One reviewer’s summary is that across reptiles, birds, and mammals, what the hippocampus does has changed much less than how it is built. Caching birds keep thousands of hiding places apart without a dentate gyrus, the part thought to keep similar places apart in mammals. How they do it is not yet known.</a:t>
            </a:r>
          </a:p>
          <a:p/>
          <a:p>
            <a:r>
              <a:t>In Module 6, we described the same pattern for the vertebrate brain as a whole. The demands on an animal barely changed over half a billion years, while the structures that met them were rebuilt several times. Finding the way is one more case. The early mammal did not need a new map. It needed an old one, put to harder use by a warm body that needed more food.</a:t>
            </a:r>
          </a:p>
          <a:p/>
          <a:p>
            <a:r>
              <a:t>A structure that keeps a map also records which thing was where. Remembering what happened, and imagining what has not, are the subject of Module 10.</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question applies the taxi study, and its limits, to something nearly everyone does.</a:t>
            </a:r>
          </a:p>
          <a:p/>
          <a:p>
            <a:r>
              <a:t>A prediction follows if the taxi result reflects training. Learning a city’s layout, the survey knowledge from the second lecture, went with more gray matter in the back of the hippocampus. Following turn-by-turn directions asks for much less of that kind of learning. So one prediction is less growth, or less use, of the hippocampus in people who rely on directions. But that is a prediction, not a finding, and the taxi study itself shows why it would be hard to establish.</a:t>
            </a:r>
          </a:p>
          <a:p/>
          <a:p>
            <a:r>
              <a:t>The researchers followed the same people over time, which is better than comparing drivers with non-drivers at one moment. But people were not randomly assigned to train, the qualifiers trained more hours a week, and a predisposition cannot be ruled out. A study of phone navigation would face the same problem in a sharper form. People who already find their way well may be the ones who choose not to use a phone. Groups usually arrive at the design that would settle it: randomly assigning people to navigate with or without directions for months. Then they notice how hard that would be to run.</a:t>
            </a:r>
          </a:p>
          <a:p/>
          <a:p>
            <a:r>
              <a:t>It is also worth asking what such a person would lose, if anything. From the lesion results in this lecture, a rat with damage to the hippocampus can still swim to a platform it can see. Following a visible cue, or a voice that says when to turn, would not be expected to need the structure needed to find a hidden place.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name="title">
    <p:bg>
      <p:bgPr>
        <a:solidFill>
          <a:srgbClr val="FE552E"/>
        </a:solidFill>
        <a:effectLst/>
      </p:bgPr>
    </p:bg>
    <p:spTree>
      <p:nvGrpSpPr>
        <p:cNvPr id="1" name=""/>
        <p:cNvGrpSpPr/>
        <p:nvPr/>
      </p:nvGrpSpPr>
      <p:grpSpPr/>
      <p:cxnSp>
        <p:nvCxnSpPr>
          <p:cNvPr id="2" name="title_graph_edge"/>
          <p:cNvCxnSpPr/>
          <p:nvPr/>
        </p:nvCxnSpPr>
        <p:spPr>
          <a:xfrm>
            <a:off x="1113091" y="2121504"/>
            <a:ext cx="635889" cy="1179383"/>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3" name="title_graph_edge"/>
          <p:cNvCxnSpPr/>
          <p:nvPr/>
        </p:nvCxnSpPr>
        <p:spPr>
          <a:xfrm>
            <a:off x="896112" y="2176272"/>
            <a:ext cx="0" cy="1143000"/>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4" name="title_graph_edge"/>
          <p:cNvCxnSpPr/>
          <p:nvPr/>
        </p:nvCxnSpPr>
        <p:spPr>
          <a:xfrm>
            <a:off x="2199336" y="4096470"/>
            <a:ext cx="721967" cy="1216235"/>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5" name="title_graph_edge"/>
          <p:cNvCxnSpPr/>
          <p:nvPr/>
        </p:nvCxnSpPr>
        <p:spPr>
          <a:xfrm>
            <a:off x="1965960" y="4160520"/>
            <a:ext cx="0" cy="1088136"/>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cxnSp>
        <p:nvCxnSpPr>
          <p:cNvPr id="6" name="title_graph_edge"/>
          <p:cNvCxnSpPr/>
          <p:nvPr/>
        </p:nvCxnSpPr>
        <p:spPr>
          <a:xfrm>
            <a:off x="896112" y="4233672"/>
            <a:ext cx="0" cy="1014984"/>
          </a:xfrm>
          <a:prstGeom prst="line">
            <a:avLst/>
          </a:prstGeom>
          <a:ln w="28575">
            <a:solidFill>
              <a:srgbClr val="FFFFFF"/>
            </a:solidFill>
            <a:tailEnd type="triangle"/>
          </a:ln>
          <a:effectLst/>
        </p:spPr>
        <p:style>
          <a:lnRef idx="2">
            <a:schemeClr val="accent1"/>
          </a:lnRef>
          <a:fillRef idx="0">
            <a:schemeClr val="accent1"/>
          </a:fillRef>
          <a:effectRef idx="0">
            <a:schemeClr val="accent1"/>
          </a:effectRef>
          <a:fontRef idx="minor">
            <a:schemeClr val="tx1"/>
          </a:fontRef>
        </p:style>
      </p:cxnSp>
      <p:sp>
        <p:nvSpPr>
          <p:cNvPr id="7" name="title_graph_node0"/>
          <p:cNvSpPr/>
          <p:nvPr/>
        </p:nvSpPr>
        <p:spPr>
          <a:xfrm>
            <a:off x="438912" y="1261872"/>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itle_graph_node1"/>
          <p:cNvSpPr/>
          <p:nvPr/>
        </p:nvSpPr>
        <p:spPr>
          <a:xfrm>
            <a:off x="1508760" y="3246120"/>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itle_graph_node2"/>
          <p:cNvSpPr/>
          <p:nvPr/>
        </p:nvSpPr>
        <p:spPr>
          <a:xfrm>
            <a:off x="438912" y="3319272"/>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itle_graph_node3"/>
          <p:cNvSpPr/>
          <p:nvPr/>
        </p:nvSpPr>
        <p:spPr>
          <a:xfrm>
            <a:off x="438912"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itle_graph_node4"/>
          <p:cNvSpPr/>
          <p:nvPr/>
        </p:nvSpPr>
        <p:spPr>
          <a:xfrm>
            <a:off x="1508760"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itle_graph_node5"/>
          <p:cNvSpPr/>
          <p:nvPr/>
        </p:nvSpPr>
        <p:spPr>
          <a:xfrm>
            <a:off x="2697480" y="5248656"/>
            <a:ext cx="914400" cy="914400"/>
          </a:xfrm>
          <a:prstGeom prst="ellipse">
            <a:avLst/>
          </a:prstGeom>
          <a:solidFill>
            <a:srgbClr val="FF552E"/>
          </a:solidFill>
          <a:ln w="15875">
            <a:solidFill>
              <a:srgbClr val="FFFFFF"/>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13" name="title_logo" descr="University of Illinois Urbana-Champaign wordmark"/>
          <p:cNvPicPr>
            <a:picLocks noChangeAspect="1"/>
          </p:cNvPicPr>
          <p:nvPr/>
        </p:nvPicPr>
        <p:blipFill>
          <a:blip r:embed="rId2"/>
          <a:stretch>
            <a:fillRect/>
          </a:stretch>
        </p:blipFill>
        <p:spPr>
          <a:xfrm>
            <a:off x="4535424" y="5715000"/>
            <a:ext cx="3118104" cy="804672"/>
          </a:xfrm>
          <a:prstGeom prst="rect">
            <a:avLst/>
          </a:prstGeom>
        </p:spPr>
      </p:pic>
      <p:sp>
        <p:nvSpPr>
          <p:cNvPr id="14" name="title_headline"/>
          <p:cNvSpPr txBox="1"/>
          <p:nvPr/>
        </p:nvSpPr>
        <p:spPr>
          <a:xfrm>
            <a:off x="3703320" y="777240"/>
            <a:ext cx="5934456" cy="2724912"/>
          </a:xfrm>
          <a:prstGeom prst="rect">
            <a:avLst/>
          </a:prstGeom>
          <a:noFill/>
        </p:spPr>
        <p:txBody>
          <a:bodyPr wrap="square" anchor="b">
            <a:spAutoFit/>
          </a:bodyPr>
          <a:lstStyle/>
          <a:p>
            <a:pPr algn="ctr"/>
            <a:r>
              <a:rPr sz="9000" b="0" i="0">
                <a:solidFill>
                  <a:srgbClr val="FFFFFF"/>
                </a:solidFill>
                <a:latin typeface="Calibri"/>
              </a:rPr>
              <a:t>BCOG 100</a:t>
            </a:r>
          </a:p>
        </p:txBody>
      </p:sp>
      <p:sp>
        <p:nvSpPr>
          <p:cNvPr id="15" name="title_subtitle"/>
          <p:cNvSpPr txBox="1"/>
          <p:nvPr/>
        </p:nvSpPr>
        <p:spPr>
          <a:xfrm>
            <a:off x="3017520" y="3474720"/>
            <a:ext cx="7406640" cy="1655064"/>
          </a:xfrm>
          <a:prstGeom prst="rect">
            <a:avLst/>
          </a:prstGeom>
          <a:noFill/>
        </p:spPr>
        <p:txBody>
          <a:bodyPr wrap="square" anchor="t">
            <a:spAutoFit/>
          </a:bodyPr>
          <a:lstStyle/>
          <a:p>
            <a:pPr algn="ctr"/>
            <a:r>
              <a:rPr sz="2000" b="0" i="0">
                <a:solidFill>
                  <a:srgbClr val="FFFFFF"/>
                </a:solidFill>
                <a:latin typeface="Calibri"/>
              </a:rPr>
              <a:t>Spatial Cognition</a:t>
            </a:r>
          </a:p>
          <a:p>
            <a:pPr algn="ctr"/>
            <a:r>
              <a:rPr sz="2000" b="0" i="0">
                <a:solidFill>
                  <a:srgbClr val="FFFFFF"/>
                </a:solidFill>
                <a:latin typeface="Calibri"/>
              </a:rPr>
              <a:t>Lecture 9.3 — The Hippocampus and Its Neighbors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name="discussion_what_to_look_for">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To Start: What Would You Look For?</a:t>
            </a:r>
          </a:p>
        </p:txBody>
      </p:sp>
      <p:sp>
        <p:nvSpPr>
          <p:cNvPr id="3" name="body_box"/>
          <p:cNvSpPr txBox="1"/>
          <p:nvPr/>
        </p:nvSpPr>
        <p:spPr>
          <a:xfrm>
            <a:off x="822960" y="1463040"/>
            <a:ext cx="10515600" cy="4206240"/>
          </a:xfrm>
          <a:prstGeom prst="rect">
            <a:avLst/>
          </a:prstGeom>
          <a:noFill/>
        </p:spPr>
        <p:txBody>
          <a:bodyPr wrap="square">
            <a:spAutoFit/>
          </a:bodyPr>
          <a:lstStyle/>
          <a:p>
            <a:pPr>
              <a:spcAft>
                <a:spcPts val="2400"/>
              </a:spcAft>
            </a:pPr>
            <a:r>
              <a:rPr sz="2000" b="1" i="0">
                <a:solidFill>
                  <a:srgbClr val="222222"/>
                </a:solidFill>
                <a:latin typeface="Calibri"/>
              </a:rPr>
              <a:t>In your group, three minutes.</a:t>
            </a:r>
          </a:p>
          <a:p>
            <a:pPr>
              <a:defRPr sz="1000"/>
            </a:pPr>
          </a:p>
          <a:p>
            <a:pPr>
              <a:spcAft>
                <a:spcPts val="2400"/>
              </a:spcAft>
            </a:pPr>
            <a:r>
              <a:rPr sz="2000" b="0" i="0">
                <a:solidFill>
                  <a:srgbClr val="222222"/>
                </a:solidFill>
                <a:latin typeface="Calibri"/>
              </a:rPr>
              <a:t>Every procedure in the second lecture could run in any substrate. Pick one: a ring attractor for heading, a running sum of position, or repeating codes for where the animal is.</a:t>
            </a:r>
          </a:p>
          <a:p>
            <a:pPr>
              <a:defRPr sz="1000"/>
            </a:pPr>
          </a:p>
          <a:p>
            <a:pPr>
              <a:spcAft>
                <a:spcPts val="2400"/>
              </a:spcAft>
            </a:pPr>
            <a:r>
              <a:rPr sz="2000" b="0" i="0">
                <a:solidFill>
                  <a:srgbClr val="222222"/>
                </a:solidFill>
                <a:latin typeface="Calibri"/>
              </a:rPr>
              <a:t>If a brain ran it, what would one cell’s firing look like as an animal moved around a room?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name="a_compass_in_the_brain">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A Compass in the Brain</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A </a:t>
            </a:r>
            <a:r>
              <a:rPr sz="2000" b="1" i="0">
                <a:solidFill>
                  <a:srgbClr val="222222"/>
                </a:solidFill>
                <a:latin typeface="Calibri"/>
              </a:rPr>
              <a:t>head-direction cell</a:t>
            </a:r>
            <a:r>
              <a:rPr sz="2000" b="0" i="0">
                <a:solidFill>
                  <a:srgbClr val="222222"/>
                </a:solidFill>
                <a:latin typeface="Calibri"/>
              </a:rPr>
              <a:t> fires when the animal’s head points in one direction, whatever it is doing and wherever it is. Turns keep the signal going; stable landmarks correct it.</a:t>
            </a:r>
          </a:p>
        </p:txBody>
      </p:sp>
      <p:pic>
        <p:nvPicPr>
          <p:cNvPr id="4" name="img0" descr="Left, a panel headed three head-direction cells: three polar plots, each a circle with one lobe pointing in a different direction, north-east, south, and west, labeled cell 1, cell 2, and cell 3; beneath, together they cover the whole circle. Middle, a panel headed rotate the card: two square rooms seen from above. In the first, a white card is on the north wall and cell 1's lobe points north-east. In the second, the card has been moved 90 degrees to the east wall, and the lobe has rotated 90 degrees with it. Beneath: every cell's preferred direction rotates with the card, all together. Right, a panel headed without the turn signal: a polar plot with no lobe, a ragged ring of even firing, labeled vestibular organs destroyed; cells keep firing, but not for any one heading, even with a familiar card in view."/>
          <p:cNvPicPr>
            <a:picLocks noChangeAspect="1"/>
          </p:cNvPicPr>
          <p:nvPr/>
        </p:nvPicPr>
        <p:blipFill>
          <a:blip r:embed="rId2"/>
          <a:stretch>
            <a:fillRect/>
          </a:stretch>
        </p:blipFill>
        <p:spPr>
          <a:xfrm>
            <a:off x="100584" y="1783080"/>
            <a:ext cx="11988165" cy="4872332"/>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name="rings_you_can_see__1">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Rings Seen in Tissue</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In the fruit fly and the larval zebrafish, the ring attractor described in the second lecture can be seen in the tissue. One bump of activity turns as the animal turns.</a:t>
            </a:r>
          </a:p>
        </p:txBody>
      </p:sp>
      <p:pic>
        <p:nvPicPr>
          <p:cNvPr id="4" name="img0" descr="Left: a small fly tethered above a floating ball, facing a curved screen with a vertical stripe. Right: three rows, each showing a ring drawn as a doughnut with one bright patch. Row one, labeled stripe: as the fly turns, the patch moves around the ring by the same angle. Row two, labeled stripe jumps: the stripe is moved suddenly and the patch jumps to a new position. Row three, labeled darkness: the stripe is gone, and the patch still moves with the fly's turns, with a small arrow showing slow drift."/>
          <p:cNvPicPr>
            <a:picLocks noChangeAspect="1"/>
          </p:cNvPicPr>
          <p:nvPr/>
        </p:nvPicPr>
        <p:blipFill>
          <a:blip r:embed="rId2"/>
          <a:stretch>
            <a:fillRect/>
          </a:stretch>
        </p:blipFill>
        <p:spPr>
          <a:xfrm>
            <a:off x="1261872" y="1783080"/>
            <a:ext cx="9671304" cy="4937455"/>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name="rings_you_can_see__2">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Rings Seen in Tissue</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In the fruit fly and the larval zebrafish, the ring attractor described in the second lecture can be seen in the tissue. One bump of activity turns as the animal turns.</a:t>
            </a:r>
          </a:p>
        </p:txBody>
      </p:sp>
      <p:pic>
        <p:nvPicPr>
          <p:cNvPr id="4" name="img1" descr="A circle of small cell bodies, each labeled with an arrow showing its preferred direction. From one cell, a line crosses the middle of the circle and ends with a flat bar on the cell opposite it, marking inhibition. Two more such crossing lines are drawn from other cells. A small sketch of a larval fish at the side marks where in the hindbrain the ring lies."/>
          <p:cNvPicPr>
            <a:picLocks noChangeAspect="1"/>
          </p:cNvPicPr>
          <p:nvPr/>
        </p:nvPicPr>
        <p:blipFill>
          <a:blip r:embed="rId2"/>
          <a:stretch>
            <a:fillRect/>
          </a:stretch>
        </p:blipFill>
        <p:spPr>
          <a:xfrm>
            <a:off x="1453896" y="1783080"/>
            <a:ext cx="9289084" cy="4937881"/>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name="place_cells">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Place Cells, and What Happens Without Them</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A </a:t>
            </a:r>
            <a:r>
              <a:rPr sz="2000" b="1" i="0">
                <a:solidFill>
                  <a:srgbClr val="222222"/>
                </a:solidFill>
                <a:latin typeface="Calibri"/>
              </a:rPr>
              <a:t>place cell</a:t>
            </a:r>
            <a:r>
              <a:rPr sz="2000" b="0" i="0">
                <a:solidFill>
                  <a:srgbClr val="222222"/>
                </a:solidFill>
                <a:latin typeface="Calibri"/>
              </a:rPr>
              <a:t> in the hippocampus fires when the animal is in one part of its surroundings, its </a:t>
            </a:r>
            <a:r>
              <a:rPr sz="2000" b="1" i="0">
                <a:solidFill>
                  <a:srgbClr val="222222"/>
                </a:solidFill>
                <a:latin typeface="Calibri"/>
              </a:rPr>
              <a:t>place field</a:t>
            </a:r>
            <a:r>
              <a:rPr sz="2000" b="0" i="0">
                <a:solidFill>
                  <a:srgbClr val="222222"/>
                </a:solidFill>
                <a:latin typeface="Calibri"/>
              </a:rPr>
              <a:t>, whichever way it faces. Place learning depends on the hippocampus; response learning, on the striatum.</a:t>
            </a:r>
          </a:p>
        </p:txBody>
      </p:sp>
      <p:pic>
        <p:nvPicPr>
          <p:cNvPr id="4" name="img0" descr="Four panels in a row. Panel one, labeled head-direction cell: a circular polar plot with one lobe pointing up and to the right. Panels two to four each show a square box from above, shaded where the cell fires. Panel two, labeled place cell: one bright patch near one corner. Panel three, labeled grid cell: many evenly spaced bright patches at the corners of equilateral triangles covering the whole floor. Panel four, labeled border cell: a bright band along one wall."/>
          <p:cNvPicPr>
            <a:picLocks noChangeAspect="1"/>
          </p:cNvPicPr>
          <p:nvPr/>
        </p:nvPicPr>
        <p:blipFill>
          <a:blip r:embed="rId2"/>
          <a:stretch>
            <a:fillRect/>
          </a:stretch>
        </p:blipFill>
        <p:spPr>
          <a:xfrm>
            <a:off x="192024" y="1783080"/>
            <a:ext cx="11799570" cy="4937188"/>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name="grid_and_border_cells">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Grid Cells and Border Cells</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In the </a:t>
            </a:r>
            <a:r>
              <a:rPr sz="2000" b="1" i="0">
                <a:solidFill>
                  <a:srgbClr val="222222"/>
                </a:solidFill>
                <a:latin typeface="Calibri"/>
              </a:rPr>
              <a:t>entorhinal cortex</a:t>
            </a:r>
            <a:r>
              <a:rPr sz="2000" b="0" i="0">
                <a:solidFill>
                  <a:srgbClr val="222222"/>
                </a:solidFill>
                <a:latin typeface="Calibri"/>
              </a:rPr>
              <a:t>, beside the hippocampus and feeding it, a </a:t>
            </a:r>
            <a:r>
              <a:rPr sz="2000" b="1" i="0">
                <a:solidFill>
                  <a:srgbClr val="222222"/>
                </a:solidFill>
                <a:latin typeface="Calibri"/>
              </a:rPr>
              <a:t>grid cell</a:t>
            </a:r>
            <a:r>
              <a:rPr sz="2000" b="0" i="0">
                <a:solidFill>
                  <a:srgbClr val="222222"/>
                </a:solidFill>
                <a:latin typeface="Calibri"/>
              </a:rPr>
              <a:t> fires at many places, at the corners of equilateral triangles. A </a:t>
            </a:r>
            <a:r>
              <a:rPr sz="2000" b="1" i="0">
                <a:solidFill>
                  <a:srgbClr val="222222"/>
                </a:solidFill>
                <a:latin typeface="Calibri"/>
              </a:rPr>
              <a:t>border cell</a:t>
            </a:r>
            <a:r>
              <a:rPr sz="2000" b="0" i="0">
                <a:solidFill>
                  <a:srgbClr val="222222"/>
                </a:solidFill>
                <a:latin typeface="Calibri"/>
              </a:rPr>
              <a:t> fires along a wall.</a:t>
            </a:r>
          </a:p>
        </p:txBody>
      </p:sp>
      <p:pic>
        <p:nvPicPr>
          <p:cNvPr id="4" name="img0" descr="Left, three square boxes seen from above, each with a triangular lattice of firing fields. The first, labeled group 1, smallest spacing, has many small, closely spaced fields; the second, labeled group 2, about 1.4 times wider spacing, has fewer and larger fields at a slightly different orientation; the third, labeled group 3, about 1.4 times wider again, has fewer still. An arrow beside them reads spacing grows in steps, from the top of the entorhinal cortex to the bottom. Right, a fourth box labeled border cell, with a bright band of firing along one wall. Beneath all four: grids appear within minutes in a new place and survive the removal of landmarks; touching a wall corrects their drift."/>
          <p:cNvPicPr>
            <a:picLocks noChangeAspect="1"/>
          </p:cNvPicPr>
          <p:nvPr/>
        </p:nvPicPr>
        <p:blipFill>
          <a:blip r:embed="rId2"/>
          <a:stretch>
            <a:fillRect/>
          </a:stretch>
        </p:blipFill>
        <p:spPr>
          <a:xfrm>
            <a:off x="100584" y="1783080"/>
            <a:ext cx="11988165" cy="487233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name="the_circuit">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The Circuit</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The </a:t>
            </a:r>
            <a:r>
              <a:rPr sz="2000" b="1" i="0">
                <a:solidFill>
                  <a:srgbClr val="222222"/>
                </a:solidFill>
                <a:latin typeface="Calibri"/>
              </a:rPr>
              <a:t>dentate gyrus</a:t>
            </a:r>
            <a:r>
              <a:rPr sz="2000" b="0" i="0">
                <a:solidFill>
                  <a:srgbClr val="222222"/>
                </a:solidFill>
                <a:latin typeface="Calibri"/>
              </a:rPr>
              <a:t> spreads entorhinal input across many more cells, few active at a time, and passes it to </a:t>
            </a:r>
            <a:r>
              <a:rPr sz="2000" b="1" i="0">
                <a:solidFill>
                  <a:srgbClr val="222222"/>
                </a:solidFill>
                <a:latin typeface="Calibri"/>
              </a:rPr>
              <a:t>CA3</a:t>
            </a:r>
            <a:r>
              <a:rPr sz="2000" b="0" i="0">
                <a:solidFill>
                  <a:srgbClr val="222222"/>
                </a:solidFill>
                <a:latin typeface="Calibri"/>
              </a:rPr>
              <a:t>, whose cells excite one another. </a:t>
            </a:r>
            <a:r>
              <a:rPr sz="2000" b="1" i="0">
                <a:solidFill>
                  <a:srgbClr val="222222"/>
                </a:solidFill>
                <a:latin typeface="Calibri"/>
              </a:rPr>
              <a:t>CA1</a:t>
            </a:r>
            <a:r>
              <a:rPr sz="2000" b="0" i="0">
                <a:solidFill>
                  <a:srgbClr val="222222"/>
                </a:solidFill>
                <a:latin typeface="Calibri"/>
              </a:rPr>
              <a:t> receives CA3’s output and sends the result back to the entorhinal cortex.</a:t>
            </a:r>
          </a:p>
        </p:txBody>
      </p:sp>
      <p:pic>
        <p:nvPicPr>
          <p:cNvPr id="4" name="img0" descr="Four boxes arranged in a loop, sized by cell number: entorhinal cortex, about 200 thousand cells; dentate gyrus, about one million and the largest box; CA3, about 300 thousand; CA1, about 400 thousand. Arrows run from the entorhinal cortex to the dentate gyrus and to CA3, from the dentate gyrus to CA3, from CA3 to CA1, and from CA1 back to the entorhinal cortex. Thinner arrows show the entorhinal cortex also reaching CA1 directly, and a looping arrow on CA3 shows its cells exciting one another. Two arrows entering the entorhinal box from the left are labeled medial, spatial, and lateral, objects and context."/>
          <p:cNvPicPr>
            <a:picLocks noChangeAspect="1"/>
          </p:cNvPicPr>
          <p:nvPr/>
        </p:nvPicPr>
        <p:blipFill>
          <a:blip r:embed="rId2"/>
          <a:stretch>
            <a:fillRect/>
          </a:stretch>
        </p:blipFill>
        <p:spPr>
          <a:xfrm>
            <a:off x="475488" y="1783080"/>
            <a:ext cx="11234927" cy="4937455"/>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name="many_maps__1">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Many Maps from One Set of Cells</a:t>
            </a:r>
          </a:p>
        </p:txBody>
      </p:sp>
      <p:sp>
        <p:nvSpPr>
          <p:cNvPr id="3" name="body_box"/>
          <p:cNvSpPr txBox="1"/>
          <p:nvPr/>
        </p:nvSpPr>
        <p:spPr>
          <a:xfrm>
            <a:off x="109728" y="932688"/>
            <a:ext cx="11987784" cy="694944"/>
          </a:xfrm>
          <a:prstGeom prst="rect">
            <a:avLst/>
          </a:prstGeom>
          <a:noFill/>
        </p:spPr>
        <p:txBody>
          <a:bodyPr wrap="square">
            <a:spAutoFit/>
          </a:bodyPr>
          <a:lstStyle/>
          <a:p>
            <a:r>
              <a:rPr sz="2000" b="1" i="0">
                <a:solidFill>
                  <a:srgbClr val="222222"/>
                </a:solidFill>
                <a:latin typeface="Calibri"/>
              </a:rPr>
              <a:t>Remapping</a:t>
            </a:r>
            <a:r>
              <a:rPr sz="2000" b="0" i="0">
                <a:solidFill>
                  <a:srgbClr val="222222"/>
                </a:solidFill>
                <a:latin typeface="Calibri"/>
              </a:rPr>
              <a:t>: in a new room, place cells reorganize all at once. </a:t>
            </a:r>
            <a:r>
              <a:rPr sz="2000" b="1" i="0">
                <a:solidFill>
                  <a:srgbClr val="222222"/>
                </a:solidFill>
                <a:latin typeface="Calibri"/>
              </a:rPr>
              <a:t>Pattern separation</a:t>
            </a:r>
            <a:r>
              <a:rPr sz="2000" b="0" i="0">
                <a:solidFill>
                  <a:srgbClr val="222222"/>
                </a:solidFill>
                <a:latin typeface="Calibri"/>
              </a:rPr>
              <a:t>, making overlapping inputs less alike, is thought to be the dentate gyrus’s job.</a:t>
            </a:r>
          </a:p>
        </p:txBody>
      </p:sp>
      <p:pic>
        <p:nvPicPr>
          <p:cNvPr id="4" name="img0" descr="A row of six outlines changing from a square, through rounded squares, to a circle. Beneath each outline, the firing fields of the same two cells, one red and one blue. In the first three shapes, the red field sits in the upper left and the blue field in the lower right. From the fourth shape on, both fields jump to new positions and stay there through the circle."/>
          <p:cNvPicPr>
            <a:picLocks noChangeAspect="1"/>
          </p:cNvPicPr>
          <p:nvPr/>
        </p:nvPicPr>
        <p:blipFill>
          <a:blip r:embed="rId2"/>
          <a:stretch>
            <a:fillRect/>
          </a:stretch>
        </p:blipFill>
        <p:spPr>
          <a:xfrm>
            <a:off x="155448" y="1783080"/>
            <a:ext cx="11886438" cy="4723295"/>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name="many_maps__2">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Many Maps from One Set of Cells</a:t>
            </a:r>
          </a:p>
        </p:txBody>
      </p:sp>
      <p:sp>
        <p:nvSpPr>
          <p:cNvPr id="3" name="body_box"/>
          <p:cNvSpPr txBox="1"/>
          <p:nvPr/>
        </p:nvSpPr>
        <p:spPr>
          <a:xfrm>
            <a:off x="109728" y="932688"/>
            <a:ext cx="11987784" cy="694944"/>
          </a:xfrm>
          <a:prstGeom prst="rect">
            <a:avLst/>
          </a:prstGeom>
          <a:noFill/>
        </p:spPr>
        <p:txBody>
          <a:bodyPr wrap="square">
            <a:spAutoFit/>
          </a:bodyPr>
          <a:lstStyle/>
          <a:p>
            <a:r>
              <a:rPr sz="2000" b="1" i="0">
                <a:solidFill>
                  <a:srgbClr val="222222"/>
                </a:solidFill>
                <a:latin typeface="Calibri"/>
              </a:rPr>
              <a:t>Remapping</a:t>
            </a:r>
            <a:r>
              <a:rPr sz="2000" b="0" i="0">
                <a:solidFill>
                  <a:srgbClr val="222222"/>
                </a:solidFill>
                <a:latin typeface="Calibri"/>
              </a:rPr>
              <a:t>: in a new room, place cells reorganize all at once. </a:t>
            </a:r>
            <a:r>
              <a:rPr sz="2000" b="1" i="0">
                <a:solidFill>
                  <a:srgbClr val="222222"/>
                </a:solidFill>
                <a:latin typeface="Calibri"/>
              </a:rPr>
              <a:t>Pattern separation</a:t>
            </a:r>
            <a:r>
              <a:rPr sz="2000" b="0" i="0">
                <a:solidFill>
                  <a:srgbClr val="222222"/>
                </a:solidFill>
                <a:latin typeface="Calibri"/>
              </a:rPr>
              <a:t>, making overlapping inputs less alike, is thought to be the dentate gyrus’s job.</a:t>
            </a:r>
          </a:p>
        </p:txBody>
      </p:sp>
      <p:pic>
        <p:nvPicPr>
          <p:cNvPr id="4" name="img1" descr="Two square boxes side by side, labeled room A and room B. In each, a triangular lattice of faint circles marks where one grid cell fires; the lattice in room B is shifted relative to room A. In each box, one solid patch marks the place cell's field. In room A it sits near the upper left, on one of the lattice circles. In room B it sits near the lower right, again on one of the lattice circles."/>
          <p:cNvPicPr>
            <a:picLocks noChangeAspect="1"/>
          </p:cNvPicPr>
          <p:nvPr/>
        </p:nvPicPr>
        <p:blipFill>
          <a:blip r:embed="rId2"/>
          <a:stretch>
            <a:fillRect/>
          </a:stretch>
        </p:blipFill>
        <p:spPr>
          <a:xfrm>
            <a:off x="1161288" y="1783080"/>
            <a:ext cx="9876891" cy="4938445"/>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name="which_thing_was_where">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Which Thing Was Where, and What Is New</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The hippocampus codes little about objects in themselves, and much about the place and context an object was in. It is also needed to learn from exploring.</a:t>
            </a:r>
          </a:p>
        </p:txBody>
      </p:sp>
      <p:pic>
        <p:nvPicPr>
          <p:cNvPr id="4" name="img0" descr="Three panels. Panel one, labeled setting A: a box with striped walls holding a cube and a cone. Panel two, labeled setting B: a box with plain walls holding a ball and a pyramid. Panel three, labeled test: the plain-walled box of setting B, now holding a ball and a cube. The cube is circled, with a bar beside it showing longer exploration than for the ball."/>
          <p:cNvPicPr>
            <a:picLocks noChangeAspect="1"/>
          </p:cNvPicPr>
          <p:nvPr/>
        </p:nvPicPr>
        <p:blipFill>
          <a:blip r:embed="rId2"/>
          <a:stretch>
            <a:fillRect/>
          </a:stretch>
        </p:blipFill>
        <p:spPr>
          <a:xfrm>
            <a:off x="155448" y="1783080"/>
            <a:ext cx="11886438" cy="4754575"/>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name="older_than_mammals">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Older Than Mammals</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In goldfish, turtles, birds, and rats, damage to a corresponding forebrain region removes the place strategy and spares cue-following: evidence of homologs doing the same job.</a:t>
            </a:r>
          </a:p>
        </p:txBody>
      </p:sp>
      <p:pic>
        <p:nvPicPr>
          <p:cNvPr id="4" name="img0" descr="A bar chart with three groups of bars, each comparing intact fish with fish whose lateral pallium was damaged. Place task: intact about 85 percent correct, damaged about 60 to 65 percent. Cue task: both about 85 to 90 percent. New starting points: intact about 60 to 78 percent, damaged near the chance line. A dashed line marks chance."/>
          <p:cNvPicPr>
            <a:picLocks noChangeAspect="1"/>
          </p:cNvPicPr>
          <p:nvPr/>
        </p:nvPicPr>
        <p:blipFill>
          <a:blip r:embed="rId2"/>
          <a:stretch>
            <a:fillRect/>
          </a:stretch>
        </p:blipFill>
        <p:spPr>
          <a:xfrm>
            <a:off x="1161288" y="1783080"/>
            <a:ext cx="9876891" cy="4938445"/>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name="what_mammals_elaborated">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What Is New in Mammals</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Head-direction cells are found in fish and birds, place cells in birds; grid cells so far only in mammals. As far as the evidence goes, mammals have an elaborated version of an inherited region.</a:t>
            </a:r>
          </a:p>
        </p:txBody>
      </p:sp>
      <p:pic>
        <p:nvPicPr>
          <p:cNvPr id="4" name="img0" descr="A branching tree with six tips: goldfish, amphibians, turtles, lizards, birds, mammals. A marker on the branch point between mammals and the reptile-and-bird line reads about 320 million years ago. Beside each tip, a label for lesion evidence: impaired by lesion for goldfish, turtles, birds, and mammals; unclear for lizards; untested for amphibians. A second label lists cells recorded: goldfish, head-direction, wall, and speed cells, no place or grid cells found; birds, head-direction cells in quail and place cells in titmice; mammals, head-direction, place, grid, and border cells; turtles, lizards, and amphibians, none reported."/>
          <p:cNvPicPr>
            <a:picLocks noChangeAspect="1"/>
          </p:cNvPicPr>
          <p:nvPr/>
        </p:nvPicPr>
        <p:blipFill>
          <a:blip r:embed="rId2"/>
          <a:stretch>
            <a:fillRect/>
          </a:stretch>
        </p:blipFill>
        <p:spPr>
          <a:xfrm>
            <a:off x="914400" y="1783080"/>
            <a:ext cx="10366248" cy="4937607"/>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name="growing_and_changing">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Growing and Changing a Map</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In rat pups, head-direction cells come first and grid cells last, after pups already home by path integration. In adults, trainee taxi drivers who qualified gained hippocampal gray matter, in a study that could not assign them at random.</a:t>
            </a:r>
          </a:p>
        </p:txBody>
      </p:sp>
      <p:pic>
        <p:nvPicPr>
          <p:cNvPr id="4" name="img0" descr="A horizontal timeline from day 0 to day 45 after birth, with four rows. Head-direction cells: a bar starting at about day 12, adultlike from about day 14. Border cells: present from about day 17. Place cells: present from about day 16, with a long lighter stretch to about day 40 marked maturing. Grid cells: appear at about day 20, maturing almost at once. Above the rows, markers note eyes open at about day 14 and homing by path integration before grid cells appear."/>
          <p:cNvPicPr>
            <a:picLocks noChangeAspect="1"/>
          </p:cNvPicPr>
          <p:nvPr/>
        </p:nvPicPr>
        <p:blipFill>
          <a:blip r:embed="rId2"/>
          <a:stretch>
            <a:fillRect/>
          </a:stretch>
        </p:blipFill>
        <p:spPr>
          <a:xfrm>
            <a:off x="768096" y="1783080"/>
            <a:ext cx="10661599" cy="4938003"/>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name="an_old_map_in_a_new_animal">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An Old Map in a New Animal</a:t>
            </a:r>
          </a:p>
        </p:txBody>
      </p:sp>
      <p:sp>
        <p:nvSpPr>
          <p:cNvPr id="3" name="body_box"/>
          <p:cNvSpPr txBox="1"/>
          <p:nvPr/>
        </p:nvSpPr>
        <p:spPr>
          <a:xfrm>
            <a:off x="109728" y="932688"/>
            <a:ext cx="11987784" cy="694944"/>
          </a:xfrm>
          <a:prstGeom prst="rect">
            <a:avLst/>
          </a:prstGeom>
          <a:noFill/>
        </p:spPr>
        <p:txBody>
          <a:bodyPr wrap="square">
            <a:spAutoFit/>
          </a:bodyPr>
          <a:lstStyle/>
          <a:p>
            <a:r>
              <a:rPr sz="2000" b="0" i="0">
                <a:solidFill>
                  <a:srgbClr val="222222"/>
                </a:solidFill>
                <a:latin typeface="Calibri"/>
              </a:rPr>
              <a:t>The early mammal did not need a new map. It needed an old one, put to harder use by a warm body that needed more food.</a:t>
            </a:r>
          </a:p>
        </p:txBody>
      </p:sp>
      <p:pic>
        <p:nvPicPr>
          <p:cNvPr id="4" name="img0" descr="Three panels side by side, each headed by a level. Computational: to reach a place it cannot sense, an animal needs to know which place is worth going to, where it is, where that place is, and which way to go; only knowing where places lie relative to one another allows a route never taken; building that knowledge means exploring, a trade-off with only rules of thumb. Algorithmic: a running sum of position, corrected by stable landmarks, routes, and the shape of the surroundings, each correcting the others; a map, and a choice of which map. Implementational: a goldfish, a turtle, a bird, and a rat all lose place-finding when a corresponding forebrain region is damaged, and keep cue-following; one inherited region, reworked in each line, with a dentate gyrus and a grid system in mammals. Along the bottom: one reviewer's summary, what the hippocampus does has changed much less than how it is built."/>
          <p:cNvPicPr>
            <a:picLocks noChangeAspect="1"/>
          </p:cNvPicPr>
          <p:nvPr/>
        </p:nvPicPr>
        <p:blipFill>
          <a:blip r:embed="rId2"/>
          <a:stretch>
            <a:fillRect/>
          </a:stretch>
        </p:blipFill>
        <p:spPr>
          <a:xfrm>
            <a:off x="100584" y="1783080"/>
            <a:ext cx="11988165" cy="4872332"/>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name="discussion_taxis_and_phones">
    <p:spTree>
      <p:nvGrpSpPr>
        <p:cNvPr id="1" name=""/>
        <p:cNvGrpSpPr/>
        <p:nvPr/>
      </p:nvGrpSpPr>
      <p:grpSpPr/>
      <p:sp>
        <p:nvSpPr>
          <p:cNvPr id="2" name="title_box"/>
          <p:cNvSpPr txBox="1"/>
          <p:nvPr/>
        </p:nvSpPr>
        <p:spPr>
          <a:xfrm>
            <a:off x="91440" y="0"/>
            <a:ext cx="12006072" cy="914400"/>
          </a:xfrm>
          <a:prstGeom prst="rect">
            <a:avLst/>
          </a:prstGeom>
          <a:noFill/>
        </p:spPr>
        <p:txBody>
          <a:bodyPr wrap="square">
            <a:spAutoFit/>
          </a:bodyPr>
          <a:lstStyle/>
          <a:p>
            <a:r>
              <a:rPr sz="4200" b="1" i="0">
                <a:solidFill>
                  <a:srgbClr val="1F2A44"/>
                </a:solidFill>
                <a:latin typeface="Calibri"/>
              </a:rPr>
              <a:t>Taxi Drivers, and Phones</a:t>
            </a:r>
          </a:p>
        </p:txBody>
      </p:sp>
      <p:sp>
        <p:nvSpPr>
          <p:cNvPr id="3" name="body_box"/>
          <p:cNvSpPr txBox="1"/>
          <p:nvPr/>
        </p:nvSpPr>
        <p:spPr>
          <a:xfrm>
            <a:off x="822960" y="1371600"/>
            <a:ext cx="10515600" cy="4480560"/>
          </a:xfrm>
          <a:prstGeom prst="rect">
            <a:avLst/>
          </a:prstGeom>
          <a:noFill/>
        </p:spPr>
        <p:txBody>
          <a:bodyPr wrap="square">
            <a:spAutoFit/>
          </a:bodyPr>
          <a:lstStyle/>
          <a:p>
            <a:pPr>
              <a:spcAft>
                <a:spcPts val="2000"/>
              </a:spcAft>
            </a:pPr>
            <a:r>
              <a:rPr sz="2000" b="1" i="0">
                <a:solidFill>
                  <a:srgbClr val="222222"/>
                </a:solidFill>
                <a:latin typeface="Calibri"/>
              </a:rPr>
              <a:t>In your group, four minutes.</a:t>
            </a:r>
          </a:p>
          <a:p>
            <a:pPr>
              <a:defRPr sz="1000"/>
            </a:pPr>
          </a:p>
          <a:p>
            <a:pPr>
              <a:spcAft>
                <a:spcPts val="2000"/>
              </a:spcAft>
            </a:pPr>
            <a:r>
              <a:rPr sz="2000" b="0" i="0">
                <a:solidFill>
                  <a:srgbClr val="222222"/>
                </a:solidFill>
                <a:latin typeface="Calibri"/>
              </a:rPr>
              <a:t>Many people now find their way by following directions on a phone.</a:t>
            </a:r>
          </a:p>
          <a:p>
            <a:pPr>
              <a:defRPr sz="1000"/>
            </a:pPr>
          </a:p>
          <a:p>
            <a:pPr>
              <a:spcAft>
                <a:spcPts val="2000"/>
              </a:spcAft>
            </a:pPr>
            <a:r>
              <a:rPr sz="2000" b="0" i="0">
                <a:solidFill>
                  <a:srgbClr val="222222"/>
                </a:solidFill>
                <a:latin typeface="Calibri"/>
              </a:rPr>
              <a:t>If the taxi-driver result holds, what would you predict for the hippocampus of someone who always navigates that way? What study would show it, and what would it need to rule out?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Image Sources (1 of 2)</a:t>
            </a:r>
          </a:p>
        </p:txBody>
      </p:sp>
      <p:graphicFrame>
        <p:nvGraphicFramePr>
          <p:cNvPr id="3" name="table"/>
          <p:cNvGraphicFramePr>
            <a:graphicFrameLocks noGrp="1"/>
          </p:cNvGraphicFramePr>
          <p:nvPr/>
        </p:nvGraphicFramePr>
        <p:xfrm>
          <a:off x="457200" y="1371600"/>
          <a:ext cx="11247117" cy="3968496"/>
        </p:xfrm>
        <a:graphic>
          <a:graphicData uri="http://schemas.openxmlformats.org/drawingml/2006/table">
            <a:tbl>
              <a:tblPr>
                <a:tableStyleId>{5C22544A-7EE6-4342-B048-85BDC9FD1C3A}</a:tableStyleId>
              </a:tblPr>
              <a:tblGrid>
                <a:gridCol w="674827"/>
                <a:gridCol w="2699308"/>
                <a:gridCol w="2699308"/>
                <a:gridCol w="1574596"/>
                <a:gridCol w="3599078"/>
              </a:tblGrid>
              <a:tr h="440944">
                <a:tc>
                  <a:txBody>
                    <a:bodyPr/>
                    <a:lstStyle/>
                    <a:p>
                      <a:r>
                        <a:rPr sz="1000" b="1" i="0">
                          <a:solidFill>
                            <a:srgbClr val="1F2A44"/>
                          </a:solidFill>
                          <a:latin typeface="Calibri"/>
                        </a:rPr>
                        <a:t>Slide</a:t>
                      </a:r>
                    </a:p>
                  </a:txBody>
                  <a:tcPr marL="73152" marR="73152" marT="18288" marB="18288">
                    <a:solidFill>
                      <a:srgbClr val="FFFFFF"/>
                    </a:solidFill>
                  </a:tcPr>
                </a:tc>
                <a:tc>
                  <a:txBody>
                    <a:bodyPr/>
                    <a:lstStyle/>
                    <a:p>
                      <a:r>
                        <a:rPr sz="1000" b="1" i="0">
                          <a:solidFill>
                            <a:srgbClr val="1F2A44"/>
                          </a:solidFill>
                          <a:latin typeface="Calibri"/>
                        </a:rPr>
                        <a:t>Image</a:t>
                      </a:r>
                    </a:p>
                  </a:txBody>
                  <a:tcPr marL="73152" marR="73152" marT="18288" marB="18288">
                    <a:solidFill>
                      <a:srgbClr val="FFFFFF"/>
                    </a:solidFill>
                  </a:tcPr>
                </a:tc>
                <a:tc>
                  <a:txBody>
                    <a:bodyPr/>
                    <a:lstStyle/>
                    <a:p>
                      <a:r>
                        <a:rPr sz="1000" b="1" i="0">
                          <a:solidFill>
                            <a:srgbClr val="1F2A44"/>
                          </a:solidFill>
                          <a:latin typeface="Calibri"/>
                        </a:rPr>
                        <a:t>File</a:t>
                      </a:r>
                    </a:p>
                  </a:txBody>
                  <a:tcPr marL="73152" marR="73152" marT="18288" marB="18288">
                    <a:solidFill>
                      <a:srgbClr val="FFFFFF"/>
                    </a:solidFill>
                  </a:tcPr>
                </a:tc>
                <a:tc>
                  <a:txBody>
                    <a:bodyPr/>
                    <a:lstStyle/>
                    <a:p>
                      <a:r>
                        <a:rPr sz="1000" b="1" i="0">
                          <a:solidFill>
                            <a:srgbClr val="1F2A44"/>
                          </a:solidFill>
                          <a:latin typeface="Calibri"/>
                        </a:rPr>
                        <a:t>License</a:t>
                      </a:r>
                    </a:p>
                  </a:txBody>
                  <a:tcPr marL="73152" marR="73152" marT="18288" marB="18288">
                    <a:solidFill>
                      <a:srgbClr val="FFFFFF"/>
                    </a:solidFill>
                  </a:tcPr>
                </a:tc>
                <a:tc>
                  <a:txBody>
                    <a:bodyPr/>
                    <a:lstStyle/>
                    <a:p>
                      <a:r>
                        <a:rPr sz="1000" b="1" i="0">
                          <a:solidFill>
                            <a:srgbClr val="1F2A44"/>
                          </a:solidFill>
                          <a:latin typeface="Calibri"/>
                        </a:rPr>
                        <a:t>Source</a:t>
                      </a:r>
                    </a:p>
                  </a:txBody>
                  <a:tcPr marL="73152" marR="73152" marT="18288" marB="18288">
                    <a:solidFill>
                      <a:srgbClr val="FFFFFF"/>
                    </a:solidFill>
                  </a:tcPr>
                </a:tc>
              </a:tr>
              <a:tr h="440944">
                <a:tc>
                  <a:txBody>
                    <a:bodyPr/>
                    <a:lstStyle/>
                    <a:p>
                      <a:r>
                        <a:rPr sz="1000" b="0" i="0">
                          <a:solidFill>
                            <a:srgbClr val="222222"/>
                          </a:solidFill>
                          <a:latin typeface="Calibri"/>
                        </a:rPr>
                        <a:t>3</a:t>
                      </a:r>
                    </a:p>
                  </a:txBody>
                  <a:tcPr marL="73152" marR="73152" marT="18288" marB="18288">
                    <a:solidFill>
                      <a:srgbClr val="FFFFFF"/>
                    </a:solidFill>
                  </a:tcPr>
                </a:tc>
                <a:tc>
                  <a:txBody>
                    <a:bodyPr/>
                    <a:lstStyle/>
                    <a:p>
                      <a:r>
                        <a:rPr sz="1000" b="0" i="0">
                          <a:solidFill>
                            <a:srgbClr val="222222"/>
                          </a:solidFill>
                          <a:latin typeface="Calibri"/>
                        </a:rPr>
                        <a:t>Head-direction cells, turned by a card</a:t>
                      </a:r>
                    </a:p>
                  </a:txBody>
                  <a:tcPr marL="73152" marR="73152" marT="18288" marB="18288">
                    <a:solidFill>
                      <a:srgbClr val="FFFFFF"/>
                    </a:solidFill>
                  </a:tcPr>
                </a:tc>
                <a:tc>
                  <a:txBody>
                    <a:bodyPr/>
                    <a:lstStyle/>
                    <a:p>
                      <a:r>
                        <a:rPr sz="1000" b="0" i="0">
                          <a:solidFill>
                            <a:srgbClr val="222222"/>
                          </a:solidFill>
                          <a:latin typeface="Calibri"/>
                        </a:rPr>
                        <a:t>fig-hd-cells.png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0944">
                <a:tc>
                  <a:txBody>
                    <a:bodyPr/>
                    <a:lstStyle/>
                    <a:p>
                      <a:r>
                        <a:rPr sz="1000" b="0" i="0">
                          <a:solidFill>
                            <a:srgbClr val="222222"/>
                          </a:solidFill>
                          <a:latin typeface="Calibri"/>
                        </a:rPr>
                        <a:t>4</a:t>
                      </a:r>
                    </a:p>
                  </a:txBody>
                  <a:tcPr marL="73152" marR="73152" marT="18288" marB="18288">
                    <a:solidFill>
                      <a:srgbClr val="FFFFFF"/>
                    </a:solidFill>
                  </a:tcPr>
                </a:tc>
                <a:tc>
                  <a:txBody>
                    <a:bodyPr/>
                    <a:lstStyle/>
                    <a:p>
                      <a:r>
                        <a:rPr sz="1000" b="0" i="0">
                          <a:solidFill>
                            <a:srgbClr val="222222"/>
                          </a:solidFill>
                          <a:latin typeface="Calibri"/>
                        </a:rPr>
                        <a:t>The fruit fly's compass</a:t>
                      </a:r>
                    </a:p>
                  </a:txBody>
                  <a:tcPr marL="73152" marR="73152" marT="18288" marB="18288">
                    <a:solidFill>
                      <a:srgbClr val="FFFFFF"/>
                    </a:solidFill>
                  </a:tcPr>
                </a:tc>
                <a:tc>
                  <a:txBody>
                    <a:bodyPr/>
                    <a:lstStyle/>
                    <a:p>
                      <a:r>
                        <a:rPr sz="1000" b="0" i="0">
                          <a:solidFill>
                            <a:srgbClr val="222222"/>
                          </a:solidFill>
                          <a:latin typeface="Calibri"/>
                        </a:rPr>
                        <a:t>fig-fly-compass.png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9 reading  ·  own work</a:t>
                      </a:r>
                    </a:p>
                  </a:txBody>
                  <a:tcPr marL="73152" marR="73152" marT="18288" marB="18288">
                    <a:solidFill>
                      <a:srgbClr val="FFFFFF"/>
                    </a:solidFill>
                  </a:tcPr>
                </a:tc>
              </a:tr>
              <a:tr h="440944">
                <a:tc>
                  <a:txBody>
                    <a:bodyPr/>
                    <a:lstStyle/>
                    <a:p>
                      <a:r>
                        <a:rPr sz="1000" b="0" i="0">
                          <a:solidFill>
                            <a:srgbClr val="222222"/>
                          </a:solidFill>
                          <a:latin typeface="Calibri"/>
                        </a:rPr>
                        <a:t>4</a:t>
                      </a:r>
                    </a:p>
                  </a:txBody>
                  <a:tcPr marL="73152" marR="73152" marT="18288" marB="18288">
                    <a:solidFill>
                      <a:srgbClr val="FFFFFF"/>
                    </a:solidFill>
                  </a:tcPr>
                </a:tc>
                <a:tc>
                  <a:txBody>
                    <a:bodyPr/>
                    <a:lstStyle/>
                    <a:p>
                      <a:r>
                        <a:rPr sz="1000" b="0" i="0">
                          <a:solidFill>
                            <a:srgbClr val="222222"/>
                          </a:solidFill>
                          <a:latin typeface="Calibri"/>
                        </a:rPr>
                        <a:t>The larval zebrafish's heading ring</a:t>
                      </a:r>
                    </a:p>
                  </a:txBody>
                  <a:tcPr marL="73152" marR="73152" marT="18288" marB="18288">
                    <a:solidFill>
                      <a:srgbClr val="FFFFFF"/>
                    </a:solidFill>
                  </a:tcPr>
                </a:tc>
                <a:tc>
                  <a:txBody>
                    <a:bodyPr/>
                    <a:lstStyle/>
                    <a:p>
                      <a:r>
                        <a:rPr sz="1000" b="0" i="0">
                          <a:solidFill>
                            <a:srgbClr val="222222"/>
                          </a:solidFill>
                          <a:latin typeface="Calibri"/>
                        </a:rPr>
                        <a:t>fig-two-rings.png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9 reading, adapted from Figure 6e of Petrucco and colleagues, Nature Neuroscience 26, 2023  ·  https://doi.org/10.1038/s41593-023-01308-5</a:t>
                      </a:r>
                    </a:p>
                  </a:txBody>
                  <a:tcPr marL="73152" marR="73152" marT="18288" marB="18288">
                    <a:solidFill>
                      <a:srgbClr val="FFFFFF"/>
                    </a:solidFill>
                  </a:tcPr>
                </a:tc>
              </a:tr>
              <a:tr h="440944">
                <a:tc>
                  <a:txBody>
                    <a:bodyPr/>
                    <a:lstStyle/>
                    <a:p>
                      <a:r>
                        <a:rPr sz="1000" b="0" i="0">
                          <a:solidFill>
                            <a:srgbClr val="222222"/>
                          </a:solidFill>
                          <a:latin typeface="Calibri"/>
                        </a:rPr>
                        <a:t>5</a:t>
                      </a:r>
                    </a:p>
                  </a:txBody>
                  <a:tcPr marL="73152" marR="73152" marT="18288" marB="18288">
                    <a:solidFill>
                      <a:srgbClr val="FFFFFF"/>
                    </a:solidFill>
                  </a:tcPr>
                </a:tc>
                <a:tc>
                  <a:txBody>
                    <a:bodyPr/>
                    <a:lstStyle/>
                    <a:p>
                      <a:r>
                        <a:rPr sz="1000" b="0" i="0">
                          <a:solidFill>
                            <a:srgbClr val="222222"/>
                          </a:solidFill>
                          <a:latin typeface="Calibri"/>
                        </a:rPr>
                        <a:t>Four kinds of spatial cell</a:t>
                      </a:r>
                    </a:p>
                  </a:txBody>
                  <a:tcPr marL="73152" marR="73152" marT="18288" marB="18288">
                    <a:solidFill>
                      <a:srgbClr val="FFFFFF"/>
                    </a:solidFill>
                  </a:tcPr>
                </a:tc>
                <a:tc>
                  <a:txBody>
                    <a:bodyPr/>
                    <a:lstStyle/>
                    <a:p>
                      <a:r>
                        <a:rPr sz="1000" b="0" i="0">
                          <a:solidFill>
                            <a:srgbClr val="222222"/>
                          </a:solidFill>
                          <a:latin typeface="Calibri"/>
                        </a:rPr>
                        <a:t>fig-firing-maps.png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9 reading  ·  own work</a:t>
                      </a:r>
                    </a:p>
                  </a:txBody>
                  <a:tcPr marL="73152" marR="73152" marT="18288" marB="18288">
                    <a:solidFill>
                      <a:srgbClr val="FFFFFF"/>
                    </a:solidFill>
                  </a:tcPr>
                </a:tc>
              </a:tr>
              <a:tr h="440944">
                <a:tc>
                  <a:txBody>
                    <a:bodyPr/>
                    <a:lstStyle/>
                    <a:p>
                      <a:r>
                        <a:rPr sz="1000" b="0" i="0">
                          <a:solidFill>
                            <a:srgbClr val="222222"/>
                          </a:solidFill>
                          <a:latin typeface="Calibri"/>
                        </a:rPr>
                        <a:t>6</a:t>
                      </a:r>
                    </a:p>
                  </a:txBody>
                  <a:tcPr marL="73152" marR="73152" marT="18288" marB="18288">
                    <a:solidFill>
                      <a:srgbClr val="FFFFFF"/>
                    </a:solidFill>
                  </a:tcPr>
                </a:tc>
                <a:tc>
                  <a:txBody>
                    <a:bodyPr/>
                    <a:lstStyle/>
                    <a:p>
                      <a:r>
                        <a:rPr sz="1000" b="0" i="0">
                          <a:solidFill>
                            <a:srgbClr val="222222"/>
                          </a:solidFill>
                          <a:latin typeface="Calibri"/>
                        </a:rPr>
                        <a:t>Grid cells in groups of different spacing</a:t>
                      </a:r>
                    </a:p>
                  </a:txBody>
                  <a:tcPr marL="73152" marR="73152" marT="18288" marB="18288">
                    <a:solidFill>
                      <a:srgbClr val="FFFFFF"/>
                    </a:solidFill>
                  </a:tcPr>
                </a:tc>
                <a:tc>
                  <a:txBody>
                    <a:bodyPr/>
                    <a:lstStyle/>
                    <a:p>
                      <a:r>
                        <a:rPr sz="1000" b="0" i="0">
                          <a:solidFill>
                            <a:srgbClr val="222222"/>
                          </a:solidFill>
                          <a:latin typeface="Calibri"/>
                        </a:rPr>
                        <a:t>fig-grid-groups.png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r h="440944">
                <a:tc>
                  <a:txBody>
                    <a:bodyPr/>
                    <a:lstStyle/>
                    <a:p>
                      <a:r>
                        <a:rPr sz="1000" b="0" i="0">
                          <a:solidFill>
                            <a:srgbClr val="222222"/>
                          </a:solidFill>
                          <a:latin typeface="Calibri"/>
                        </a:rPr>
                        <a:t>7</a:t>
                      </a:r>
                    </a:p>
                  </a:txBody>
                  <a:tcPr marL="73152" marR="73152" marT="18288" marB="18288">
                    <a:solidFill>
                      <a:srgbClr val="FFFFFF"/>
                    </a:solidFill>
                  </a:tcPr>
                </a:tc>
                <a:tc>
                  <a:txBody>
                    <a:bodyPr/>
                    <a:lstStyle/>
                    <a:p>
                      <a:r>
                        <a:rPr sz="1000" b="0" i="0">
                          <a:solidFill>
                            <a:srgbClr val="222222"/>
                          </a:solidFill>
                          <a:latin typeface="Calibri"/>
                        </a:rPr>
                        <a:t>The hippocampal loop in the rat</a:t>
                      </a:r>
                    </a:p>
                  </a:txBody>
                  <a:tcPr marL="73152" marR="73152" marT="18288" marB="18288">
                    <a:solidFill>
                      <a:srgbClr val="FFFFFF"/>
                    </a:solidFill>
                  </a:tcPr>
                </a:tc>
                <a:tc>
                  <a:txBody>
                    <a:bodyPr/>
                    <a:lstStyle/>
                    <a:p>
                      <a:r>
                        <a:rPr sz="1000" b="0" i="0">
                          <a:solidFill>
                            <a:srgbClr val="222222"/>
                          </a:solidFill>
                          <a:latin typeface="Calibri"/>
                        </a:rPr>
                        <a:t>fig-hippocampal-circuit.png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9 reading  ·  own work</a:t>
                      </a:r>
                    </a:p>
                  </a:txBody>
                  <a:tcPr marL="73152" marR="73152" marT="18288" marB="18288">
                    <a:solidFill>
                      <a:srgbClr val="FFFFFF"/>
                    </a:solidFill>
                  </a:tcPr>
                </a:tc>
              </a:tr>
              <a:tr h="440944">
                <a:tc>
                  <a:txBody>
                    <a:bodyPr/>
                    <a:lstStyle/>
                    <a:p>
                      <a:r>
                        <a:rPr sz="1000" b="0" i="0">
                          <a:solidFill>
                            <a:srgbClr val="222222"/>
                          </a:solidFill>
                          <a:latin typeface="Calibri"/>
                        </a:rPr>
                        <a:t>8</a:t>
                      </a:r>
                    </a:p>
                  </a:txBody>
                  <a:tcPr marL="73152" marR="73152" marT="18288" marB="18288">
                    <a:solidFill>
                      <a:srgbClr val="FFFFFF"/>
                    </a:solidFill>
                  </a:tcPr>
                </a:tc>
                <a:tc>
                  <a:txBody>
                    <a:bodyPr/>
                    <a:lstStyle/>
                    <a:p>
                      <a:r>
                        <a:rPr sz="1000" b="0" i="0">
                          <a:solidFill>
                            <a:srgbClr val="222222"/>
                          </a:solidFill>
                          <a:latin typeface="Calibri"/>
                        </a:rPr>
                        <a:t>A square box changed step by step into a circle</a:t>
                      </a:r>
                    </a:p>
                  </a:txBody>
                  <a:tcPr marL="73152" marR="73152" marT="18288" marB="18288">
                    <a:solidFill>
                      <a:srgbClr val="FFFFFF"/>
                    </a:solidFill>
                  </a:tcPr>
                </a:tc>
                <a:tc>
                  <a:txBody>
                    <a:bodyPr/>
                    <a:lstStyle/>
                    <a:p>
                      <a:r>
                        <a:rPr sz="1000" b="0" i="0">
                          <a:solidFill>
                            <a:srgbClr val="222222"/>
                          </a:solidFill>
                          <a:latin typeface="Calibri"/>
                        </a:rPr>
                        <a:t>fig-morph-remapping.png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9 reading  ·  own work</a:t>
                      </a:r>
                    </a:p>
                  </a:txBody>
                  <a:tcPr marL="73152" marR="73152" marT="18288" marB="18288">
                    <a:solidFill>
                      <a:srgbClr val="FFFFFF"/>
                    </a:solidFill>
                  </a:tcPr>
                </a:tc>
              </a:tr>
              <a:tr h="440944">
                <a:tc>
                  <a:txBody>
                    <a:bodyPr/>
                    <a:lstStyle/>
                    <a:p>
                      <a:r>
                        <a:rPr sz="1000" b="0" i="0">
                          <a:solidFill>
                            <a:srgbClr val="222222"/>
                          </a:solidFill>
                          <a:latin typeface="Calibri"/>
                        </a:rPr>
                        <a:t>8</a:t>
                      </a:r>
                    </a:p>
                  </a:txBody>
                  <a:tcPr marL="73152" marR="73152" marT="18288" marB="18288">
                    <a:solidFill>
                      <a:srgbClr val="FFFFFF"/>
                    </a:solidFill>
                  </a:tcPr>
                </a:tc>
                <a:tc>
                  <a:txBody>
                    <a:bodyPr/>
                    <a:lstStyle/>
                    <a:p>
                      <a:r>
                        <a:rPr sz="1000" b="0" i="0">
                          <a:solidFill>
                            <a:srgbClr val="222222"/>
                          </a:solidFill>
                          <a:latin typeface="Calibri"/>
                        </a:rPr>
                        <a:t>A grid cell and a place cell in two rooms</a:t>
                      </a:r>
                    </a:p>
                  </a:txBody>
                  <a:tcPr marL="73152" marR="73152" marT="18288" marB="18288">
                    <a:solidFill>
                      <a:srgbClr val="FFFFFF"/>
                    </a:solidFill>
                  </a:tcPr>
                </a:tc>
                <a:tc>
                  <a:txBody>
                    <a:bodyPr/>
                    <a:lstStyle/>
                    <a:p>
                      <a:r>
                        <a:rPr sz="1000" b="0" i="0">
                          <a:solidFill>
                            <a:srgbClr val="222222"/>
                          </a:solidFill>
                          <a:latin typeface="Calibri"/>
                        </a:rPr>
                        <a:t>fig-remap-grid-phase.png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9 reading, adapted from Figure 6A of Whittington and colleagues, Cell 183, 2020  ·  https://doi.org/10.1016/j.cell.2020.10.024</a:t>
                      </a:r>
                    </a:p>
                  </a:txBody>
                  <a:tcPr marL="73152" marR="73152" marT="18288" marB="18288">
                    <a:solidFill>
                      <a:srgbClr val="FFFFFF"/>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91440" y="91440"/>
            <a:ext cx="12006072" cy="1005840"/>
          </a:xfrm>
          <a:prstGeom prst="rect">
            <a:avLst/>
          </a:prstGeom>
          <a:noFill/>
        </p:spPr>
        <p:txBody>
          <a:bodyPr wrap="square">
            <a:spAutoFit/>
          </a:bodyPr>
          <a:lstStyle/>
          <a:p>
            <a:r>
              <a:rPr sz="4200" b="1" i="0">
                <a:solidFill>
                  <a:srgbClr val="1F2A44"/>
                </a:solidFill>
                <a:latin typeface="Calibri"/>
              </a:rPr>
              <a:t>Image Sources (2 of 2)</a:t>
            </a:r>
          </a:p>
        </p:txBody>
      </p:sp>
      <p:graphicFrame>
        <p:nvGraphicFramePr>
          <p:cNvPr id="3" name="table"/>
          <p:cNvGraphicFramePr>
            <a:graphicFrameLocks noGrp="1"/>
          </p:cNvGraphicFramePr>
          <p:nvPr/>
        </p:nvGraphicFramePr>
        <p:xfrm>
          <a:off x="457200" y="1371600"/>
          <a:ext cx="11247117" cy="2706624"/>
        </p:xfrm>
        <a:graphic>
          <a:graphicData uri="http://schemas.openxmlformats.org/drawingml/2006/table">
            <a:tbl>
              <a:tblPr>
                <a:tableStyleId>{5C22544A-7EE6-4342-B048-85BDC9FD1C3A}</a:tableStyleId>
              </a:tblPr>
              <a:tblGrid>
                <a:gridCol w="674827"/>
                <a:gridCol w="2699308"/>
                <a:gridCol w="2699308"/>
                <a:gridCol w="1574596"/>
                <a:gridCol w="3599078"/>
              </a:tblGrid>
              <a:tr h="451104">
                <a:tc>
                  <a:txBody>
                    <a:bodyPr/>
                    <a:lstStyle/>
                    <a:p>
                      <a:r>
                        <a:rPr sz="1000" b="1" i="0">
                          <a:solidFill>
                            <a:srgbClr val="1F2A44"/>
                          </a:solidFill>
                          <a:latin typeface="Calibri"/>
                        </a:rPr>
                        <a:t>Slide</a:t>
                      </a:r>
                    </a:p>
                  </a:txBody>
                  <a:tcPr marL="73152" marR="73152" marT="18288" marB="18288">
                    <a:solidFill>
                      <a:srgbClr val="FFFFFF"/>
                    </a:solidFill>
                  </a:tcPr>
                </a:tc>
                <a:tc>
                  <a:txBody>
                    <a:bodyPr/>
                    <a:lstStyle/>
                    <a:p>
                      <a:r>
                        <a:rPr sz="1000" b="1" i="0">
                          <a:solidFill>
                            <a:srgbClr val="1F2A44"/>
                          </a:solidFill>
                          <a:latin typeface="Calibri"/>
                        </a:rPr>
                        <a:t>Image</a:t>
                      </a:r>
                    </a:p>
                  </a:txBody>
                  <a:tcPr marL="73152" marR="73152" marT="18288" marB="18288">
                    <a:solidFill>
                      <a:srgbClr val="FFFFFF"/>
                    </a:solidFill>
                  </a:tcPr>
                </a:tc>
                <a:tc>
                  <a:txBody>
                    <a:bodyPr/>
                    <a:lstStyle/>
                    <a:p>
                      <a:r>
                        <a:rPr sz="1000" b="1" i="0">
                          <a:solidFill>
                            <a:srgbClr val="1F2A44"/>
                          </a:solidFill>
                          <a:latin typeface="Calibri"/>
                        </a:rPr>
                        <a:t>File</a:t>
                      </a:r>
                    </a:p>
                  </a:txBody>
                  <a:tcPr marL="73152" marR="73152" marT="18288" marB="18288">
                    <a:solidFill>
                      <a:srgbClr val="FFFFFF"/>
                    </a:solidFill>
                  </a:tcPr>
                </a:tc>
                <a:tc>
                  <a:txBody>
                    <a:bodyPr/>
                    <a:lstStyle/>
                    <a:p>
                      <a:r>
                        <a:rPr sz="1000" b="1" i="0">
                          <a:solidFill>
                            <a:srgbClr val="1F2A44"/>
                          </a:solidFill>
                          <a:latin typeface="Calibri"/>
                        </a:rPr>
                        <a:t>License</a:t>
                      </a:r>
                    </a:p>
                  </a:txBody>
                  <a:tcPr marL="73152" marR="73152" marT="18288" marB="18288">
                    <a:solidFill>
                      <a:srgbClr val="FFFFFF"/>
                    </a:solidFill>
                  </a:tcPr>
                </a:tc>
                <a:tc>
                  <a:txBody>
                    <a:bodyPr/>
                    <a:lstStyle/>
                    <a:p>
                      <a:r>
                        <a:rPr sz="1000" b="1" i="0">
                          <a:solidFill>
                            <a:srgbClr val="1F2A44"/>
                          </a:solidFill>
                          <a:latin typeface="Calibri"/>
                        </a:rPr>
                        <a:t>Source</a:t>
                      </a:r>
                    </a:p>
                  </a:txBody>
                  <a:tcPr marL="73152" marR="73152" marT="18288" marB="18288">
                    <a:solidFill>
                      <a:srgbClr val="FFFFFF"/>
                    </a:solidFill>
                  </a:tcPr>
                </a:tc>
              </a:tr>
              <a:tr h="451104">
                <a:tc>
                  <a:txBody>
                    <a:bodyPr/>
                    <a:lstStyle/>
                    <a:p>
                      <a:r>
                        <a:rPr sz="1000" b="0" i="0">
                          <a:solidFill>
                            <a:srgbClr val="222222"/>
                          </a:solidFill>
                          <a:latin typeface="Calibri"/>
                        </a:rPr>
                        <a:t>9</a:t>
                      </a:r>
                    </a:p>
                  </a:txBody>
                  <a:tcPr marL="73152" marR="73152" marT="18288" marB="18288">
                    <a:solidFill>
                      <a:srgbClr val="FFFFFF"/>
                    </a:solidFill>
                  </a:tcPr>
                </a:tc>
                <a:tc>
                  <a:txBody>
                    <a:bodyPr/>
                    <a:lstStyle/>
                    <a:p>
                      <a:r>
                        <a:rPr sz="1000" b="0" i="0">
                          <a:solidFill>
                            <a:srgbClr val="222222"/>
                          </a:solidFill>
                          <a:latin typeface="Calibri"/>
                        </a:rPr>
                        <a:t>The object-in-context test</a:t>
                      </a:r>
                    </a:p>
                  </a:txBody>
                  <a:tcPr marL="73152" marR="73152" marT="18288" marB="18288">
                    <a:solidFill>
                      <a:srgbClr val="FFFFFF"/>
                    </a:solidFill>
                  </a:tcPr>
                </a:tc>
                <a:tc>
                  <a:txBody>
                    <a:bodyPr/>
                    <a:lstStyle/>
                    <a:p>
                      <a:r>
                        <a:rPr sz="1000" b="0" i="0">
                          <a:solidFill>
                            <a:srgbClr val="222222"/>
                          </a:solidFill>
                          <a:latin typeface="Calibri"/>
                        </a:rPr>
                        <a:t>fig-object-in-place.png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9 reading  ·  own work</a:t>
                      </a:r>
                    </a:p>
                  </a:txBody>
                  <a:tcPr marL="73152" marR="73152" marT="18288" marB="18288">
                    <a:solidFill>
                      <a:srgbClr val="FFFFFF"/>
                    </a:solidFill>
                  </a:tcPr>
                </a:tc>
              </a:tr>
              <a:tr h="451104">
                <a:tc>
                  <a:txBody>
                    <a:bodyPr/>
                    <a:lstStyle/>
                    <a:p>
                      <a:r>
                        <a:rPr sz="1000" b="0" i="0">
                          <a:solidFill>
                            <a:srgbClr val="222222"/>
                          </a:solidFill>
                          <a:latin typeface="Calibri"/>
                        </a:rPr>
                        <a:t>10</a:t>
                      </a:r>
                    </a:p>
                  </a:txBody>
                  <a:tcPr marL="73152" marR="73152" marT="18288" marB="18288">
                    <a:solidFill>
                      <a:srgbClr val="FFFFFF"/>
                    </a:solidFill>
                  </a:tcPr>
                </a:tc>
                <a:tc>
                  <a:txBody>
                    <a:bodyPr/>
                    <a:lstStyle/>
                    <a:p>
                      <a:r>
                        <a:rPr sz="1000" b="0" i="0">
                          <a:solidFill>
                            <a:srgbClr val="222222"/>
                          </a:solidFill>
                          <a:latin typeface="Calibri"/>
                        </a:rPr>
                        <a:t>Goldfish before and after damage to the lateral pallium</a:t>
                      </a:r>
                    </a:p>
                  </a:txBody>
                  <a:tcPr marL="73152" marR="73152" marT="18288" marB="18288">
                    <a:solidFill>
                      <a:srgbClr val="FFFFFF"/>
                    </a:solidFill>
                  </a:tcPr>
                </a:tc>
                <a:tc>
                  <a:txBody>
                    <a:bodyPr/>
                    <a:lstStyle/>
                    <a:p>
                      <a:r>
                        <a:rPr sz="1000" b="0" i="0">
                          <a:solidFill>
                            <a:srgbClr val="222222"/>
                          </a:solidFill>
                          <a:latin typeface="Calibri"/>
                        </a:rPr>
                        <a:t>fig-goldfish-place-cue.png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redrawn for the Module 9 reading from the values in Figure 4A of Broglio and colleagues, Journal of Behavioral and Brain Science 5, 2015, itself modified from Rodríguez and colleagues, Journal of Neuroscience 22, 2002  ·  https://doi.org/10.4236/jbbs.2015.53011</a:t>
                      </a:r>
                    </a:p>
                  </a:txBody>
                  <a:tcPr marL="73152" marR="73152" marT="18288" marB="18288">
                    <a:solidFill>
                      <a:srgbClr val="FFFFFF"/>
                    </a:solidFill>
                  </a:tcPr>
                </a:tc>
              </a:tr>
              <a:tr h="451104">
                <a:tc>
                  <a:txBody>
                    <a:bodyPr/>
                    <a:lstStyle/>
                    <a:p>
                      <a:r>
                        <a:rPr sz="1000" b="0" i="0">
                          <a:solidFill>
                            <a:srgbClr val="222222"/>
                          </a:solidFill>
                          <a:latin typeface="Calibri"/>
                        </a:rPr>
                        <a:t>11</a:t>
                      </a:r>
                    </a:p>
                  </a:txBody>
                  <a:tcPr marL="73152" marR="73152" marT="18288" marB="18288">
                    <a:solidFill>
                      <a:srgbClr val="FFFFFF"/>
                    </a:solidFill>
                  </a:tcPr>
                </a:tc>
                <a:tc>
                  <a:txBody>
                    <a:bodyPr/>
                    <a:lstStyle/>
                    <a:p>
                      <a:r>
                        <a:rPr sz="1000" b="0" i="0">
                          <a:solidFill>
                            <a:srgbClr val="222222"/>
                          </a:solidFill>
                          <a:latin typeface="Calibri"/>
                        </a:rPr>
                        <a:t>Evidence for a hippocampal map across vertebrates</a:t>
                      </a:r>
                    </a:p>
                  </a:txBody>
                  <a:tcPr marL="73152" marR="73152" marT="18288" marB="18288">
                    <a:solidFill>
                      <a:srgbClr val="FFFFFF"/>
                    </a:solidFill>
                  </a:tcPr>
                </a:tc>
                <a:tc>
                  <a:txBody>
                    <a:bodyPr/>
                    <a:lstStyle/>
                    <a:p>
                      <a:r>
                        <a:rPr sz="1000" b="0" i="0">
                          <a:solidFill>
                            <a:srgbClr val="222222"/>
                          </a:solidFill>
                          <a:latin typeface="Calibri"/>
                        </a:rPr>
                        <a:t>fig-vertebrate-map-tree.png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9 reading  ·  own work</a:t>
                      </a:r>
                    </a:p>
                  </a:txBody>
                  <a:tcPr marL="73152" marR="73152" marT="18288" marB="18288">
                    <a:solidFill>
                      <a:srgbClr val="FFFFFF"/>
                    </a:solidFill>
                  </a:tcPr>
                </a:tc>
              </a:tr>
              <a:tr h="451104">
                <a:tc>
                  <a:txBody>
                    <a:bodyPr/>
                    <a:lstStyle/>
                    <a:p>
                      <a:r>
                        <a:rPr sz="1000" b="0" i="0">
                          <a:solidFill>
                            <a:srgbClr val="222222"/>
                          </a:solidFill>
                          <a:latin typeface="Calibri"/>
                        </a:rPr>
                        <a:t>12</a:t>
                      </a:r>
                    </a:p>
                  </a:txBody>
                  <a:tcPr marL="73152" marR="73152" marT="18288" marB="18288">
                    <a:solidFill>
                      <a:srgbClr val="FFFFFF"/>
                    </a:solidFill>
                  </a:tcPr>
                </a:tc>
                <a:tc>
                  <a:txBody>
                    <a:bodyPr/>
                    <a:lstStyle/>
                    <a:p>
                      <a:r>
                        <a:rPr sz="1000" b="0" i="0">
                          <a:solidFill>
                            <a:srgbClr val="222222"/>
                          </a:solidFill>
                          <a:latin typeface="Calibri"/>
                        </a:rPr>
                        <a:t>When the spatial cells appear in rat pups</a:t>
                      </a:r>
                    </a:p>
                  </a:txBody>
                  <a:tcPr marL="73152" marR="73152" marT="18288" marB="18288">
                    <a:solidFill>
                      <a:srgbClr val="FFFFFF"/>
                    </a:solidFill>
                  </a:tcPr>
                </a:tc>
                <a:tc>
                  <a:txBody>
                    <a:bodyPr/>
                    <a:lstStyle/>
                    <a:p>
                      <a:r>
                        <a:rPr sz="1000" b="0" i="0">
                          <a:solidFill>
                            <a:srgbClr val="222222"/>
                          </a:solidFill>
                          <a:latin typeface="Calibri"/>
                        </a:rPr>
                        <a:t>fig-pup-timeline.png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the Module 9 reading, from the data of Wills and colleagues (2010) and Wills and Cacucci (2026)  ·  own work</a:t>
                      </a:r>
                    </a:p>
                  </a:txBody>
                  <a:tcPr marL="73152" marR="73152" marT="18288" marB="18288">
                    <a:solidFill>
                      <a:srgbClr val="FFFFFF"/>
                    </a:solidFill>
                  </a:tcPr>
                </a:tc>
              </a:tr>
              <a:tr h="451104">
                <a:tc>
                  <a:txBody>
                    <a:bodyPr/>
                    <a:lstStyle/>
                    <a:p>
                      <a:r>
                        <a:rPr sz="1000" b="0" i="0">
                          <a:solidFill>
                            <a:srgbClr val="222222"/>
                          </a:solidFill>
                          <a:latin typeface="Calibri"/>
                        </a:rPr>
                        <a:t>13</a:t>
                      </a:r>
                    </a:p>
                  </a:txBody>
                  <a:tcPr marL="73152" marR="73152" marT="18288" marB="18288">
                    <a:solidFill>
                      <a:srgbClr val="FFFFFF"/>
                    </a:solidFill>
                  </a:tcPr>
                </a:tc>
                <a:tc>
                  <a:txBody>
                    <a:bodyPr/>
                    <a:lstStyle/>
                    <a:p>
                      <a:r>
                        <a:rPr sz="1000" b="0" i="0">
                          <a:solidFill>
                            <a:srgbClr val="222222"/>
                          </a:solidFill>
                          <a:latin typeface="Calibri"/>
                        </a:rPr>
                        <a:t>Finding the way, at three levels</a:t>
                      </a:r>
                    </a:p>
                  </a:txBody>
                  <a:tcPr marL="73152" marR="73152" marT="18288" marB="18288">
                    <a:solidFill>
                      <a:srgbClr val="FFFFFF"/>
                    </a:solidFill>
                  </a:tcPr>
                </a:tc>
                <a:tc>
                  <a:txBody>
                    <a:bodyPr/>
                    <a:lstStyle/>
                    <a:p>
                      <a:r>
                        <a:rPr sz="1000" b="0" i="0">
                          <a:solidFill>
                            <a:srgbClr val="222222"/>
                          </a:solidFill>
                          <a:latin typeface="Calibri"/>
                        </a:rPr>
                        <a:t>fig-old-map.png</a:t>
                      </a:r>
                    </a:p>
                  </a:txBody>
                  <a:tcPr marL="73152" marR="73152" marT="18288" marB="18288">
                    <a:solidFill>
                      <a:srgbClr val="FFFFFF"/>
                    </a:solidFill>
                  </a:tcPr>
                </a:tc>
                <a:tc>
                  <a:txBody>
                    <a:bodyPr/>
                    <a:lstStyle/>
                    <a:p>
                      <a:r>
                        <a:rPr sz="1000" b="0" i="0">
                          <a:solidFill>
                            <a:srgbClr val="222222"/>
                          </a:solidFill>
                          <a:latin typeface="Calibri"/>
                        </a:rPr>
                        <a:t>CC BY 4.0</a:t>
                      </a:r>
                    </a:p>
                  </a:txBody>
                  <a:tcPr marL="73152" marR="73152" marT="18288" marB="18288">
                    <a:solidFill>
                      <a:srgbClr val="FFFFFF"/>
                    </a:solidFill>
                  </a:tcPr>
                </a:tc>
                <a:tc>
                  <a:txBody>
                    <a:bodyPr/>
                    <a:lstStyle/>
                    <a:p>
                      <a:r>
                        <a:rPr sz="1000" b="0" i="0">
                          <a:solidFill>
                            <a:srgbClr val="222222"/>
                          </a:solidFill>
                          <a:latin typeface="Calibri"/>
                        </a:rPr>
                        <a:t>Jon Willits — drawn for this lecture  ·  own work</a:t>
                      </a:r>
                    </a:p>
                  </a:txBody>
                  <a:tcPr marL="73152" marR="73152" marT="18288" marB="18288">
                    <a:solidFill>
                      <a:srgbClr val="FFFF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