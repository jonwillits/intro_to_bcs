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is the algorithmic level. In the first lecture of this module, we said what an animal would need to know to reach a place it cannot sense. We said which cues it could learn from, and how each cue fails on its own. In this lecture, we ask what is represented, and by what procedure. How could an animal keep track of where it is, and correct its mistakes? How could it build and use a map, and decide how to explore?</a:t>
            </a:r>
          </a:p>
          <a:p/>
          <a:p>
            <a:r>
              <a:t>Every procedure in this lecture could run in any substrate. Several already run in robots, and we end with machines as a test of what the procedures can do. The cells and tissue come in the third lecture.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first lecture of this module, one cue was the animal’s own movement: from each step and turn it can sense how far and which way it has gone. This question asks what it would take to use that cue.</a:t>
            </a:r>
          </a:p>
          <a:p/>
          <a:p>
            <a:r>
              <a:t>Groups usually come up with counting steps and remembering the turn, and then combining the two into a direction back. They also notice what goes wrong. A turn that was really sixty degrees but felt like ninety throws off everything after it. Steps are not all the same length. And the errors are silent: nothing signals how far off the estimate is. What helps is anything that can be recognized, like the edge of a table, a wall, or a voice from the starting point.</a:t>
            </a:r>
          </a:p>
          <a:p/>
          <a:p>
            <a:r>
              <a:t>Keeping a running total, the errors that build up in it, and correcting it with something recognized are the problems that path integration and its corrections address.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with the simplest procedures, which work close to the goal. An animal that can sense a beacon reaches the goal by steering toward it. That is the steering we described in Module 4, plus one fact: that the beacon is near the goal. It works as long as the beacon can be sensed.</a:t>
            </a:r>
          </a:p>
          <a:p/>
          <a:p>
            <a:r>
              <a:t>When nothing at the goal can be sensed from afar, an animal can use what the goal’s surroundings look like. A **snapshot** is a stored view of the surroundings from the goal. A person who parks in a large lot sees a lamp post here and a storefront there. Coming back later, they can find the car by moving until the scene looks like that remembered picture again. The match improves the closer they get, but it can be made only near the goal.</a:t>
            </a:r>
          </a:p>
          <a:p/>
          <a:p>
            <a:r>
              <a:t>Insects use snapshots. When a ring of pinecones around a digger wasp’s nest was moved a short distance, the returning wasp searched in the middle of the ring rather than at its nest. Bees trained to find food in the middle of a triangle of landmarks were tested with the triangle enlarged. They searched where the directions to the landmarks matched the directions they had seen from the food. Desert ants searched sharply in an enlarged array only when the landmarks themselves were enlarged too, so that the whole picture matched. Robot engineers use the same rule: keep going while the mismatch shrinks, and change direction when it grows.</a:t>
            </a:r>
          </a:p>
          <a:p/>
          <a:p>
            <a:r>
              <a:t>A **route** is a fixed sequence of moves, or of landmarks, leading from one place to another, like directions past the park and left at the gas station. A route leads much farther than a beacon or a snapshot, but only along its own path. Following one needs little: at each point, only a sensible direction, as if walking a corridor with signposts. Separate routes are kept separate. Desert ants picked up while heading home and set down on their own familiar outward route behaved as if they were lost. For the early mammal, trails between the nest and its best feeding spots would be routes, like the trails wild rats keep to even under snow.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its own movement, an animal can sense how far, and in which direction, it has gone. **Path integration** is keeping a running estimate of the straight-line distance and direction back to the start, from a heading and a distance traveled. The result is a **home vector**: the straight-line distance and direction from wherever the animal is back to where it started. Unlike a route, a home vector is not tied to a path. The hiker who knows the trailhead lies about a mile to the east has one. It points to one place, the start, from anywhere, and gives no information about the way to anywhere else.</a:t>
            </a:r>
          </a:p>
          <a:p/>
          <a:p>
            <a:r>
              <a:t>Desert ants are the best-studied path integrators. An ant searches for food along a winding path, and once it finds some, runs home in a straight line. Its heading comes from the sun, and its distance from its legs. Ants judge distance correctly in darkness, or with the lower halves of their eyes covered, so vision is not what measures it.</a:t>
            </a:r>
          </a:p>
          <a:p/>
          <a:p>
            <a:r>
              <a:t>One experiment showed the role of the legs directly. Ants were trained to walk 10 meters along a channel to a feeder. At the feeder, some had bristles glued to their legs, which lengthened them, and some had their legs shortened. Released in a parallel channel to head home, normal ants began searching for the nest after 10.2 meters. Ants on stilts walked past it, to 15.3 meters, and ants on stumps stopped short, at 5.75. The same ants, after walking out and back on their altered legs, searched at about the right distance. So something tracks strides, although the researchers write that the ants “most probably do not literally count”. A timer is ruled out too: the ants on stilts walked slightly more slowly, which would have sent a timing ant less far, not farther.</a:t>
            </a:r>
          </a:p>
          <a:p/>
          <a:p>
            <a:r>
              <a:t>Path integration has the weaknesses we described in the first lecture. Every small error in heading or distance stays in the sum, and the home vector points home, not between other places. For the early mammal, its sense of how far and which way it had come would be a running sum of this kind, growing less accurate the farther it wandered.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drifting sum can be corrected in three ways.</a:t>
            </a:r>
          </a:p>
          <a:p/>
          <a:p>
            <a:r>
              <a:t>The first is averaging. In Module 8, we described **cue combination**: combining several estimates, each weighted by how reliable it is. Adults walking back to a starting point, with both landmarks and their own movement to go on, combine the two close to this ideal on average. They give landmarks more weight when landmarks are plentiful and stable. Individuals are less tidy, and most give the more reliable source less weight than it deserves. Children follow one source or the other rather than combining them; combining landmarks and self-motion has not been shown in navigation before about age 11.</a:t>
            </a:r>
          </a:p>
          <a:p/>
          <a:p>
            <a:r>
              <a:t>The second is resetting. A recognized landmark can replace a drifting estimate outright, especially an estimate of heading. The estimate drifts further from the true path, until a familiar log comes into view and the estimate snaps back.</a:t>
            </a:r>
          </a:p>
          <a:p/>
          <a:p>
            <a:r>
              <a:t>The third is following one source. When two sources disagree by a lot, people stop averaging and follow one of them.</a:t>
            </a:r>
          </a:p>
          <a:p/>
          <a:p>
            <a:r>
              <a:t>All three rest on one principle. A landmark is worth using to correct the sum only if it stays where it is. For the early mammal, a fallen log passed every night could reset its sense of where it was. A beetle seen in the same spot last week could not.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Heading matters most, because an error in heading becomes a growing error in position. One procedure for keeping a heading is a **ring attractor**.</a:t>
            </a:r>
          </a:p>
          <a:p/>
          <a:p>
            <a:r>
              <a:t>Picture a set of units arranged on a circle, each standing for one direction. Each unit excites its near neighbors, and all of them feed a shared inhibition that holds every unit down. Such a circle settles into a single patch of activity, a bump, at one place on the ring. When nothing pushes the bump, it stays where it is. That is the stored heading.</a:t>
            </a:r>
          </a:p>
          <a:p/>
          <a:p>
            <a:r>
              <a:t>A signal for turning, delivered to one side of the bump, slides it around the ring, faster for faster turns. That is the update. And a recognized landmark adds input at its own place on the ring, which pulls a drifted bump back. That is the correction.</a:t>
            </a:r>
          </a:p>
          <a:p/>
          <a:p>
            <a:r>
              <a:t>So a ring attractor does for direction alone what the running sum and its corrections do for position: store, update, correct. For an animal turning in the dark, the bump would turn with it. Nothing in this description depends on neurons, and robot navigation systems have been built on the same principle. We take up whether brains contain rings like this in the third lecture.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Module 8, we described a problem with direction on the eye. Where something falls on the eye is not enough to locate the thing in the world. That position on the eye has to be combined with where the eye was pointing. Finding the way raises the same problem one step further.</a:t>
            </a:r>
          </a:p>
          <a:p/>
          <a:p>
            <a:r>
              <a:t>An **egocentric** location is given relative to the animal itself: ahead, or to the left. An **allocentric** location is given relative to things in the world: north of the boulder, or beside the stream. Each is stated in a **frame of reference**, the origin and directions against which a location is measured. An egocentric code stays useful while the animal moves only if it is updated for every step and turn. An allocentric code does not depend on where the animal now stands.</a:t>
            </a:r>
          </a:p>
          <a:p/>
          <a:p>
            <a:r>
              <a:t>Converting between the two is vector addition. The animal can see the vector from itself to a landmark. It has stored the vector from that landmark to the goal. Added together, the two give the vector from the animal to the goal. Gerbils trained to find food at a fixed distance and direction from landmarks searched as this procedure predicts. And a gerbil that had set off toward the goal kept going when the lights went out.</a:t>
            </a:r>
          </a:p>
          <a:p/>
          <a:p>
            <a:r>
              <a:t>Converting needs one more thing, the animal’s current heading, because the seen vector is egocentric and the stored one is not. A ring attractor can supply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animal that has lost its heading, after a fright or a tumble, has to recover it before anything else it knows can be used. **Reorientation** is recovering which way one is facing, and where one is, after becoming disoriented.</a:t>
            </a:r>
          </a:p>
          <a:p/>
          <a:p>
            <a:r>
              <a:t>The shape of the surroundings can help, but not completely. In a rectangular room, a target corner and the corner diagonally opposite it look the same by shape alone, and choosing that twin is called a rotational error. Rats looking for food in a rectangular box, with a distinct panel in each corner, chose the correct corner 44% of the time and its twin 25% of the time. Toddlers in a small room ignored a blue wall and searched the correct corner and its twin about equally; in a room twice as large, they used the wall. Fish, chicks, pigeons, rats, monkeys, and people all use the shape of a space to reorient.</a:t>
            </a:r>
          </a:p>
          <a:p/>
          <a:p>
            <a:r>
              <a:t>Researchers once proposed a dedicated process that matches the shape of the surroundings and ignores everything else. That proposal has lost ground. Many species use features such as colors and objects as well as shape. And mice raised in round enclosures fail to use shape at all, so which cue an animal relies on depends on its experience.</a:t>
            </a:r>
          </a:p>
          <a:p/>
          <a:p>
            <a:r>
              <a:t>On the current view, which cue an animal relies on depends on how reliable and noticeable that cue has proved. In reorientation, people seem to select the most useful cue rather than average several. That is closer to following one source, the third way of correcting the sum, than to averaging.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informative kind of knowledge is knowledge of where places lie relative to one another, so that the way between any two of them can be worked out. Researchers who study human navigation call this **survey knowledge**, the kind of knowledge that “would support detouring and shortcutting”. A map, in the sense we use in this module, is what contains survey knowledge. Edward Tolman, whose rat experiments we discussed in the first lecture, proposed that animals have such a map, which he called a **cognitive map**. A cognitive map relates places to one another, so that an animal can reach a goal by a route it has never taken.</a:t>
            </a:r>
          </a:p>
          <a:p/>
          <a:p>
            <a:r>
              <a:t>A map can contain more or less. A **metric map** contains distances and directions between places, like a sailor’s chart. A **topological map** contains only which places connect to which, like a subway map. Human geography is neither perfectly metric nor merely topological. People judge Reno to be east of San Diego, because Nevada is east of California, although Reno is in fact to the west. And remembered positions drift toward the centers of the regions they belong to.</a:t>
            </a:r>
          </a:p>
          <a:p/>
          <a:p>
            <a:r>
              <a:t>A map also has to keep track of where the animal is on it. One proposal uses codes that repeat across space. Imagine a pattern that repeats across the floor, like tiles, and slides along as the animal moves, driven by a signal for speed and direction. On its own, such a pattern fixes the animal’s position only within one repeat, much as a clock’s minute hand gives the minute but not the hour. But several patterns of different sizes, combined, pin down a single place.</a:t>
            </a:r>
          </a:p>
          <a:p/>
          <a:p>
            <a:r>
              <a:t>With the animal’s position and the goal’s in one code, the direction and distance to the goal can be computed directly, even across ground the animal has never crossed. We take up whether brains use codes like these in the third lecture. How a route is chosen by searching a map, we leave for Module 12.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map is useful because choices can be made from it. In Module 5, we described model-based choice: choosing an action by running a model of what leads to what. In finding the way, the map is the model. A remembered chain of turns that once led to food does not help an animal escape a predator from somewhere new, and a map does. But a map is more complicated, and early in learning, while it is still wrong, following it can do worse than habit.</a:t>
            </a:r>
          </a:p>
          <a:p/>
          <a:p>
            <a:r>
              <a:t>Researchers have proposed a third procedure, between choosing by values remembered from experience and choosing by running a model. For each place, store an expectation of which places will follow it, and how soon, given the way the animal usually moves. Combined with where food is now, these expectations give every place a value, with no search. Researchers call this a *predictive map*. When food turns up somewhere new, the values change at once. But the expectations were built from the routes the animal has been taking, so when the best route changes, they lag. The procedure is quick, and only partly flexible. To give our own illustration, an early mammal whose insects swarm at a new spot along its usual circuit could value the route there at once. A spot reached only by a route it rarely takes is where the procedure would lag. The predictive map is a proposal for what the hippocampus does, tested in simulations in which the way the simulated animal moved was supplied rather than learned.</a:t>
            </a:r>
          </a:p>
          <a:p/>
          <a:p>
            <a:r>
              <a:t>An animal that knows many places faces one more choice: which map it is on. A familiar place seen in new light has to be matched to its stored map. A new place that resembles an old one has to get a map of its own. In Module 7, we described the choice between generalizing, treating similar inputs alike, and discriminating, telling them apart. In finding the way, the same choice is made for whole places. Old rats sometimes swim straight to a platform hidden in a familiar pool, and sometimes seem lost, as if they had called up the wrong map. As one group of researchers put it, “Proper navigation requires not only locating oneself correctly but also locating oneself on the correct map”.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first lecture, we described two exploring problems: going somewhere never visited, and leaving a patch that is running down. Each has its own procedures.</a:t>
            </a:r>
          </a:p>
          <a:p/>
          <a:p>
            <a:r>
              <a:t>For the unknown, there are three. **Random exploration** is choosing the better-looking option most of the time and another option some of the time, with a setting for how often. **Directed exploration** is adding a bonus to options that are less known, so that uncertainty itself makes an option attractive. And a **novelty bonus** values a thing more simply for being new. The two bonuses fade differently: a novelty bonus fades with seeing an option, while a bonus for uncertainty fades only with sampling it.</a:t>
            </a:r>
          </a:p>
          <a:p/>
          <a:p>
            <a:r>
              <a:t>People use both random and directed exploration. In one study, people played a game with two options, after a few forced choices that showed them one option more often than the other. When six choices were still ahead, they chose the less-sampled option half the time even when it had looked 8 points worse, a shift toward the less-known option. Their choices were also noisier than when only one choice was ahead. Both effects held in most individuals. Monkeys and people have also been tested with options they had never seen. For them, the value of what could still be learned about an option predicted their choices better than a fixed bonus for being new.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patch that is running down, a rule from the study of foraging gives the best time to leave. Leave when the rate of finding food in the patch has fallen to the average rate for the habitat as a whole. That average counts the time it takes to travel between patches. Because a richer habitat raises that average, the patch’s rate falls to it sooner, so the animal should leave sooner. The rule concerns when leaving is best, not how an animal arrives at it. In an early test, chickadees searched blocks of wood for mealworms. They waited about the same time after their last find before leaving, whatever the patch, and left sooner where food was plentiful, as the rule predicts.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Rats explore an unfamiliar place from a home base. Put on a bare platform, they settle on a spot within minutes, usually at an edge or corner, where they stay longest, groom most, and return most often. Their trips out are slower and have more stops than their trips back.</a:t>
            </a:r>
          </a:p>
          <a:p/>
          <a:p>
            <a:r>
              <a:t>One proposal for why rats explore this way rests on the running sum. A running sum drifts, and each return to a known place lets it start again, so landmarks encountered along the way can be tied to positions measured from home. Researchers have also proposed that a mismatch between the position estimated from the running sum and the position the senses indicate is the signal to explore further. For the early mammal, the nightly trips out from the nest would have been exploring and foraging at once.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first lecture, we asked why an animal would accept less in exchange for information it cannot use. **Curiosity** is a drive to gain information for its own sake, and there are two proposed answers to what it rewards.</a:t>
            </a:r>
          </a:p>
          <a:p/>
          <a:p>
            <a:r>
              <a:t>One is that information is a reward in itself. On this account, curiosity is highest when one knows a little, but not enough. Plotted against confidence, curiosity rises and then falls, in an inverted U.</a:t>
            </a:r>
          </a:p>
          <a:p/>
          <a:p>
            <a:r>
              <a:t>The other answer is that progress is the reward. An agent that rewards itself for getting better at predicting drops what it already predicts well, and also drops what it cannot learn. It works on whatever it is learning now, and so produces its own curriculum. Adults choosing freely among games of different difficulty settled on games where they were right 70 to 80% of the time.</a:t>
            </a:r>
          </a:p>
          <a:p/>
          <a:p>
            <a:r>
              <a:t>Rewarding progress also avoids a pitfall. A program rewarded simply for errors in predicting the results of its own moves kept returning to whatever it could never learn to predict. One example was a screen whose channel changed at random. Another was a doorway where a random outcome sent it back and forth between two rooms. The screen slowed its learning badly, though it did not stop it for good. A reward for progress would have dropped the screen, since nothing about it could be learned. Learning by rewarding progress has been shown in simulated robots. Whether brains do it is open.</a:t>
            </a:r>
          </a:p>
          <a:p/>
          <a:p>
            <a:r>
              <a:t>Who explores most? Children explore more than adults, and partly in a directed way, but tuning how much to explore to how much time remains matures late, at about 11 or 12. In many species, juveniles are less wary of new things than adults. One proposal is that a long, protected childhood is a period of broad search before narrowing. It would be like a search for solutions that starts with large random jumps and settles down over time. The evidence for that proposal is mixed.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Robots face the problem of finding the way too. A robot needs a map to estimate its position, and it needs its position to add what it sees to the map. Doing both at once is **simultaneous localization and mapping**, or **SLAM**. A robot keeps a running estimate of its position from its own wheels, and the estimate drifts. When it recognizes a place it has been before, it pulls the whole loop of its path back into line, which is called loop closure. The parallel to correcting a running sum with a landmark is direct.</a:t>
            </a:r>
          </a:p>
          <a:p/>
          <a:p>
            <a:r>
              <a:t>Machines need help to explore, too. In one study, a program played Montezuma’s Revenge, a video game of many rooms. A player taking random actions finds even the first reward only about once every few hundred thousand steps. The program was given an extra reward measured by how unlike the screens it had already seen the current screen was, a reward that shrank as similar screens recurred. Without it, its average score was 2,497; with it, 8,152, against 4,753 for an average human player, and it often reached 22 of the first level’s 24 rooms. But the extra reward helped only with what lay just ahead, not with choices whose reward came much later.</a:t>
            </a:r>
          </a:p>
          <a:p/>
          <a:p>
            <a:r>
              <a:t>Networks trained to keep track of their own position are a second line of work. In one study, a network trained on its own movement developed some units that fired in repeating triangular patterns. These were like the repeating codes we described for keeping track of position on a map. An agent using the network took shortcuts through newly opened passages. But later researchers trained more than 11,000 networks the same way. Units with triangular patterns appeared only when the training targets were coded in a particular way, chosen with the brain’s grid cells already in mind. So we can conclude that such a code can serve an artificial agent. We cannot conclude that training on self-motion produces the code, or that brains have it for that reason.</a:t>
            </a:r>
          </a:p>
          <a:p/>
          <a:p/>
          <a:p>
            <a:r>
              <a:t>A third study gave an agent nothing but its own change of position and heading, with no vision and no touch, and rewarded it only for progress toward goals. No spatial training target was used, which is what makes it different from the triangular units. In houses it had never been in, it reached the goal on 95.1% of trials. A layout of the free space, including walls it had not passed, could be decoded from its memory. A second agent, given that memory, repeated the trip by a more direct route. Three cautions go with that result. The layout was read out by a decoder trained to find it. The second agent’s more direct route mostly cut out the first agent’s detours, rather than crossing new ground. And the change of position and heading was supplied, not computed.</a:t>
            </a:r>
          </a:p>
          <a:p/>
          <a:p>
            <a:r>
              <a:t>None of these programs shows how brains explore or find the way. They show what a procedure can do in a machine. In Module 8, we called a forward model one version of an internal model of the world. A map is a second version, and a much older one.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case runs several procedures from this lecture at once.</a:t>
            </a:r>
          </a:p>
          <a:p/>
          <a:p>
            <a:r>
              <a:t>What has gone wrong is the running estimate. The vacuum keeps track of its position partly from its own wheels, which is path integration. Being carried turns no wheels, so its estimate still puts it where it was picked up. Like an animal that has been carried, it registers no movement. Its map is fine, but it does not know where it is on the map.</a:t>
            </a:r>
          </a:p>
          <a:p/>
          <a:p>
            <a:r>
              <a:t>Recovering takes the procedures in roughly the order of the lecture. It has to notice the mismatch between where its estimate puts it and what its sensors now report. It has to recognize somewhere, and reset its estimate from what it recognizes, which is resetting. Loop closure, by contrast, corrects a whole path the robot actually traveled, and a carried robot has no such path. If the new room’s shape is symmetric, it can make the rotational error, taking a corner for the one diagonally opposite. And it has to decide which map it is on. Is this a room it has mapped, seen from a new spot, or a new room that needs a map of its own? That is the generalizing-against-discriminating choice, made for whole places.</a:t>
            </a:r>
          </a:p>
          <a:p/>
          <a:p>
            <a:r>
              <a:t>Groups sometimes point out that the robot has an advantage the animal lacked: it can be told, by a person or an app, that it has been moved. The animal’s version of that is the moment a recognized landmark comes into view.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name="title">
    <p:bg>
      <p:bgPr>
        <a:solidFill>
          <a:srgbClr val="FE552E"/>
        </a:solidFill>
        <a:effectLst/>
      </p:bgPr>
    </p:bg>
    <p:spTree>
      <p:nvGrpSpPr>
        <p:cNvPr id="1" name=""/>
        <p:cNvGrpSpPr/>
        <p:nvPr/>
      </p:nvGrpSpPr>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title_logo" descr="University of Illinois Urbana-Champaign wordmark"/>
          <p:cNvPicPr>
            <a:picLocks noChangeAspect="1"/>
          </p:cNvPicPr>
          <p:nvPr/>
        </p:nvPicPr>
        <p:blipFill>
          <a:blip r:embed="rId2"/>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Spatial Cognition</a:t>
            </a:r>
          </a:p>
          <a:p>
            <a:pPr algn="ctr"/>
            <a:r>
              <a:rPr sz="2000" b="0" i="0">
                <a:solidFill>
                  <a:srgbClr val="FFFFFF"/>
                </a:solidFill>
                <a:latin typeface="Calibri"/>
              </a:rPr>
              <a:t>Lecture 9.2 — Keeping Track, Making Maps, and Exploring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discussion_blindfolded">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To Start: Out and Back, Blindfolded</a:t>
            </a:r>
          </a:p>
        </p:txBody>
      </p:sp>
      <p:sp>
        <p:nvSpPr>
          <p:cNvPr id="3" name="body_box"/>
          <p:cNvSpPr txBox="1"/>
          <p:nvPr/>
        </p:nvSpPr>
        <p:spPr>
          <a:xfrm>
            <a:off x="822960" y="1463040"/>
            <a:ext cx="10515600" cy="4206240"/>
          </a:xfrm>
          <a:prstGeom prst="rect">
            <a:avLst/>
          </a:prstGeom>
          <a:noFill/>
        </p:spPr>
        <p:txBody>
          <a:bodyPr wrap="square">
            <a:spAutoFit/>
          </a:bodyPr>
          <a:lstStyle/>
          <a:p>
            <a:pPr>
              <a:spcAft>
                <a:spcPts val="2400"/>
              </a:spcAft>
            </a:pPr>
            <a:r>
              <a:rPr sz="2000" b="1" i="0">
                <a:solidFill>
                  <a:srgbClr val="222222"/>
                </a:solidFill>
                <a:latin typeface="Calibri"/>
              </a:rPr>
              <a:t>In your group, three minutes.</a:t>
            </a:r>
          </a:p>
          <a:p>
            <a:pPr>
              <a:defRPr sz="1000"/>
            </a:pPr>
          </a:p>
          <a:p>
            <a:pPr>
              <a:spcAft>
                <a:spcPts val="2400"/>
              </a:spcAft>
            </a:pPr>
            <a:r>
              <a:rPr sz="2000" b="0" i="0">
                <a:solidFill>
                  <a:srgbClr val="222222"/>
                </a:solidFill>
                <a:latin typeface="Calibri"/>
              </a:rPr>
              <a:t>Imagine walking with your eyes closed: twenty steps ahead, a turn to the left, ten more steps. Then you have to point back to where you started.</a:t>
            </a:r>
          </a:p>
          <a:p>
            <a:pPr>
              <a:defRPr sz="1000"/>
            </a:pPr>
          </a:p>
          <a:p>
            <a:pPr>
              <a:spcAft>
                <a:spcPts val="2400"/>
              </a:spcAft>
            </a:pPr>
            <a:r>
              <a:rPr sz="2000" b="0" i="0">
                <a:solidFill>
                  <a:srgbClr val="222222"/>
                </a:solidFill>
                <a:latin typeface="Calibri"/>
              </a:rPr>
              <a:t>How would you keep track? What would go wrong, and what would help?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beacons_snapshots_route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Beacons, Snapshots, and Routes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a:t>
            </a:r>
            <a:r>
              <a:rPr sz="2000" b="1" i="0">
                <a:solidFill>
                  <a:srgbClr val="222222"/>
                </a:solidFill>
                <a:latin typeface="Calibri"/>
              </a:rPr>
              <a:t>snapshot</a:t>
            </a:r>
            <a:r>
              <a:rPr sz="2000" b="0" i="0">
                <a:solidFill>
                  <a:srgbClr val="222222"/>
                </a:solidFill>
                <a:latin typeface="Calibri"/>
              </a:rPr>
              <a:t> is a stored view of the surroundings from the goal. A </a:t>
            </a:r>
            <a:r>
              <a:rPr sz="2000" b="1" i="0">
                <a:solidFill>
                  <a:srgbClr val="222222"/>
                </a:solidFill>
                <a:latin typeface="Calibri"/>
              </a:rPr>
              <a:t>route</a:t>
            </a:r>
            <a:r>
              <a:rPr sz="2000" b="0" i="0">
                <a:solidFill>
                  <a:srgbClr val="222222"/>
                </a:solidFill>
                <a:latin typeface="Calibri"/>
              </a:rPr>
              <a:t> is a fixed sequence of moves, or of landmarks, leading from one place to another.</a:t>
            </a:r>
          </a:p>
        </p:txBody>
      </p:sp>
      <p:pic>
        <p:nvPicPr>
          <p:cNvPr id="4" name="img0" descr="Three panels seen from above. Panel one, labeled training: three cylinders form a triangle around a small food dish, and a circular inset shows the stored view from the dish, three dark shapes at particular directions and sizes around the horizon. Panel two, labeled bees, enlarged array: the triangle is twice as wide, the cylinders are the same size, and a cluster of dots marking where bees searched sits at the point where the directions to the three cylinders match the stored view. Panel three, labeled ants: two small versions of the enlarged triangle. In the first, with ordinary cylinders, the ants' search dots are scattered widely. In the second, with cylinders twice as large, the dots are tightly clustered at the center."/>
          <p:cNvPicPr>
            <a:picLocks noChangeAspect="1"/>
          </p:cNvPicPr>
          <p:nvPr/>
        </p:nvPicPr>
        <p:blipFill>
          <a:blip r:embed="rId2"/>
          <a:stretch>
            <a:fillRect/>
          </a:stretch>
        </p:blipFill>
        <p:spPr>
          <a:xfrm>
            <a:off x="192024" y="1783080"/>
            <a:ext cx="11799570" cy="493718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a_running_sum">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 Running Sum</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Path integration</a:t>
            </a:r>
            <a:r>
              <a:rPr sz="2000" b="0" i="0">
                <a:solidFill>
                  <a:srgbClr val="222222"/>
                </a:solidFill>
                <a:latin typeface="Calibri"/>
              </a:rPr>
              <a:t>: a running estimate of the straight-line distance and direction back to the start, from heading and distance traveled. The result is a </a:t>
            </a:r>
            <a:r>
              <a:rPr sz="2000" b="1" i="0">
                <a:solidFill>
                  <a:srgbClr val="222222"/>
                </a:solidFill>
                <a:latin typeface="Calibri"/>
              </a:rPr>
              <a:t>home vector</a:t>
            </a:r>
            <a:r>
              <a:rPr sz="2000" b="0" i="0">
                <a:solidFill>
                  <a:srgbClr val="222222"/>
                </a:solidFill>
                <a:latin typeface="Calibri"/>
              </a:rPr>
              <a:t>.</a:t>
            </a:r>
          </a:p>
        </p:txBody>
      </p:sp>
      <p:pic>
        <p:nvPicPr>
          <p:cNvPr id="4" name="img0" descr="Two bar charts side by side, with a dashed horizontal line at 10 meters marking the nest. Left chart, labeled test 1, legs altered at the feeder: normal ants 10.2 meters, stilts 15.3 meters, stumps 5.75 meters. Right chart, labeled test 2, legs altered for the whole trip: normal 10.2, stilts 10.55, stumps 10.25 meters. Small drawings of an ant leg, normal, lengthened, and shortened, label the three bars in each chart."/>
          <p:cNvPicPr>
            <a:picLocks noChangeAspect="1"/>
          </p:cNvPicPr>
          <p:nvPr/>
        </p:nvPicPr>
        <p:blipFill>
          <a:blip r:embed="rId2"/>
          <a:stretch>
            <a:fillRect/>
          </a:stretch>
        </p:blipFill>
        <p:spPr>
          <a:xfrm>
            <a:off x="1234440" y="1783080"/>
            <a:ext cx="9723424" cy="493847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correcting_the_sum">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Correcting the Sum</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Three corrections: averaging by </a:t>
            </a:r>
            <a:r>
              <a:rPr sz="2000" b="1" i="0">
                <a:solidFill>
                  <a:srgbClr val="222222"/>
                </a:solidFill>
                <a:latin typeface="Calibri"/>
              </a:rPr>
              <a:t>cue combination</a:t>
            </a:r>
            <a:r>
              <a:rPr sz="2000" b="0" i="0">
                <a:solidFill>
                  <a:srgbClr val="222222"/>
                </a:solidFill>
                <a:latin typeface="Calibri"/>
              </a:rPr>
              <a:t>, combining estimates each weighted by how reliable it is; resetting; and following one source. A landmark is worth using only if it stays put.</a:t>
            </a:r>
          </a:p>
        </p:txBody>
      </p:sp>
      <p:pic>
        <p:nvPicPr>
          <p:cNvPr id="4" name="img0" descr="A winding solid line marks an animal's true outward path from a nest. A dashed line, the animal's estimate of where it is, starts on the true path and gradually drifts away from it, with a widening shaded band around it showing growing uncertainty. Where the true path passes a fallen log, labeled landmark, an arrow shows the dashed line jumping back onto the true path and the shaded band shrinking."/>
          <p:cNvPicPr>
            <a:picLocks noChangeAspect="1"/>
          </p:cNvPicPr>
          <p:nvPr/>
        </p:nvPicPr>
        <p:blipFill>
          <a:blip r:embed="rId2"/>
          <a:stretch>
            <a:fillRect/>
          </a:stretch>
        </p:blipFill>
        <p:spPr>
          <a:xfrm>
            <a:off x="155448" y="1783080"/>
            <a:ext cx="11886438" cy="450433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keeping_a_heading">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Keeping a Heading</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a:t>
            </a:r>
            <a:r>
              <a:rPr sz="2000" b="1" i="0">
                <a:solidFill>
                  <a:srgbClr val="222222"/>
                </a:solidFill>
                <a:latin typeface="Calibri"/>
              </a:rPr>
              <a:t>ring attractor</a:t>
            </a:r>
            <a:r>
              <a:rPr sz="2000" b="0" i="0">
                <a:solidFill>
                  <a:srgbClr val="222222"/>
                </a:solidFill>
                <a:latin typeface="Calibri"/>
              </a:rPr>
              <a:t>: units on a circle, each standing for one direction, that excite their neighbors and share inhibition. One bump of activity marks the heading.</a:t>
            </a:r>
          </a:p>
        </p:txBody>
      </p:sp>
      <p:pic>
        <p:nvPicPr>
          <p:cNvPr id="4" name="img0" descr="A circle of twelve small units, labeled with compass directions. Three neighboring units near the top right are shaded dark, forming a bump. Short arrows between neighboring units show excitation, and lines from every unit to a central disc labeled shared inhibition show that all units feed it. An arrow labeled turn signal enters the bump from one side and points around the ring. A second arrow, labeled landmark, enters at a different unit and pulls toward it."/>
          <p:cNvPicPr>
            <a:picLocks noChangeAspect="1"/>
          </p:cNvPicPr>
          <p:nvPr/>
        </p:nvPicPr>
        <p:blipFill>
          <a:blip r:embed="rId2"/>
          <a:stretch>
            <a:fillRect/>
          </a:stretch>
        </p:blipFill>
        <p:spPr>
          <a:xfrm>
            <a:off x="1106424" y="1783080"/>
            <a:ext cx="9981133" cy="493803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frames_of_referenc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From the Animal’s Directions to the World’s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An </a:t>
            </a:r>
            <a:r>
              <a:rPr sz="2000" b="1" i="0">
                <a:solidFill>
                  <a:srgbClr val="222222"/>
                </a:solidFill>
                <a:latin typeface="Calibri"/>
              </a:rPr>
              <a:t>egocentric</a:t>
            </a:r>
            <a:r>
              <a:rPr sz="2000" b="0" i="0">
                <a:solidFill>
                  <a:srgbClr val="222222"/>
                </a:solidFill>
                <a:latin typeface="Calibri"/>
              </a:rPr>
              <a:t> location is relative to the animal; an </a:t>
            </a:r>
            <a:r>
              <a:rPr sz="2000" b="1" i="0">
                <a:solidFill>
                  <a:srgbClr val="222222"/>
                </a:solidFill>
                <a:latin typeface="Calibri"/>
              </a:rPr>
              <a:t>allocentric</a:t>
            </a:r>
            <a:r>
              <a:rPr sz="2000" b="0" i="0">
                <a:solidFill>
                  <a:srgbClr val="222222"/>
                </a:solidFill>
                <a:latin typeface="Calibri"/>
              </a:rPr>
              <a:t> one, to things in the world. Each is stated in a </a:t>
            </a:r>
            <a:r>
              <a:rPr sz="2000" b="1" i="0">
                <a:solidFill>
                  <a:srgbClr val="222222"/>
                </a:solidFill>
                <a:latin typeface="Calibri"/>
              </a:rPr>
              <a:t>frame of reference</a:t>
            </a:r>
            <a:r>
              <a:rPr sz="2000" b="0" i="0">
                <a:solidFill>
                  <a:srgbClr val="222222"/>
                </a:solidFill>
                <a:latin typeface="Calibri"/>
              </a:rPr>
              <a:t>. Converting between them is vector addition.</a:t>
            </a:r>
          </a:p>
        </p:txBody>
      </p:sp>
      <p:pic>
        <p:nvPicPr>
          <p:cNvPr id="4" name="img0" descr="Seen from above, a gerbil at the lower left, a cylinder labeled landmark at the top, and a small dish labeled goal at the right. A solid arrow labeled seen runs from the gerbil to the landmark. A dashed arrow labeled stored runs from the landmark to the goal. A thick arrow labeled sum runs straight from the gerbil to the goal, completing the triangle."/>
          <p:cNvPicPr>
            <a:picLocks noChangeAspect="1"/>
          </p:cNvPicPr>
          <p:nvPr/>
        </p:nvPicPr>
        <p:blipFill>
          <a:blip r:embed="rId2"/>
          <a:stretch>
            <a:fillRect/>
          </a:stretch>
        </p:blipFill>
        <p:spPr>
          <a:xfrm>
            <a:off x="411480" y="1783080"/>
            <a:ext cx="11371021" cy="4937417"/>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reorienting_by_shap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Reorienting by Shape</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Reorientation</a:t>
            </a:r>
            <a:r>
              <a:rPr sz="2000" b="0" i="0">
                <a:solidFill>
                  <a:srgbClr val="222222"/>
                </a:solidFill>
                <a:latin typeface="Calibri"/>
              </a:rPr>
              <a:t> is recovering which way one is facing, and where one is, after becoming disoriented. Which cue an animal relies on depends on how reliable and noticeable it has proved.</a:t>
            </a:r>
          </a:p>
        </p:txBody>
      </p:sp>
      <p:pic>
        <p:nvPicPr>
          <p:cNvPr id="4" name="img0" descr="Top: a rectangle with one long wall colored blue. The target corner is marked with a star, and the diagonally opposite corner, labeled rotational twin, with an open star. Bottom: a bar chart with paired bars for correct corner and twin. Rats, 44 and 25 percent. Toddlers in a small room, about equal bars for the two corners. Toddlers in a large room, a clearly taller bar for the correct corner. Adults, a much taller bar for the correct corner."/>
          <p:cNvPicPr>
            <a:picLocks noChangeAspect="1"/>
          </p:cNvPicPr>
          <p:nvPr/>
        </p:nvPicPr>
        <p:blipFill>
          <a:blip r:embed="rId2"/>
          <a:stretch>
            <a:fillRect/>
          </a:stretch>
        </p:blipFill>
        <p:spPr>
          <a:xfrm>
            <a:off x="1691640" y="1783080"/>
            <a:ext cx="8808415" cy="493734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what_a_map_contain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What a Map Contains</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Survey knowledge</a:t>
            </a:r>
            <a:r>
              <a:rPr sz="2000" b="0" i="0">
                <a:solidFill>
                  <a:srgbClr val="222222"/>
                </a:solidFill>
                <a:latin typeface="Calibri"/>
              </a:rPr>
              <a:t>: where places lie relative to one another. A map contains it; Tolman’s </a:t>
            </a:r>
            <a:r>
              <a:rPr sz="2000" b="1" i="0">
                <a:solidFill>
                  <a:srgbClr val="222222"/>
                </a:solidFill>
                <a:latin typeface="Calibri"/>
              </a:rPr>
              <a:t>cognitive map</a:t>
            </a:r>
            <a:r>
              <a:rPr sz="2000" b="0" i="0">
                <a:solidFill>
                  <a:srgbClr val="222222"/>
                </a:solidFill>
                <a:latin typeface="Calibri"/>
              </a:rPr>
              <a:t> is one. A </a:t>
            </a:r>
            <a:r>
              <a:rPr sz="2000" b="1" i="0">
                <a:solidFill>
                  <a:srgbClr val="222222"/>
                </a:solidFill>
                <a:latin typeface="Calibri"/>
              </a:rPr>
              <a:t>metric map</a:t>
            </a:r>
            <a:r>
              <a:rPr sz="2000" b="0" i="0">
                <a:solidFill>
                  <a:srgbClr val="222222"/>
                </a:solidFill>
                <a:latin typeface="Calibri"/>
              </a:rPr>
              <a:t> has distances and directions; a </a:t>
            </a:r>
            <a:r>
              <a:rPr sz="2000" b="1" i="0">
                <a:solidFill>
                  <a:srgbClr val="222222"/>
                </a:solidFill>
                <a:latin typeface="Calibri"/>
              </a:rPr>
              <a:t>topological map</a:t>
            </a:r>
            <a:r>
              <a:rPr sz="2000" b="0" i="0">
                <a:solidFill>
                  <a:srgbClr val="222222"/>
                </a:solidFill>
                <a:latin typeface="Calibri"/>
              </a:rPr>
              <a:t>, only connections.</a:t>
            </a:r>
          </a:p>
        </p:txBody>
      </p:sp>
      <p:pic>
        <p:nvPicPr>
          <p:cNvPr id="4" name="img0" descr="Top, two small panels side by side. The first, labeled metric map, like a sailor's chart, shows four places with distances and directions drawn between them. The second, labeled topological map, like a subway map, shows the same four places as stations joined by lines, with no distances. Bottom, a panel labeled repeating codes, showing a stretch of ground along a horizontal axis and three rows of evenly spaced bumps above it, with short, medium, and long spacing. Each row on its own repeats at many places along the ground. A vertical band marks the one position where a bump in all three rows lines up, labeled the animal is here."/>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using_the_map">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Using the Map, and Choosing Which One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map is the model in model-based choice. One proposal, a </a:t>
            </a:r>
            <a:r>
              <a:rPr sz="2000" b="0" i="1">
                <a:solidFill>
                  <a:srgbClr val="222222"/>
                </a:solidFill>
                <a:latin typeface="Calibri"/>
              </a:rPr>
              <a:t>predictive map</a:t>
            </a:r>
            <a:r>
              <a:rPr sz="2000" b="0" i="0">
                <a:solidFill>
                  <a:srgbClr val="222222"/>
                </a:solidFill>
                <a:latin typeface="Calibri"/>
              </a:rPr>
              <a:t>, stores for each place an expectation of which places will follow it, and how soon. And an animal has to choose which map it is on.</a:t>
            </a:r>
          </a:p>
        </p:txBody>
      </p:sp>
      <p:pic>
        <p:nvPicPr>
          <p:cNvPr id="4" name="img0" descr="Two panels. Left, headed a predictive map: five places along the animal's usual circuit, drawn as circles joined by arrows from A to E, with food at E. Each circle is shaded by its value, darkest at E and paler back along the circuit. A note reads: food appears somewhere new, and the values change at once. A sixth place, F, off the usual circuit and joined to E by a dashed line, is barely shaded, with a note: reached only by a route rarely taken, so its expectations lag. Right, headed which map am I on: a familiar square room on the left, and on the right two candidate rooms, one the same room in different light and one a similar but different room. Arrows label the first case generalize, use the stored map, and the second discriminate, give it a map of its own."/>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ways_to_explore__1">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Ways to Explore</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Random exploration</a:t>
            </a:r>
            <a:r>
              <a:rPr sz="2000" b="0" i="0">
                <a:solidFill>
                  <a:srgbClr val="222222"/>
                </a:solidFill>
                <a:latin typeface="Calibri"/>
              </a:rPr>
              <a:t>: mostly the better-looking option, sometimes another. </a:t>
            </a:r>
            <a:r>
              <a:rPr sz="2000" b="1" i="0">
                <a:solidFill>
                  <a:srgbClr val="222222"/>
                </a:solidFill>
                <a:latin typeface="Calibri"/>
              </a:rPr>
              <a:t>Directed exploration</a:t>
            </a:r>
            <a:r>
              <a:rPr sz="2000" b="0" i="0">
                <a:solidFill>
                  <a:srgbClr val="222222"/>
                </a:solidFill>
                <a:latin typeface="Calibri"/>
              </a:rPr>
              <a:t>: a bonus for less-known options. A </a:t>
            </a:r>
            <a:r>
              <a:rPr sz="2000" b="1" i="0">
                <a:solidFill>
                  <a:srgbClr val="222222"/>
                </a:solidFill>
                <a:latin typeface="Calibri"/>
              </a:rPr>
              <a:t>novelty bonus</a:t>
            </a:r>
            <a:r>
              <a:rPr sz="2000" b="0" i="0">
                <a:solidFill>
                  <a:srgbClr val="222222"/>
                </a:solidFill>
                <a:latin typeface="Calibri"/>
              </a:rPr>
              <a:t>: extra value for being new.</a:t>
            </a:r>
          </a:p>
        </p:txBody>
      </p:sp>
      <p:pic>
        <p:nvPicPr>
          <p:cNvPr id="4" name="img0" descr="A graph with the difference in average points between the two options on the horizontal axis and the probability of choosing the less-known option on the vertical axis. Two S-shaped curves. The one labeled one choice ahead is steep and crosses one half near zero difference. The one labeled six choices ahead is shifted toward the side where the less-known option looked worse, crossing one half at a difference of about 8 points, and it is visibly flatter."/>
          <p:cNvPicPr>
            <a:picLocks noChangeAspect="1"/>
          </p:cNvPicPr>
          <p:nvPr/>
        </p:nvPicPr>
        <p:blipFill>
          <a:blip r:embed="rId2"/>
          <a:stretch>
            <a:fillRect/>
          </a:stretch>
        </p:blipFill>
        <p:spPr>
          <a:xfrm>
            <a:off x="448056" y="1783080"/>
            <a:ext cx="11304422" cy="4938247"/>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ways_to_explore__2">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Ways to Explore</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Random exploration</a:t>
            </a:r>
            <a:r>
              <a:rPr sz="2000" b="0" i="0">
                <a:solidFill>
                  <a:srgbClr val="222222"/>
                </a:solidFill>
                <a:latin typeface="Calibri"/>
              </a:rPr>
              <a:t>: mostly the better-looking option, sometimes another. </a:t>
            </a:r>
            <a:r>
              <a:rPr sz="2000" b="1" i="0">
                <a:solidFill>
                  <a:srgbClr val="222222"/>
                </a:solidFill>
                <a:latin typeface="Calibri"/>
              </a:rPr>
              <a:t>Directed exploration</a:t>
            </a:r>
            <a:r>
              <a:rPr sz="2000" b="0" i="0">
                <a:solidFill>
                  <a:srgbClr val="222222"/>
                </a:solidFill>
                <a:latin typeface="Calibri"/>
              </a:rPr>
              <a:t>: a bonus for less-known options. A </a:t>
            </a:r>
            <a:r>
              <a:rPr sz="2000" b="1" i="0">
                <a:solidFill>
                  <a:srgbClr val="222222"/>
                </a:solidFill>
                <a:latin typeface="Calibri"/>
              </a:rPr>
              <a:t>novelty bonus</a:t>
            </a:r>
            <a:r>
              <a:rPr sz="2000" b="0" i="0">
                <a:solidFill>
                  <a:srgbClr val="222222"/>
                </a:solidFill>
                <a:latin typeface="Calibri"/>
              </a:rPr>
              <a:t>: extra value for being new.</a:t>
            </a:r>
          </a:p>
        </p:txBody>
      </p:sp>
      <p:pic>
        <p:nvPicPr>
          <p:cNvPr id="4" name="img1" descr="A graph with time on the horizontal axis and food gained on the vertical axis. To the left of zero, a flat stretch labeled travel time. From zero, a curve rises steeply and then levels off. A straight line starts at the beginning of the travel stretch and just touches the curve; a dashed vertical line at the touching point is labeled leave. A second, steeper line labeled richer habitat touches the curve earlier."/>
          <p:cNvPicPr>
            <a:picLocks noChangeAspect="1"/>
          </p:cNvPicPr>
          <p:nvPr/>
        </p:nvPicPr>
        <p:blipFill>
          <a:blip r:embed="rId2"/>
          <a:stretch>
            <a:fillRect/>
          </a:stretch>
        </p:blipFill>
        <p:spPr>
          <a:xfrm>
            <a:off x="155448" y="1783080"/>
            <a:ext cx="11886438" cy="4754575"/>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ways_to_explore__3">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Ways to Explore</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Random exploration</a:t>
            </a:r>
            <a:r>
              <a:rPr sz="2000" b="0" i="0">
                <a:solidFill>
                  <a:srgbClr val="222222"/>
                </a:solidFill>
                <a:latin typeface="Calibri"/>
              </a:rPr>
              <a:t>: mostly the better-looking option, sometimes another. </a:t>
            </a:r>
            <a:r>
              <a:rPr sz="2000" b="1" i="0">
                <a:solidFill>
                  <a:srgbClr val="222222"/>
                </a:solidFill>
                <a:latin typeface="Calibri"/>
              </a:rPr>
              <a:t>Directed exploration</a:t>
            </a:r>
            <a:r>
              <a:rPr sz="2000" b="0" i="0">
                <a:solidFill>
                  <a:srgbClr val="222222"/>
                </a:solidFill>
                <a:latin typeface="Calibri"/>
              </a:rPr>
              <a:t>: a bonus for less-known options. A </a:t>
            </a:r>
            <a:r>
              <a:rPr sz="2000" b="1" i="0">
                <a:solidFill>
                  <a:srgbClr val="222222"/>
                </a:solidFill>
                <a:latin typeface="Calibri"/>
              </a:rPr>
              <a:t>novelty bonus</a:t>
            </a:r>
            <a:r>
              <a:rPr sz="2000" b="0" i="0">
                <a:solidFill>
                  <a:srgbClr val="222222"/>
                </a:solidFill>
                <a:latin typeface="Calibri"/>
              </a:rPr>
              <a:t>: extra value for being new.</a:t>
            </a:r>
          </a:p>
        </p:txBody>
      </p:sp>
      <p:pic>
        <p:nvPicPr>
          <p:cNvPr id="4" name="img2" descr="A square platform seen from above, with a shaded spot in one corner labeled home base. Three loops leave the base and return to it. On each loop, the outward half is drawn with many small dots marking stops and labeled slower, more stops; the return half has few dots and is labeled faster."/>
          <p:cNvPicPr>
            <a:picLocks noChangeAspect="1"/>
          </p:cNvPicPr>
          <p:nvPr/>
        </p:nvPicPr>
        <p:blipFill>
          <a:blip r:embed="rId2"/>
          <a:stretch>
            <a:fillRect/>
          </a:stretch>
        </p:blipFill>
        <p:spPr>
          <a:xfrm>
            <a:off x="1380744" y="1783080"/>
            <a:ext cx="9428073" cy="4937333"/>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curiosity">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Curiosity: Information, or Progress?</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Curiosity</a:t>
            </a:r>
            <a:r>
              <a:rPr sz="2000" b="0" i="0">
                <a:solidFill>
                  <a:srgbClr val="222222"/>
                </a:solidFill>
                <a:latin typeface="Calibri"/>
              </a:rPr>
              <a:t> is a drive to gain information for its own sake. Two proposed answers to what it rewards: information itself, or progress in predicting.</a:t>
            </a:r>
          </a:p>
        </p:txBody>
      </p:sp>
      <p:pic>
        <p:nvPicPr>
          <p:cNvPr id="4" name="img0" descr="Two panels. Left, headed information as the reward: a graph with confidence on the horizontal axis and curiosity on the vertical axis, and an inverted U curve, low at both ends and highest in the middle, labeled knows a little, but not enough. Right, headed progress as the reward: three small graphs of prediction error over time. In the first, labeled already predicted well, error is low and flat, and the note reads no progress, dropped. In the second, labeled can never be predicted, such as a screen whose channel changes at random, error is high and flat, and the note reads no progress, dropped. In the third, labeled being learned now, error falls steeply, and the note reads progress, worked on. Beneath: games chosen freely settled at 70 to 80 percent correct."/>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machines_that_map">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Machines That Map and Explore</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Simultaneous localization and mapping (SLAM)</a:t>
            </a:r>
            <a:r>
              <a:rPr sz="2000" b="0" i="0">
                <a:solidFill>
                  <a:srgbClr val="222222"/>
                </a:solidFill>
                <a:latin typeface="Calibri"/>
              </a:rPr>
              <a:t>: building a map while keeping track of one’s position on it. Machines show what a procedure can do, not how brains do it.</a:t>
            </a:r>
          </a:p>
        </p:txBody>
      </p:sp>
      <p:pic>
        <p:nvPicPr>
          <p:cNvPr id="4" name="img0" descr="Two panels. Left, labeled before: a square true path drawn as a thin gray line, and the robot's estimated path as a dashed line that starts on the square and drifts outward, so that its end lands well away from the start. Right, labeled after: the robot recognizes the start, marked with a small flag, and the estimated path now lies almost exactly on the true square."/>
          <p:cNvPicPr>
            <a:picLocks noChangeAspect="1"/>
          </p:cNvPicPr>
          <p:nvPr/>
        </p:nvPicPr>
        <p:blipFill>
          <a:blip r:embed="rId2"/>
          <a:stretch>
            <a:fillRect/>
          </a:stretch>
        </p:blipFill>
        <p:spPr>
          <a:xfrm>
            <a:off x="1024128" y="1783080"/>
            <a:ext cx="10143286" cy="4938179"/>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discussion_robot_vacuum">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Robot Vacuum, Picked Up</a:t>
            </a:r>
          </a:p>
        </p:txBody>
      </p:sp>
      <p:sp>
        <p:nvSpPr>
          <p:cNvPr id="3" name="body_box"/>
          <p:cNvSpPr txBox="1"/>
          <p:nvPr/>
        </p:nvSpPr>
        <p:spPr>
          <a:xfrm>
            <a:off x="822960" y="1371600"/>
            <a:ext cx="10515600" cy="4480560"/>
          </a:xfrm>
          <a:prstGeom prst="rect">
            <a:avLst/>
          </a:prstGeom>
          <a:noFill/>
        </p:spPr>
        <p:txBody>
          <a:bodyPr wrap="square">
            <a:spAutoFit/>
          </a:bodyPr>
          <a:lstStyle/>
          <a:p>
            <a:pPr>
              <a:spcAft>
                <a:spcPts val="2000"/>
              </a:spcAft>
            </a:pPr>
            <a:r>
              <a:rPr sz="2000" b="1" i="0">
                <a:solidFill>
                  <a:srgbClr val="222222"/>
                </a:solidFill>
                <a:latin typeface="Calibri"/>
              </a:rPr>
              <a:t>In your group, four minutes.</a:t>
            </a:r>
          </a:p>
          <a:p>
            <a:pPr>
              <a:defRPr sz="1000"/>
            </a:pPr>
          </a:p>
          <a:p>
            <a:pPr>
              <a:spcAft>
                <a:spcPts val="2000"/>
              </a:spcAft>
            </a:pPr>
            <a:r>
              <a:rPr sz="2000" b="0" i="0">
                <a:solidFill>
                  <a:srgbClr val="222222"/>
                </a:solidFill>
                <a:latin typeface="Calibri"/>
              </a:rPr>
              <a:t>Many robot vacuums build a map of a home as they clean. Someone picks one up mid-clean and sets it down in another room.</a:t>
            </a:r>
          </a:p>
          <a:p>
            <a:pPr>
              <a:defRPr sz="1000"/>
            </a:pPr>
          </a:p>
          <a:p>
            <a:pPr>
              <a:spcAft>
                <a:spcPts val="2000"/>
              </a:spcAft>
            </a:pPr>
            <a:r>
              <a:rPr sz="2000" b="0" i="0">
                <a:solidFill>
                  <a:srgbClr val="222222"/>
                </a:solidFill>
                <a:latin typeface="Calibri"/>
              </a:rPr>
              <a:t>What has gone wrong with its estimate of where it is? Which procedures from this lecture would it need to recover?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3968496"/>
        </p:xfrm>
        <a:graphic>
          <a:graphicData uri="http://schemas.openxmlformats.org/drawingml/2006/table">
            <a:tbl>
              <a:tblPr>
                <a:tableStyleId>{5C22544A-7EE6-4342-B048-85BDC9FD1C3A}</a:tableStyleId>
              </a:tblPr>
              <a:tblGrid>
                <a:gridCol w="674827"/>
                <a:gridCol w="2699308"/>
                <a:gridCol w="2699308"/>
                <a:gridCol w="1574596"/>
                <a:gridCol w="3599078"/>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Searching around enlarged landmarks</a:t>
                      </a:r>
                    </a:p>
                  </a:txBody>
                  <a:tcPr marL="73152" marR="73152" marT="18288" marB="18288">
                    <a:solidFill>
                      <a:srgbClr val="FFFFFF"/>
                    </a:solidFill>
                  </a:tcPr>
                </a:tc>
                <a:tc>
                  <a:txBody>
                    <a:bodyPr/>
                    <a:lstStyle/>
                    <a:p>
                      <a:r>
                        <a:rPr sz="1000" b="0" i="0">
                          <a:solidFill>
                            <a:srgbClr val="222222"/>
                          </a:solidFill>
                          <a:latin typeface="Calibri"/>
                        </a:rPr>
                        <a:t>fig-snapshot.png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9 reading  ·  own work</a:t>
                      </a:r>
                    </a:p>
                  </a:txBody>
                  <a:tcPr marL="73152" marR="73152" marT="18288" marB="18288">
                    <a:solidFill>
                      <a:srgbClr val="FFFFFF"/>
                    </a:solidFill>
                  </a:tcPr>
                </a:tc>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Ants on stilts and stumps</a:t>
                      </a:r>
                    </a:p>
                  </a:txBody>
                  <a:tcPr marL="73152" marR="73152" marT="18288" marB="18288">
                    <a:solidFill>
                      <a:srgbClr val="FFFFFF"/>
                    </a:solidFill>
                  </a:tcPr>
                </a:tc>
                <a:tc>
                  <a:txBody>
                    <a:bodyPr/>
                    <a:lstStyle/>
                    <a:p>
                      <a:r>
                        <a:rPr sz="1000" b="0" i="0">
                          <a:solidFill>
                            <a:srgbClr val="222222"/>
                          </a:solidFill>
                          <a:latin typeface="Calibri"/>
                        </a:rPr>
                        <a:t>fig-stilts.png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9 reading, redrawn from the printed values of Wittlinger, Wehner, and Wolf (2006)  ·  own work</a:t>
                      </a:r>
                    </a:p>
                  </a:txBody>
                  <a:tcPr marL="73152" marR="73152" marT="18288" marB="18288">
                    <a:solidFill>
                      <a:srgbClr val="FFFFFF"/>
                    </a:solidFill>
                  </a:tcPr>
                </a:tc>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Drift, and a reset at a landmark</a:t>
                      </a:r>
                    </a:p>
                  </a:txBody>
                  <a:tcPr marL="73152" marR="73152" marT="18288" marB="18288">
                    <a:solidFill>
                      <a:srgbClr val="FFFFFF"/>
                    </a:solidFill>
                  </a:tcPr>
                </a:tc>
                <a:tc>
                  <a:txBody>
                    <a:bodyPr/>
                    <a:lstStyle/>
                    <a:p>
                      <a:r>
                        <a:rPr sz="1000" b="0" i="0">
                          <a:solidFill>
                            <a:srgbClr val="222222"/>
                          </a:solidFill>
                          <a:latin typeface="Calibri"/>
                        </a:rPr>
                        <a:t>fig-drift-reset.png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9 reading  ·  own work</a:t>
                      </a:r>
                    </a:p>
                  </a:txBody>
                  <a:tcPr marL="73152" marR="73152" marT="18288" marB="18288">
                    <a:solidFill>
                      <a:srgbClr val="FFFFFF"/>
                    </a:solidFill>
                  </a:tcPr>
                </a:tc>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A ring attractor</a:t>
                      </a:r>
                    </a:p>
                  </a:txBody>
                  <a:tcPr marL="73152" marR="73152" marT="18288" marB="18288">
                    <a:solidFill>
                      <a:srgbClr val="FFFFFF"/>
                    </a:solidFill>
                  </a:tcPr>
                </a:tc>
                <a:tc>
                  <a:txBody>
                    <a:bodyPr/>
                    <a:lstStyle/>
                    <a:p>
                      <a:r>
                        <a:rPr sz="1000" b="0" i="0">
                          <a:solidFill>
                            <a:srgbClr val="222222"/>
                          </a:solidFill>
                          <a:latin typeface="Calibri"/>
                        </a:rPr>
                        <a:t>fig-ring-attractor.png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9 reading  ·  own work</a:t>
                      </a:r>
                    </a:p>
                  </a:txBody>
                  <a:tcPr marL="73152" marR="73152" marT="18288" marB="18288">
                    <a:solidFill>
                      <a:srgbClr val="FFFFFF"/>
                    </a:solidFill>
                  </a:tcPr>
                </a:tc>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Converting by adding vectors</a:t>
                      </a:r>
                    </a:p>
                  </a:txBody>
                  <a:tcPr marL="73152" marR="73152" marT="18288" marB="18288">
                    <a:solidFill>
                      <a:srgbClr val="FFFFFF"/>
                    </a:solidFill>
                  </a:tcPr>
                </a:tc>
                <a:tc>
                  <a:txBody>
                    <a:bodyPr/>
                    <a:lstStyle/>
                    <a:p>
                      <a:r>
                        <a:rPr sz="1000" b="0" i="0">
                          <a:solidFill>
                            <a:srgbClr val="222222"/>
                          </a:solidFill>
                          <a:latin typeface="Calibri"/>
                        </a:rPr>
                        <a:t>fig-vector-sum.png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9 reading  ·  own work</a:t>
                      </a:r>
                    </a:p>
                  </a:txBody>
                  <a:tcPr marL="73152" marR="73152" marT="18288" marB="18288">
                    <a:solidFill>
                      <a:srgbClr val="FFFFFF"/>
                    </a:solidFill>
                  </a:tcPr>
                </a:tc>
              </a:tr>
              <a:tr h="440944">
                <a:tc>
                  <a:txBody>
                    <a:bodyPr/>
                    <a:lstStyle/>
                    <a:p>
                      <a:r>
                        <a:rPr sz="1000" b="0" i="0">
                          <a:solidFill>
                            <a:srgbClr val="222222"/>
                          </a:solidFill>
                          <a:latin typeface="Calibri"/>
                        </a:rPr>
                        <a:t>8</a:t>
                      </a:r>
                    </a:p>
                  </a:txBody>
                  <a:tcPr marL="73152" marR="73152" marT="18288" marB="18288">
                    <a:solidFill>
                      <a:srgbClr val="FFFFFF"/>
                    </a:solidFill>
                  </a:tcPr>
                </a:tc>
                <a:tc>
                  <a:txBody>
                    <a:bodyPr/>
                    <a:lstStyle/>
                    <a:p>
                      <a:r>
                        <a:rPr sz="1000" b="0" i="0">
                          <a:solidFill>
                            <a:srgbClr val="222222"/>
                          </a:solidFill>
                          <a:latin typeface="Calibri"/>
                        </a:rPr>
                        <a:t>The rotational error</a:t>
                      </a:r>
                    </a:p>
                  </a:txBody>
                  <a:tcPr marL="73152" marR="73152" marT="18288" marB="18288">
                    <a:solidFill>
                      <a:srgbClr val="FFFFFF"/>
                    </a:solidFill>
                  </a:tcPr>
                </a:tc>
                <a:tc>
                  <a:txBody>
                    <a:bodyPr/>
                    <a:lstStyle/>
                    <a:p>
                      <a:r>
                        <a:rPr sz="1000" b="0" i="0">
                          <a:solidFill>
                            <a:srgbClr val="222222"/>
                          </a:solidFill>
                          <a:latin typeface="Calibri"/>
                        </a:rPr>
                        <a:t>fig-rotational-error.png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9 reading  ·  own work</a:t>
                      </a:r>
                    </a:p>
                  </a:txBody>
                  <a:tcPr marL="73152" marR="73152" marT="18288" marB="18288">
                    <a:solidFill>
                      <a:srgbClr val="FFFFFF"/>
                    </a:solidFill>
                  </a:tcPr>
                </a:tc>
              </a:tr>
              <a:tr h="440944">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Repeating codes, combined</a:t>
                      </a:r>
                    </a:p>
                  </a:txBody>
                  <a:tcPr marL="73152" marR="73152" marT="18288" marB="18288">
                    <a:solidFill>
                      <a:srgbClr val="FFFFFF"/>
                    </a:solidFill>
                  </a:tcPr>
                </a:tc>
                <a:tc>
                  <a:txBody>
                    <a:bodyPr/>
                    <a:lstStyle/>
                    <a:p>
                      <a:r>
                        <a:rPr sz="1000" b="0" i="0">
                          <a:solidFill>
                            <a:srgbClr val="222222"/>
                          </a:solidFill>
                          <a:latin typeface="Calibri"/>
                        </a:rPr>
                        <a:t>fig-repeating-codes.png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A predictive map, and choosing a map</a:t>
                      </a:r>
                    </a:p>
                  </a:txBody>
                  <a:tcPr marL="73152" marR="73152" marT="18288" marB="18288">
                    <a:solidFill>
                      <a:srgbClr val="FFFFFF"/>
                    </a:solidFill>
                  </a:tcPr>
                </a:tc>
                <a:tc>
                  <a:txBody>
                    <a:bodyPr/>
                    <a:lstStyle/>
                    <a:p>
                      <a:r>
                        <a:rPr sz="1000" b="0" i="0">
                          <a:solidFill>
                            <a:srgbClr val="222222"/>
                          </a:solidFill>
                          <a:latin typeface="Calibri"/>
                        </a:rPr>
                        <a:t>fig-using-the-map.png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2706624"/>
        </p:xfrm>
        <a:graphic>
          <a:graphicData uri="http://schemas.openxmlformats.org/drawingml/2006/table">
            <a:tbl>
              <a:tblPr>
                <a:tableStyleId>{5C22544A-7EE6-4342-B048-85BDC9FD1C3A}</a:tableStyleId>
              </a:tblPr>
              <a:tblGrid>
                <a:gridCol w="674827"/>
                <a:gridCol w="2699308"/>
                <a:gridCol w="2699308"/>
                <a:gridCol w="1574596"/>
                <a:gridCol w="3599078"/>
              </a:tblGrid>
              <a:tr h="45110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51104">
                <a:tc>
                  <a:txBody>
                    <a:bodyPr/>
                    <a:lstStyle/>
                    <a:p>
                      <a:r>
                        <a:rPr sz="1000" b="0" i="0">
                          <a:solidFill>
                            <a:srgbClr val="222222"/>
                          </a:solidFill>
                          <a:latin typeface="Calibri"/>
                        </a:rPr>
                        <a:t>11</a:t>
                      </a:r>
                    </a:p>
                  </a:txBody>
                  <a:tcPr marL="73152" marR="73152" marT="18288" marB="18288">
                    <a:solidFill>
                      <a:srgbClr val="FFFFFF"/>
                    </a:solidFill>
                  </a:tcPr>
                </a:tc>
                <a:tc>
                  <a:txBody>
                    <a:bodyPr/>
                    <a:lstStyle/>
                    <a:p>
                      <a:r>
                        <a:rPr sz="1000" b="0" i="0">
                          <a:solidFill>
                            <a:srgbClr val="222222"/>
                          </a:solidFill>
                          <a:latin typeface="Calibri"/>
                        </a:rPr>
                        <a:t>Choices still ahead</a:t>
                      </a:r>
                    </a:p>
                  </a:txBody>
                  <a:tcPr marL="73152" marR="73152" marT="18288" marB="18288">
                    <a:solidFill>
                      <a:srgbClr val="FFFFFF"/>
                    </a:solidFill>
                  </a:tcPr>
                </a:tc>
                <a:tc>
                  <a:txBody>
                    <a:bodyPr/>
                    <a:lstStyle/>
                    <a:p>
                      <a:r>
                        <a:rPr sz="1000" b="0" i="0">
                          <a:solidFill>
                            <a:srgbClr val="222222"/>
                          </a:solidFill>
                          <a:latin typeface="Calibri"/>
                        </a:rPr>
                        <a:t>fig-horizon.png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9 reading, redrawn from Wilson and colleagues (2014)  ·  own work</a:t>
                      </a:r>
                    </a:p>
                  </a:txBody>
                  <a:tcPr marL="73152" marR="73152" marT="18288" marB="18288">
                    <a:solidFill>
                      <a:srgbClr val="FFFFFF"/>
                    </a:solidFill>
                  </a:tcPr>
                </a:tc>
              </a:tr>
              <a:tr h="451104">
                <a:tc>
                  <a:txBody>
                    <a:bodyPr/>
                    <a:lstStyle/>
                    <a:p>
                      <a:r>
                        <a:rPr sz="1000" b="0" i="0">
                          <a:solidFill>
                            <a:srgbClr val="222222"/>
                          </a:solidFill>
                          <a:latin typeface="Calibri"/>
                        </a:rPr>
                        <a:t>11</a:t>
                      </a:r>
                    </a:p>
                  </a:txBody>
                  <a:tcPr marL="73152" marR="73152" marT="18288" marB="18288">
                    <a:solidFill>
                      <a:srgbClr val="FFFFFF"/>
                    </a:solidFill>
                  </a:tcPr>
                </a:tc>
                <a:tc>
                  <a:txBody>
                    <a:bodyPr/>
                    <a:lstStyle/>
                    <a:p>
                      <a:r>
                        <a:rPr sz="1000" b="0" i="0">
                          <a:solidFill>
                            <a:srgbClr val="222222"/>
                          </a:solidFill>
                          <a:latin typeface="Calibri"/>
                        </a:rPr>
                        <a:t>When to leave a patch</a:t>
                      </a:r>
                    </a:p>
                  </a:txBody>
                  <a:tcPr marL="73152" marR="73152" marT="18288" marB="18288">
                    <a:solidFill>
                      <a:srgbClr val="FFFFFF"/>
                    </a:solidFill>
                  </a:tcPr>
                </a:tc>
                <a:tc>
                  <a:txBody>
                    <a:bodyPr/>
                    <a:lstStyle/>
                    <a:p>
                      <a:r>
                        <a:rPr sz="1000" b="0" i="0">
                          <a:solidFill>
                            <a:srgbClr val="222222"/>
                          </a:solidFill>
                          <a:latin typeface="Calibri"/>
                        </a:rPr>
                        <a:t>fig-patch-leaving.png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9 reading  ·  own work</a:t>
                      </a:r>
                    </a:p>
                  </a:txBody>
                  <a:tcPr marL="73152" marR="73152" marT="18288" marB="18288">
                    <a:solidFill>
                      <a:srgbClr val="FFFFFF"/>
                    </a:solidFill>
                  </a:tcPr>
                </a:tc>
              </a:tr>
              <a:tr h="451104">
                <a:tc>
                  <a:txBody>
                    <a:bodyPr/>
                    <a:lstStyle/>
                    <a:p>
                      <a:r>
                        <a:rPr sz="1000" b="0" i="0">
                          <a:solidFill>
                            <a:srgbClr val="222222"/>
                          </a:solidFill>
                          <a:latin typeface="Calibri"/>
                        </a:rPr>
                        <a:t>11</a:t>
                      </a:r>
                    </a:p>
                  </a:txBody>
                  <a:tcPr marL="73152" marR="73152" marT="18288" marB="18288">
                    <a:solidFill>
                      <a:srgbClr val="FFFFFF"/>
                    </a:solidFill>
                  </a:tcPr>
                </a:tc>
                <a:tc>
                  <a:txBody>
                    <a:bodyPr/>
                    <a:lstStyle/>
                    <a:p>
                      <a:r>
                        <a:rPr sz="1000" b="0" i="0">
                          <a:solidFill>
                            <a:srgbClr val="222222"/>
                          </a:solidFill>
                          <a:latin typeface="Calibri"/>
                        </a:rPr>
                        <a:t>Trips out from a home base</a:t>
                      </a:r>
                    </a:p>
                  </a:txBody>
                  <a:tcPr marL="73152" marR="73152" marT="18288" marB="18288">
                    <a:solidFill>
                      <a:srgbClr val="FFFFFF"/>
                    </a:solidFill>
                  </a:tcPr>
                </a:tc>
                <a:tc>
                  <a:txBody>
                    <a:bodyPr/>
                    <a:lstStyle/>
                    <a:p>
                      <a:r>
                        <a:rPr sz="1000" b="0" i="0">
                          <a:solidFill>
                            <a:srgbClr val="222222"/>
                          </a:solidFill>
                          <a:latin typeface="Calibri"/>
                        </a:rPr>
                        <a:t>fig-home-base-trips.png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9 reading  ·  own work</a:t>
                      </a:r>
                    </a:p>
                  </a:txBody>
                  <a:tcPr marL="73152" marR="73152" marT="18288" marB="18288">
                    <a:solidFill>
                      <a:srgbClr val="FFFFFF"/>
                    </a:solidFill>
                  </a:tcPr>
                </a:tc>
              </a:tr>
              <a:tr h="451104">
                <a:tc>
                  <a:txBody>
                    <a:bodyPr/>
                    <a:lstStyle/>
                    <a:p>
                      <a:r>
                        <a:rPr sz="1000" b="0" i="0">
                          <a:solidFill>
                            <a:srgbClr val="222222"/>
                          </a:solidFill>
                          <a:latin typeface="Calibri"/>
                        </a:rPr>
                        <a:t>12</a:t>
                      </a:r>
                    </a:p>
                  </a:txBody>
                  <a:tcPr marL="73152" marR="73152" marT="18288" marB="18288">
                    <a:solidFill>
                      <a:srgbClr val="FFFFFF"/>
                    </a:solidFill>
                  </a:tcPr>
                </a:tc>
                <a:tc>
                  <a:txBody>
                    <a:bodyPr/>
                    <a:lstStyle/>
                    <a:p>
                      <a:r>
                        <a:rPr sz="1000" b="0" i="0">
                          <a:solidFill>
                            <a:srgbClr val="222222"/>
                          </a:solidFill>
                          <a:latin typeface="Calibri"/>
                        </a:rPr>
                        <a:t>Two accounts of what curiosity rewards</a:t>
                      </a:r>
                    </a:p>
                  </a:txBody>
                  <a:tcPr marL="73152" marR="73152" marT="18288" marB="18288">
                    <a:solidFill>
                      <a:srgbClr val="FFFFFF"/>
                    </a:solidFill>
                  </a:tcPr>
                </a:tc>
                <a:tc>
                  <a:txBody>
                    <a:bodyPr/>
                    <a:lstStyle/>
                    <a:p>
                      <a:r>
                        <a:rPr sz="1000" b="0" i="0">
                          <a:solidFill>
                            <a:srgbClr val="222222"/>
                          </a:solidFill>
                          <a:latin typeface="Calibri"/>
                        </a:rPr>
                        <a:t>fig-curiosity.png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51104">
                <a:tc>
                  <a:txBody>
                    <a:bodyPr/>
                    <a:lstStyle/>
                    <a:p>
                      <a:r>
                        <a:rPr sz="1000" b="0" i="0">
                          <a:solidFill>
                            <a:srgbClr val="222222"/>
                          </a:solidFill>
                          <a:latin typeface="Calibri"/>
                        </a:rPr>
                        <a:t>13</a:t>
                      </a:r>
                    </a:p>
                  </a:txBody>
                  <a:tcPr marL="73152" marR="73152" marT="18288" marB="18288">
                    <a:solidFill>
                      <a:srgbClr val="FFFFFF"/>
                    </a:solidFill>
                  </a:tcPr>
                </a:tc>
                <a:tc>
                  <a:txBody>
                    <a:bodyPr/>
                    <a:lstStyle/>
                    <a:p>
                      <a:r>
                        <a:rPr sz="1000" b="0" i="0">
                          <a:solidFill>
                            <a:srgbClr val="222222"/>
                          </a:solidFill>
                          <a:latin typeface="Calibri"/>
                        </a:rPr>
                        <a:t>Loop closure</a:t>
                      </a:r>
                    </a:p>
                  </a:txBody>
                  <a:tcPr marL="73152" marR="73152" marT="18288" marB="18288">
                    <a:solidFill>
                      <a:srgbClr val="FFFFFF"/>
                    </a:solidFill>
                  </a:tcPr>
                </a:tc>
                <a:tc>
                  <a:txBody>
                    <a:bodyPr/>
                    <a:lstStyle/>
                    <a:p>
                      <a:r>
                        <a:rPr sz="1000" b="0" i="0">
                          <a:solidFill>
                            <a:srgbClr val="222222"/>
                          </a:solidFill>
                          <a:latin typeface="Calibri"/>
                        </a:rPr>
                        <a:t>fig-loop-closure.png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9 reading  ·  own work</a:t>
                      </a:r>
                    </a:p>
                  </a:txBody>
                  <a:tcPr marL="73152" marR="73152" marT="18288" marB="18288">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