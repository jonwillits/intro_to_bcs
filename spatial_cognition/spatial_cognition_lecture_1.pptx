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about how animals find their way to places they cannot sense, and how they decide when to go looking for new ones.</a:t>
            </a:r>
          </a:p>
          <a:p/>
          <a:p>
            <a:r>
              <a:t>This first lecture is the computational level. We ask what problem an animal is solving when it finds its way, and what it would need to know to solve it. We ask what the world offers it to learn from. And we ask when exploring is worth doing at all. We leave the procedures that could solve these problems for the second lecture, and the brain for the third.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guiding question at the start of the reading, in a form most people have lived through. How can anyone get back to a place they cannot see, smell, or hear, and what do they need to know to do it?</a:t>
            </a:r>
          </a:p>
          <a:p/>
          <a:p>
            <a:r>
              <a:t>Groups usually come up with several answers. Retrace the way back. Remember roughly how far the walk went, and in which direction. Look for something passed on the way, like a church spire or a gas station. Know the street names, or how this part of town connects to the rest. And some people simply know which way the car is, without being able to say how.</a:t>
            </a:r>
          </a:p>
          <a:p/>
          <a:p>
            <a:r>
              <a:t>Notice that these are different kinds of knowledge, and they would fail in different ways. Retracing only works if the way back can be found. A spire only helps where it can be seen. A sense of how far, and which way, the walk went points back to the car, but not to a coffee shop two blocks over. Sorting those differences out is most of this lecture. And the problem is far older than phones: it is the problem animals with a home have had to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small animal, about the size of a large mouse, leaving its nest after dark. Its body is warm, and keeping it warm takes a great deal of food. It hunts insects among roots and fallen leaves, finding beetles by smell and by the touch of its whiskers. Each beetle draws it a little farther from its nest. Within an hour it is well out of sight, smell, and hearing of its home. Before daylight, it has to be back.</a:t>
            </a:r>
          </a:p>
          <a:p/>
          <a:p>
            <a:r>
              <a:t>Getting back home is not a problem that steering can solve. In Module 4, we described steering as moving forward, turning, and letting what the front end detects decide which way to turn. A worm follows a smell that grows stronger as it turns toward the source. That works while the goal can be sensed. But nothing at the nest reaches the animal where it is now. With no signal from the goal, there is nothing to steer by.</a:t>
            </a:r>
          </a:p>
          <a:p/>
          <a:p>
            <a:r>
              <a:t>What the animal still has is information of other kinds. In Module 8, we described the vestibular system, which senses turns and accelerations of the head, and proprioception, which reports how the body has moved. Together they provide information about how far, and in which direction, the animal has gone. It also has whatever it learned about this ground on earlier nights: a fallen log, a slope down to a stream, a spot where beetles were plentiful. From these, somehow, it has to work out where the nest is and which way to go.</a:t>
            </a:r>
          </a:p>
          <a:p/>
          <a:p>
            <a:r>
              <a:t>The same problem appears at far larger scales. The Arctic tern from Module 0 finds its way to feeding grounds it has never seen. And the honeybee’s dance communicates to the hive which way to fly to a patch of flowers, and how far. Like the small animal, both act on information about a place they cannot sense from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animal we focus on in this module is an early mammal. The fish of Modules 7 and 8 is not its ancestor but a distant cousin. The fish’s living relatives help show what the ancestor shared by fish and mammals could already do. Most of what is known about the brain cells involved in finding the way comes from rats and mice. They too are small animals that, probably like their distant ancestors, forage at night and return to a nest, so they serve as good models.</a:t>
            </a:r>
          </a:p>
          <a:p/>
          <a:p>
            <a:r>
              <a:t>Before the details, a reminder of how a history like this is known at all. Nobody watched early mammals. What we know about them, we know from bones, from genes, and from comparisons with living animals that share those genes and have similar bodies. So every claim about how early mammals lived is a reconstruction, and the words *probably* and *hypothesis* are doing real work.</a:t>
            </a:r>
          </a:p>
          <a:p/>
          <a:p>
            <a:r>
              <a:t>Mammals appeared more than 200 million years ago, and for well over 100 million years after that they lived alongside the dinosaurs. Nearly all of them were small insect-eaters, from the size of a shrew to the size of a badger. One close relative of the first mammals weighed about 2 grams. Mammals became much larger only after the dinosaurs other than birds died out, about 66 million years ago.</a:t>
            </a:r>
          </a:p>
          <a:p/>
          <a:p>
            <a:r>
              <a:t>A mammal makes its own body heat, and that heat has an energy cost. A mammal’s cells burn fuel five to seven times faster than those of a reptile of the same size. Over a whole day, a mammal uses roughly ten times as much energy as a lizard. The brain cannot go without fuel even for a short time. So a small, warm insect-eater has to find a lot of food, often, and that means covering a lot of ground.</a:t>
            </a:r>
          </a:p>
          <a:p/>
          <a:p>
            <a:r>
              <a:t>A long-standing hypothesis holds that early mammals were active mainly at night, or in dim light. The evidence converges. Most living lineages of mammals are active at night. Mammals lost two of the four kinds of cone, as we described in Module 8. And they have eyes suited to dim light, a keener sense of smell, hearing of high-pitched sounds, and whiskers. But the hypothesis has weak points. Cold-blooded animals have to be active by day to stay warm, which would have left the night safer for an animal that could keep itself warm. But some dinosaurs were probably partly warm-blooded. Predatory dinosaurs with eyes suited to the dark appeared later. And the lost cones fit a long period of dim light as well as full darkness. So “probably active at night, or in dim light” is as far as the evidence goes.</a:t>
            </a:r>
          </a:p>
          <a:p/>
          <a:p>
            <a:r>
              <a:t>Early mammals probably also had a home to return to. Small mammals living today forage outward from a nest and come back to it. Rats put on a bare platform in a laboratory settle on a home base within minutes, with nothing there to hide in. That the earliest mammals did the same is a reasonable guess. Put together, our best reconstruction of one of their main problems is this: cover a lot of ground in poor light, and get back home again.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places matter to an animal at all? Many valuable things stay where they are. Shelter stays put. So do patches of food found before, stores of food hidden away, and young left in a nest.</a:t>
            </a:r>
          </a:p>
          <a:p/>
          <a:p>
            <a:r>
              <a:t>To reach such a place when it is out of reach of its senses, an animal needs to know four things. It needs to know which place is worth going to now. It needs to know where it is now. It needs to know where that place is. And it needs to know which way to go.</a:t>
            </a:r>
          </a:p>
          <a:p/>
          <a:p>
            <a:r>
              <a:t>The first of the four depends on the animal’s state as well as on what it knows. In Module 4, we described internal states such as hunger, which change what a stimulus is worth to an animal. Hunger or thirst sets which remembered place is worth going to right now.</a:t>
            </a:r>
          </a:p>
          <a:p/>
          <a:p>
            <a:r>
              <a:t>In one study, rats ran a Y-shaped maze, with food at the end of one branch and water at the end of the other. They ran it while they were neither hungry nor thirsty. Then some of the rats were made hungry and some thirsty. On their first test, the hungry rats went to the food side more often, and the thirsty rats went to the water side more often. The rats had learned where things were, and which place they went to depended on what they needed now. That is goal-directed choice in the sense we described in Module 5: changing what an outcome is worth changes the choice immediately.</a:t>
            </a:r>
          </a:p>
          <a:p/>
          <a:p>
            <a:r>
              <a:t>The other three things on the list, where the animal is, where the goal is, and how to get there, can be known in quite different ways. What an animal can do from somewhere new depends on which kind of knowledge it has.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animal can have six kinds of knowledge about where a goal is. They can be ranked by how far from the goal, and from how new a starting point, each one still works. For each, the question is what an animal with that kind of knowledge could do from a starting point it has never used.</a:t>
            </a:r>
          </a:p>
          <a:p/>
          <a:p>
            <a:r>
              <a:t>At the lowest level, the animal can reach the goal only while it can sense the goal itself. For the early mammal, following the smell of its own nest works at this level, but only once it is close enough to smell it.</a:t>
            </a:r>
          </a:p>
          <a:p/>
          <a:p>
            <a:r>
              <a:t>At the second level, the animal knows of something at or beside the goal that can be sensed from farther away. A lighthouse marks a harbor that sailors cannot see; for the early mammal, a tall distinctive tree might do the same. That is a **beacon**. Using one requires knowing only that it is near the goal, and it helps only from where it can be sensed.</a:t>
            </a:r>
          </a:p>
          <a:p/>
          <a:p>
            <a:r>
              <a:t>The third kind lets an animal recognize the goal’s surroundings once it is close, even when nothing at the goal can be sensed from afar. A person returning to a large parking lot may not see their car, but may recognize the corner where they left it. That works only near the goal, where the surroundings still look much as they did.</a:t>
            </a:r>
          </a:p>
          <a:p/>
          <a:p>
            <a:r>
              <a:t>The fourth kind is a familiar path, like directions: go past the park, turn left at the gas station, stop at the third house. Directions lead much farther than any beacon can be sensed, but only along their own path. Someone who misses the turn has nothing in the directions to get back on course.</a:t>
            </a:r>
          </a:p>
          <a:p/>
          <a:p>
            <a:r>
              <a:t>The fifth kind leads back to the start from anywhere, without a path. A hiker who has wandered for an hour and knows the trailhead is about a mile to the east can head straight for it. But that gives no information about how to reach a lake a mile to the north.</a:t>
            </a:r>
          </a:p>
          <a:p/>
          <a:p>
            <a:r>
              <a:t>The sixth and highest is knowing where places lie relative to one another, so that the way between any two of them can be worked out. A person who knows a town this well can find a detour when the usual road is closed. Of the six, only this one can lead an animal from a new starting point to any place it knows, including by a route it has never taken.</a:t>
            </a:r>
          </a:p>
          <a:p/>
          <a:p>
            <a:r>
              <a:t>One caution. These are not stages that an animal passes through as it learns, or that a lineage passed through as it evolved. Researchers once proposed that people learn particular spots first, then paths, then where places lie. But there is little evidence for that order, and many people learn all three on a first visit. An animal can have several kinds at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kinds of knowledge are things an animal has learned and remembers. The sources it can learn them from, and keep them up to date with, are cues. A *cue* is something in the world, or in the animal’s own movement, that its senses can detect as it moves. A smell, a tree, or the sun is a cue, not knowledge. The knowledge is what the animal has learned about how a cue relates to its goal. Each cue has a use and a shortcoming, and the shortcomings matter, because each one is a problem that some procedure has to solve.</a:t>
            </a:r>
          </a:p>
          <a:p/>
          <a:p>
            <a:r>
              <a:t>From each step and each turn, an animal could sense how far, and which way, it has gone. But every step and turn has to be combined into one estimate of position, and every small estimate has some error. The estimate includes all of those errors, and nothing in the signals shows how far it has drifted. An error in heading does particular harm, because it becomes a growing error in position. An animal that is carried, or swept along, has moved without stepping. And even an accurate sense of its own movement points back to one place, the start.</a:t>
            </a:r>
          </a:p>
          <a:p/>
          <a:p>
            <a:r>
              <a:t>The sun gives a direction, but it moves through the day, its path changes with the season, and at night there is none. A gradient, such as a smell growing stronger toward its source, leads only as far as it reaches, which is the limit of an animal that can only steer.</a:t>
            </a:r>
          </a:p>
          <a:p/>
          <a:p>
            <a:r>
              <a:t>A **landmark** is a recognizable feature of the surroundings, such as a large tree, a rock, or a building. How useful it is depends on its distance. A nearby landmark changes its appearance with every step, so it pins down position closely, but only nearby. A distant one barely changes as the animal moves, so it gives a direction but indicates little about position. Landmarks can also move, change with the seasons, or look like one another. And a landmark seen from a new angle looks different, which is the recognition problem from Module 7.</a:t>
            </a:r>
          </a:p>
          <a:p/>
          <a:p>
            <a:r>
              <a:t>The shape of the surroundings, walls, banks, and the edges of a clearing, stays the same from season to season. But a symmetric space gives two equally good answers: in a rectangular room, a corner and the corner diagonally opposite it look the same by shape alone. And an open plain has no shape at all.</a:t>
            </a:r>
          </a:p>
          <a:p/>
          <a:p>
            <a:r>
              <a:t>Two problems remain even for an animal with several cues. When the cues disagree, it has to decide whether they point to the same place at all, and how far to rely on each. And an animal that has lost its heading, after a fright or a tumble, has to recover which way it is facing before anything else it knows can be used.</a:t>
            </a:r>
          </a:p>
          <a:p/>
          <a:p/>
          <a:p>
            <a:r>
              <a:t>Which of these does the early mammal have on a dark night? We infer that it has its own movement, gradients of smell, nearby landmarks it can smell or touch, and few distant landmarks it can see. It was not blind, though. Land animals see much farther at night than fish do by day, so some distant landmarks would still have been in 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all the shortcomings of every cue, animals find their way remarkably well. Desert ants forage over flat ground with almost no landmarks, on winding outward paths, and run home in a straight line once they find food. Orchid bees visit flowers in a fixed order along routes of more than 10 kilometers. Wild rats in a large outdoor pen build trails between nest boxes and food and keep to them even under snow. Goldfish head for a trained place from starting points they have never used. And a taxi driver who trains for a few years can learn the tens of thousands of streets of a large city. Whether all of these know the same kind of thing is a hard question. As we put it in the reading, some cues and kinds of knowledge are “incredibly difficult to tell apart”.</a:t>
            </a:r>
          </a:p>
          <a:p/>
          <a:p>
            <a:r>
              <a:t>Consider a rat that has learned the way through a maze to food. It might have learned a sequence of moves: left, then right, then right again. Or it might have learned where the food is. On the familiar path the two produce the same behavior. They can be told apart only when something changes.</a:t>
            </a:r>
          </a:p>
          <a:p/>
          <a:p>
            <a:r>
              <a:t>The first clue came from rats given no reason to learn. In Module 5, we described rats that wandered a maze with no food in it and seemed to learn little. When food started appearing at the end, they reached it about as efficiently as rats rewarded from the start. That is **latent learning**, first discovered by Hugh Blodgett in 1929. On the strength of results like it, Edward Tolman proposed that rats learn where places lie relative to one another. With that knowledge, they can reach a goal by a route they have never taken. The test is still a route never taken, like a shortcut or a detour. But a new route is not proof on its own, because a beacon, or knowing the way back to the start, can produce the same result.</a:t>
            </a:r>
          </a:p>
          <a:p/>
          <a:p>
            <a:r>
              <a:t>The best-known attempt came from Tolman’s laboratory. Rats ran five times along a roundabout route to food. Then the route was blocked and a fan of paths offered instead. Of 53 rats, 19, or 36%, took the path ending nearest where the food box had been. Tolman and colleagues interpreted this as the rats knowing where their goal lay relative to where they were. But the room’s only light was a desk lamp just behind the old food box, there in training and in test alike. So heading for the light and heading for the goal were nearly the same thing. The authors raised that problem themselves and argued against it.</a:t>
            </a:r>
          </a:p>
          <a:p/>
          <a:p>
            <a:r>
              <a:t>The result has also proved hard to repeat. A review published in 2026 gathered 47 experiments, and only 17% found a preference for the shortcut. Most of the rest found a preference for paths next to the old route, or none at all, and the lamp rarely guided choices in the later studies. A rat taking a path beside the blocked one, to rejoin its old route, would have been acting sensibly too. So the radiating-paths test is weak evidence, on its own, that rats know where places lie relative to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Tolman’s laboratory ran a more direct test the same year, 1946, on a plus-shaped maze. Two food boxes sat at either end of one path, and rats were started on alternate trials from either side of it. One group was rewarded for always turning right, wherever it started, which meant ending up in different places. The other was rewarded for always going to the same food box, which meant turning differently depending on where it started.</a:t>
            </a:r>
          </a:p>
          <a:p/>
          <a:p>
            <a:r>
              <a:t>Learning to go to a location, whatever movements it takes, is **place learning**. Learning to repeat a movement, whatever location it leads to, is **response learning**. All 8 place learners learned within 8 trials. Only 3 of 8 response learners learned within 72, and the rest kept going to one end of the room.</a:t>
            </a:r>
          </a:p>
          <a:p/>
          <a:p>
            <a:r>
              <a:t>That looks like a clean win for places, but something outside the maze was playing a role. The room was large and dim, and a rack of the rats’ home cages stood 15 feet behind one food box. A rat could reach that box from either start by heading toward the rack, much as it would head toward a beacon. And the failing response learners kept going to one end of the room. So the experiment showed that rats readily learn a place when something outside the maze marks it, not that place learning is easier everywhere. The authors drew that limited conclusion themselves.</a:t>
            </a:r>
          </a:p>
          <a:p/>
          <a:p>
            <a:r>
              <a:t>Later repetitions sometimes found the reverse, or no difference. In 1957, a reviewer gathered the experiments together. Of ten that compared how fast rats learned each task, seven found place learning faster and two found response learning faster. The difference lay in the room, not in the rat. Where the surroundings beyond the arms looked very different, with a rack of cages, a window, or a room full of objects, rats went to the place. In a plain cloth enclosure or a plain, dim room, they repeated the turn. Both tendencies were present every time, and one was stronger. In the reviewer’s words, “there is nothing in the nature of a rat which makes it a ‘place’ or ‘response’ learner”.</a:t>
            </a:r>
          </a:p>
          <a:p/>
          <a:p>
            <a:r>
              <a:t>So do animals learn places or responses? Either, depending on the cues the setting provides. And with long training, rats shift from going to the place to repeating the turn.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Later experiments were designed to close the gaps in Tolman’s. In one, rats learned to swim to a platform hidden just under the surface of a pool of cloudy water. They could not see, hear, or smell the platform. And they were started from a different place on every trial, so neither a beacon nor a fixed sequence of turns could lead them to it. Yet they learned to swim to it directly, and when the platform was removed, they searched where it had been. They found it by where it lay relative to features of the room around the pool. This test is now called the water maze.</a:t>
            </a:r>
          </a:p>
          <a:p/>
          <a:p>
            <a:r>
              <a:t>In another experiment, rats learned a goal marked by a set of landmarks, and on some trials the landmarks were taken away just before the rat chose. The rats still chose correctly about nine times in ten. What they had learned outlasted the cues that had marked the goal.</a:t>
            </a:r>
          </a:p>
          <a:p/>
          <a:p>
            <a:r>
              <a:t>Animals can also find their way with no landmarks at all, for a while. Rats exploring in darkness ran straight back to where they had started, and hamsters in an unfamiliar place, in darkness, headed in about the right direction for home. That is the fifth kind of knowledge, the way back to the start. It is not evidence of knowing where places lie, since it leads to one place only.</a:t>
            </a:r>
          </a:p>
          <a:p/>
          <a:p>
            <a:r>
              <a:t>The strongest test of a route never taken requires knowing every route the animal has ever taken. Researchers did this with wild Egyptian fruit bats, tracking each young bat by GPS from its very first flight. A route counted as new only if at least half of it lay more than 100 meters from anywhere the bat had been. Every bat later flew shortcuts that met that test. They used what they could see to do it, and that does not count against knowing where places lie, because that knowledge always needs some places to measure from.</a:t>
            </a:r>
          </a:p>
          <a:p/>
          <a:p>
            <a:r>
              <a:t>Where does that leave the question? Animals *can* find a goal that nothing at the goal marks, and *some* animals take routes they have truly never taken. What is still debated is narrower. Skeptics hold that many such behaviors can be produced by simpler kinds of knowledge working together, like landmarks near the goal, familiar paths, and the way back to the start. So whether a particular behavior needs the highest kind of knowledge has to be shown one experiment at a time. Evidence from the brain itself has added to what behavior showed, and we take that up in the third lecture.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where places lie relative to one another has to be learned before it can be used, and learning it means going where the animal has not been. That raises a problem we described in Module 5. **Exploration versus exploitation** is the trade-off between taking an option already known to be decent, and sampling one that might be better and might be worse.</a:t>
            </a:r>
          </a:p>
          <a:p/>
          <a:p>
            <a:r>
              <a:t>For an animal with a home range, the trade-off takes two forms, and they differ. One is leaving a patch that is running down. Food often comes in patches, and the longer an animal stays in one, the more slowly it finds more, while moving to another patch takes time. Deciding when to leave means comparing what the animal is finding now with what patches around it yield on average. The other form is going somewhere it has never been, which means choosing without knowing what is there at all.</a:t>
            </a:r>
          </a:p>
          <a:p/>
          <a:p>
            <a:r>
              <a:t>In both forms, exploring is worth doing only because of the future. Sampling an unknown option usually yields less now. Its value lies in what it teaches, and that value is real only if there will be time to use what is learned. Information about a world that will soon change is worth less, because the change will make it out of date.</a:t>
            </a:r>
          </a:p>
          <a:p/>
          <a:p>
            <a:r>
              <a:t>What exploring gives up is a known meal. For the early mammal, the unknown also held predators, and every step outward made the trip home longer. Those last two are our own framing of the animal’s version of the problem, not something drawn from research on exploring.</a:t>
            </a:r>
          </a:p>
          <a:p/>
          <a:p>
            <a:r>
              <a:t>Is there a best answer? No general best answer to the trade-off can be computed in a realistic world, where options are many and much is unknown. So every animal, and every machine, has to settle for rules of thumb. We look at some of those rules in the second lecture.</a:t>
            </a:r>
          </a:p>
          <a:p/>
          <a:p>
            <a:r>
              <a:t>One more connection. Exploring is also how knowledge of a place gets built. The rats that wandered a maze with no food in it were learning its layout as they wandered. Researchers who study curiosity have long counted latent learning among the signs of curiosity.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explore to find food, and to learn the layout of a place. But they also seek information that no reward depends on. Rats with nothing to do spend more time in the unfamiliar parts of a maze. Monkeys offered a gamble will give up about a quarter of a reward’s value to learn early whether the reward is coming. Learning early changes nothing about what they get. Pigeons choose an option that averages two food pellets over one that averages three, if the first comes with a signal that predicts what they will get. Why would an animal accept less in exchange for information it cannot use?</a:t>
            </a:r>
          </a:p>
          <a:p/>
          <a:p>
            <a:r>
              <a:t>Part of the puzzle is that not knowing comes in two kinds. In the first, the question is known, and so is where its answer will come from. A person looking for their car in a large parking lot does not know where it is. But they know exactly what they are looking for, and they will recognize it when they see it. The monkeys and the pigeons faced this first kind: they knew exactly what they were waiting to find out.</a:t>
            </a:r>
          </a:p>
          <a:p/>
          <a:p>
            <a:r>
              <a:t>In the second kind, it is not yet known what is even worth asking. A person who has just arrived in an unfamiliar city does not know which streets lead anywhere, or where food can be found. Nor do they know which questions about the city will turn out to matter. That kind is open-ended. No reward is yet in view to guide the search, and much time may go into learning before anyone can tell whether it will lead anywhere. An animal venturing past the edge of the ground it knows faces something closer to this second kind.</a:t>
            </a:r>
          </a:p>
          <a:p/>
          <a:p>
            <a:r>
              <a:t>We leave the puzzle open in this lecture, and give two proposed answers to what curiosity rewards in the second lecture.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old are these abilities? We cannot watch an ancestor find its way, so we compare animals alive today. In Module 2, we described **homology**, a resemblance between two species that both inherited from a common ancestor. When distantly related species share a capacity, homology is the simplest reading: their common ancestor very probably had it. And the more distantly related the species that share it, the older it is likely to be.</a:t>
            </a:r>
          </a:p>
          <a:p/>
          <a:p>
            <a:r>
              <a:t>Spatial abilities turn out to be shared widely among vertebrates. Goldfish learn to swim to a place defined by cues around a room, and reach it from starting points they have never used. Turtles do the same in a dry maze, slowly. Fish, chicks, and pigeons all recover their heading from the shape of a space. And reptiles find their way home. Of 25 small geckos, each living in a single tree, that were carried to nearby trees, 11 walked almost straight back to their own tree by the next night.</a:t>
            </a:r>
          </a:p>
          <a:p/>
          <a:p>
            <a:r>
              <a:t>The goldfish, the turtle, and the gecko are not ancestors of mammals. They are living cousins, and their brains have kept changing too. But how long ago their lines parted from the line leading to mammals tells us how old a shared ability is likely to be. The line to mammals and the line to reptiles and birds parted about 320 million years ago, from an early four-legged animal. The goldfish’s line had parted from both more than 400 million years ago, before vertebrates moved onto land. So when goldfish, turtles, and rats all reach a place from a new starting point, the simplest reading is that the ability is more than 400 million years old. It was very probably present in their common ancestor, an animal that lived in water.</a:t>
            </a:r>
          </a:p>
          <a:p/>
          <a:p>
            <a:r>
              <a:t>Insects also reach places they cannot sense, keeping track of the way back to the start and following familiar views and paths. But their abilities likely arose separately, by convergent evolution. We infer that because the parts of the brain that do the work in insects are not counterparts of the parts that do it in vertebrates. So the insects do not make the vertebrates’ abilities any older.</a:t>
            </a:r>
          </a:p>
          <a:p/>
          <a:p>
            <a:r>
              <a:t>So how much was new for the first mammals? Less than we might expect. The abilities were old. What was new was, first of all, the problem. A warm body needed a great deal of food, and that food had to be found in poor light, with smell and touch as the leading senses. Then the animal had to get back home. One possibility, which we suggest, is that this greater need for food favored animals that used the older abilities well. Animals that remembered more places, and found their way back to them more reliably, may have had an advantage. We take up what changed in the brain in the third lecture.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these three cases, we use the six kinds of knowledge the way researchers had to. The kinds are explanations to be told apart by a test, not labels to be read off the behavior.</a:t>
            </a:r>
          </a:p>
          <a:p/>
          <a:p>
            <a:r>
              <a:t>The dog is the hardest case, because so many kinds could produce it. If the dog walked away from home on its own, knowing the way back to the start would be enough. So might a familiar path, or a smell growing stronger near home, which works as a gradient or a beacon. Knowing where places lie relative to one another is only one possibility among several. A good test removes the simpler explanations one at a time. Carrying the dog to the release point, rather than letting it walk, takes away the movement it could have kept track of, since being carried registers as no movement. Releasing it somewhere it has never been takes away a familiar path. And a route it has never taken, recognized as new because its past routes are known, is the strongest test there is.</a:t>
            </a:r>
          </a:p>
          <a:p/>
          <a:p>
            <a:r>
              <a:t>The commuter has a familiar path, which leads far but only along its own route. A road closure is exactly the case where a familiar path fails and knowing where places lie would succeed, by finding a detour. Getting lost suggests the commuter had a familiar path without knowing where places lie, at least for that part of town.</a:t>
            </a:r>
          </a:p>
          <a:p/>
          <a:p>
            <a:r>
              <a:t>The phone navigator raises a different question: which kinds of knowledge does following turn-by-turn directions build at all? Pointing toward home from somewhere new needs either the way back to the start or knowing where places lie. Following directions need not supply either.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Spatial Cognition</a:t>
            </a:r>
          </a:p>
          <a:p>
            <a:pPr algn="ctr"/>
            <a:r>
              <a:rPr sz="2000" b="0" i="0">
                <a:solidFill>
                  <a:srgbClr val="FFFFFF"/>
                </a:solidFill>
                <a:latin typeface="Calibri"/>
              </a:rPr>
              <a:t>Lecture 9.1 — Finding the Way, and Deciding Where to Look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getting_back">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Getting Back</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Your phone has died in a part of town you have never been to, and you need to get back to where you parked. Nothing at the car can be seen or heard from where you are.</a:t>
            </a:r>
          </a:p>
          <a:p>
            <a:pPr>
              <a:defRPr sz="1000"/>
            </a:pPr>
          </a:p>
          <a:p>
            <a:pPr>
              <a:spcAft>
                <a:spcPts val="2400"/>
              </a:spcAft>
            </a:pPr>
            <a:r>
              <a:rPr sz="2000" b="0" i="0">
                <a:solidFill>
                  <a:srgbClr val="222222"/>
                </a:solidFill>
                <a:latin typeface="Calibri"/>
              </a:rPr>
              <a:t>What would you need to know to get back? What could you 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getting_home_without_a_signa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Getting Home with Nothing to Steer By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Steering works only while the goal can be sensed. Far from its nest, an animal has two things left: signals of its own movement, and what it learned on earlier nights.</a:t>
            </a:r>
          </a:p>
        </p:txBody>
      </p:sp>
      <p:pic>
        <p:nvPicPr>
          <p:cNvPr id="4" name="img0" descr="Left, a landscape seen from above at night. A nest sits at the lower left, with a small dashed circle around it labeled how far the nest can be smelled. A winding dashed line, labeled the night's path out, runs from the nest past a fallen log and a spot labeled beetles plentiful, to a small animal at the upper right, far outside the circle, marked with a question mark. A wavy line along the bottom is labeled slope down to a stream. Right, a panel headed what it still has, with two boxes. The first reads: its own movement, how far and in which direction it has gone, from the vestibular system and proprioception. The second reads: what it learned on earlier nights, a fallen log, a slope down to a stream, a spot where beetles were plentiful. Along the bottom: nothing at the nest reaches the animal, so there is nothing to steer by."/>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a_small_warm_anima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Small Warm Animal in the Dark</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Early mammals were small, warm, and probably active at night or in dim light. A warm body needs a lot of food, so a lot of ground, and probably a way back home.</a:t>
            </a:r>
          </a:p>
        </p:txBody>
      </p:sp>
      <p:pic>
        <p:nvPicPr>
          <p:cNvPr id="4" name="img0" descr="Top, a timeline running from 250 million years ago to the present. A mark at more than 200 million years ago reads mammals appear. A long shaded band from there to 66 million years ago reads alongside the dinosaurs for well over 100 million years, nearly all small insect-eaters, from shrew to badger size. A mark at 66 million years ago reads dinosaurs other than birds die out, and mammals grow larger. Bottom left, a panel headed a warm body needs fuel, with two bars: a short bar labeled lizard and a bar about ten times longer labeled mammal, and the caption energy used over a whole day, roughly ten times. Bottom right, a panel headed probably active at night, or in dim light, with two columns. Converging evidence: most living mammal lineages are active at night; two of four cone types lost, and eyes suited to dim light; keener smell, high-pitched hearing, whiskers. Weak points: some dinosaurs were probably partly warm-blooded; later predatory dinosaurs had eyes suited to the dark; the lost cones fit dim light as well as darknes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what_has_to_be_know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Has to Be Known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To reach a place it cannot sense, an animal needs to know four things. Which place is worth going to depends on the animal’s state.</a:t>
            </a:r>
          </a:p>
        </p:txBody>
      </p:sp>
      <p:pic>
        <p:nvPicPr>
          <p:cNvPr id="4" name="img0" descr="Left, a Y-shaped maze seen from above, with a start at the bottom of the stem, food in the left arm, and water in the right arm. A solid arrow labeled made hungry runs from the start into the food arm, and a dashed arrow labeled made thirsty runs into the water arm. Beneath it: trained while neither hungry nor thirsty; on the first test, hungry rats went to the food side more often, and thirsty rats to the water side. Right, four numbered boxes: one, which place is worth going to now, marked set by the animal's state; two, where it is now; three, where that place is; four, which way to go."/>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ix_kinds_of_knowledg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Six Kinds of Knowledge About a Goal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beacon</a:t>
            </a:r>
            <a:r>
              <a:rPr sz="2000" b="0" i="0">
                <a:solidFill>
                  <a:srgbClr val="222222"/>
                </a:solidFill>
                <a:latin typeface="Calibri"/>
              </a:rPr>
              <a:t> is something at or beside a goal that can be sensed from farther away. Only knowing where places lie relative to one another leads from a new start to any known place.</a:t>
            </a:r>
          </a:p>
        </p:txBody>
      </p:sp>
      <p:pic>
        <p:nvPicPr>
          <p:cNvPr id="4" name="img0" descr="Six panels in two rows of three, each showing the same small landscape from above, with a nest, a goal marked by food, a few large rocks and trees, and an animal at a new starting point. Panel one, labeled the goal itself: a small dashed circle around the food shows how far the food itself can be sensed, and the animal, outside the circle, has no direction. Panel two, labeled beacon: a tall marker stands beside the goal, a much larger dashed circle around it shows how far the marker can be sensed, and the animal, outside even this circle, has no direction. Panel three, labeled the goal's surroundings: an inset shows the scene as seen from the goal, and only a small circle around the goal is shaded as the region where the view can be matched. Panel four, labeled a familiar path: a winding line runs from the nest past three of the rocks and trees to the goal, and the animal, off the line, has no direction until it reaches it. Panel five, labeled the way back to the start: a straight arrow points from the animal back to the nest, and no arrow points to the goal. Panel six, labeled where places lie: the nest, the goal, and the rocks and trees lie on one plan, and a straight arrow runs from the new starting point directly to the goal."/>
          <p:cNvPicPr>
            <a:picLocks noChangeAspect="1"/>
          </p:cNvPicPr>
          <p:nvPr/>
        </p:nvPicPr>
        <p:blipFill>
          <a:blip r:embed="rId2"/>
          <a:stretch>
            <a:fillRect/>
          </a:stretch>
        </p:blipFill>
        <p:spPr>
          <a:xfrm>
            <a:off x="1106424" y="1783080"/>
            <a:ext cx="9981133" cy="493803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cues_and_how_each_fail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Cues, and How Each Fails Alone</a:t>
            </a:r>
          </a:p>
        </p:txBody>
      </p:sp>
      <p:graphicFrame>
        <p:nvGraphicFramePr>
          <p:cNvPr id="3" name="table"/>
          <p:cNvGraphicFramePr>
            <a:graphicFrameLocks noGrp="1"/>
          </p:cNvGraphicFramePr>
          <p:nvPr/>
        </p:nvGraphicFramePr>
        <p:xfrm>
          <a:off x="274320" y="1828800"/>
          <a:ext cx="11640310" cy="4572000"/>
        </p:xfrm>
        <a:graphic>
          <a:graphicData uri="http://schemas.openxmlformats.org/drawingml/2006/table">
            <a:tbl>
              <a:tblPr>
                <a:tableStyleId>{5C22544A-7EE6-4342-B048-85BDC9FD1C3A}</a:tableStyleId>
              </a:tblPr>
              <a:tblGrid>
                <a:gridCol w="2793674"/>
                <a:gridCol w="3259287"/>
                <a:gridCol w="5587349"/>
              </a:tblGrid>
              <a:tr h="653142">
                <a:tc>
                  <a:txBody>
                    <a:bodyPr/>
                    <a:lstStyle/>
                    <a:p>
                      <a:r>
                        <a:rPr sz="1800" b="1" i="0">
                          <a:solidFill>
                            <a:srgbClr val="1F2A44"/>
                          </a:solidFill>
                          <a:latin typeface="Calibri"/>
                        </a:rPr>
                        <a:t>Cue</a:t>
                      </a:r>
                    </a:p>
                  </a:txBody>
                  <a:tcPr marL="73152" marR="73152" marT="18288" marB="18288">
                    <a:solidFill>
                      <a:srgbClr val="FFFFFF"/>
                    </a:solidFill>
                  </a:tcPr>
                </a:tc>
                <a:tc>
                  <a:txBody>
                    <a:bodyPr/>
                    <a:lstStyle/>
                    <a:p>
                      <a:r>
                        <a:rPr sz="1800" b="1" i="0">
                          <a:solidFill>
                            <a:srgbClr val="1F2A44"/>
                          </a:solidFill>
                          <a:latin typeface="Calibri"/>
                        </a:rPr>
                        <a:t>What it gives</a:t>
                      </a:r>
                    </a:p>
                  </a:txBody>
                  <a:tcPr marL="73152" marR="73152" marT="18288" marB="18288">
                    <a:solidFill>
                      <a:srgbClr val="FFFFFF"/>
                    </a:solidFill>
                  </a:tcPr>
                </a:tc>
                <a:tc>
                  <a:txBody>
                    <a:bodyPr/>
                    <a:lstStyle/>
                    <a:p>
                      <a:r>
                        <a:rPr sz="1800" b="1" i="0">
                          <a:solidFill>
                            <a:srgbClr val="1F2A44"/>
                          </a:solidFill>
                          <a:latin typeface="Calibri"/>
                        </a:rPr>
                        <a:t>How it fails alone</a:t>
                      </a:r>
                    </a:p>
                  </a:txBody>
                  <a:tcPr marL="73152" marR="73152" marT="18288" marB="18288">
                    <a:solidFill>
                      <a:srgbClr val="FFFFFF"/>
                    </a:solidFill>
                  </a:tcPr>
                </a:tc>
              </a:tr>
              <a:tr h="653142">
                <a:tc>
                  <a:txBody>
                    <a:bodyPr/>
                    <a:lstStyle/>
                    <a:p>
                      <a:r>
                        <a:rPr sz="1700" b="0" i="0">
                          <a:solidFill>
                            <a:srgbClr val="222222"/>
                          </a:solidFill>
                          <a:latin typeface="Calibri"/>
                        </a:rPr>
                        <a:t>The animal’s own movement</a:t>
                      </a:r>
                    </a:p>
                  </a:txBody>
                  <a:tcPr marL="73152" marR="73152" marT="18288" marB="18288">
                    <a:solidFill>
                      <a:srgbClr val="FFFFFF"/>
                    </a:solidFill>
                  </a:tcPr>
                </a:tc>
                <a:tc>
                  <a:txBody>
                    <a:bodyPr/>
                    <a:lstStyle/>
                    <a:p>
                      <a:r>
                        <a:rPr sz="1700" b="0" i="0">
                          <a:solidFill>
                            <a:srgbClr val="222222"/>
                          </a:solidFill>
                          <a:latin typeface="Calibri"/>
                        </a:rPr>
                        <a:t>How far, and which way, it has gone</a:t>
                      </a:r>
                    </a:p>
                  </a:txBody>
                  <a:tcPr marL="73152" marR="73152" marT="18288" marB="18288">
                    <a:solidFill>
                      <a:srgbClr val="FFFFFF"/>
                    </a:solidFill>
                  </a:tcPr>
                </a:tc>
                <a:tc>
                  <a:txBody>
                    <a:bodyPr/>
                    <a:lstStyle/>
                    <a:p>
                      <a:r>
                        <a:rPr sz="1700" b="0" i="0">
                          <a:solidFill>
                            <a:srgbClr val="222222"/>
                          </a:solidFill>
                          <a:latin typeface="Calibri"/>
                        </a:rPr>
                        <a:t>Small errors add up unseen; being carried registers as no movement; it points back only to the start</a:t>
                      </a:r>
                    </a:p>
                  </a:txBody>
                  <a:tcPr marL="73152" marR="73152" marT="18288" marB="18288">
                    <a:solidFill>
                      <a:srgbClr val="FFFFFF"/>
                    </a:solidFill>
                  </a:tcPr>
                </a:tc>
              </a:tr>
              <a:tr h="653142">
                <a:tc>
                  <a:txBody>
                    <a:bodyPr/>
                    <a:lstStyle/>
                    <a:p>
                      <a:r>
                        <a:rPr sz="1700" b="0" i="0">
                          <a:solidFill>
                            <a:srgbClr val="222222"/>
                          </a:solidFill>
                          <a:latin typeface="Calibri"/>
                        </a:rPr>
                        <a:t>The sun</a:t>
                      </a:r>
                    </a:p>
                  </a:txBody>
                  <a:tcPr marL="73152" marR="73152" marT="18288" marB="18288">
                    <a:solidFill>
                      <a:srgbClr val="FFFFFF"/>
                    </a:solidFill>
                  </a:tcPr>
                </a:tc>
                <a:tc>
                  <a:txBody>
                    <a:bodyPr/>
                    <a:lstStyle/>
                    <a:p>
                      <a:r>
                        <a:rPr sz="1700" b="0" i="0">
                          <a:solidFill>
                            <a:srgbClr val="222222"/>
                          </a:solidFill>
                          <a:latin typeface="Calibri"/>
                        </a:rPr>
                        <a:t>A direction</a:t>
                      </a:r>
                    </a:p>
                  </a:txBody>
                  <a:tcPr marL="73152" marR="73152" marT="18288" marB="18288">
                    <a:solidFill>
                      <a:srgbClr val="FFFFFF"/>
                    </a:solidFill>
                  </a:tcPr>
                </a:tc>
                <a:tc>
                  <a:txBody>
                    <a:bodyPr/>
                    <a:lstStyle/>
                    <a:p>
                      <a:r>
                        <a:rPr sz="1700" b="0" i="0">
                          <a:solidFill>
                            <a:srgbClr val="222222"/>
                          </a:solidFill>
                          <a:latin typeface="Calibri"/>
                        </a:rPr>
                        <a:t>It moves through the day and the season; none at night</a:t>
                      </a:r>
                    </a:p>
                  </a:txBody>
                  <a:tcPr marL="73152" marR="73152" marT="18288" marB="18288">
                    <a:solidFill>
                      <a:srgbClr val="FFFFFF"/>
                    </a:solidFill>
                  </a:tcPr>
                </a:tc>
              </a:tr>
              <a:tr h="653142">
                <a:tc>
                  <a:txBody>
                    <a:bodyPr/>
                    <a:lstStyle/>
                    <a:p>
                      <a:r>
                        <a:rPr sz="1700" b="0" i="0">
                          <a:solidFill>
                            <a:srgbClr val="222222"/>
                          </a:solidFill>
                          <a:latin typeface="Calibri"/>
                        </a:rPr>
                        <a:t>A nearby landmark</a:t>
                      </a:r>
                    </a:p>
                  </a:txBody>
                  <a:tcPr marL="73152" marR="73152" marT="18288" marB="18288">
                    <a:solidFill>
                      <a:srgbClr val="FFFFFF"/>
                    </a:solidFill>
                  </a:tcPr>
                </a:tc>
                <a:tc>
                  <a:txBody>
                    <a:bodyPr/>
                    <a:lstStyle/>
                    <a:p>
                      <a:r>
                        <a:rPr sz="1700" b="0" i="0">
                          <a:solidFill>
                            <a:srgbClr val="222222"/>
                          </a:solidFill>
                          <a:latin typeface="Calibri"/>
                        </a:rPr>
                        <a:t>Position, closely, when near it</a:t>
                      </a:r>
                    </a:p>
                  </a:txBody>
                  <a:tcPr marL="73152" marR="73152" marT="18288" marB="18288">
                    <a:solidFill>
                      <a:srgbClr val="FFFFFF"/>
                    </a:solidFill>
                  </a:tcPr>
                </a:tc>
                <a:tc>
                  <a:txBody>
                    <a:bodyPr/>
                    <a:lstStyle/>
                    <a:p>
                      <a:r>
                        <a:rPr sz="1700" b="0" i="0">
                          <a:solidFill>
                            <a:srgbClr val="222222"/>
                          </a:solidFill>
                          <a:latin typeface="Calibri"/>
                        </a:rPr>
                        <a:t>Changes with every step; may move, or look like another</a:t>
                      </a:r>
                    </a:p>
                  </a:txBody>
                  <a:tcPr marL="73152" marR="73152" marT="18288" marB="18288">
                    <a:solidFill>
                      <a:srgbClr val="FFFFFF"/>
                    </a:solidFill>
                  </a:tcPr>
                </a:tc>
              </a:tr>
              <a:tr h="653142">
                <a:tc>
                  <a:txBody>
                    <a:bodyPr/>
                    <a:lstStyle/>
                    <a:p>
                      <a:r>
                        <a:rPr sz="1700" b="0" i="0">
                          <a:solidFill>
                            <a:srgbClr val="222222"/>
                          </a:solidFill>
                          <a:latin typeface="Calibri"/>
                        </a:rPr>
                        <a:t>A distant landmark</a:t>
                      </a:r>
                    </a:p>
                  </a:txBody>
                  <a:tcPr marL="73152" marR="73152" marT="18288" marB="18288">
                    <a:solidFill>
                      <a:srgbClr val="FFFFFF"/>
                    </a:solidFill>
                  </a:tcPr>
                </a:tc>
                <a:tc>
                  <a:txBody>
                    <a:bodyPr/>
                    <a:lstStyle/>
                    <a:p>
                      <a:r>
                        <a:rPr sz="1700" b="0" i="0">
                          <a:solidFill>
                            <a:srgbClr val="222222"/>
                          </a:solidFill>
                          <a:latin typeface="Calibri"/>
                        </a:rPr>
                        <a:t>A direction</a:t>
                      </a:r>
                    </a:p>
                  </a:txBody>
                  <a:tcPr marL="73152" marR="73152" marT="18288" marB="18288">
                    <a:solidFill>
                      <a:srgbClr val="FFFFFF"/>
                    </a:solidFill>
                  </a:tcPr>
                </a:tc>
                <a:tc>
                  <a:txBody>
                    <a:bodyPr/>
                    <a:lstStyle/>
                    <a:p>
                      <a:r>
                        <a:rPr sz="1700" b="0" i="0">
                          <a:solidFill>
                            <a:srgbClr val="222222"/>
                          </a:solidFill>
                          <a:latin typeface="Calibri"/>
                        </a:rPr>
                        <a:t>Indicates little about position</a:t>
                      </a:r>
                    </a:p>
                  </a:txBody>
                  <a:tcPr marL="73152" marR="73152" marT="18288" marB="18288">
                    <a:solidFill>
                      <a:srgbClr val="FFFFFF"/>
                    </a:solidFill>
                  </a:tcPr>
                </a:tc>
              </a:tr>
              <a:tr h="653142">
                <a:tc>
                  <a:txBody>
                    <a:bodyPr/>
                    <a:lstStyle/>
                    <a:p>
                      <a:r>
                        <a:rPr sz="1700" b="0" i="0">
                          <a:solidFill>
                            <a:srgbClr val="222222"/>
                          </a:solidFill>
                          <a:latin typeface="Calibri"/>
                        </a:rPr>
                        <a:t>The shape of the surroundings</a:t>
                      </a:r>
                    </a:p>
                  </a:txBody>
                  <a:tcPr marL="73152" marR="73152" marT="18288" marB="18288">
                    <a:solidFill>
                      <a:srgbClr val="FFFFFF"/>
                    </a:solidFill>
                  </a:tcPr>
                </a:tc>
                <a:tc>
                  <a:txBody>
                    <a:bodyPr/>
                    <a:lstStyle/>
                    <a:p>
                      <a:r>
                        <a:rPr sz="1700" b="0" i="0">
                          <a:solidFill>
                            <a:srgbClr val="222222"/>
                          </a:solidFill>
                          <a:latin typeface="Calibri"/>
                        </a:rPr>
                        <a:t>Which way the animal faces</a:t>
                      </a:r>
                    </a:p>
                  </a:txBody>
                  <a:tcPr marL="73152" marR="73152" marT="18288" marB="18288">
                    <a:solidFill>
                      <a:srgbClr val="FFFFFF"/>
                    </a:solidFill>
                  </a:tcPr>
                </a:tc>
                <a:tc>
                  <a:txBody>
                    <a:bodyPr/>
                    <a:lstStyle/>
                    <a:p>
                      <a:r>
                        <a:rPr sz="1700" b="0" i="0">
                          <a:solidFill>
                            <a:srgbClr val="222222"/>
                          </a:solidFill>
                          <a:latin typeface="Calibri"/>
                        </a:rPr>
                        <a:t>A symmetric space gives two answers; open ground gives none</a:t>
                      </a:r>
                    </a:p>
                  </a:txBody>
                  <a:tcPr marL="73152" marR="73152" marT="18288" marB="18288">
                    <a:solidFill>
                      <a:srgbClr val="FFFFFF"/>
                    </a:solidFill>
                  </a:tcPr>
                </a:tc>
              </a:tr>
              <a:tr h="653148">
                <a:tc>
                  <a:txBody>
                    <a:bodyPr/>
                    <a:lstStyle/>
                    <a:p>
                      <a:r>
                        <a:rPr sz="1700" b="0" i="0">
                          <a:solidFill>
                            <a:srgbClr val="222222"/>
                          </a:solidFill>
                          <a:latin typeface="Calibri"/>
                        </a:rPr>
                        <a:t>A gradient, such as a smell</a:t>
                      </a:r>
                    </a:p>
                  </a:txBody>
                  <a:tcPr marL="73152" marR="73152" marT="18288" marB="18288">
                    <a:solidFill>
                      <a:srgbClr val="FFFFFF"/>
                    </a:solidFill>
                  </a:tcPr>
                </a:tc>
                <a:tc>
                  <a:txBody>
                    <a:bodyPr/>
                    <a:lstStyle/>
                    <a:p>
                      <a:r>
                        <a:rPr sz="1700" b="0" i="0">
                          <a:solidFill>
                            <a:srgbClr val="222222"/>
                          </a:solidFill>
                          <a:latin typeface="Calibri"/>
                        </a:rPr>
                        <a:t>The way toward its source</a:t>
                      </a:r>
                    </a:p>
                  </a:txBody>
                  <a:tcPr marL="73152" marR="73152" marT="18288" marB="18288">
                    <a:solidFill>
                      <a:srgbClr val="FFFFFF"/>
                    </a:solidFill>
                  </a:tcPr>
                </a:tc>
                <a:tc>
                  <a:txBody>
                    <a:bodyPr/>
                    <a:lstStyle/>
                    <a:p>
                      <a:r>
                        <a:rPr sz="1700" b="0" i="0">
                          <a:solidFill>
                            <a:srgbClr val="222222"/>
                          </a:solidFill>
                          <a:latin typeface="Calibri"/>
                        </a:rPr>
                        <a:t>Runs out beyond its reach</a:t>
                      </a:r>
                    </a:p>
                  </a:txBody>
                  <a:tcPr marL="73152" marR="73152" marT="18288" marB="18288">
                    <a:solidFill>
                      <a:srgbClr val="FFFFFF"/>
                    </a:solidFill>
                  </a:tcPr>
                </a:tc>
              </a:tr>
            </a:tbl>
          </a:graphicData>
        </a:graphic>
      </p:graphicFrame>
      <p:sp>
        <p:nvSpPr>
          <p:cNvPr id="4" name="body_box"/>
          <p:cNvSpPr txBox="1"/>
          <p:nvPr/>
        </p:nvSpPr>
        <p:spPr>
          <a:xfrm>
            <a:off x="109728" y="932688"/>
            <a:ext cx="11987784" cy="804672"/>
          </a:xfrm>
          <a:prstGeom prst="rect">
            <a:avLst/>
          </a:prstGeom>
          <a:noFill/>
        </p:spPr>
        <p:txBody>
          <a:bodyPr wrap="square">
            <a:spAutoFit/>
          </a:bodyPr>
          <a:lstStyle/>
          <a:p>
            <a:r>
              <a:rPr sz="2000" b="0" i="0">
                <a:solidFill>
                  <a:srgbClr val="222222"/>
                </a:solidFill>
                <a:latin typeface="Calibri"/>
              </a:rPr>
              <a:t>A </a:t>
            </a:r>
            <a:r>
              <a:rPr sz="2000" b="0" i="1">
                <a:solidFill>
                  <a:srgbClr val="222222"/>
                </a:solidFill>
                <a:latin typeface="Calibri"/>
              </a:rPr>
              <a:t>cue</a:t>
            </a:r>
            <a:r>
              <a:rPr sz="2000" b="0" i="0">
                <a:solidFill>
                  <a:srgbClr val="222222"/>
                </a:solidFill>
                <a:latin typeface="Calibri"/>
              </a:rPr>
              <a:t> is something an animal’s senses can detect as it moves; knowledge is what it has learned about how a cue relates to its goal. A </a:t>
            </a:r>
            <a:r>
              <a:rPr sz="2000" b="1" i="0">
                <a:solidFill>
                  <a:srgbClr val="222222"/>
                </a:solidFill>
                <a:latin typeface="Calibri"/>
              </a:rPr>
              <a:t>landmark</a:t>
            </a:r>
            <a:r>
              <a:rPr sz="2000" b="0" i="0">
                <a:solidFill>
                  <a:srgbClr val="222222"/>
                </a:solidFill>
                <a:latin typeface="Calibri"/>
              </a:rPr>
              <a:t> is a recognizable feature of the surroundings.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olmans_tes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Do Animals Know? Tolman’s Test</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Latent learning</a:t>
            </a:r>
            <a:r>
              <a:rPr sz="2000" b="0" i="0">
                <a:solidFill>
                  <a:srgbClr val="222222"/>
                </a:solidFill>
                <a:latin typeface="Calibri"/>
              </a:rPr>
              <a:t> is learning that does not show in behavior when it happens, and appears later, once there is a reason to use it. The test of knowing where places lie is a route never taken, but a new route alone is not proof.</a:t>
            </a:r>
          </a:p>
        </p:txBody>
      </p:sp>
      <p:pic>
        <p:nvPicPr>
          <p:cNvPr id="4" name="img0" descr="Three panels. Panel one, labeled training: seen from above, a short start path leads to a round table, then through a walled alley, and on by a path that turns left, right, and right again to a food box. A lamp is drawn just behind the food box, shining back along the last stretch of path. Panel two, labeled test: the same start path and table, the alley blocked, and twelve long paths fanning out from the table, numbered 1 to 12, plus six short paths on the other side. Path 6 ends just beside the spot where the food box had been, and the lamp is still in place. Panel three: a bar chart of the number of rats choosing each long path. Path 6 has 19 rats; path 1 has 9; path 2 has 5; paths 8 and 10 have 4 each; path 7 has 3; paths 4, 5, and 11 have 2 each; paths 3, 9, and 12 have 1 each."/>
          <p:cNvPicPr>
            <a:picLocks noChangeAspect="1"/>
          </p:cNvPicPr>
          <p:nvPr/>
        </p:nvPicPr>
        <p:blipFill>
          <a:blip r:embed="rId2"/>
          <a:stretch>
            <a:fillRect/>
          </a:stretch>
        </p:blipFill>
        <p:spPr>
          <a:xfrm>
            <a:off x="969264" y="1783080"/>
            <a:ext cx="10253319" cy="493778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place_or_respons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Place Learning and Response Learning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Place learning</a:t>
            </a:r>
            <a:r>
              <a:rPr sz="2000" b="0" i="0">
                <a:solidFill>
                  <a:srgbClr val="222222"/>
                </a:solidFill>
                <a:latin typeface="Calibri"/>
              </a:rPr>
              <a:t>: going to a location, whatever movements it takes. </a:t>
            </a:r>
            <a:r>
              <a:rPr sz="2000" b="1" i="0">
                <a:solidFill>
                  <a:srgbClr val="222222"/>
                </a:solidFill>
                <a:latin typeface="Calibri"/>
              </a:rPr>
              <a:t>Response learning</a:t>
            </a:r>
            <a:r>
              <a:rPr sz="2000" b="0" i="0">
                <a:solidFill>
                  <a:srgbClr val="222222"/>
                </a:solidFill>
                <a:latin typeface="Calibri"/>
              </a:rPr>
              <a:t>: repeating a movement, whatever location it leads to. Which one rats show depends on the room.</a:t>
            </a:r>
          </a:p>
        </p:txBody>
      </p:sp>
      <p:pic>
        <p:nvPicPr>
          <p:cNvPr id="4" name="img0" descr="Two panels, each a plus-shaped maze seen from above, with start arms at the top and bottom and food boxes at the left and right ends. Outside the maze, behind the left food box, a rectangle is labeled rack of home cages. In the left panel, labeled place learners, two arrows, one from each start, both end at the left food box, one turning right and one turning left; beneath it: always the same food box; all 8 learned within 8 trials. In the right panel, labeled response learners, two arrows, one from each start, both turn right, so they end at different food boxes; beneath it: always turn right; only 3 of 8 learned within 72 trials, and the rest kept going to one end of the room. Along the bottom: with distinct surroundings beyond the arms, rats went to the place; in a plain enclosure, they repeated the turn."/>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routes_never_take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Routes Never Taken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With better controls, animals can find a goal that nothing at the goal marks, and some animals take routes they have truly never taken.</a:t>
            </a:r>
          </a:p>
        </p:txBody>
      </p:sp>
      <p:pic>
        <p:nvPicPr>
          <p:cNvPr id="4" name="img0" descr="Three panels. Panel one, labeled the water maze: a round pool of cloudy water seen from above, with a small dashed square marking a hidden platform in one quadrant. Four starting points around the rim, marked N, E, S, and W, each have a nearly straight path leading to the platform. Outside the pool are a door, a shelf, a poster, and a lamp, labeled features of the room. Beneath: started from a different place each trial, so neither a beacon nor a fixed sequence of turns could lead them. Panel two, labeled platform removed: the same pool with no platform, and a dense tangle of swimming path concentrated where the platform had been. Panel three, labeled fruit bats tracked by GPS: thin gray lines show every route a young bat had flown since its first flight, and one thick line cuts across open ground between two of them, labeled a new shortcut, at least half of it more than 100 meters from anywhere flown before."/>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whether_to_keep_explor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Whether to Keep Exploring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Exploration versus exploitation</a:t>
            </a:r>
            <a:r>
              <a:rPr sz="2000" b="0" i="0">
                <a:solidFill>
                  <a:srgbClr val="222222"/>
                </a:solidFill>
                <a:latin typeface="Calibri"/>
              </a:rPr>
              <a:t> is the trade-off between taking an option already known to be decent, and sampling one that might be better and might be worse. Exploring is worth doing only because of the future.</a:t>
            </a:r>
          </a:p>
        </p:txBody>
      </p:sp>
      <p:pic>
        <p:nvPicPr>
          <p:cNvPr id="4" name="img0" descr="Two panels. Left, headed leave a patch that is running down: a graph with time in the patch on the horizontal axis and food found per minute on the vertical axis. A curve starts high and falls steadily, labeled the longer it stays, the more slowly it finds more. A dashed horizontal line is labeled what patches around it yield, on average. A note beneath reads: moving to another patch takes time. Right, headed go somewhere never visited: a nest at the center of a shaded region of known ground, crossed by worn trails, with two known food spots marked. Beyond the shaded region, unshaded ground carries question marks. A small animal stands at the edge. Labels read: known, a decent meal; unknown, might be better, might be worse. Along the bottom: exploring is worth doing only because of the future."/>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wanting_to_know">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Wanting to Know</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Animals also seek information that no reward depends on. Not knowing comes in two kinds: a known question, and an open-ended one.</a:t>
            </a:r>
          </a:p>
        </p:txBody>
      </p:sp>
      <p:pic>
        <p:nvPicPr>
          <p:cNvPr id="4" name="img0" descr="Two panels. Left, headed information no reward depends on, with three rows. Rats: with nothing to do, they spend more time in the unfamiliar parts of a maze. Monkeys: they give up about a quarter of a reward's value to learn early whether it is coming. Pigeons: two keys, one labeled averages 2 pellets, with a signal of what is coming, and one labeled averages 3 pellets, no signal; an arrow marks the first as the one pigeons choose. Right, headed two kinds of not knowing. Top box, a known question: a parking lot with a car icon, labeled where is my car? I will know it when I see it. Bottom box, an open-ended one: a grid of streets with question marks, labeled which streets in a new city will matter? Not yet known what is worth asking."/>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what_the_ancestors_ha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the Ancestors Already Had</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Homology</a:t>
            </a:r>
            <a:r>
              <a:rPr sz="2000" b="0" i="0">
                <a:solidFill>
                  <a:srgbClr val="222222"/>
                </a:solidFill>
                <a:latin typeface="Calibri"/>
              </a:rPr>
              <a:t> is a resemblance between two species that both inherited from a common ancestor. Reaching a place from a new start is very probably more than 400 million years old.</a:t>
            </a:r>
          </a:p>
        </p:txBody>
      </p:sp>
      <p:pic>
        <p:nvPicPr>
          <p:cNvPr id="4" name="img0" descr="A branching tree on a time axis running from more than 400 million years ago at the left to the present at the right. The root, at the left, is labeled a common ancestor that lived in water. One branch runs to goldfish. A second branch runs to a fork labeled about 320 million years ago, an early four-legged animal, which splits into a branch to turtles, geckos, chicks, and pigeons, and a branch to mammals, represented by the rat. Beside each tip is what living members of the group do: goldfish reach a place from starting points never used, and fish recover their heading from the shape of a space; turtles reach a place from new starts, slowly; 11 of 25 geckos carried to nearby trees walked almost straight back to their own; chicks and pigeons recover their heading from shape; rats reach a place from new starting points. Set apart below the tree, an ant, labeled insects keep track of the way back to the start and follow familiar views and paths, but with brain parts that are not counterparts of the vertebrates': likely convergent."/>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discussion_which_kin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Which Kind of Knowledge?</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1800"/>
              </a:spcAft>
            </a:pPr>
            <a:r>
              <a:rPr sz="2000" b="1" i="0">
                <a:solidFill>
                  <a:srgbClr val="222222"/>
                </a:solidFill>
                <a:latin typeface="Calibri"/>
              </a:rPr>
              <a:t>In your group, four minutes.</a:t>
            </a:r>
            <a:r>
              <a:rPr sz="2000" b="0" i="0">
                <a:solidFill>
                  <a:srgbClr val="222222"/>
                </a:solidFill>
                <a:latin typeface="Calibri"/>
              </a:rPr>
              <a:t> For each case, which kinds of knowledge could explain it? What test would tell them apart?</a:t>
            </a:r>
          </a:p>
          <a:p>
            <a:pPr>
              <a:defRPr sz="1000"/>
            </a:pPr>
          </a:p>
          <a:p>
            <a:pPr marL="457200" indent="-457200">
              <a:spcAft>
                <a:spcPts val="1800"/>
              </a:spcAft>
              <a:buFont typeface="Arial"/>
              <a:buAutoNum type="arabicPeriod"/>
            </a:pPr>
            <a:r>
              <a:rPr sz="2000" b="0" i="0">
                <a:solidFill>
                  <a:srgbClr val="222222"/>
                </a:solidFill>
                <a:latin typeface="Calibri"/>
              </a:rPr>
              <a:t>A dog lost three miles from home turns up at its own door.</a:t>
            </a:r>
          </a:p>
          <a:p>
            <a:pPr marL="457200" indent="-457200">
              <a:spcAft>
                <a:spcPts val="1800"/>
              </a:spcAft>
              <a:buFont typeface="Arial"/>
              <a:buAutoNum type="arabicPeriod"/>
            </a:pPr>
            <a:r>
              <a:rPr sz="2000" b="0" i="0">
                <a:solidFill>
                  <a:srgbClr val="222222"/>
                </a:solidFill>
                <a:latin typeface="Calibri"/>
              </a:rPr>
              <a:t>A commuter who drives the same way every day gets lost when a road is closed.</a:t>
            </a:r>
          </a:p>
          <a:p>
            <a:pPr marL="457200" indent="-457200">
              <a:spcAft>
                <a:spcPts val="1800"/>
              </a:spcAft>
              <a:buFont typeface="Arial"/>
              <a:buAutoNum type="arabicPeriod"/>
            </a:pPr>
            <a:r>
              <a:rPr sz="2000" b="0" i="0">
                <a:solidFill>
                  <a:srgbClr val="222222"/>
                </a:solidFill>
                <a:latin typeface="Calibri"/>
              </a:rPr>
              <a:t>A person who always navigates by phone cannot point toward home.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Far from home, with nothing to steer by</a:t>
                      </a:r>
                    </a:p>
                  </a:txBody>
                  <a:tcPr marL="73152" marR="73152" marT="18288" marB="18288">
                    <a:solidFill>
                      <a:srgbClr val="FFFFFF"/>
                    </a:solidFill>
                  </a:tcPr>
                </a:tc>
                <a:tc>
                  <a:txBody>
                    <a:bodyPr/>
                    <a:lstStyle/>
                    <a:p>
                      <a:r>
                        <a:rPr sz="1000" b="0" i="0">
                          <a:solidFill>
                            <a:srgbClr val="222222"/>
                          </a:solidFill>
                          <a:latin typeface="Calibri"/>
                        </a:rPr>
                        <a:t>fig-no-signal.png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early mammal, as we reconstruct it</a:t>
                      </a:r>
                    </a:p>
                  </a:txBody>
                  <a:tcPr marL="73152" marR="73152" marT="18288" marB="18288">
                    <a:solidFill>
                      <a:srgbClr val="FFFFFF"/>
                    </a:solidFill>
                  </a:tcPr>
                </a:tc>
                <a:tc>
                  <a:txBody>
                    <a:bodyPr/>
                    <a:lstStyle/>
                    <a:p>
                      <a:r>
                        <a:rPr sz="1000" b="0" i="0">
                          <a:solidFill>
                            <a:srgbClr val="222222"/>
                          </a:solidFill>
                          <a:latin typeface="Calibri"/>
                        </a:rPr>
                        <a:t>fig-early-mammal.png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Four things to know, and the state that picks the goal</a:t>
                      </a:r>
                    </a:p>
                  </a:txBody>
                  <a:tcPr marL="73152" marR="73152" marT="18288" marB="18288">
                    <a:solidFill>
                      <a:srgbClr val="FFFFFF"/>
                    </a:solidFill>
                  </a:tcPr>
                </a:tc>
                <a:tc>
                  <a:txBody>
                    <a:bodyPr/>
                    <a:lstStyle/>
                    <a:p>
                      <a:r>
                        <a:rPr sz="1000" b="0" i="0">
                          <a:solidFill>
                            <a:srgbClr val="222222"/>
                          </a:solidFill>
                          <a:latin typeface="Calibri"/>
                        </a:rPr>
                        <a:t>fig-four-things.png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Six kinds of knowledge about a goal</a:t>
                      </a:r>
                    </a:p>
                  </a:txBody>
                  <a:tcPr marL="73152" marR="73152" marT="18288" marB="18288">
                    <a:solidFill>
                      <a:srgbClr val="FFFFFF"/>
                    </a:solidFill>
                  </a:tcPr>
                </a:tc>
                <a:tc>
                  <a:txBody>
                    <a:bodyPr/>
                    <a:lstStyle/>
                    <a:p>
                      <a:r>
                        <a:rPr sz="1000" b="0" i="0">
                          <a:solidFill>
                            <a:srgbClr val="222222"/>
                          </a:solidFill>
                          <a:latin typeface="Calibri"/>
                        </a:rPr>
                        <a:t>fig-what-is-carried.png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The radiating-paths test</a:t>
                      </a:r>
                    </a:p>
                  </a:txBody>
                  <a:tcPr marL="73152" marR="73152" marT="18288" marB="18288">
                    <a:solidFill>
                      <a:srgbClr val="FFFFFF"/>
                    </a:solidFill>
                  </a:tcPr>
                </a:tc>
                <a:tc>
                  <a:txBody>
                    <a:bodyPr/>
                    <a:lstStyle/>
                    <a:p>
                      <a:r>
                        <a:rPr sz="1000" b="0" i="0">
                          <a:solidFill>
                            <a:srgbClr val="222222"/>
                          </a:solidFill>
                          <a:latin typeface="Calibri"/>
                        </a:rPr>
                        <a:t>fig-radiating-paths.png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redrawn from Tolman, Ritchie, and Kalish (1946)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plus-shaped maze</a:t>
                      </a:r>
                    </a:p>
                  </a:txBody>
                  <a:tcPr marL="73152" marR="73152" marT="18288" marB="18288">
                    <a:solidFill>
                      <a:srgbClr val="FFFFFF"/>
                    </a:solidFill>
                  </a:tcPr>
                </a:tc>
                <a:tc>
                  <a:txBody>
                    <a:bodyPr/>
                    <a:lstStyle/>
                    <a:p>
                      <a:r>
                        <a:rPr sz="1000" b="0" i="0">
                          <a:solidFill>
                            <a:srgbClr val="222222"/>
                          </a:solidFill>
                          <a:latin typeface="Calibri"/>
                        </a:rPr>
                        <a:t>fig-plus-maze.png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after Tolman, Ritchie, and Kalish (1946)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Closing the gaps</a:t>
                      </a:r>
                    </a:p>
                  </a:txBody>
                  <a:tcPr marL="73152" marR="73152" marT="18288" marB="18288">
                    <a:solidFill>
                      <a:srgbClr val="FFFFFF"/>
                    </a:solidFill>
                  </a:tcPr>
                </a:tc>
                <a:tc>
                  <a:txBody>
                    <a:bodyPr/>
                    <a:lstStyle/>
                    <a:p>
                      <a:r>
                        <a:rPr sz="1000" b="0" i="0">
                          <a:solidFill>
                            <a:srgbClr val="222222"/>
                          </a:solidFill>
                          <a:latin typeface="Calibri"/>
                        </a:rPr>
                        <a:t>fig-water-maze.png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The exploration problem, in two forms</a:t>
                      </a:r>
                    </a:p>
                  </a:txBody>
                  <a:tcPr marL="73152" marR="73152" marT="18288" marB="18288">
                    <a:solidFill>
                      <a:srgbClr val="FFFFFF"/>
                    </a:solidFill>
                  </a:tcPr>
                </a:tc>
                <a:tc>
                  <a:txBody>
                    <a:bodyPr/>
                    <a:lstStyle/>
                    <a:p>
                      <a:r>
                        <a:rPr sz="1000" b="0" i="0">
                          <a:solidFill>
                            <a:srgbClr val="222222"/>
                          </a:solidFill>
                          <a:latin typeface="Calibri"/>
                        </a:rPr>
                        <a:t>fig-two-forms.png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gridCol w="2699308"/>
                <a:gridCol w="2699308"/>
                <a:gridCol w="1574596"/>
                <a:gridCol w="3599078"/>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815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Information for its own sake, and two kinds of not knowing</a:t>
                      </a:r>
                    </a:p>
                  </a:txBody>
                  <a:tcPr marL="73152" marR="73152" marT="18288" marB="18288">
                    <a:solidFill>
                      <a:srgbClr val="FFFFFF"/>
                    </a:solidFill>
                  </a:tcPr>
                </a:tc>
                <a:tc>
                  <a:txBody>
                    <a:bodyPr/>
                    <a:lstStyle/>
                    <a:p>
                      <a:r>
                        <a:rPr sz="1000" b="0" i="0">
                          <a:solidFill>
                            <a:srgbClr val="222222"/>
                          </a:solidFill>
                          <a:latin typeface="Calibri"/>
                        </a:rPr>
                        <a:t>fig-wanting-to-know.png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Spatial abilities shared across vertebrates</a:t>
                      </a:r>
                    </a:p>
                  </a:txBody>
                  <a:tcPr marL="73152" marR="73152" marT="18288" marB="18288">
                    <a:solidFill>
                      <a:srgbClr val="FFFFFF"/>
                    </a:solidFill>
                  </a:tcPr>
                </a:tc>
                <a:tc>
                  <a:txBody>
                    <a:bodyPr/>
                    <a:lstStyle/>
                    <a:p>
                      <a:r>
                        <a:rPr sz="1000" b="0" i="0">
                          <a:solidFill>
                            <a:srgbClr val="222222"/>
                          </a:solidFill>
                          <a:latin typeface="Calibri"/>
                        </a:rPr>
                        <a:t>fig-ancestors.png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