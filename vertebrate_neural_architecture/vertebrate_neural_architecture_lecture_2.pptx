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lecture named the parts of a vertebrate brain and gave each one a job description. Every description came with a warning: it is a first approximation.</a:t>
            </a:r>
          </a:p>
          <a:p/>
          <a:p>
            <a:r>
              <a:t>This lecture takes that warning seriously. The obvious next question, what each part is for, turns out not to have a clean answer. So we replace it with a different question, one proposed by the neuroscientist Kenji Doya: not what each structure does, but how each one learns.</a:t>
            </a:r>
          </a:p>
          <a:p/>
          <a:p>
            <a:r>
              <a:t>On that proposal, each structure is specialized in a method rather than a job. That is a *division of labor* of a particular kind: an arrangement in which different parts of a system take on different work, rather than each part doing everything.</a:t>
            </a:r>
          </a:p>
          <a:p/>
          <a:p>
            <a:r>
              <a:t>This is the algorithmic level. By the end, the four kinds of learning from Module 5 will each have an address, and one question from the start of the reading will have its answer: why choosing an action, in a vertebrate, is releasing it rather than switching it 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replaces a recap. The major theme of the last lecture was that competing demands make separate structures worth considering, and that the argument for them does not prove they exist. Something has to be looked at.</a:t>
            </a:r>
          </a:p>
          <a:p/>
          <a:p>
            <a:r>
              <a:t>The answers groups usually give fall into three kinds. Record from the part and see whether it is active during movement. Damage the part and see whether movement suffers. Look at its wiring and see whether it connects to the muscles, or to what drives them.</a:t>
            </a:r>
          </a:p>
          <a:p/>
          <a:p>
            <a:r>
              <a:t>All three are reasonable. The second question is where the interest is. A part active during movement and also during many other things would make most people doubt it. So would damage that affects much more than movement, or a part whose activity simply mirrors whatever it happens to be connected to.</a:t>
            </a:r>
          </a:p>
          <a:p/>
          <a:p>
            <a:r>
              <a:t>Hold on to whatever the groups said about that second question. Every one of those doubts turns out to be real, for two of the structures in this module, and the next slide is about what they do to the question.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the parts have names, the natural question is what each one is for. The evidence does not answer it cleanly.</a:t>
            </a:r>
          </a:p>
          <a:p/>
          <a:p>
            <a:r>
              <a:t>Take the cerebellum and the basal ganglia. Recordings find both active during movement. They also find both active during perception, during planning, and during thought. Damage to either affects more than movement. And when researchers record from a small piece of either, what they find tends to resemble the stretch of pallium that piece exchanges signals with.</a:t>
            </a:r>
          </a:p>
          <a:p/>
          <a:p>
            <a:r>
              <a:t>That last finding is the one to dwell on. A structure whose activity looks like whatever it is wired to is not telling us what it is for.</a:t>
            </a:r>
          </a:p>
          <a:p/>
          <a:p>
            <a:r>
              <a:t>The mistake this invites has a name: **reverse inference**, going from "this region was active during the task" to "therefore, the task involved the process that region does". This is the third time the book has met it. In Module 2 it was a region in brain imaging: a region active during fear is active during a great many other things, so its activation is weak evidence that fear was what mattered. In Module 5 it was a mechanism: the coincidence detection and gating that change a synapse in learning also wire a nervous system in development, so finding the mechanism at work does not tell us which job is being done.</a:t>
            </a:r>
          </a:p>
          <a:p/>
          <a:p>
            <a:r>
              <a:t>Here it is a structure. A region active during many different things licenses very little on its own, and the structures of this module are active during many different things.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Doya's proposal was to stop asking what each structure does and ask how each one learns. On that view a structure is specialized in a method rather than in a job, and the method can be used for many jobs. That fits the recordings on the last slide rather than fighting them.</a:t>
            </a:r>
          </a:p>
          <a:p/>
          <a:p>
            <a:r>
              <a:t>Changing the question also forces care about Marr's levels. So far in this module the computational level has been clean, because the Cambrian demands are facts about what an animal had to manage, and they hold whatever its nervous system is made of. The two lower levels are harder to keep apart once the parts have names, because naming a part is already half an answer about implementation.</a:t>
            </a:r>
          </a:p>
          <a:p/>
          <a:p>
            <a:r>
              <a:t>So here is a test. A claim is algorithmic if it would hold of a system built out of something else entirely. A claim is implementational if it turns on which cells are involved, what chemicals they use, and where they sit.</a:t>
            </a:r>
          </a:p>
          <a:p/>
          <a:p>
            <a:r>
              <a:t>The chapter's own pair shows the difference. *Hold every action back, and release one* is algorithmic: a robot could work that way, and so could a simulation. *The basal ganglia do it with dopamine and two opposed pathways* is implementational.</a:t>
            </a:r>
          </a:p>
          <a:p/>
          <a:p>
            <a:r>
              <a:t>Most of what follows in this lecture is the first kind of claim, stated over parts named in the second kind. It is worth noticing each time it happens.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5 sorted four families of learning by a single question: what has to reach a synapse before it will change. It also added a caveat. Knowing what a weight change requires says nothing about whether an animal has any way to deliver that information.</a:t>
            </a:r>
          </a:p>
          <a:p/>
          <a:p>
            <a:r>
              <a:t>Doya's proposal answers the caveat. For each family, it names the place in a vertebrate brain where the required information actually arrives. The figure shows the three kinds of delivery: one fiber to one cell in the cerebellum, one signal to all of them in the basal ganglia, and nothing delivered at all in the pallium.</a:t>
            </a:r>
          </a:p>
          <a:p/>
          <a:p>
            <a:r>
              <a:t>One caution first, because two different things get called learning. A *family of learning* is usually named for what the whole animal ends up able to do: find food, keep its eyes on target, avoid what hurt it last time. But the change itself happens at individual connections. A single connection cannot be told what the animal should have done. A single synapse has no way to understand the meaning of anything that complex. Whatever reaches it has to be about its own inputs and its own output.</a:t>
            </a:r>
          </a:p>
          <a:p/>
          <a:p>
            <a:r>
              <a:t>So each family is a pairing: an animal-level problem, and the particular information that has to turn up at a synapse for that synapse to help solve it. The rest of this lecture runs on that pairing.</a:t>
            </a:r>
          </a:p>
          <a:p/>
          <a:p>
            <a:r>
              <a:t>And it is the second half that anatomy can answer. To ask where reinforcement learning happens is not to ask where the animal's goals are. It is to ask where the machinery is that gets a verdict delivered to the synapses that produced the action.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the one Module 5 called Hebbian. The chapter calls it *unsupervised learning*, and it needs nothing but the two cells a connection joins.</a:t>
            </a:r>
          </a:p>
          <a:p/>
          <a:p>
            <a:r>
              <a:t>Module 5's rat shows what a rule that local can buy. A tone sounds, and food arrives a moment later. Food already produces a response without any training, so the cells driving that response are firing when the food arrives. The cells carrying the tone contact those same response cells, and they are firing at the same moment. So both ends of the tone connection are active together, which is the entire condition Hebb's rule requires. The tone connection strengthens. After enough pairings, the tone alone drives the response. That is classical conditioning.</a:t>
            </a:r>
          </a:p>
          <a:p/>
          <a:p>
            <a:r>
              <a:t>It is unsupervised because nothing in the rat had to know that the tone predicted food, or that any learning was going on. Read that way, an unconditioned stimulus is simply one that already makes the postsynaptic cell fire. Without that, there is no co-occurrence to detect, and nothing changes.</a:t>
            </a:r>
          </a:p>
          <a:p/>
          <a:p>
            <a:r>
              <a:t>Run the same rule across everything an animal senses, and its connections come to mirror which things in its world turn up together. Learning what goes with what and learning the statistics of the input are one event, described at two levels.</a:t>
            </a:r>
          </a:p>
          <a:p/>
          <a:p>
            <a:r>
              <a:t>Module 5's limits come along with the mechanism. The same rule strengthens the connection carrying the sound of the ventilation fan that happened to be running. And blocking showed that real conditioning tracks only what was not already predicted. So a co-occurrence rule is the beginning of an account of conditioning, not the whole of one.</a:t>
            </a:r>
          </a:p>
          <a:p/>
          <a:p>
            <a:r>
              <a:t>Now the anatomy. Nothing but local information has to be delivered, so no extra circuitry is needed to deliver it, and co-occurrence-sensitive synapses are found throughout a vertebrate brain. Doya singles out the pallium anyway, and the reason is an argument from absence. The pallium is layered, heavily recurrent, receives information from everywhere, and has no dedicated teaching pathway anyone has found. What it has to learn from is the statistics of its own input.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*Prediction learning* needs the next input, which the world delivers on its own. The case is a rabbit. A tone sounds, and a quarter of a second later a puff of air is delivered to its eye. The rabbit comes to predict the puff, and learns to close its eye at just the right time.</a:t>
            </a:r>
          </a:p>
          <a:p/>
          <a:p>
            <a:r>
              <a:t>What it has to learn is not whether to blink but exactly when, and no teacher tells it. At the animal level this is classical conditioning, just like the rat's tone and food. What differs is what had to change. The rat needed an association, which a co-occurrence rule can deliver. The rabbit needs the timing of one output, which it cannot.</a:t>
            </a:r>
          </a:p>
          <a:p/>
          <a:p>
            <a:r>
              <a:t>The puff supplies what is needed. Blink too soon or too late and the puff lands on an open eye. That information is specific: it has to reach the cells whose output sets the blink, and tell those cells that their own timing was wrong.</a:t>
            </a:r>
          </a:p>
          <a:p/>
          <a:p>
            <a:r>
              <a:t>The cerebellum is built to receive exactly that. Each output cell gets roughly two hundred thousand ordinary inputs, and alongside them a single climbing fiber from one source. The climbing fiber's firing reports the error for that one cell. One fiber, one cell, one instruction. Silence the climbing fibers, and the learned blink never develops.</a:t>
            </a:r>
          </a:p>
          <a:p/>
          <a:p>
            <a:r>
              <a:t>One subtlety. An animal watching a leaf drift past is also predicting what it will see next, but no output is involved, so there is no command that can be wrong. That prediction happens inside the pallium's own recurrent circuitry, because prediction and test are already in the same tissue. Predicting the outcome of a movement is different: the cells that issued the command are not the cells that find out how it went. The cerebellum's share of prediction learning is the part about the animal's own output.</a:t>
            </a:r>
          </a:p>
          <a:p/>
          <a:p>
            <a:r>
              <a:t>*Supervised learning* needs a statement of what the output should have been, from something that already knows. Inside an animal that almost never exists. Module 5 ranked a teacher as the exotic case. The nearest thing is a young songbird practicing against its memory of an adult's song. But no part of the bird holds the right motor command. It sings, compares, and works from the mismatch, so the target is one it manufactured.</a:t>
            </a:r>
          </a:p>
          <a:p/>
          <a:p>
            <a:r>
              <a:t>The punchline is on the right of the figure. What arrives along a climbing fiber is an error for one output cell, and the fiber does not say whether a teacher or the world set the target. A synapse cannot tell the two families apart, so they share a structure. And most of what the cerebellum learns from is the world's targets: a slipping image, a reach that missed, a swallow that went wrong.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*Reinforcement learning* needs a report of how things went.</a:t>
            </a:r>
          </a:p>
          <a:p/>
          <a:p>
            <a:r>
              <a:t>Module 5's rat is in a chamber with a lever on one wall and a food opening on another. Pressing the lever makes a pellet arrive, and the rat has to cross the chamber to eat it. At the animal level, the whole problem is that the rat has to end up pressing that lever more often in that chamber.</a:t>
            </a:r>
          </a:p>
          <a:p/>
          <a:p>
            <a:r>
              <a:t>At the synapse, what arrives when the pellet is eaten is a broadcast signal reporting only that things went better than expected. It is addressed to no particular output, and it says nothing about what would have worked instead. The rat also groomed and sniffed along the way, and sorting those from the lever press is the work of Module 5's traces and its estimates of future outcomes. A body can generate a signal like this easily, from a full stomach or from an injury.</a:t>
            </a:r>
          </a:p>
          <a:p/>
          <a:p>
            <a:r>
              <a:t>Dopamine neurons of the midbrain carry it. Their fibers arrive at the synapses where the pallium meets the **striatum**, the input stage of the basal ganglia. That gives Module 5's third factor an address: the signal from elsewhere that settles whether eligible synapses change at all.</a:t>
            </a:r>
          </a:p>
          <a:p/>
          <a:p>
            <a:r>
              <a:t>One qualification. At the algorithmic level the signal is usually written as a single number. The anatomy is less tidy: the dopamine cells are a population, and what they report is not identical everywhere their fibers land. What survives either description is that the signal is not addressed to particular outputs, so it cannot say what any one of them should have done.</a:t>
            </a:r>
          </a:p>
          <a:p/>
          <a:p>
            <a:r>
              <a:t>Why is so thin a signal useful? Because of what those synapses connect: on one side the pallium's report of the situation, on the other the units that propose actions. Strengthening a connection there corrects no output. It makes one action more likely to win in one kind of situation, and that is exactly what the rat has to end up doing.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families, three structures. The table is Module 5's with one column added: where a vertebrate brain delivers what each family requires. The arithmetic works because prediction learning and supervised learning differ in where the target comes from, not in what has to reach the synapse. Predicting the consequences of a movement is set aside for Module 8.</a:t>
            </a:r>
          </a:p>
          <a:p/>
          <a:p>
            <a:r>
              <a:t>The history fits. A lamprey has two of the three systems. The missing one is the structure specialized for errors delivered output by output, the cerebellum, which in the form jawed vertebrates have it arrived later, with the jawed fishes.</a:t>
            </a:r>
          </a:p>
          <a:p/>
          <a:p>
            <a:r>
              <a:t>Doya is careful about how much of this is settled, and the three cases are not equally strong. The cerebellum is the best supported, on three grounds: the anatomy, what the climbing fibers fire for, and what happens to learning when they are silenced. The pallium rests on the weakest evidence of the three, and that is partly the point. There is no dedicated teaching pathway to find, so the case is made from what is absent.</a:t>
            </a:r>
          </a:p>
          <a:p/>
          <a:p>
            <a:r>
              <a:t>And the mapping is not exclusive. Reward-related activity is well established where the pallium meets the striatum, and it also turns up in parts of the cortex. The table assigns each family to where its signal is delivered. It does not say that nothing else can learn that way.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4 built small circuits from a handful of motifs: convergence and divergence, inhibition of several kinds, and loops that keep running. The vertebrate brain reuses a few large-scale arrangements built from those motifs. Each is an algorithmic idea, and each turns up many times over.</a:t>
            </a:r>
          </a:p>
          <a:p/>
          <a:p>
            <a:r>
              <a:t>The first is a map. In a **topographic map**, neighboring points in the world are handled by neighboring cells, so the arrangement of the tissue mirrors the arrangement of what it represents. The tectum is one: an ordered copy of the space around the animal, which is what makes it possible to turn the eyes toward the right place.</a:t>
            </a:r>
          </a:p>
          <a:p/>
          <a:p>
            <a:r>
              <a:t>Maps buy two things. Wires stay short, because cells that compare nearby points sit near each other. And comparison is easy, because the circuitry that sharpens a difference between neighbors can be the same everywhere on the sheet.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is a loop, and there are two. One runs from the pallium through the basal ganglia and back by way of the thalamus. The other runs from the pallium through the cerebellum and back, again by way of the thalamus. Neither is single. Each is a bundle of parallel loops serving different stretches of pallium, which is how one arrangement can serve movement in one channel and something quite different in another.</a:t>
            </a:r>
          </a:p>
          <a:p/>
          <a:p>
            <a:r>
              <a:t>A caution about the picture rather than the fact. In a lamprey, most of what the basal ganglia send out goes down to the brainstem, not back up. In a mammal, much of what returns to the pallium may be a copy of the command that was sent down. A loop drawn with the pallium at the top is an incomplete mammal's version of the story.</a:t>
            </a:r>
          </a:p>
          <a:p/>
          <a:p>
            <a:r>
              <a:t>The loops are also how the three structures work together, since no behavior uses one of them alone. The cerebellum and the basal ganglia have no direct connections to each other at all. Both exchange signals with the pallium through the thalamus, and the pallium supplies the shared representation they both work on. Module 5's actor and critic are one case: the critic learns to predict how well things will go from here, the actor holds the policy and adjusts it from the critic's errors, and both sit in the striatum, in two intermingled compartments, working through the loop. A skill handed from one system to another is a second case. Mental arithmetic, or a new sequence of movements, is worked out slowly at first. With practice, the same mappings can be copied into the cerebellum, which runs them as fast shortcuts. That is part of why a practiced skill stops demanding attention.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arrangement is the broad projection. A few thousand cells in the brainstem and midbrain reach most of the rest of the brain. They are the sources of Module 4's modulators. They set global conditions rather than carrying specific content: how strongly the whole animal responds, and how readily it tries something new.</a:t>
            </a:r>
          </a:p>
          <a:p/>
          <a:p>
            <a:r>
              <a:t>The word *broadcast* is only approximately right. Most of these systems divide into subsystems with separate targets, so different regions get different signals. Norepinephrine comes closest to reaching everywhere at once.</a:t>
            </a:r>
          </a:p>
          <a:p/>
          <a:p>
            <a:r>
              <a:t>The fourth arrangement is a hierarchy of control, and the lamprey shows it most plainly. Circuits in its spinal cord generate the swimming rhythm on their own. Centers in the brainstem start those circuits, stop them, and steer. The basal ganglia settle which program is allowed to run, and the pallium sits above all of it.</a:t>
            </a:r>
          </a:p>
          <a:p/>
          <a:p>
            <a:r>
              <a:t>What makes this a hierarchy is not that the top gives orders to the bottom. It is that the lower levels run whole behaviors by themselves, while the upper levels choose among them and adjust them.</a:t>
            </a:r>
          </a:p>
          <a:p/>
          <a:p>
            <a:r>
              <a:t>One result shows how much the lower levels can do. A cat whose neocortex has been removed still walks, grooms and explores, so long as its basal ganglia are intact.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Specialists create the problem from the last lecture: several parts of an animal propose actions at the same moment, and the body can only do so many things at once. **Action selection** is choosing which of the available actions is performed now.</a:t>
            </a:r>
          </a:p>
          <a:p/>
          <a:p>
            <a:r>
              <a:t>The vertebrate answer runs the other way from what most people expect. Nothing is switched on to produce a movement. Everything is held back by default. The output cells of the basal ganglia fire steadily at rest, inhibiting the brainstem centers that would otherwise run each motor program. Choosing an action is releasing the inhibition for that one action.</a:t>
            </a:r>
          </a:p>
          <a:p/>
          <a:p>
            <a:r>
              <a:t>The **direct pathway** runs from the striatum to those output cells and silences the ones holding back a particular program, which frees it to run. Inhibiting an inhibitor is *disinhibition*, one of Module 4's motifs, now used at the scale of whole structures. The **indirect pathway** runs through two further stops and ends by strengthening the inhibition on everything else, so releasing one program presses the others down. A third, faster route can stop a movement already underway.</a:t>
            </a:r>
          </a:p>
          <a:p/>
          <a:p>
            <a:r>
              <a:t>Dopamine sets how easily anything is released at all. Too little, and movements are hard to start, which is what happens in Parkinson's disease, and to a lamprey whose dopamine is depleted. Too much, and unwanted movements break through. This is also where Module 5's fourth tier of learning acts in the earliest vertebrates we can study: an animal that bridges a delay between an action and a reward needs somewhere for the reward signal to change what gets released later, and the striatum is that place.</a:t>
            </a:r>
          </a:p>
          <a:p/>
          <a:p>
            <a:r>
              <a:t>The moral comes in three negatives. There is no walking organ, no eating organ, and no talking organ. Those actions compete for the same muscles and the same body, so parts that ran them independently would pull in different directions. Shared machinery, with something to settle which program is released, is the arrangement that works when one body has to do one thing at a time.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lamprey's selection circuitry and a mouse's are nearly the same: the same transmitters, the same connections, the same cell properties, the same two pathways. What differs is how many copies there are. The basal ganglia are built from one unit per motor program, one for locomotion, one for eye movements, one for posture, one for chewing, each with its own direct and indirect pathway. A mammal has more programs and more units to match, plus further units serving parts of the pallium that are not about movement at all. The design was not improved. It was copied.</a:t>
            </a:r>
          </a:p>
          <a:p/>
          <a:p>
            <a:r>
              <a:t>That is **modularity**: units that each do their own job, connect to the rest through a limited set of connections, and can be copied or altered without redesigning everything else. Three lines of evidence arrive at it independently. The basal ganglia repeat one selection unit. Duplicating a piece of circuitry and then modifying the copy is a fast route to a new arrangement, one evolution takes often. And all three of Doya's systems are built from repeated pieces of the same kind.</a:t>
            </a:r>
          </a:p>
          <a:p/>
          <a:p>
            <a:r>
              <a:t>Two notes on the word. The book never calls a unit of a brain a module, because its own chapters are Modules, though the term turns up elsewhere. And modularity here is a claim about wiring. It is not the stronger claim, which this book does not make, that a mind is built from separate independent faculties.</a:t>
            </a:r>
          </a:p>
          <a:p/>
          <a:p>
            <a:r>
              <a:t>Modularity is a matter of degree, which brings back the fork from the last lecture: separate structures, or one network settling among all the demands at once. Neither is right in general, and which one a nervous system took is settled by looking. For the basal ganglia the evidence for separation is good, and even there it is partial. What is repeated is the selector, not a whole organ per behavior, and the programs it chooses among run on shared brainstem and spinal circuitry.</a:t>
            </a:r>
          </a:p>
          <a:p/>
          <a:p>
            <a:r>
              <a:t>Large language models are an instructive case, because both answers show up in one system. Some division is deliberate: the model is built from many repeated layers of more than one kind. But none of the designed divisions matches what the model has to get right. There is no grammar part, no meaning part, no part that tracks who is speaking. Those demands compete, and one network meets them all. Where something like specialization does appear, it was not built in. It emerged from training, and it is partial: the same units serve many jobs. Research here is active and contested, and its best-supported finding is exactly that many-purposes result. Nothing in the comparison says brains and language models solved the problem the same way. It shows that the same choice arises whenever one system must meet many demands at once.</a:t>
            </a:r>
          </a:p>
          <a:p/>
          <a:p>
            <a:r>
              <a:t>One question stays open. Choosing among actions is well understood. Choosing among whole strategies, such as working a problem out step by step or falling back on what usually works, is not.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question runs the whole middle of the lecture on something the room has actually done.</a:t>
            </a:r>
          </a:p>
          <a:p/>
          <a:p>
            <a:r>
              <a:t>Take learning to drive as the worked case. Early on, a great deal is learned just from exposure, which things turn up together: the sound of the engine and the speed, the look of an intersection and what happens next. Nothing delivers a signal for that; it is unsupervised.</a:t>
            </a:r>
          </a:p>
          <a:p/>
          <a:p>
            <a:r>
              <a:t>Steering smoothly is different. Turning the wheel too far or not far enough shows up at once, in where the car goes. The world delivers the target a moment later, and the error is about one particular output. That is the cerebellum's kind of learning.</a:t>
            </a:r>
          </a:p>
          <a:p/>
          <a:p>
            <a:r>
              <a:t>There is often a teacher too, an instructor saying "brake earlier". But it is worth noticing what the instructor cannot do. They cannot put the right motor command into the learner's foot. They supply a target, and the learner still has to find the output that meets it. That is why the teacher is the exotic case: the correct output rarely exists anywhere the connections that got it wrong can reach.</a:t>
            </a:r>
          </a:p>
          <a:p/>
          <a:p>
            <a:r>
              <a:t>And some of it is a verdict: a smooth merge that felt good, a near miss that did not. That reports how things went without saying which of many actions to change.</a:t>
            </a:r>
          </a:p>
          <a:p/>
          <a:p>
            <a:r>
              <a:t>Then the last stage, which is the point of the question. At first every move is worked out deliberately. With practice it stops demanding attention. The chapter's account is that the practiced mappings get copied into the cerebellum, which runs them as fast shortcuts rather than working them out again.</a:t>
            </a:r>
          </a:p>
          <a:p/>
          <a:p>
            <a:r>
              <a:t>If the room is quiet, give it the driving case and ask only the second question for one stage.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Vertebrate Neural Architecture</a:t>
            </a:r>
          </a:p>
          <a:p>
            <a:pPr algn="ctr"/>
            <a:r>
              <a:rPr sz="2000" b="0" i="0">
                <a:solidFill>
                  <a:srgbClr val="FFFFFF"/>
                </a:solidFill>
                <a:latin typeface="Calibri"/>
              </a:rPr>
              <a:t>Lecture 6.2 — The Division of Labor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discussion_what_would_coun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To Start: What Would Count as Evidence?</a:t>
            </a:r>
          </a:p>
        </p:txBody>
      </p:sp>
      <p:sp>
        <p:nvSpPr>
          <p:cNvPr id="3" name="body_box"/>
          <p:cNvSpPr txBox="1"/>
          <p:nvPr/>
        </p:nvSpPr>
        <p:spPr>
          <a:xfrm>
            <a:off x="822960" y="1463040"/>
            <a:ext cx="10515600" cy="4206240"/>
          </a:xfrm>
          <a:prstGeom prst="rect">
            <a:avLst/>
          </a:prstGeom>
          <a:noFill/>
        </p:spPr>
        <p:txBody>
          <a:bodyPr wrap="square">
            <a:spAutoFit/>
          </a:bodyPr>
          <a:lstStyle/>
          <a:p>
            <a:pPr>
              <a:spcAft>
                <a:spcPts val="2400"/>
              </a:spcAft>
            </a:pPr>
            <a:r>
              <a:rPr sz="2000" b="1" i="0">
                <a:solidFill>
                  <a:srgbClr val="222222"/>
                </a:solidFill>
                <a:latin typeface="Calibri"/>
              </a:rPr>
              <a:t>In your group, three minutes.</a:t>
            </a:r>
          </a:p>
          <a:p>
            <a:pPr>
              <a:defRPr sz="1000"/>
            </a:pPr>
          </a:p>
          <a:p>
            <a:pPr>
              <a:spcAft>
                <a:spcPts val="2400"/>
              </a:spcAft>
            </a:pPr>
            <a:r>
              <a:rPr sz="2000" b="0" i="0">
                <a:solidFill>
                  <a:srgbClr val="222222"/>
                </a:solidFill>
                <a:latin typeface="Calibri"/>
              </a:rPr>
              <a:t>The last lecture ended on a claim: whether a brain gives two jobs two separate structures is an empirical question.</a:t>
            </a:r>
          </a:p>
          <a:p>
            <a:pPr>
              <a:defRPr sz="1000"/>
            </a:pPr>
          </a:p>
          <a:p>
            <a:pPr>
              <a:spcAft>
                <a:spcPts val="2400"/>
              </a:spcAft>
            </a:pPr>
            <a:r>
              <a:rPr sz="2000" b="0" i="0">
                <a:solidFill>
                  <a:srgbClr val="222222"/>
                </a:solidFill>
                <a:latin typeface="Calibri"/>
              </a:rPr>
              <a:t>Suppose we wanted to know whether one part of the brain is </a:t>
            </a:r>
            <a:r>
              <a:rPr sz="2000" b="0" i="1">
                <a:solidFill>
                  <a:srgbClr val="222222"/>
                </a:solidFill>
                <a:latin typeface="Calibri"/>
              </a:rPr>
              <a:t>for</a:t>
            </a:r>
            <a:r>
              <a:rPr sz="2000" b="0" i="0">
                <a:solidFill>
                  <a:srgbClr val="222222"/>
                </a:solidFill>
                <a:latin typeface="Calibri"/>
              </a:rPr>
              <a:t> moving. What evidence would be convincing?</a:t>
            </a:r>
          </a:p>
          <a:p>
            <a:pPr>
              <a:defRPr sz="1000"/>
            </a:pPr>
          </a:p>
          <a:p>
            <a:pPr>
              <a:spcAft>
                <a:spcPts val="2400"/>
              </a:spcAft>
            </a:pPr>
            <a:r>
              <a:rPr sz="2000" b="0" i="0">
                <a:solidFill>
                  <a:srgbClr val="222222"/>
                </a:solidFill>
                <a:latin typeface="Calibri"/>
              </a:rPr>
              <a:t>What result would cast doubt on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the_wrong_questio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Is Each Part For? The Wrong Question</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Active during movement, perception, planning and thought: going from that activity to a job is </a:t>
            </a:r>
            <a:r>
              <a:rPr sz="2000" b="1" i="0">
                <a:solidFill>
                  <a:srgbClr val="222222"/>
                </a:solidFill>
                <a:latin typeface="Calibri"/>
              </a:rPr>
              <a:t>reverse inference</a:t>
            </a:r>
            <a:r>
              <a:rPr sz="2000" b="0" i="0">
                <a:solidFill>
                  <a:srgbClr val="222222"/>
                </a:solidFill>
                <a:latin typeface="Calibri"/>
              </a:rPr>
              <a:t>.</a:t>
            </a:r>
          </a:p>
        </p:txBody>
      </p:sp>
      <p:pic>
        <p:nvPicPr>
          <p:cNvPr id="4" name="img0" descr="A central box reads the cerebellum, or the basal ganglia. Dashed lines join it to four surrounding boxes labeled moving, perceiving, planning and thinking. Beneath it: active during all of them, and damage to either affects more than movement. Below the panel, a line defines reverse inference: the region was active during the task, so the task used that region's process. Three boxes in a row name its appearances in the course: Module 2, a region, in brain imaging; Module 5, a mechanism, in learning and development; and, highlighted, Module 6, a structure, in recordings. A footnote reads: a region active during many different things licenses very little on its own."/>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doyas_questio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Better Question: How Does Each Part Learn?</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Doya's proposal: each structure is specialized in a method, not a job. And a test for which level a claim is at.</a:t>
            </a:r>
          </a:p>
        </p:txBody>
      </p:sp>
      <p:pic>
        <p:nvPicPr>
          <p:cNvPr id="4" name="img0" descr="Two panels. The left, headed algorithmic, reads: would hold of a system built out of something else entirely. Its example, in a box, is hold every action back, and release one, with arrows up to it from three boxes labeled a vertebrate, a robot and a simulation. The right, headed implementational, reads: turns on which cells, what chemicals, and where they sit. Its example is the basal ganglia do it with dopamine and two opposed pathways, with the note: true of one kind of animal's brain, and of nothing built differently. Across the bottom: most of this lecture is algorithmic claims, stated over parts named implementationally."/>
          <p:cNvPicPr>
            <a:picLocks noChangeAspect="1"/>
          </p:cNvPicPr>
          <p:nvPr/>
        </p:nvPicPr>
        <p:blipFill>
          <a:blip r:embed="rId2"/>
          <a:stretch>
            <a:fillRect/>
          </a:stretch>
        </p:blipFill>
        <p:spPr>
          <a:xfrm>
            <a:off x="100584" y="1874519"/>
            <a:ext cx="11988165" cy="470963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two_levels_of_a_chang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Two Levels of a Single Change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Each family of learning pairs an animal-level problem with what has to reach a synapse. Anatomy can only be asked about the second half.</a:t>
            </a:r>
          </a:p>
        </p:txBody>
      </p:sp>
      <p:pic>
        <p:nvPicPr>
          <p:cNvPr id="4" name="img0" descr="Three panels. The left, headed cerebellum, shows three output cells, each receiving many faint ordinary inputs from the left and a single bold fiber from its own source below, labeled one fiber to one cell. The middle, headed basal ganglia, shows three output cells with ordinary inputs, and one source below sending dashed arrows to all three, labeled one signal to all of them. The right, headed pallium, shows four stacked layers joined by arrows running up and down between them, with no arrow arriving from outside, labeled nothing delivered. A caption reads: the arrows below each structure are what has to be delivered to it, not what it computes."/>
          <p:cNvPicPr>
            <a:picLocks noChangeAspect="1"/>
          </p:cNvPicPr>
          <p:nvPr/>
        </p:nvPicPr>
        <p:blipFill>
          <a:blip r:embed="rId2"/>
          <a:stretch>
            <a:fillRect/>
          </a:stretch>
        </p:blipFill>
        <p:spPr>
          <a:xfrm>
            <a:off x="548640" y="1737360"/>
            <a:ext cx="11094582" cy="498366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learning_without_a_teacher">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Learning Without a Teaching Signal</a:t>
            </a:r>
          </a:p>
        </p:txBody>
      </p:sp>
      <p:sp>
        <p:nvSpPr>
          <p:cNvPr id="3" name="body_box"/>
          <p:cNvSpPr txBox="1"/>
          <p:nvPr/>
        </p:nvSpPr>
        <p:spPr>
          <a:xfrm>
            <a:off x="109728" y="932688"/>
            <a:ext cx="11987784" cy="694944"/>
          </a:xfrm>
          <a:prstGeom prst="rect">
            <a:avLst/>
          </a:prstGeom>
          <a:noFill/>
        </p:spPr>
        <p:txBody>
          <a:bodyPr wrap="square">
            <a:spAutoFit/>
          </a:bodyPr>
          <a:lstStyle/>
          <a:p>
            <a:r>
              <a:rPr sz="2000" b="0" i="1">
                <a:solidFill>
                  <a:srgbClr val="222222"/>
                </a:solidFill>
                <a:latin typeface="Calibri"/>
              </a:rPr>
              <a:t>Unsupervised learning</a:t>
            </a:r>
            <a:r>
              <a:rPr sz="2000" b="0" i="0">
                <a:solidFill>
                  <a:srgbClr val="222222"/>
                </a:solidFill>
                <a:latin typeface="Calibri"/>
              </a:rPr>
              <a:t> needs only the two cells a connection joins. The pallium gets it not because it happens only there, but because nothing else arrives there.</a:t>
            </a:r>
          </a:p>
        </p:txBody>
      </p:sp>
      <p:pic>
        <p:nvPicPr>
          <p:cNvPr id="4" name="img0" descr="Two panels, each with three circles labeled tone, food and response. In the left panel, headed while tone and food are paired, a thick arrow runs from food to response, marked already works, no training, and a thin arrow runs from tone to response; the note beneath reads: both ends of the tone connection are active together. In the right panel, headed after enough pairings, the tone arrow is now as thick as the food arrow, and the note reads: the tone alone drives the response. Beneath both: nothing in the rat had to know that the tone predicted food, or that anything was being learned. A footnote reads: nothing has to be delivered, so no structure is needed to deliver it."/>
          <p:cNvPicPr>
            <a:picLocks noChangeAspect="1"/>
          </p:cNvPicPr>
          <p:nvPr/>
        </p:nvPicPr>
        <p:blipFill>
          <a:blip r:embed="rId2"/>
          <a:stretch>
            <a:fillRect/>
          </a:stretch>
        </p:blipFill>
        <p:spPr>
          <a:xfrm>
            <a:off x="100584" y="1783080"/>
            <a:ext cx="11988165" cy="492371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error_output_by_outpu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Learning from an Error, Output by Output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1">
                <a:solidFill>
                  <a:srgbClr val="222222"/>
                </a:solidFill>
                <a:latin typeface="Calibri"/>
              </a:rPr>
              <a:t>Prediction</a:t>
            </a:r>
            <a:r>
              <a:rPr sz="2000" b="0" i="0">
                <a:solidFill>
                  <a:srgbClr val="222222"/>
                </a:solidFill>
                <a:latin typeface="Calibri"/>
              </a:rPr>
              <a:t> and </a:t>
            </a:r>
            <a:r>
              <a:rPr sz="2000" b="0" i="1">
                <a:solidFill>
                  <a:srgbClr val="222222"/>
                </a:solidFill>
                <a:latin typeface="Calibri"/>
              </a:rPr>
              <a:t>supervised</a:t>
            </a:r>
            <a:r>
              <a:rPr sz="2000" b="0" i="0">
                <a:solidFill>
                  <a:srgbClr val="222222"/>
                </a:solidFill>
                <a:latin typeface="Calibri"/>
              </a:rPr>
              <a:t> learning both need an error addressed to one output cell. The cerebellum's climbing fibers deliver exactly that, and cannot say who set the target.</a:t>
            </a:r>
          </a:p>
        </p:txBody>
      </p:sp>
      <p:pic>
        <p:nvPicPr>
          <p:cNvPr id="4" name="img0" descr="Two panels. The left, headed a cerebellar output cell, shows a single cell with a dense fan of faint lines arriving from the left, labeled about 200,000 ordinary inputs, an output arrow leaving to the right, and one bold curved fiber rising from below to the cell, labeled one climbing fiber: this cell's output was wrong. The right panel, headed who set the target, shows two boxes side by side, prediction, meaning the world a moment later, and supervised, meaning a teacher holding the answer, with arrows from both converging on a shaded box below reading the same error, on the same fiber. A footnote reads: a synapse cannot tell who supplied the target, so the two families share one structure."/>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learning_from_a_verdic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Learning from a Verdict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1">
                <a:solidFill>
                  <a:srgbClr val="222222"/>
                </a:solidFill>
                <a:latin typeface="Calibri"/>
              </a:rPr>
              <a:t>Reinforcement learning</a:t>
            </a:r>
            <a:r>
              <a:rPr sz="2000" b="0" i="0">
                <a:solidFill>
                  <a:srgbClr val="222222"/>
                </a:solidFill>
                <a:latin typeface="Calibri"/>
              </a:rPr>
              <a:t> needs only a report of how things went. Dopamine delivers it where the pallium meets the </a:t>
            </a:r>
            <a:r>
              <a:rPr sz="2000" b="1" i="0">
                <a:solidFill>
                  <a:srgbClr val="222222"/>
                </a:solidFill>
                <a:latin typeface="Calibri"/>
              </a:rPr>
              <a:t>striatum</a:t>
            </a:r>
            <a:r>
              <a:rPr sz="2000" b="0" i="0">
                <a:solidFill>
                  <a:srgbClr val="222222"/>
                </a:solidFill>
                <a:latin typeface="Calibri"/>
              </a:rPr>
              <a:t>, and there it is enough.</a:t>
            </a:r>
          </a:p>
        </p:txBody>
      </p:sp>
      <p:pic>
        <p:nvPicPr>
          <p:cNvPr id="4" name="img0" descr="At the left, a box reads pallium: the situation, this chamber. Arrows run from it to three small synapse circles, labeled striatum synapses, each beside a box for a proposed action: press the lever, groom, and sniff. The arrow to press the lever is thickest, and a note beside it reads: one action becomes more likely to win in this situation. Below, a dark dot labeled midbrain dopamine cells sends dashed arrows up to all three synapses alike, with the note: better than expected, addressed to no output, saying nothing about what would have worked."/>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four_families_three_structure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Four Families, Three Structures</a:t>
            </a:r>
          </a:p>
        </p:txBody>
      </p:sp>
      <p:graphicFrame>
        <p:nvGraphicFramePr>
          <p:cNvPr id="3" name="table"/>
          <p:cNvGraphicFramePr>
            <a:graphicFrameLocks noGrp="1"/>
          </p:cNvGraphicFramePr>
          <p:nvPr/>
        </p:nvGraphicFramePr>
        <p:xfrm>
          <a:off x="274320" y="1783080"/>
          <a:ext cx="11640310" cy="4572000"/>
        </p:xfrm>
        <a:graphic>
          <a:graphicData uri="http://schemas.openxmlformats.org/drawingml/2006/table">
            <a:tbl>
              <a:tblPr>
                <a:tableStyleId>{5C22544A-7EE6-4342-B048-85BDC9FD1C3A}</a:tableStyleId>
              </a:tblPr>
              <a:tblGrid>
                <a:gridCol w="2095256"/>
                <a:gridCol w="3259287"/>
                <a:gridCol w="2793674"/>
                <a:gridCol w="3492093"/>
              </a:tblGrid>
              <a:tr h="914400">
                <a:tc>
                  <a:txBody>
                    <a:bodyPr/>
                    <a:lstStyle/>
                    <a:p>
                      <a:r>
                        <a:rPr sz="1600" b="1" i="0">
                          <a:solidFill>
                            <a:srgbClr val="1F2A44"/>
                          </a:solidFill>
                          <a:latin typeface="Calibri"/>
                        </a:rPr>
                        <a:t>Kind of learning</a:t>
                      </a:r>
                    </a:p>
                  </a:txBody>
                  <a:tcPr marL="73152" marR="73152" marT="18288" marB="18288">
                    <a:solidFill>
                      <a:srgbClr val="FFFFFF"/>
                    </a:solidFill>
                  </a:tcPr>
                </a:tc>
                <a:tc>
                  <a:txBody>
                    <a:bodyPr/>
                    <a:lstStyle/>
                    <a:p>
                      <a:r>
                        <a:rPr sz="1600" b="1" i="0">
                          <a:solidFill>
                            <a:srgbClr val="1F2A44"/>
                          </a:solidFill>
                          <a:latin typeface="Calibri"/>
                        </a:rPr>
                        <a:t>What has to reach the synapse</a:t>
                      </a:r>
                    </a:p>
                  </a:txBody>
                  <a:tcPr marL="73152" marR="73152" marT="18288" marB="18288">
                    <a:solidFill>
                      <a:srgbClr val="FFFFFF"/>
                    </a:solidFill>
                  </a:tcPr>
                </a:tc>
                <a:tc>
                  <a:txBody>
                    <a:bodyPr/>
                    <a:lstStyle/>
                    <a:p>
                      <a:r>
                        <a:rPr sz="1600" b="1" i="0">
                          <a:solidFill>
                            <a:srgbClr val="1F2A44"/>
                          </a:solidFill>
                          <a:latin typeface="Calibri"/>
                        </a:rPr>
                        <a:t>Where it comes from</a:t>
                      </a:r>
                    </a:p>
                  </a:txBody>
                  <a:tcPr marL="73152" marR="73152" marT="18288" marB="18288">
                    <a:solidFill>
                      <a:srgbClr val="FFFFFF"/>
                    </a:solidFill>
                  </a:tcPr>
                </a:tc>
                <a:tc>
                  <a:txBody>
                    <a:bodyPr/>
                    <a:lstStyle/>
                    <a:p>
                      <a:r>
                        <a:rPr sz="1600" b="1" i="0">
                          <a:solidFill>
                            <a:srgbClr val="1F2A44"/>
                          </a:solidFill>
                          <a:latin typeface="Calibri"/>
                        </a:rPr>
                        <a:t>Where it arrives</a:t>
                      </a:r>
                    </a:p>
                  </a:txBody>
                  <a:tcPr marL="73152" marR="73152" marT="18288" marB="18288">
                    <a:solidFill>
                      <a:srgbClr val="FFFFFF"/>
                    </a:solidFill>
                  </a:tcPr>
                </a:tc>
              </a:tr>
              <a:tr h="914400">
                <a:tc>
                  <a:txBody>
                    <a:bodyPr/>
                    <a:lstStyle/>
                    <a:p>
                      <a:r>
                        <a:rPr sz="1500" b="0" i="0">
                          <a:solidFill>
                            <a:srgbClr val="222222"/>
                          </a:solidFill>
                          <a:latin typeface="Calibri"/>
                        </a:rPr>
                        <a:t>Unsupervised (Hebbian)</a:t>
                      </a:r>
                    </a:p>
                  </a:txBody>
                  <a:tcPr marL="73152" marR="73152" marT="18288" marB="18288">
                    <a:solidFill>
                      <a:srgbClr val="FFFFFF"/>
                    </a:solidFill>
                  </a:tcPr>
                </a:tc>
                <a:tc>
                  <a:txBody>
                    <a:bodyPr/>
                    <a:lstStyle/>
                    <a:p>
                      <a:r>
                        <a:rPr sz="1500" b="0" i="0">
                          <a:solidFill>
                            <a:srgbClr val="222222"/>
                          </a:solidFill>
                          <a:latin typeface="Calibri"/>
                        </a:rPr>
                        <a:t>The activity of the two cells the connection joins</a:t>
                      </a:r>
                    </a:p>
                  </a:txBody>
                  <a:tcPr marL="73152" marR="73152" marT="18288" marB="18288">
                    <a:solidFill>
                      <a:srgbClr val="FFFFFF"/>
                    </a:solidFill>
                  </a:tcPr>
                </a:tc>
                <a:tc>
                  <a:txBody>
                    <a:bodyPr/>
                    <a:lstStyle/>
                    <a:p>
                      <a:r>
                        <a:rPr sz="1500" b="0" i="0">
                          <a:solidFill>
                            <a:srgbClr val="222222"/>
                          </a:solidFill>
                          <a:latin typeface="Calibri"/>
                        </a:rPr>
                        <a:t>Nowhere else; both are already at the connection</a:t>
                      </a:r>
                    </a:p>
                  </a:txBody>
                  <a:tcPr marL="73152" marR="73152" marT="18288" marB="18288">
                    <a:solidFill>
                      <a:srgbClr val="FFFFFF"/>
                    </a:solidFill>
                  </a:tcPr>
                </a:tc>
                <a:tc>
                  <a:txBody>
                    <a:bodyPr/>
                    <a:lstStyle/>
                    <a:p>
                      <a:r>
                        <a:rPr sz="1500" b="0" i="0">
                          <a:solidFill>
                            <a:srgbClr val="222222"/>
                          </a:solidFill>
                          <a:latin typeface="Calibri"/>
                        </a:rPr>
                        <a:t>Synapses everywhere; Doya's candidate is the pallium</a:t>
                      </a:r>
                    </a:p>
                  </a:txBody>
                  <a:tcPr marL="73152" marR="73152" marT="18288" marB="18288">
                    <a:solidFill>
                      <a:srgbClr val="FFFFFF"/>
                    </a:solidFill>
                  </a:tcPr>
                </a:tc>
              </a:tr>
              <a:tr h="914400">
                <a:tc>
                  <a:txBody>
                    <a:bodyPr/>
                    <a:lstStyle/>
                    <a:p>
                      <a:r>
                        <a:rPr sz="1500" b="0" i="0">
                          <a:solidFill>
                            <a:srgbClr val="222222"/>
                          </a:solidFill>
                          <a:latin typeface="Calibri"/>
                        </a:rPr>
                        <a:t>Prediction (self-supervised)</a:t>
                      </a:r>
                    </a:p>
                  </a:txBody>
                  <a:tcPr marL="73152" marR="73152" marT="18288" marB="18288">
                    <a:solidFill>
                      <a:srgbClr val="FFFFFF"/>
                    </a:solidFill>
                  </a:tcPr>
                </a:tc>
                <a:tc>
                  <a:txBody>
                    <a:bodyPr/>
                    <a:lstStyle/>
                    <a:p>
                      <a:r>
                        <a:rPr sz="1500" b="0" i="0">
                          <a:solidFill>
                            <a:srgbClr val="222222"/>
                          </a:solidFill>
                          <a:latin typeface="Calibri"/>
                        </a:rPr>
                        <a:t>An error, computed separately for each output</a:t>
                      </a:r>
                    </a:p>
                  </a:txBody>
                  <a:tcPr marL="73152" marR="73152" marT="18288" marB="18288">
                    <a:solidFill>
                      <a:srgbClr val="FFFFFF"/>
                    </a:solidFill>
                  </a:tcPr>
                </a:tc>
                <a:tc>
                  <a:txBody>
                    <a:bodyPr/>
                    <a:lstStyle/>
                    <a:p>
                      <a:r>
                        <a:rPr sz="1500" b="0" i="0">
                          <a:solidFill>
                            <a:srgbClr val="222222"/>
                          </a:solidFill>
                          <a:latin typeface="Calibri"/>
                        </a:rPr>
                        <a:t>The world, a moment later</a:t>
                      </a:r>
                    </a:p>
                  </a:txBody>
                  <a:tcPr marL="73152" marR="73152" marT="18288" marB="18288">
                    <a:solidFill>
                      <a:srgbClr val="FFFFFF"/>
                    </a:solidFill>
                  </a:tcPr>
                </a:tc>
                <a:tc>
                  <a:txBody>
                    <a:bodyPr/>
                    <a:lstStyle/>
                    <a:p>
                      <a:r>
                        <a:rPr sz="1500" b="0" i="0">
                          <a:solidFill>
                            <a:srgbClr val="222222"/>
                          </a:solidFill>
                          <a:latin typeface="Calibri"/>
                        </a:rPr>
                        <a:t>The cerebellum's climbing fibers, one to each output cell</a:t>
                      </a:r>
                    </a:p>
                  </a:txBody>
                  <a:tcPr marL="73152" marR="73152" marT="18288" marB="18288">
                    <a:solidFill>
                      <a:srgbClr val="FFFFFF"/>
                    </a:solidFill>
                  </a:tcPr>
                </a:tc>
              </a:tr>
              <a:tr h="914400">
                <a:tc>
                  <a:txBody>
                    <a:bodyPr/>
                    <a:lstStyle/>
                    <a:p>
                      <a:r>
                        <a:rPr sz="1500" b="0" i="0">
                          <a:solidFill>
                            <a:srgbClr val="222222"/>
                          </a:solidFill>
                          <a:latin typeface="Calibri"/>
                        </a:rPr>
                        <a:t>Supervised</a:t>
                      </a:r>
                    </a:p>
                  </a:txBody>
                  <a:tcPr marL="73152" marR="73152" marT="18288" marB="18288">
                    <a:solidFill>
                      <a:srgbClr val="FFFFFF"/>
                    </a:solidFill>
                  </a:tcPr>
                </a:tc>
                <a:tc>
                  <a:txBody>
                    <a:bodyPr/>
                    <a:lstStyle/>
                    <a:p>
                      <a:r>
                        <a:rPr sz="1500" b="0" i="0">
                          <a:solidFill>
                            <a:srgbClr val="222222"/>
                          </a:solidFill>
                          <a:latin typeface="Calibri"/>
                        </a:rPr>
                        <a:t>An error, computed separately for each output</a:t>
                      </a:r>
                    </a:p>
                  </a:txBody>
                  <a:tcPr marL="73152" marR="73152" marT="18288" marB="18288">
                    <a:solidFill>
                      <a:srgbClr val="FFFFFF"/>
                    </a:solidFill>
                  </a:tcPr>
                </a:tc>
                <a:tc>
                  <a:txBody>
                    <a:bodyPr/>
                    <a:lstStyle/>
                    <a:p>
                      <a:r>
                        <a:rPr sz="1500" b="0" i="0">
                          <a:solidFill>
                            <a:srgbClr val="222222"/>
                          </a:solidFill>
                          <a:latin typeface="Calibri"/>
                        </a:rPr>
                        <a:t>A teacher that already holds the answer</a:t>
                      </a:r>
                    </a:p>
                  </a:txBody>
                  <a:tcPr marL="73152" marR="73152" marT="18288" marB="18288">
                    <a:solidFill>
                      <a:srgbClr val="FFFFFF"/>
                    </a:solidFill>
                  </a:tcPr>
                </a:tc>
                <a:tc>
                  <a:txBody>
                    <a:bodyPr/>
                    <a:lstStyle/>
                    <a:p>
                      <a:r>
                        <a:rPr sz="1500" b="0" i="0">
                          <a:solidFill>
                            <a:srgbClr val="222222"/>
                          </a:solidFill>
                          <a:latin typeface="Calibri"/>
                        </a:rPr>
                        <a:t>The same climbing fibers; the wiring does not tell the two apart</a:t>
                      </a:r>
                    </a:p>
                  </a:txBody>
                  <a:tcPr marL="73152" marR="73152" marT="18288" marB="18288">
                    <a:solidFill>
                      <a:srgbClr val="FFFFFF"/>
                    </a:solidFill>
                  </a:tcPr>
                </a:tc>
              </a:tr>
              <a:tr h="914400">
                <a:tc>
                  <a:txBody>
                    <a:bodyPr/>
                    <a:lstStyle/>
                    <a:p>
                      <a:r>
                        <a:rPr sz="1500" b="0" i="0">
                          <a:solidFill>
                            <a:srgbClr val="222222"/>
                          </a:solidFill>
                          <a:latin typeface="Calibri"/>
                        </a:rPr>
                        <a:t>Reinforcement</a:t>
                      </a:r>
                    </a:p>
                  </a:txBody>
                  <a:tcPr marL="73152" marR="73152" marT="18288" marB="18288">
                    <a:solidFill>
                      <a:srgbClr val="FFFFFF"/>
                    </a:solidFill>
                  </a:tcPr>
                </a:tc>
                <a:tc>
                  <a:txBody>
                    <a:bodyPr/>
                    <a:lstStyle/>
                    <a:p>
                      <a:r>
                        <a:rPr sz="1500" b="0" i="0">
                          <a:solidFill>
                            <a:srgbClr val="222222"/>
                          </a:solidFill>
                          <a:latin typeface="Calibri"/>
                        </a:rPr>
                        <a:t>One number reporting how things went</a:t>
                      </a:r>
                    </a:p>
                  </a:txBody>
                  <a:tcPr marL="73152" marR="73152" marT="18288" marB="18288">
                    <a:solidFill>
                      <a:srgbClr val="FFFFFF"/>
                    </a:solidFill>
                  </a:tcPr>
                </a:tc>
                <a:tc>
                  <a:txBody>
                    <a:bodyPr/>
                    <a:lstStyle/>
                    <a:p>
                      <a:r>
                        <a:rPr sz="1500" b="0" i="0">
                          <a:solidFill>
                            <a:srgbClr val="222222"/>
                          </a:solidFill>
                          <a:latin typeface="Calibri"/>
                        </a:rPr>
                        <a:t>The body, or the outcome itself</a:t>
                      </a:r>
                    </a:p>
                  </a:txBody>
                  <a:tcPr marL="73152" marR="73152" marT="18288" marB="18288">
                    <a:solidFill>
                      <a:srgbClr val="FFFFFF"/>
                    </a:solidFill>
                  </a:tcPr>
                </a:tc>
                <a:tc>
                  <a:txBody>
                    <a:bodyPr/>
                    <a:lstStyle/>
                    <a:p>
                      <a:r>
                        <a:rPr sz="1500" b="0" i="0">
                          <a:solidFill>
                            <a:srgbClr val="222222"/>
                          </a:solidFill>
                          <a:latin typeface="Calibri"/>
                        </a:rPr>
                        <a:t>Dopamine fibers from the midbrain, where the pallium meets the striatum</a:t>
                      </a:r>
                    </a:p>
                  </a:txBody>
                  <a:tcPr marL="73152" marR="73152" marT="18288" marB="18288">
                    <a:solidFill>
                      <a:srgbClr val="FFFFFF"/>
                    </a:solidFill>
                  </a:tcPr>
                </a:tc>
              </a:tr>
            </a:tbl>
          </a:graphicData>
        </a:graphic>
      </p:graphicFrame>
      <p:sp>
        <p:nvSpPr>
          <p:cNvPr id="4" name="body_box"/>
          <p:cNvSpPr txBox="1"/>
          <p:nvPr/>
        </p:nvSpPr>
        <p:spPr>
          <a:xfrm>
            <a:off x="109728" y="932688"/>
            <a:ext cx="11987784" cy="758952"/>
          </a:xfrm>
          <a:prstGeom prst="rect">
            <a:avLst/>
          </a:prstGeom>
          <a:noFill/>
        </p:spPr>
        <p:txBody>
          <a:bodyPr wrap="square">
            <a:spAutoFit/>
          </a:bodyPr>
          <a:lstStyle/>
          <a:p>
            <a:r>
              <a:rPr sz="2000" b="0" i="0">
                <a:solidFill>
                  <a:srgbClr val="222222"/>
                </a:solidFill>
                <a:latin typeface="Calibri"/>
              </a:rPr>
              <a:t>Two families make the same demand of a synapse. The three mappings are </a:t>
            </a:r>
            <a:r>
              <a:rPr sz="2000" b="1" i="0">
                <a:solidFill>
                  <a:srgbClr val="222222"/>
                </a:solidFill>
                <a:latin typeface="Calibri"/>
              </a:rPr>
              <a:t>not equally well supported</a:t>
            </a:r>
            <a:r>
              <a:rPr sz="2000" b="0" i="0">
                <a:solidFill>
                  <a:srgbClr val="222222"/>
                </a:solidFill>
                <a:latin typeface="Calibri"/>
              </a:rPr>
              <a:t>, and not exclusive.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maps_and_loops__1">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Few Wiring Plans: Maps and Loops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few large-scale arrangements, built from Module 4's motifs, recur across the brain. No behavior uses one structure alone.</a:t>
            </a:r>
          </a:p>
        </p:txBody>
      </p:sp>
      <p:pic>
        <p:nvPicPr>
          <p:cNvPr id="4" name="img0" descr="A half-circle around a small oval standing for the animal seen from above, divided into five wedges of surrounding space labeled A to E from left to right. An arrow runs from each wedge down to a row of five adjacent patches labeled A to E, the surface of the tectum. A caption reads: neighboring directions, neighboring patches of tissue, which is what lets the eyes be aimed from it."/>
          <p:cNvPicPr>
            <a:picLocks noChangeAspect="1"/>
          </p:cNvPicPr>
          <p:nvPr/>
        </p:nvPicPr>
        <p:blipFill>
          <a:blip r:embed="rId2"/>
          <a:stretch>
            <a:fillRect/>
          </a:stretch>
        </p:blipFill>
        <p:spPr>
          <a:xfrm>
            <a:off x="2039112" y="1737360"/>
            <a:ext cx="8113014" cy="498370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maps_and_loops__2">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Few Wiring Plans: Maps and Loops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few large-scale arrangements, built from Module 4's motifs, recur across the brain. No behavior uses one structure alone.</a:t>
            </a:r>
          </a:p>
        </p:txBody>
      </p:sp>
      <p:pic>
        <p:nvPicPr>
          <p:cNvPr id="4" name="img1" descr="A long box labeled pallium across the top. Three parallel lines run down from it to a box labeled basal ganglia at the left, and three more run down to a box labeled cerebellum at the right, each set marked three parallel loops. From each of those boxes, three lines run to a box labeled thalamus at the bottom center, and from the thalamus two sets of three arrows rise back up to the pallium. A further arrow leaves the basal ganglia downward, labeled to brainstem motor centers. A caption reads: each set of loops leaves and returns to a different stretch of the pallium."/>
          <p:cNvPicPr>
            <a:picLocks noChangeAspect="1"/>
          </p:cNvPicPr>
          <p:nvPr/>
        </p:nvPicPr>
        <p:blipFill>
          <a:blip r:embed="rId2"/>
          <a:stretch>
            <a:fillRect/>
          </a:stretch>
        </p:blipFill>
        <p:spPr>
          <a:xfrm>
            <a:off x="758952" y="1737360"/>
            <a:ext cx="10679277" cy="498366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broadcasts_and_hierarchy">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Broad Projections, and a Hierarchy of Control</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few thousand cells set conditions for the whole brain. Lower levels run whole behaviors; upper levels choose among them.</a:t>
            </a:r>
          </a:p>
        </p:txBody>
      </p:sp>
      <p:pic>
        <p:nvPicPr>
          <p:cNvPr id="4" name="img0" descr="At the left, four stacked boxes joined by downward arrows form a ladder. From top to bottom: pallium, sits above all of it; basal ganglia, settle which program is allowed to run; brainstem centers, start the rhythm, stop it, and steer; spinal circuits, generate the swimming rhythm on their own. A note beneath reads: lower levels run whole behaviors, and upper levels choose among them and adjust them. At the right, a panel headed broad projections shows one dot, labeled a few thousand cells in brainstem and midbrain, with dashed arrows fanning out upward in many directions, and the note: set global conditions, how strongly and how readily."/>
          <p:cNvPicPr>
            <a:picLocks noChangeAspect="1"/>
          </p:cNvPicPr>
          <p:nvPr/>
        </p:nvPicPr>
        <p:blipFill>
          <a:blip r:embed="rId2"/>
          <a:stretch>
            <a:fillRect/>
          </a:stretch>
        </p:blipFill>
        <p:spPr>
          <a:xfrm>
            <a:off x="100584" y="1737360"/>
            <a:ext cx="11988165" cy="5030747"/>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release_not_switch">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Choosing Is Releasing, Not Switching On</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Action selection</a:t>
            </a:r>
            <a:r>
              <a:rPr sz="2000" b="0" i="0">
                <a:solidFill>
                  <a:srgbClr val="222222"/>
                </a:solidFill>
                <a:latin typeface="Calibri"/>
              </a:rPr>
              <a:t> by disinhibition: every program is held back by default. The </a:t>
            </a:r>
            <a:r>
              <a:rPr sz="2000" b="1" i="0">
                <a:solidFill>
                  <a:srgbClr val="222222"/>
                </a:solidFill>
                <a:latin typeface="Calibri"/>
              </a:rPr>
              <a:t>direct pathway</a:t>
            </a:r>
            <a:r>
              <a:rPr sz="2000" b="0" i="0">
                <a:solidFill>
                  <a:srgbClr val="222222"/>
                </a:solidFill>
                <a:latin typeface="Calibri"/>
              </a:rPr>
              <a:t> releases one; the </a:t>
            </a:r>
            <a:r>
              <a:rPr sz="2000" b="1" i="0">
                <a:solidFill>
                  <a:srgbClr val="222222"/>
                </a:solidFill>
                <a:latin typeface="Calibri"/>
              </a:rPr>
              <a:t>indirect pathway</a:t>
            </a:r>
            <a:r>
              <a:rPr sz="2000" b="0" i="0">
                <a:solidFill>
                  <a:srgbClr val="222222"/>
                </a:solidFill>
                <a:latin typeface="Calibri"/>
              </a:rPr>
              <a:t> presses the rest down.</a:t>
            </a:r>
          </a:p>
        </p:txBody>
      </p:sp>
      <p:pic>
        <p:nvPicPr>
          <p:cNvPr id="4" name="img0" descr="Two panels. The left, headed at rest, shows three boxes labeled program A, program B and program C, each with a filled brake symbol beside it marked held. The right, headed one program released, shows the same three programs with a dot labeled striatum at the left. A solid arrow labeled direct runs to program B, whose brake is now drawn as an open crossed box, and program B is shaded with an arrow leaving it labeled runs. Dashed arrows labeled indirect run to programs A and C, whose brakes remain engaged. A legend distinguishes hold engaged from hold released."/>
          <p:cNvPicPr>
            <a:picLocks noChangeAspect="1"/>
          </p:cNvPicPr>
          <p:nvPr/>
        </p:nvPicPr>
        <p:blipFill>
          <a:blip r:embed="rId2"/>
          <a:stretch>
            <a:fillRect/>
          </a:stretch>
        </p:blipFill>
        <p:spPr>
          <a:xfrm>
            <a:off x="155448" y="1874519"/>
            <a:ext cx="11888525" cy="478161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copies_of_one_uni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More Copies of the Same Unit</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Modularity</a:t>
            </a:r>
            <a:r>
              <a:rPr sz="2000" b="0" i="0">
                <a:solidFill>
                  <a:srgbClr val="222222"/>
                </a:solidFill>
                <a:latin typeface="Calibri"/>
              </a:rPr>
              <a:t>: units that do their own job, connect through limited links, and can be copied or altered without redesigning the rest. A claim about wiring, not about faculties of mind.</a:t>
            </a:r>
          </a:p>
        </p:txBody>
      </p:sp>
      <p:pic>
        <p:nvPicPr>
          <p:cNvPr id="4" name="img0" descr="Two panels of identical small boxes, each labeled with a motor program and the words direct plus indirect. The left panel, headed lamprey, has four: locomotion, eye movements, posture and chewing, with the note one selection unit per motor program. The right panel, headed mammal, has nine: the same four, three more labeled another program, and two drawn more faintly labeled not movement, with the note more programs, more copies, some for the pallium's non-movement work. Across the bottom in bold: the design was not improved; it was copied. A footnote reads: modularity here is a claim about wiring, not about separate faculties of mind."/>
          <p:cNvPicPr>
            <a:picLocks noChangeAspect="1"/>
          </p:cNvPicPr>
          <p:nvPr/>
        </p:nvPicPr>
        <p:blipFill>
          <a:blip r:embed="rId2"/>
          <a:stretch>
            <a:fillRect/>
          </a:stretch>
        </p:blipFill>
        <p:spPr>
          <a:xfrm>
            <a:off x="100584" y="1783080"/>
            <a:ext cx="11988165" cy="4816673"/>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discussion_a_practiced_skill">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Skill That Stopped Needing Attention</a:t>
            </a:r>
          </a:p>
        </p:txBody>
      </p:sp>
      <p:sp>
        <p:nvSpPr>
          <p:cNvPr id="3" name="body_box"/>
          <p:cNvSpPr txBox="1"/>
          <p:nvPr/>
        </p:nvSpPr>
        <p:spPr>
          <a:xfrm>
            <a:off x="822960" y="1463040"/>
            <a:ext cx="10515600" cy="4206240"/>
          </a:xfrm>
          <a:prstGeom prst="rect">
            <a:avLst/>
          </a:prstGeom>
          <a:noFill/>
        </p:spPr>
        <p:txBody>
          <a:bodyPr wrap="square">
            <a:spAutoFit/>
          </a:bodyPr>
          <a:lstStyle/>
          <a:p>
            <a:pPr>
              <a:spcAft>
                <a:spcPts val="2400"/>
              </a:spcAft>
            </a:pPr>
            <a:r>
              <a:rPr sz="2000" b="1" i="0">
                <a:solidFill>
                  <a:srgbClr val="222222"/>
                </a:solidFill>
                <a:latin typeface="Calibri"/>
              </a:rPr>
              <a:t>In your group, four minutes.</a:t>
            </a:r>
          </a:p>
          <a:p>
            <a:pPr>
              <a:defRPr sz="1000"/>
            </a:pPr>
          </a:p>
          <a:p>
            <a:pPr>
              <a:spcAft>
                <a:spcPts val="2400"/>
              </a:spcAft>
            </a:pPr>
            <a:r>
              <a:rPr sz="2000" b="0" i="0">
                <a:solidFill>
                  <a:srgbClr val="222222"/>
                </a:solidFill>
                <a:latin typeface="Calibri"/>
              </a:rPr>
              <a:t>Pick a skill someone in the group practiced until it stopped needing attention: driving, typing, a sport, an instrument.</a:t>
            </a:r>
          </a:p>
          <a:p>
            <a:pPr>
              <a:defRPr sz="1000"/>
            </a:pPr>
          </a:p>
          <a:p>
            <a:pPr>
              <a:spcAft>
                <a:spcPts val="2400"/>
              </a:spcAft>
            </a:pPr>
            <a:r>
              <a:rPr sz="2000" b="0" i="0">
                <a:solidFill>
                  <a:srgbClr val="222222"/>
                </a:solidFill>
                <a:latin typeface="Calibri"/>
              </a:rPr>
              <a:t>At each stage of learning it, which family of learning was doing the work, and </a:t>
            </a:r>
            <a:r>
              <a:rPr sz="2000" b="1" i="0">
                <a:solidFill>
                  <a:srgbClr val="222222"/>
                </a:solidFill>
                <a:latin typeface="Calibri"/>
              </a:rPr>
              <a:t>what supplied the signal</a:t>
            </a:r>
            <a:r>
              <a:rPr sz="2000" b="0" i="0">
                <a:solidFill>
                  <a:srgbClr val="222222"/>
                </a:solidFill>
                <a:latin typeface="Calibri"/>
              </a:rPr>
              <a:t>: nothing, the world, a teacher, or a verdict?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One structure, active during everything</a:t>
                      </a:r>
                    </a:p>
                  </a:txBody>
                  <a:tcPr marL="73152" marR="73152" marT="18288" marB="18288">
                    <a:solidFill>
                      <a:srgbClr val="FFFFFF"/>
                    </a:solidFill>
                  </a:tcPr>
                </a:tc>
                <a:tc>
                  <a:txBody>
                    <a:bodyPr/>
                    <a:lstStyle/>
                    <a:p>
                      <a:r>
                        <a:rPr sz="1000" b="0" i="0">
                          <a:solidFill>
                            <a:srgbClr val="222222"/>
                          </a:solidFill>
                          <a:latin typeface="Calibri"/>
                        </a:rPr>
                        <a:t>fig-active-everywhere.png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Telling an algorithmic claim from an implementational one</a:t>
                      </a:r>
                    </a:p>
                  </a:txBody>
                  <a:tcPr marL="73152" marR="73152" marT="18288" marB="18288">
                    <a:solidFill>
                      <a:srgbClr val="FFFFFF"/>
                    </a:solidFill>
                  </a:tcPr>
                </a:tc>
                <a:tc>
                  <a:txBody>
                    <a:bodyPr/>
                    <a:lstStyle/>
                    <a:p>
                      <a:r>
                        <a:rPr sz="1000" b="0" i="0">
                          <a:solidFill>
                            <a:srgbClr val="222222"/>
                          </a:solidFill>
                          <a:latin typeface="Calibri"/>
                        </a:rPr>
                        <a:t>fig-level-test.png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Three structures, three kinds of delivery</a:t>
                      </a:r>
                    </a:p>
                  </a:txBody>
                  <a:tcPr marL="73152" marR="73152" marT="18288" marB="18288">
                    <a:solidFill>
                      <a:srgbClr val="FFFFFF"/>
                    </a:solidFill>
                  </a:tcPr>
                </a:tc>
                <a:tc>
                  <a:txBody>
                    <a:bodyPr/>
                    <a:lstStyle/>
                    <a:p>
                      <a:r>
                        <a:rPr sz="1000" b="0" i="0">
                          <a:solidFill>
                            <a:srgbClr val="222222"/>
                          </a:solidFill>
                          <a:latin typeface="Calibri"/>
                        </a:rPr>
                        <a:t>fig-three-systems.png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Classical conditioning from a co-occurrence rule</a:t>
                      </a:r>
                    </a:p>
                  </a:txBody>
                  <a:tcPr marL="73152" marR="73152" marT="18288" marB="18288">
                    <a:solidFill>
                      <a:srgbClr val="FFFFFF"/>
                    </a:solidFill>
                  </a:tcPr>
                </a:tc>
                <a:tc>
                  <a:txBody>
                    <a:bodyPr/>
                    <a:lstStyle/>
                    <a:p>
                      <a:r>
                        <a:rPr sz="1000" b="0" i="0">
                          <a:solidFill>
                            <a:srgbClr val="222222"/>
                          </a:solidFill>
                          <a:latin typeface="Calibri"/>
                        </a:rPr>
                        <a:t>fig-hebb-conditioning.png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One error for one output cell</a:t>
                      </a:r>
                    </a:p>
                  </a:txBody>
                  <a:tcPr marL="73152" marR="73152" marT="18288" marB="18288">
                    <a:solidFill>
                      <a:srgbClr val="FFFFFF"/>
                    </a:solidFill>
                  </a:tcPr>
                </a:tc>
                <a:tc>
                  <a:txBody>
                    <a:bodyPr/>
                    <a:lstStyle/>
                    <a:p>
                      <a:r>
                        <a:rPr sz="1000" b="0" i="0">
                          <a:solidFill>
                            <a:srgbClr val="222222"/>
                          </a:solidFill>
                          <a:latin typeface="Calibri"/>
                        </a:rPr>
                        <a:t>fig-climbing-fiber.png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A verdict that is useful because of where it lands</a:t>
                      </a:r>
                    </a:p>
                  </a:txBody>
                  <a:tcPr marL="73152" marR="73152" marT="18288" marB="18288">
                    <a:solidFill>
                      <a:srgbClr val="FFFFFF"/>
                    </a:solidFill>
                  </a:tcPr>
                </a:tc>
                <a:tc>
                  <a:txBody>
                    <a:bodyPr/>
                    <a:lstStyle/>
                    <a:p>
                      <a:r>
                        <a:rPr sz="1000" b="0" i="0">
                          <a:solidFill>
                            <a:srgbClr val="222222"/>
                          </a:solidFill>
                          <a:latin typeface="Calibri"/>
                        </a:rPr>
                        <a:t>fig-verdict.png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An ordered copy of the space around the animal</a:t>
                      </a:r>
                    </a:p>
                  </a:txBody>
                  <a:tcPr marL="73152" marR="73152" marT="18288" marB="18288">
                    <a:solidFill>
                      <a:srgbClr val="FFFFFF"/>
                    </a:solidFill>
                  </a:tcPr>
                </a:tc>
                <a:tc>
                  <a:txBody>
                    <a:bodyPr/>
                    <a:lstStyle/>
                    <a:p>
                      <a:r>
                        <a:rPr sz="1000" b="0" i="0">
                          <a:solidFill>
                            <a:srgbClr val="222222"/>
                          </a:solidFill>
                          <a:latin typeface="Calibri"/>
                        </a:rPr>
                        <a:t>fig-tectum-map.png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r h="44094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Two loops, both returning to the pallium</a:t>
                      </a:r>
                    </a:p>
                  </a:txBody>
                  <a:tcPr marL="73152" marR="73152" marT="18288" marB="18288">
                    <a:solidFill>
                      <a:srgbClr val="FFFFFF"/>
                    </a:solidFill>
                  </a:tcPr>
                </a:tc>
                <a:tc>
                  <a:txBody>
                    <a:bodyPr/>
                    <a:lstStyle/>
                    <a:p>
                      <a:r>
                        <a:rPr sz="1000" b="0" i="0">
                          <a:solidFill>
                            <a:srgbClr val="222222"/>
                          </a:solidFill>
                          <a:latin typeface="Calibri"/>
                        </a:rPr>
                        <a:t>fig-two-loops.png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1865376"/>
        </p:xfrm>
        <a:graphic>
          <a:graphicData uri="http://schemas.openxmlformats.org/drawingml/2006/table">
            <a:tbl>
              <a:tblPr>
                <a:tableStyleId>{5C22544A-7EE6-4342-B048-85BDC9FD1C3A}</a:tableStyleId>
              </a:tblPr>
              <a:tblGrid>
                <a:gridCol w="674827"/>
                <a:gridCol w="2699308"/>
                <a:gridCol w="2699308"/>
                <a:gridCol w="1574596"/>
                <a:gridCol w="3599078"/>
              </a:tblGrid>
              <a:tr h="4663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6634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A hierarchy of control, and the broad projections across it</a:t>
                      </a:r>
                    </a:p>
                  </a:txBody>
                  <a:tcPr marL="73152" marR="73152" marT="18288" marB="18288">
                    <a:solidFill>
                      <a:srgbClr val="FFFFFF"/>
                    </a:solidFill>
                  </a:tcPr>
                </a:tc>
                <a:tc>
                  <a:txBody>
                    <a:bodyPr/>
                    <a:lstStyle/>
                    <a:p>
                      <a:r>
                        <a:rPr sz="1000" b="0" i="0">
                          <a:solidFill>
                            <a:srgbClr val="222222"/>
                          </a:solidFill>
                          <a:latin typeface="Calibri"/>
                        </a:rPr>
                        <a:t>fig-hierarchy.png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6634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Selection by releasing one hold</a:t>
                      </a:r>
                    </a:p>
                  </a:txBody>
                  <a:tcPr marL="73152" marR="73152" marT="18288" marB="18288">
                    <a:solidFill>
                      <a:srgbClr val="FFFFFF"/>
                    </a:solidFill>
                  </a:tcPr>
                </a:tc>
                <a:tc>
                  <a:txBody>
                    <a:bodyPr/>
                    <a:lstStyle/>
                    <a:p>
                      <a:r>
                        <a:rPr sz="1000" b="0" i="0">
                          <a:solidFill>
                            <a:srgbClr val="222222"/>
                          </a:solidFill>
                          <a:latin typeface="Calibri"/>
                        </a:rPr>
                        <a:t>fig-selection.png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6 reading  ·  own work</a:t>
                      </a:r>
                    </a:p>
                  </a:txBody>
                  <a:tcPr marL="73152" marR="73152" marT="18288" marB="18288">
                    <a:solidFill>
                      <a:srgbClr val="FFFFFF"/>
                    </a:solidFill>
                  </a:tcPr>
                </a:tc>
              </a:tr>
              <a:tr h="46634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The selection unit, copied rather than improved</a:t>
                      </a:r>
                    </a:p>
                  </a:txBody>
                  <a:tcPr marL="73152" marR="73152" marT="18288" marB="18288">
                    <a:solidFill>
                      <a:srgbClr val="FFFFFF"/>
                    </a:solidFill>
                  </a:tcPr>
                </a:tc>
                <a:tc>
                  <a:txBody>
                    <a:bodyPr/>
                    <a:lstStyle/>
                    <a:p>
                      <a:r>
                        <a:rPr sz="1000" b="0" i="0">
                          <a:solidFill>
                            <a:srgbClr val="222222"/>
                          </a:solidFill>
                          <a:latin typeface="Calibri"/>
                        </a:rPr>
                        <a:t>fig-copied-selector.png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