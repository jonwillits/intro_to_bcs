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589"/>
  </p:normalViewPr>
  <p:slideViewPr>
    <p:cSldViewPr snapToGrid="0" snapToObjects="1">
      <p:cViewPr varScale="1">
        <p:scale>
          <a:sx n="120" d="100"/>
          <a:sy n="120" d="100"/>
        </p:scale>
        <p:origin x="800" y="2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5492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module is about how an animal recognizes a thing by the pattern it makes across many inputs, and recognizes it again when the pattern changes.</a:t>
            </a:r>
          </a:p>
          <a:p>
            <a:endParaRPr dirty="0"/>
          </a:p>
          <a:p>
            <a:r>
              <a:rPr dirty="0"/>
              <a:t>This first lecture is the computational level. It asks what problem is being solved, and why solving it matters to the animal. So everything in it is stated in terms of inputs, responses, and what the animal does. How a nervous system or a machine might solve the problem waits for the next two lectures.</a:t>
            </a:r>
          </a:p>
          <a:p>
            <a:endParaRPr dirty="0"/>
          </a:p>
          <a:p>
            <a:r>
              <a:rPr dirty="0"/>
              <a:t>The animal we will follow is a small fish in a stream where eels hunt. Before asking what the neocortex computes, which is the question Module 6 left open, we need to be exact about what recognizing an eel requires.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question is the reading’s first one, put in everyday form.</a:t>
            </a:r>
          </a:p>
          <a:p>
            <a:endParaRPr dirty="0"/>
          </a:p>
          <a:p>
            <a:r>
              <a:rPr dirty="0"/>
              <a:t>Groups usually start with what stays the same: coffee always smells like coffee, a friend’s voice is the same voice on a bad phone line. The interesting move is noticing how hard it is to say what that same thing is. Coffee is a mixture of many chemicals, and the mixture is never exactly the same twice. A voice on a phone has lost much of what it sounds like in person.</a:t>
            </a:r>
          </a:p>
          <a:p>
            <a:endParaRPr dirty="0"/>
          </a:p>
          <a:p>
            <a:r>
              <a:rPr dirty="0"/>
              <a:t>The second question is usually harder to answer. What would have to be told apart from it? Decaf from regular, one sibling’s voice from another’s, a stranger who looks a little like a friend.</a:t>
            </a:r>
          </a:p>
          <a:p>
            <a:endParaRPr dirty="0"/>
          </a:p>
          <a:p>
            <a:r>
              <a:rPr dirty="0"/>
              <a:t>Hold on to both answers. The first is one demand recognition makes, and the second is another, and the main point of this lecture is that the two demands pull against each other.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small fish lives in a stream where eels hunt. Now and then, the water carries the smell of an eel. But the fish never encounters the same eel smell twice. Each eel gives off a complex mixture of chemicals, the mixture differs from eel to eel and from moment to moment, and it mixes with rotting leaves, other fish, and the mud of the stream bed.</a:t>
            </a:r>
          </a:p>
          <a:p>
            <a:endParaRPr dirty="0"/>
          </a:p>
          <a:p>
            <a:r>
              <a:rPr dirty="0"/>
              <a:t>Out of all that variation, the fish needs one question answered: is a dangerous eel nearby, or not? And the answer is only useful if it comes while there is still time to get away.</a:t>
            </a:r>
          </a:p>
          <a:p>
            <a:endParaRPr dirty="0"/>
          </a:p>
          <a:p>
            <a:r>
              <a:rPr dirty="0"/>
              <a:t>Nothing in the fish’s nostrils stands for an eel. Each kind of smell receptor responds to some chemicals and not to others. So what identifies an eel is a pattern of activity across many receptors, and much of that same pattern turns up for fish that are no threat at all. We are in the same position with coffee. There is no coffee molecule, and no coffee receptor. There is a pattern of chemicals that is characteristic of coffee.</a:t>
            </a:r>
          </a:p>
          <a:p>
            <a:endParaRPr dirty="0"/>
          </a:p>
          <a:p>
            <a:r>
              <a:rPr dirty="0"/>
              <a:t>Compare the units of Modules 4 and 5. A unit added up its weighted inputs and fired when the sum crossed a threshold, which amounts to drawing one straight line through the space of its inputs. Module 5 showed how learning could move that line. Where one input, or one simple combination, reliably meant food or copper, one line was enough. But most of what matters to an animal has no detector of its own. Prey, predators, mates, and the way home all arrive as patterns across many inputs, and the patterns change from one encounter to the next.</a:t>
            </a:r>
          </a:p>
          <a:p>
            <a:endParaRPr dirty="0"/>
          </a:p>
          <a:p>
            <a:r>
              <a:rPr dirty="0"/>
              <a:t>Module 6 left a question open. The pallium grew in mammals into the neocortex, a nearly uniform sheet with one kind of circuit and the same six layers, whether its signals come from the eyes, the skin, or the ears. Is that one operation general enough to serve all of them, or does each area simply do whatever its input makes it do? Our fish has no neocortex, but it has a pallium, and it faces the same problem. So before asking what the neocortex computes, we need to be exact about what recognizing an eel requires.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An animal can recognize something in two quite different ways.</a:t>
            </a:r>
          </a:p>
          <a:p>
            <a:endParaRPr dirty="0"/>
          </a:p>
          <a:p>
            <a:r>
              <a:rPr dirty="0"/>
              <a:t>The first is how the worm from Module 4 recognizes copper. A sensory neuron responds to copper, and its output is routed to the machinery that turns the worm away. Nothing else has to happen. The neuron firing is, in effect, the worm recognizing copper. Module 4 called this a *labeled line*, and the label is not on the line itself. It is at the far end, in what the line connects to.</a:t>
            </a:r>
          </a:p>
          <a:p>
            <a:endParaRPr dirty="0"/>
          </a:p>
          <a:p>
            <a:r>
              <a:rPr dirty="0"/>
              <a:t>The second is how the fish recognizes an eel. Nothing in its nostrils responds to eels and only to eels. An eel is identified by a combination of activity across many receptors, and no one of them identifies it alone. That is **pattern recognition**. Most of what matters to a fish has to be recognized this way: its prey, its predators, a mate, and the way back to shelter.</a:t>
            </a:r>
          </a:p>
          <a:p>
            <a:endParaRPr dirty="0"/>
          </a:p>
          <a:p>
            <a:r>
              <a:rPr dirty="0"/>
              <a:t>Pattern recognition needs something between the receptors and the muscles. The fish has to end up in a state that means “eel”, and none of its receptors can supply that state by itself. So somewhere downstream, activity has to arise that stands for the eel, whichever mixture of chemicals produced it. A pattern of activity that stands for something in the world, so that what the animal does next depends on what the pattern stands for, is a **representation**.</a:t>
            </a:r>
          </a:p>
          <a:p>
            <a:endParaRPr dirty="0"/>
          </a:p>
          <a:p>
            <a:r>
              <a:rPr dirty="0"/>
              <a:t>Notice the definition is about what the pattern does for the animal, not about where it sits or what it looks like.</a:t>
            </a:r>
          </a:p>
          <a:p>
            <a:endParaRPr dirty="0"/>
          </a:p>
          <a:p>
            <a:r>
              <a:rPr dirty="0"/>
              <a:t>This also pays off something from Module 5. Which pairings an animal learns easily is partly a question about representations. A new connection can only link things the nervous system already represents, so how easily two things are paired depends in part on how each was represented beforehand.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Recognizing an eel makes two demands at once.</a:t>
            </a:r>
          </a:p>
          <a:p>
            <a:endParaRPr dirty="0"/>
          </a:p>
          <a:p>
            <a:r>
              <a:rPr dirty="0"/>
              <a:t>The first is **discrimination**. Inputs that call for different responses have to be distinguished, even when they overlap. Suppose a harmless fish, a sucker, shares the stream, and its smell shares much of its chemistry with the eel’s. The small fish has to flee from one and ignore the other, although most of what reaches its nostrils is the same in both cases.</a:t>
            </a:r>
          </a:p>
          <a:p>
            <a:endParaRPr dirty="0"/>
          </a:p>
          <a:p>
            <a:r>
              <a:rPr dirty="0"/>
              <a:t>Discrimination usually improves with experience. Eleanor Gibson argued that learning to perceive is not adding detail to thin, vague sensations. It is separating things that used to blur together. A novice wine drinker can tell red from white. An expert can also tell apart grapes and regions that taste the same to the novice. Experience has pulled apart inputs the novice treats as alike.</a:t>
            </a:r>
          </a:p>
          <a:p>
            <a:endParaRPr dirty="0"/>
          </a:p>
          <a:p>
            <a:r>
              <a:rPr dirty="0"/>
              <a:t>The second demand is **generalization**. Inputs that call for the same response have to be treated alike, even if they barely overlap. A large eel upstream and a small eel downstream give off quite different mixtures, but both call for flight.</a:t>
            </a:r>
          </a:p>
          <a:p>
            <a:endParaRPr dirty="0"/>
          </a:p>
          <a:p>
            <a:r>
              <a:rPr dirty="0"/>
              <a:t>It is tempting to think of generalization as a failure: the animal responds to a new eel as to an old one because it cannot tell them apart. Roger Shepard argued the opposite. Generalizing is a bet that two things share a consequence. His example was an animal made sick by a caterpillar. Seeing a second caterpillar that looks a little different, it may tell the two apart perfectly well. What it cannot tell is whether the second one will make it sick too. Treating the two alike is a bet that it will.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system that met only one of these demands would fail. A fish that only discriminated would treat every eel as a new thing, and nothing it learned about one eel would carry over to the next. A fish that only generalized would lump the eel together with the sucker, and flee from both or from neither.</a:t>
            </a:r>
          </a:p>
          <a:p>
            <a:endParaRPr dirty="0"/>
          </a:p>
          <a:p>
            <a:r>
              <a:rPr dirty="0"/>
              <a:t>Meeting both at once is hard, because they push on the same inputs in opposite directions. Look at the shaded receptor types. Getting better at telling the eel from the sucker means attending more closely to the shaded receptor types, where their smells differ. But a large eel and a small eel differ in some of those same ways. So a fish that has sharpened its discrimination may begin to treat the two eels as different things.</a:t>
            </a:r>
          </a:p>
          <a:p>
            <a:endParaRPr dirty="0"/>
          </a:p>
          <a:p>
            <a:r>
              <a:rPr dirty="0"/>
              <a:t>Going the other way fails too. Widening what counts as an eel, so that every eel is caught, also widens it toward the sucker.</a:t>
            </a:r>
          </a:p>
          <a:p>
            <a:endParaRPr dirty="0"/>
          </a:p>
          <a:p>
            <a:r>
              <a:rPr dirty="0"/>
              <a:t>So the fish cannot get there by becoming more discriminating, or more general, across the board. It needs the eel pulled apart from the sucker and every eel drawn together, for the same smells. Some differences have to come to count for more, and others for less.</a:t>
            </a:r>
          </a:p>
          <a:p>
            <a:endParaRPr dirty="0"/>
          </a:p>
          <a:p>
            <a:r>
              <a:rPr dirty="0"/>
              <a:t>Here is the problem in one sentence. The fish’s input at any moment is a pattern of activity across its smell receptors. What its world calls for is a mapping from inputs to responses: this pattern means flee, that one means keep feeding. Discrimination and generalization are two demands on that single mapping.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If generalizing is a bet, how far from a known case should it extend? The natural answer is: the more a new case resembles the known one, the more readily it should be treated the same way.</a:t>
            </a:r>
          </a:p>
          <a:p>
            <a:endParaRPr dirty="0"/>
          </a:p>
          <a:p>
            <a:r>
              <a:rPr dirty="0"/>
              <a:t>We can measure generalization without saying anything about what goes on inside the animal. Train an animal to give a response to one input, then test it on inputs that differ from the trained one by different amounts. The tendency to respond falls off smoothly as the new input differs more, and often steeply. That fall-off is a **generalization gradient**.</a:t>
            </a:r>
          </a:p>
          <a:p>
            <a:endParaRPr dirty="0"/>
          </a:p>
          <a:p>
            <a:r>
              <a:rPr dirty="0"/>
              <a:t>These gradients were measured long before anyone spoke of representations. Pavlov’s dog, conditioned to salivate to one tone, also salivated to other tones, and less the more they differed. Pigeons trained to peck at one color also peck at other colors, and less often the further the color is from the trained one.</a:t>
            </a:r>
          </a:p>
          <a:p>
            <a:endParaRPr dirty="0"/>
          </a:p>
          <a:p>
            <a:r>
              <a:rPr dirty="0"/>
              <a:t>The catch is in how the difference is measured. Shepard found that closeness in physical units is not a good predictor of how animals generalize. The same physical difference can matter a great deal on one dimension and hardly at all on another, and the pattern differs from species to species. A tone can be treated as more like the tone an octave above it than like tones that are physically closer, right below.</a:t>
            </a:r>
          </a:p>
          <a:p>
            <a:endParaRPr dirty="0"/>
          </a:p>
          <a:p>
            <a:r>
              <a:rPr dirty="0"/>
              <a:t>So the differences that govern generalization are not simply the physical ones. For the small fish, which differences make a new smell more or less like an eel has to be measured by watching what the fish does.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add noise. No two sniffs of an eel are the same, and the receptors and neurons that respond to them are noisy too. So the evidence for “eel” that reaches the fish varies from one encounter to the next, even when an eel is there, and the evidence when no eel is there varies as well.</a:t>
            </a:r>
          </a:p>
          <a:p>
            <a:endParaRPr dirty="0"/>
          </a:p>
          <a:p>
            <a:r>
              <a:rPr dirty="0"/>
              <a:t>Plot how often each amount of evidence occurs, once for encounters with an eel and once without, and the two distributions overlap. Somewhere along that evidence axis, a line has to be drawn: flee above it, keep feeding below it.</a:t>
            </a:r>
          </a:p>
          <a:p>
            <a:endParaRPr dirty="0"/>
          </a:p>
          <a:p>
            <a:r>
              <a:rPr dirty="0"/>
              <a:t>The framework for decisions of this kind is **signal detection theory**. It was developed in the 1950s for detecting faint signals on radar, and it is now used wherever a decision is about whether something is there: a faint tone, a disease, a remembered face, a junk message.</a:t>
            </a:r>
          </a:p>
          <a:p>
            <a:endParaRPr dirty="0"/>
          </a:p>
          <a:p>
            <a:r>
              <a:rPr dirty="0"/>
              <a:t>Any single decision has one of four outcomes. A target present and judged present is a **hit**. A target present and judged absent is a **miss**. No target present, but one judged to be there, is a **false alarm**. No target present and none judged to be there is a **correct rejection**.</a:t>
            </a:r>
          </a:p>
          <a:p>
            <a:endParaRPr dirty="0"/>
          </a:p>
          <a:p>
            <a:r>
              <a:rPr dirty="0"/>
              <a:t>For the fish, fleeing from an eel is a hit, staying put beside one is a miss, bolting from nothing is a false alarm, and feeding calmly when no eel is near is a correct rejection.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Signal detection theory separates two quantities that are easy to confuse.</a:t>
            </a:r>
          </a:p>
          <a:p>
            <a:endParaRPr dirty="0"/>
          </a:p>
          <a:p>
            <a:r>
              <a:rPr dirty="0"/>
              <a:t>**Sensitivity** is how far apart the two distributions lie. It is usually measured as *d′*, read “d-prime”, the distance between their centers in units of their spread. The **criterion** is where the line is drawn.</a:t>
            </a:r>
          </a:p>
          <a:p>
            <a:endParaRPr dirty="0"/>
          </a:p>
          <a:p>
            <a:r>
              <a:rPr dirty="0"/>
              <a:t>Moving the criterion trades one kind of error for the other. Slide it left, to criterion two, and there are more hits and fewer misses, but also more false alarms. What it does not do is change sensitivity, because the distributions have not moved at all.</a:t>
            </a:r>
          </a:p>
          <a:p>
            <a:endParaRPr dirty="0"/>
          </a:p>
          <a:p>
            <a:r>
              <a:rPr dirty="0"/>
              <a:t>Two people on a face memory test show why this matters. Each sees 50 faces they studied and 50 new ones. One says “yes, I saw that one” to 42 studied faces and 8 new ones, and is right 84% of the time. The other says “yes” to 49 studied faces and 25 new ones, and is right only 74% of the time. But both have a *d′* of 2.0. The second person simply says “yes” more often. Percent correct mixes sensitivity and criterion together, and signal detection theory pulls them apart.</a:t>
            </a:r>
          </a:p>
          <a:p>
            <a:endParaRPr dirty="0"/>
          </a:p>
          <a:p>
            <a:r>
              <a:rPr dirty="0"/>
              <a:t>The same confusion is built into everyday speech. A smoke alarm that goes off whenever toast burns is often called sensitive. In these terms, it has a low criterion.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Which criterion is best depends on what each outcome gains or loses, and on how common targets are. When targets are rare and false alarms lose a great deal, the best criterion is conservative. When misses lose a great deal, it is liberal.</a:t>
            </a:r>
          </a:p>
          <a:p>
            <a:endParaRPr dirty="0"/>
          </a:p>
          <a:p>
            <a:r>
              <a:rPr dirty="0"/>
              <a:t>So accuracy is the wrong measure whenever the two errors cost different amounts. In the worked example in the table, a false alarm loses 15 points and a miss loses only 1. Accuracy is highest with a neutral criterion, but the points earned are highest with a conservative one.</a:t>
            </a:r>
          </a:p>
          <a:p>
            <a:endParaRPr dirty="0"/>
          </a:p>
          <a:p>
            <a:r>
              <a:rPr dirty="0"/>
              <a:t>Sensitivity matters here too. The poorer the sensitivity, the more extreme the best criterion becomes, which is why people walk more carefully in a dim room.</a:t>
            </a:r>
          </a:p>
          <a:p>
            <a:endParaRPr dirty="0"/>
          </a:p>
          <a:p>
            <a:r>
              <a:rPr dirty="0"/>
              <a:t>Now the fish. Missing an eel may end its life, while a false alarm costs a few minutes of feeding. So the best criterion for this fish is liberal. A jumpy fish is wrong more often than a cautious one, but the cautious fish is eventually eaten.</a:t>
            </a:r>
          </a:p>
          <a:p>
            <a:endParaRPr dirty="0"/>
          </a:p>
          <a:p>
            <a:r>
              <a:rPr dirty="0"/>
              <a:t>That is an argument about where the best criterion lies. Whether any real fish sits near it can be answered only by measuring real fish.</a:t>
            </a:r>
          </a:p>
          <a:p>
            <a:endParaRPr dirty="0"/>
          </a:p>
          <a:p>
            <a:r>
              <a:rPr dirty="0"/>
              <a:t>One last contrast, and it sets up the rest of the module. The two quantities are different kinds of thing to change. The criterion can move with no change in how the fish represents what reaches its nostrils. Sensitivity can improve only through a better representation of the input.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far the fish has one target. Most recognition is sorting into categories. A **category** is a set of things treated as the same kind, for some purpose, and some members are better examples than others.</a:t>
            </a:r>
          </a:p>
          <a:p>
            <a:endParaRPr dirty="0"/>
          </a:p>
          <a:p>
            <a:r>
              <a:rPr dirty="0"/>
              <a:t>Eleanor Rosch asked 209 students to rate members of ten everyday categories on a seven-point scale, where 1 is a very good example and 7 a very poor one. For birds, a robin was rated 1.02, close to the best possible score. A penguin was 4.53. A bat, which is not a bird at all, was 6.15. Different groups of students agreed closely. This graded goodness of membership is **typicality**.</a:t>
            </a:r>
          </a:p>
          <a:p>
            <a:endParaRPr dirty="0"/>
          </a:p>
          <a:p>
            <a:r>
              <a:rPr dirty="0"/>
              <a:t>What makes one member more typical? When people listed the attributes of twenty members of a category, few or no attributes were listed for all twenty. Members overlapped the way faces in a family do, which is called *family resemblance*. The most typical members shared the most features with their own category and the fewest with neighboring ones.</a:t>
            </a:r>
          </a:p>
          <a:p>
            <a:endParaRPr dirty="0"/>
          </a:p>
          <a:p>
            <a:r>
              <a:rPr dirty="0"/>
              <a:t>Two cautions about this evidence. It comes from human beings. And although any account of categories has to explain it, several quite different accounts explain it equally well, so on its own typicality cannot decide between them.</a:t>
            </a:r>
          </a:p>
          <a:p>
            <a:endParaRPr dirty="0"/>
          </a:p>
          <a:p>
            <a:r>
              <a:rPr dirty="0"/>
              <a:t>And not every category is held together by resemblance. Some are built around a goal, like things to take out of a burning house, whose members have almost nothing in common. Some are defined by a relation: nothing about an animal’s appearance makes it a predator; what it does to other animals does. Categories also let an animal infer properties it cannot see, and let people explain and communicate. So recognition is not only a matter of how alike inputs are. It is a matter of which inputs share a consequence.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For some categories, each input carries information on its own: a little more of one smell makes an eel a little more likely, whatever else is present. For others, no input carries any information on its own, and the right response depends only on the combination.</a:t>
            </a:r>
          </a:p>
          <a:p>
            <a:endParaRPr dirty="0"/>
          </a:p>
          <a:p>
            <a:r>
              <a:rPr dirty="0"/>
              <a:t>Take a hypothetical animal that feeds on fallen fruit. Either of two smells alone means ripe fruit. Both together mean the fruit is rotting, and neither means there is no fruit at all. Check the table: smell A is present in half the cases that mean food and half that do not, and so is smell B. Neither says anything about food by itself. Only the combination does. The rule is called *exclusive or*, often written XOR.</a:t>
            </a:r>
          </a:p>
          <a:p>
            <a:endParaRPr dirty="0"/>
          </a:p>
          <a:p>
            <a:r>
              <a:rPr dirty="0"/>
              <a:t>A second case has the same character. Suppose a fruit smells right only when one chemical is at just the right strength: too little means unripe, too much means rotten. More of the chemical is good news up to a point and bad news after it, so its strength on its own does not point consistently either way.</a:t>
            </a:r>
          </a:p>
          <a:p>
            <a:endParaRPr dirty="0"/>
          </a:p>
          <a:p>
            <a:r>
              <a:rPr dirty="0"/>
              <a:t>This problem was found in animals before anyone studied XOR in circuits or built an artificial network. In some discrimination tasks, an animal is rewarded for going right when two cards are white and left when they are black, so every single cue is rewarded half the time. An account in which animals learn only about single cues predicted that no animal could learn it. Animals learned it anyway, and later studies found the same from rats to monkeys.</a:t>
            </a:r>
          </a:p>
          <a:p>
            <a:endParaRPr dirty="0"/>
          </a:p>
          <a:p>
            <a:r>
              <a:rPr dirty="0"/>
              <a:t>People manage too. In controlled experiments, categories that could be sorted by adding up evidence one feature at a time were no easier to learn than categories that could not, and two practiced observers learned a category with the shape of exclusive or.</a:t>
            </a:r>
          </a:p>
          <a:p>
            <a:endParaRPr dirty="0"/>
          </a:p>
          <a:p>
            <a:r>
              <a:rPr dirty="0"/>
              <a:t>Why a single unit cannot do what these animals do is a question for the next lecture.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Two last demands complete the problem.</a:t>
            </a:r>
          </a:p>
          <a:p>
            <a:endParaRPr dirty="0"/>
          </a:p>
          <a:p>
            <a:r>
              <a:rPr dirty="0"/>
              <a:t>Sometimes one thing produces inputs that barely overlap. An eel close by and the same eel far away produce smells at very different strengths. A face seen from the front shares little of its image with the same face turned to one side. Recognizing a thing across changes like these is **invariance**. The smells of one eel can differ from each other more than either differs from the sucker’s, and they still have to be treated as one thing. That is discrimination and generalization at their hardest.</a:t>
            </a:r>
          </a:p>
          <a:p>
            <a:endParaRPr dirty="0"/>
          </a:p>
          <a:p>
            <a:r>
              <a:rPr dirty="0"/>
              <a:t>Module 1 showed the reverse side of this difficulty in vision: many different scenes can cast exactly the same image. Invariance is the other side, since one object can cast many different images. For a nervous system, it means some neuron downstream has to fire for every eel smell, faint or strong, and stay quiet for the sucker, even when the sucker’s smell is more like one of the eel smells than the eel smells are like each other.</a:t>
            </a:r>
          </a:p>
          <a:p>
            <a:endParaRPr dirty="0"/>
          </a:p>
          <a:p>
            <a:r>
              <a:rPr dirty="0"/>
              <a:t>The last demand adds time. A fish does not learn what an eel smells like all at once. It learns across many encounters, and it learns about other things in between. Those things often overlap: the smell of a new predator may share much of its chemistry with the eel and with harmless fish. So learning about one bears on what is already known about the others, and new learning has to add to old without overwriting it.</a:t>
            </a:r>
          </a:p>
          <a:p>
            <a:endParaRPr dirty="0"/>
          </a:p>
          <a:p>
            <a:r>
              <a:rPr dirty="0"/>
              <a:t>When the same features turn up in objects that are rewarded and in objects that are not, no single feature is reliable, and only combinations are. The more objects share features, the more of the reliable information lies in combinations.</a:t>
            </a:r>
          </a:p>
          <a:p>
            <a:endParaRPr dirty="0"/>
          </a:p>
          <a:p>
            <a:r>
              <a:rPr dirty="0"/>
              <a:t>This is the trade-off Module 5 called stability versus plasticity: changing enough to learn something new, and little enough to keep what was learned before. For the small fish, learning a new predator must not erase what it knows about eels.</a:t>
            </a:r>
          </a:p>
          <a:p>
            <a:endParaRPr dirty="0"/>
          </a:p>
          <a:p>
            <a:r>
              <a:rPr dirty="0"/>
              <a:t>That is the whole problem, stated without saying anything about how it is solved. The next lecture is about the procedures that might solve 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question runs slides 8 to 10 on a case in the news.</a:t>
            </a:r>
          </a:p>
          <a:p>
            <a:endParaRPr dirty="0"/>
          </a:p>
          <a:p>
            <a:r>
              <a:rPr dirty="0"/>
              <a:t>The four outcomes first. An AI-written essay flagged is a hit, and one that slips through is a miss. A student’s own essay flagged is a false alarm, and one left alone is a correct rejection. Most groups decide that the false alarm costs more, and that the cost falls on a student who did nothing wrong.</a:t>
            </a:r>
          </a:p>
          <a:p>
            <a:endParaRPr dirty="0"/>
          </a:p>
          <a:p>
            <a:r>
              <a:rPr dirty="0"/>
              <a:t>The second question is the one the lecture equips us for. A detector that catches more AI-written essays may simply have a lower criterion, like the smoke alarm that goes off for toast. If so, it also flags more human essays. To know whether sensitivity improved, we need the false-alarm rate as well as the hit rate, before and after. Catching more is not evidence by itself.</a:t>
            </a:r>
          </a:p>
          <a:p>
            <a:endParaRPr dirty="0"/>
          </a:p>
          <a:p>
            <a:r>
              <a:rPr dirty="0"/>
              <a:t>Then base rates. Suppose 1,000 essays, of which 50 are AI-written. A detector that catches 90% of those makes 45 hits. If it also flags 5% of the 950 human essays, that is about 48 false alarms, so roughly half of the flagged essays were written by students. How common the target is changes what a flag means, and where the criterion ought to sit.</a:t>
            </a:r>
          </a:p>
          <a:p>
            <a:endParaRPr dirty="0"/>
          </a:p>
          <a:p>
            <a:r>
              <a:rPr dirty="0"/>
              <a:t>If the room is quiet, give it those numbers and ask only whether a flag from this detector should count as proof.</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title">
    <p:bg>
      <p:bgPr>
        <a:solidFill>
          <a:srgbClr val="FE552E"/>
        </a:solidFill>
        <a:effectLst/>
      </p:bgPr>
    </p:bg>
    <p:spTree>
      <p:nvGrpSpPr>
        <p:cNvPr id="1" name=""/>
        <p:cNvGrpSpPr/>
        <p:nvPr/>
      </p:nvGrpSpPr>
      <p:grpSpPr>
        <a:xfrm>
          <a:off x="0" y="0"/>
          <a:ext cx="0" cy="0"/>
          <a:chOff x="0" y="0"/>
          <a:chExt cx="0" cy="0"/>
        </a:xfrm>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3" name="title_logo" descr="University of Illinois Urbana-Champaign wordmark"/>
          <p:cNvPicPr>
            <a:picLocks noChangeAspect="1"/>
          </p:cNvPicPr>
          <p:nvPr/>
        </p:nvPicPr>
        <p:blipFill>
          <a:blip r:embed="rId3"/>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Pattern Recognition</a:t>
            </a:r>
          </a:p>
          <a:p>
            <a:pPr algn="ctr"/>
            <a:r>
              <a:rPr sz="2000" b="0" i="0">
                <a:solidFill>
                  <a:srgbClr val="FFFFFF"/>
                </a:solidFill>
                <a:latin typeface="Calibri"/>
              </a:rPr>
              <a:t>Lecture 7.1 — The Pattern Recognition Problem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iscussion_never_the_same_twic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Never the Same Twice</a:t>
            </a:r>
          </a:p>
        </p:txBody>
      </p:sp>
      <p:sp>
        <p:nvSpPr>
          <p:cNvPr id="3" name="body_box"/>
          <p:cNvSpPr txBox="1"/>
          <p:nvPr/>
        </p:nvSpPr>
        <p:spPr>
          <a:xfrm>
            <a:off x="822960" y="1463040"/>
            <a:ext cx="10515600" cy="2554545"/>
          </a:xfrm>
          <a:prstGeom prst="rect">
            <a:avLst/>
          </a:prstGeom>
          <a:noFill/>
        </p:spPr>
        <p:txBody>
          <a:bodyPr wrap="square">
            <a:spAutoFit/>
          </a:bodyPr>
          <a:lstStyle/>
          <a:p>
            <a:pPr>
              <a:spcAft>
                <a:spcPts val="2400"/>
              </a:spcAft>
            </a:pPr>
            <a:r>
              <a:rPr sz="2000" b="1" i="0" dirty="0">
                <a:solidFill>
                  <a:srgbClr val="222222"/>
                </a:solidFill>
                <a:latin typeface="Calibri"/>
              </a:rPr>
              <a:t>In your group, three minutes.</a:t>
            </a:r>
          </a:p>
          <a:p>
            <a:pPr>
              <a:defRPr sz="1000"/>
            </a:pPr>
            <a:endParaRPr sz="2000" b="1" i="0" dirty="0">
              <a:solidFill>
                <a:srgbClr val="222222"/>
              </a:solidFill>
              <a:latin typeface="Calibri"/>
            </a:endParaRPr>
          </a:p>
          <a:p>
            <a:pPr>
              <a:spcAft>
                <a:spcPts val="2400"/>
              </a:spcAft>
            </a:pPr>
            <a:r>
              <a:rPr lang="en-US" sz="2000" b="0" i="0" dirty="0">
                <a:solidFill>
                  <a:srgbClr val="222222"/>
                </a:solidFill>
                <a:latin typeface="Calibri"/>
              </a:rPr>
              <a:t>What is a smell you always recognize?</a:t>
            </a:r>
            <a:r>
              <a:rPr sz="2000" b="0" i="0" dirty="0">
                <a:solidFill>
                  <a:srgbClr val="222222"/>
                </a:solidFill>
                <a:latin typeface="Calibri"/>
              </a:rPr>
              <a:t> No two encounters with it are ever exactly the same.</a:t>
            </a:r>
          </a:p>
          <a:p>
            <a:pPr>
              <a:defRPr sz="1000"/>
            </a:pPr>
            <a:endParaRPr sz="2000" b="0" i="0" dirty="0">
              <a:solidFill>
                <a:srgbClr val="222222"/>
              </a:solidFill>
              <a:latin typeface="Calibri"/>
            </a:endParaRPr>
          </a:p>
          <a:p>
            <a:pPr>
              <a:spcAft>
                <a:spcPts val="2400"/>
              </a:spcAft>
            </a:pPr>
            <a:r>
              <a:rPr sz="2000" b="0" i="0" dirty="0">
                <a:solidFill>
                  <a:srgbClr val="222222"/>
                </a:solidFill>
                <a:latin typeface="Calibri"/>
              </a:rPr>
              <a:t>What stays the same, so that it can still be recognized? And what nearly identical thing would have to be told apart from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no_detector_for_an_eel">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No Detector for an Eel</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An eel’s smell is a pattern across many receptors, never twice the same, and much of it shared with harmless fish.</a:t>
            </a:r>
          </a:p>
        </p:txBody>
      </p:sp>
      <p:pic>
        <p:nvPicPr>
          <p:cNvPr id="4" name="img0" descr="Three rows of eight bars, one bar per kind of smell receptor, labeled a to h along the bottom. The top row, an eel, one sniff, and the middle row, the same eel a moment later, are filled bars of different heights, and the two patterns differ. The bottom row, a fish that is no threat, is drawn as hollow bars, and several of its tallest bars are on the same receptor types as the eel's. Beneath: no receptor type is the eel receptor; every one of them also responds to the harmless fish. A footnote says the numbers are invented to show the shape of the argument."/>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recognizing_by_pattern">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Two Ways to Recognize Something</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Pattern recognition</a:t>
            </a:r>
            <a:r>
              <a:rPr sz="2000" b="0" i="0">
                <a:solidFill>
                  <a:srgbClr val="222222"/>
                </a:solidFill>
                <a:latin typeface="Calibri"/>
              </a:rPr>
              <a:t> needs something between receptors and muscles: a </a:t>
            </a:r>
            <a:r>
              <a:rPr sz="2000" b="1" i="0">
                <a:solidFill>
                  <a:srgbClr val="222222"/>
                </a:solidFill>
                <a:latin typeface="Calibri"/>
              </a:rPr>
              <a:t>representation</a:t>
            </a:r>
            <a:r>
              <a:rPr sz="2000" b="0" i="0">
                <a:solidFill>
                  <a:srgbClr val="222222"/>
                </a:solidFill>
                <a:latin typeface="Calibri"/>
              </a:rPr>
              <a:t>, activity that stands for the eel whichever mixture produced it.</a:t>
            </a:r>
          </a:p>
        </p:txBody>
      </p:sp>
      <p:pic>
        <p:nvPicPr>
          <p:cNvPr id="4" name="img0" descr="Two panels. The left, headed a labeled line: the worm, shows a box labeled copper with an arrow to a single circle, one sensory neuron, and a bold arrow to a box labeled turn away; beneath it, the label is at the far end, in what the line connects to. The right, headed a pattern: the fish, shows eight receptor circles, some filled and some hollow, with lines from all of them converging on a box labeled a state that means eel, and a bold arrow on to a box labeled flee; beneath it, no single receptor can supply it, whichever mixture produced it. Across the bottom, a definition: representation, a pattern of activity that stands for something in the world, so that what the animal does next depends on what the pattern stands for."/>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telling_apart_treating_alik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Telling Apart, Treating Alike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Discrimination</a:t>
            </a:r>
            <a:r>
              <a:rPr sz="2000" b="0" i="0">
                <a:solidFill>
                  <a:srgbClr val="222222"/>
                </a:solidFill>
                <a:latin typeface="Calibri"/>
              </a:rPr>
              <a:t>: inputs calling for different responses must be told apart. </a:t>
            </a:r>
            <a:r>
              <a:rPr sz="2000" b="1" i="0">
                <a:solidFill>
                  <a:srgbClr val="222222"/>
                </a:solidFill>
                <a:latin typeface="Calibri"/>
              </a:rPr>
              <a:t>Generalization</a:t>
            </a:r>
            <a:r>
              <a:rPr sz="2000" b="0" i="0">
                <a:solidFill>
                  <a:srgbClr val="222222"/>
                </a:solidFill>
                <a:latin typeface="Calibri"/>
              </a:rPr>
              <a:t>: inputs calling for the same response must be treated alike.</a:t>
            </a:r>
          </a:p>
        </p:txBody>
      </p:sp>
      <p:pic>
        <p:nvPicPr>
          <p:cNvPr id="4" name="img0" descr="Three panels side by side, each with a pattern of eight receptor bars. The first, a large eel upstream, and the second, a small eel downstream, have filled bars in different patterns, each labeled flee. The third, a sucker, harmless, has hollow bars that share much of the eels' pattern and is labeled keep feeding. A solid bracket over the two eels reads generalization: treat alike, different mixtures, the same response. A dashed bracket under the small eel and the sucker reads discrimination: tell apart, much the same chemistry, different responses."/>
          <p:cNvPicPr>
            <a:picLocks noChangeAspect="1"/>
          </p:cNvPicPr>
          <p:nvPr/>
        </p:nvPicPr>
        <p:blipFill>
          <a:blip r:embed="rId3"/>
          <a:stretch>
            <a:fillRect/>
          </a:stretch>
        </p:blipFill>
        <p:spPr>
          <a:xfrm>
            <a:off x="100584" y="1783080"/>
            <a:ext cx="11988165" cy="481667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wo_demands_one_mapping">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Two Demands, One Mapping</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two demands push on the same inputs in opposite directions. Some differences have to come to count for more, and others for less.</a:t>
            </a:r>
          </a:p>
        </p:txBody>
      </p:sp>
      <p:pic>
        <p:nvPicPr>
          <p:cNvPr id="4" name="img0" descr="Three rows of eight receptor bars, labeled a large eel, a small eel, and the sucker, the sucker's bars hollow. Two receptor types, e and g, are shaded in all three rows. At the right, notes read: the shaded receptor types are where eel and sucker differ most; sharpen on them, and the sucker comes apart from the eel, but the large and small eel differ there too; widen what counts as eel, and every eel is caught, and so is the sucker. Across the bottom: neither more discrimination nor more generalization across the board will do. In bold: some differences have to come to count for more, and others for less."/>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how_alik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How Alike Does Something Have to Be?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generalization gradient</a:t>
            </a:r>
            <a:r>
              <a:rPr sz="2000" b="0" i="0">
                <a:solidFill>
                  <a:srgbClr val="222222"/>
                </a:solidFill>
                <a:latin typeface="Calibri"/>
              </a:rPr>
              <a:t> is a description of behavior: how strongly the trained response is given, as the test input differs more from the trained one.</a:t>
            </a:r>
          </a:p>
        </p:txBody>
      </p:sp>
      <p:pic>
        <p:nvPicPr>
          <p:cNvPr id="4" name="img0" descr="Two panels. The left, headed measured as behavior, plots pecks against how far the test color is from the trained one: a peaked curve, highest at the trained color and falling off steeply and smoothly on both sides, marked schematic, the shape, not real data. The right, headed closeness in physical units can mislead, shows a pitch axis with three tones: a little below, the trained tone, and, much farther along, an octave above. A short dashed bracket marks the tone below as closer. A bold curved arrow from the trained tone to the octave reads treated as more alike. Beneath: which differences matter has to be measured by watching what the animal does. Across the bottom: a generalization gradient describes what the animal does; nothing in it is about what happens inside."/>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four_outcome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Deciding Under Noise: Four Outcomes</a:t>
            </a:r>
          </a:p>
        </p:txBody>
      </p:sp>
      <p:graphicFrame>
        <p:nvGraphicFramePr>
          <p:cNvPr id="3" name="table"/>
          <p:cNvGraphicFramePr>
            <a:graphicFrameLocks noGrp="1"/>
          </p:cNvGraphicFramePr>
          <p:nvPr/>
        </p:nvGraphicFramePr>
        <p:xfrm>
          <a:off x="1280160" y="2103120"/>
          <a:ext cx="9628630" cy="2926080"/>
        </p:xfrm>
        <a:graphic>
          <a:graphicData uri="http://schemas.openxmlformats.org/drawingml/2006/table">
            <a:tbl>
              <a:tblPr>
                <a:tableStyleId>{5C22544A-7EE6-4342-B048-85BDC9FD1C3A}</a:tableStyleId>
              </a:tblPr>
              <a:tblGrid>
                <a:gridCol w="3273734">
                  <a:extLst>
                    <a:ext uri="{9D8B030D-6E8A-4147-A177-3AD203B41FA5}">
                      <a16:colId xmlns:a16="http://schemas.microsoft.com/office/drawing/2014/main" val="20000"/>
                    </a:ext>
                  </a:extLst>
                </a:gridCol>
                <a:gridCol w="3177448">
                  <a:extLst>
                    <a:ext uri="{9D8B030D-6E8A-4147-A177-3AD203B41FA5}">
                      <a16:colId xmlns:a16="http://schemas.microsoft.com/office/drawing/2014/main" val="20001"/>
                    </a:ext>
                  </a:extLst>
                </a:gridCol>
                <a:gridCol w="3177448">
                  <a:extLst>
                    <a:ext uri="{9D8B030D-6E8A-4147-A177-3AD203B41FA5}">
                      <a16:colId xmlns:a16="http://schemas.microsoft.com/office/drawing/2014/main" val="20002"/>
                    </a:ext>
                  </a:extLst>
                </a:gridCol>
              </a:tblGrid>
              <a:tr h="975360">
                <a:tc>
                  <a:txBody>
                    <a:bodyPr/>
                    <a:lstStyle/>
                    <a:p>
                      <a:endParaRPr/>
                    </a:p>
                  </a:txBody>
                  <a:tcPr marL="73152" marR="73152" marT="18288" marB="18288">
                    <a:solidFill>
                      <a:srgbClr val="FFFFFF"/>
                    </a:solidFill>
                  </a:tcPr>
                </a:tc>
                <a:tc>
                  <a:txBody>
                    <a:bodyPr/>
                    <a:lstStyle/>
                    <a:p>
                      <a:r>
                        <a:rPr sz="2600" b="1" i="0">
                          <a:solidFill>
                            <a:srgbClr val="1F2A44"/>
                          </a:solidFill>
                          <a:latin typeface="Calibri"/>
                        </a:rPr>
                        <a:t>The fish flees</a:t>
                      </a:r>
                    </a:p>
                  </a:txBody>
                  <a:tcPr marL="73152" marR="73152" marT="18288" marB="18288">
                    <a:solidFill>
                      <a:srgbClr val="FFFFFF"/>
                    </a:solidFill>
                  </a:tcPr>
                </a:tc>
                <a:tc>
                  <a:txBody>
                    <a:bodyPr/>
                    <a:lstStyle/>
                    <a:p>
                      <a:r>
                        <a:rPr sz="2600" b="1" i="0">
                          <a:solidFill>
                            <a:srgbClr val="1F2A44"/>
                          </a:solidFill>
                          <a:latin typeface="Calibri"/>
                        </a:rPr>
                        <a:t>The fish stays</a:t>
                      </a:r>
                    </a:p>
                  </a:txBody>
                  <a:tcPr marL="73152" marR="73152" marT="18288" marB="18288">
                    <a:solidFill>
                      <a:srgbClr val="FFFFFF"/>
                    </a:solidFill>
                  </a:tcPr>
                </a:tc>
                <a:extLst>
                  <a:ext uri="{0D108BD9-81ED-4DB2-BD59-A6C34878D82A}">
                    <a16:rowId xmlns:a16="http://schemas.microsoft.com/office/drawing/2014/main" val="10000"/>
                  </a:ext>
                </a:extLst>
              </a:tr>
              <a:tr h="975360">
                <a:tc>
                  <a:txBody>
                    <a:bodyPr/>
                    <a:lstStyle/>
                    <a:p>
                      <a:r>
                        <a:rPr sz="2600" b="0" i="0">
                          <a:solidFill>
                            <a:srgbClr val="222222"/>
                          </a:solidFill>
                          <a:latin typeface="Calibri"/>
                        </a:rPr>
                        <a:t>An eel is present</a:t>
                      </a:r>
                    </a:p>
                  </a:txBody>
                  <a:tcPr marL="73152" marR="73152" marT="18288" marB="18288">
                    <a:solidFill>
                      <a:srgbClr val="FFFFFF"/>
                    </a:solidFill>
                  </a:tcPr>
                </a:tc>
                <a:tc>
                  <a:txBody>
                    <a:bodyPr/>
                    <a:lstStyle/>
                    <a:p>
                      <a:r>
                        <a:rPr sz="2600" b="0" i="0">
                          <a:solidFill>
                            <a:srgbClr val="222222"/>
                          </a:solidFill>
                          <a:latin typeface="Calibri"/>
                        </a:rPr>
                        <a:t>Hit</a:t>
                      </a:r>
                    </a:p>
                  </a:txBody>
                  <a:tcPr marL="73152" marR="73152" marT="18288" marB="18288">
                    <a:solidFill>
                      <a:srgbClr val="FFFFFF"/>
                    </a:solidFill>
                  </a:tcPr>
                </a:tc>
                <a:tc>
                  <a:txBody>
                    <a:bodyPr/>
                    <a:lstStyle/>
                    <a:p>
                      <a:r>
                        <a:rPr sz="2600" b="0" i="0">
                          <a:solidFill>
                            <a:srgbClr val="222222"/>
                          </a:solidFill>
                          <a:latin typeface="Calibri"/>
                        </a:rPr>
                        <a:t>Miss</a:t>
                      </a:r>
                    </a:p>
                  </a:txBody>
                  <a:tcPr marL="73152" marR="73152" marT="18288" marB="18288">
                    <a:solidFill>
                      <a:srgbClr val="FFFFFF"/>
                    </a:solidFill>
                  </a:tcPr>
                </a:tc>
                <a:extLst>
                  <a:ext uri="{0D108BD9-81ED-4DB2-BD59-A6C34878D82A}">
                    <a16:rowId xmlns:a16="http://schemas.microsoft.com/office/drawing/2014/main" val="10001"/>
                  </a:ext>
                </a:extLst>
              </a:tr>
              <a:tr h="975360">
                <a:tc>
                  <a:txBody>
                    <a:bodyPr/>
                    <a:lstStyle/>
                    <a:p>
                      <a:r>
                        <a:rPr sz="2600" b="0" i="0">
                          <a:solidFill>
                            <a:srgbClr val="222222"/>
                          </a:solidFill>
                          <a:latin typeface="Calibri"/>
                        </a:rPr>
                        <a:t>No eel is present</a:t>
                      </a:r>
                    </a:p>
                  </a:txBody>
                  <a:tcPr marL="73152" marR="73152" marT="18288" marB="18288">
                    <a:solidFill>
                      <a:srgbClr val="FFFFFF"/>
                    </a:solidFill>
                  </a:tcPr>
                </a:tc>
                <a:tc>
                  <a:txBody>
                    <a:bodyPr/>
                    <a:lstStyle/>
                    <a:p>
                      <a:r>
                        <a:rPr sz="2600" b="0" i="0">
                          <a:solidFill>
                            <a:srgbClr val="222222"/>
                          </a:solidFill>
                          <a:latin typeface="Calibri"/>
                        </a:rPr>
                        <a:t>False alarm</a:t>
                      </a:r>
                    </a:p>
                  </a:txBody>
                  <a:tcPr marL="73152" marR="73152" marT="18288" marB="18288">
                    <a:solidFill>
                      <a:srgbClr val="FFFFFF"/>
                    </a:solidFill>
                  </a:tcPr>
                </a:tc>
                <a:tc>
                  <a:txBody>
                    <a:bodyPr/>
                    <a:lstStyle/>
                    <a:p>
                      <a:r>
                        <a:rPr sz="2600" b="0" i="0">
                          <a:solidFill>
                            <a:srgbClr val="222222"/>
                          </a:solidFill>
                          <a:latin typeface="Calibri"/>
                        </a:rPr>
                        <a:t>Correct rejection</a:t>
                      </a:r>
                    </a:p>
                  </a:txBody>
                  <a:tcPr marL="73152" marR="73152" marT="18288" marB="18288">
                    <a:solidFill>
                      <a:srgbClr val="FFFFFF"/>
                    </a:solidFill>
                  </a:tcPr>
                </a:tc>
                <a:extLst>
                  <a:ext uri="{0D108BD9-81ED-4DB2-BD59-A6C34878D82A}">
                    <a16:rowId xmlns:a16="http://schemas.microsoft.com/office/drawing/2014/main" val="10002"/>
                  </a:ext>
                </a:extLst>
              </a:tr>
            </a:tbl>
          </a:graphicData>
        </a:graphic>
      </p:graphicFrame>
      <p:sp>
        <p:nvSpPr>
          <p:cNvPr id="4" name="body_box"/>
          <p:cNvSpPr txBox="1"/>
          <p:nvPr/>
        </p:nvSpPr>
        <p:spPr>
          <a:xfrm>
            <a:off x="109728" y="932688"/>
            <a:ext cx="11987784" cy="1078991"/>
          </a:xfrm>
          <a:prstGeom prst="rect">
            <a:avLst/>
          </a:prstGeom>
          <a:noFill/>
        </p:spPr>
        <p:txBody>
          <a:bodyPr wrap="square">
            <a:spAutoFit/>
          </a:bodyPr>
          <a:lstStyle/>
          <a:p>
            <a:r>
              <a:rPr sz="2000" b="1" i="0">
                <a:solidFill>
                  <a:srgbClr val="222222"/>
                </a:solidFill>
                <a:latin typeface="Calibri"/>
              </a:rPr>
              <a:t>Signal detection theory</a:t>
            </a:r>
            <a:r>
              <a:rPr sz="2000" b="0" i="0">
                <a:solidFill>
                  <a:srgbClr val="222222"/>
                </a:solidFill>
                <a:latin typeface="Calibri"/>
              </a:rPr>
              <a:t>: every detection decision is a </a:t>
            </a:r>
            <a:r>
              <a:rPr sz="2000" b="1" i="0">
                <a:solidFill>
                  <a:srgbClr val="222222"/>
                </a:solidFill>
                <a:latin typeface="Calibri"/>
              </a:rPr>
              <a:t>hit</a:t>
            </a:r>
            <a:r>
              <a:rPr sz="2000" b="0" i="0">
                <a:solidFill>
                  <a:srgbClr val="222222"/>
                </a:solidFill>
                <a:latin typeface="Calibri"/>
              </a:rPr>
              <a:t>, a </a:t>
            </a:r>
            <a:r>
              <a:rPr sz="2000" b="1" i="0">
                <a:solidFill>
                  <a:srgbClr val="222222"/>
                </a:solidFill>
                <a:latin typeface="Calibri"/>
              </a:rPr>
              <a:t>miss</a:t>
            </a:r>
            <a:r>
              <a:rPr sz="2000" b="0" i="0">
                <a:solidFill>
                  <a:srgbClr val="222222"/>
                </a:solidFill>
                <a:latin typeface="Calibri"/>
              </a:rPr>
              <a:t>, a </a:t>
            </a:r>
            <a:r>
              <a:rPr sz="2000" b="1" i="0">
                <a:solidFill>
                  <a:srgbClr val="222222"/>
                </a:solidFill>
                <a:latin typeface="Calibri"/>
              </a:rPr>
              <a:t>false alarm</a:t>
            </a:r>
            <a:r>
              <a:rPr sz="2000" b="0" i="0">
                <a:solidFill>
                  <a:srgbClr val="222222"/>
                </a:solidFill>
                <a:latin typeface="Calibri"/>
              </a:rPr>
              <a:t>, or a </a:t>
            </a:r>
            <a:r>
              <a:rPr sz="2000" b="1" i="0">
                <a:solidFill>
                  <a:srgbClr val="222222"/>
                </a:solidFill>
                <a:latin typeface="Calibri"/>
              </a:rPr>
              <a:t>correct rejection</a:t>
            </a:r>
            <a:r>
              <a:rPr sz="2000" b="0" i="0">
                <a:solidFill>
                  <a:srgbClr val="222222"/>
                </a:solidFill>
                <a:latin typeface="Calibri"/>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ensitivity_and_criterion">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Two Quantities, Not One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Sensitivity</a:t>
            </a:r>
            <a:r>
              <a:rPr sz="2000" b="0" i="0">
                <a:solidFill>
                  <a:srgbClr val="222222"/>
                </a:solidFill>
                <a:latin typeface="Calibri"/>
              </a:rPr>
              <a:t>: how far apart the two distributions lie (</a:t>
            </a:r>
            <a:r>
              <a:rPr sz="2000" b="0" i="1">
                <a:solidFill>
                  <a:srgbClr val="222222"/>
                </a:solidFill>
                <a:latin typeface="Calibri"/>
              </a:rPr>
              <a:t>d′</a:t>
            </a:r>
            <a:r>
              <a:rPr sz="2000" b="0" i="0">
                <a:solidFill>
                  <a:srgbClr val="222222"/>
                </a:solidFill>
                <a:latin typeface="Calibri"/>
              </a:rPr>
              <a:t>). </a:t>
            </a:r>
            <a:r>
              <a:rPr sz="2000" b="1" i="0">
                <a:solidFill>
                  <a:srgbClr val="222222"/>
                </a:solidFill>
                <a:latin typeface="Calibri"/>
              </a:rPr>
              <a:t>Criterion</a:t>
            </a:r>
            <a:r>
              <a:rPr sz="2000" b="0" i="0">
                <a:solidFill>
                  <a:srgbClr val="222222"/>
                </a:solidFill>
                <a:latin typeface="Calibri"/>
              </a:rPr>
              <a:t>: where the line is drawn. Moving the criterion never changes sensitivity.</a:t>
            </a:r>
          </a:p>
        </p:txBody>
      </p:sp>
      <p:pic>
        <p:nvPicPr>
          <p:cNvPr id="4" name="img0" descr="A horizontal axis labeled strength of evidence for eel. Two bell curves of the same width sit on it, the left one dashed and labeled no eel, the right one solid and labeled eel, overlapping in the middle. The gap between their centers is marked d-prime, sensitivity. Two vertical dashed lines cross both curves: criterion one near the middle and criterion two further left. Under the eel curve, the area to the right of criterion one is shaded and labeled hits; under the no-eel curve, the area to the right of the same line is hatched and labeled false alarms. A note reads: criterion two, more hits, more false alarms, same d-prime."/>
          <p:cNvPicPr>
            <a:picLocks noChangeAspect="1"/>
          </p:cNvPicPr>
          <p:nvPr/>
        </p:nvPicPr>
        <p:blipFill>
          <a:blip r:embed="rId3"/>
          <a:stretch>
            <a:fillRect/>
          </a:stretch>
        </p:blipFill>
        <p:spPr>
          <a:xfrm>
            <a:off x="155448" y="1874519"/>
            <a:ext cx="11886438" cy="46920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where_the_line_should_go">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Where Should the Criterion Go?</a:t>
            </a:r>
          </a:p>
        </p:txBody>
      </p:sp>
      <p:graphicFrame>
        <p:nvGraphicFramePr>
          <p:cNvPr id="3" name="table"/>
          <p:cNvGraphicFramePr>
            <a:graphicFrameLocks noGrp="1"/>
          </p:cNvGraphicFramePr>
          <p:nvPr/>
        </p:nvGraphicFramePr>
        <p:xfrm>
          <a:off x="274320" y="1874519"/>
          <a:ext cx="11640311" cy="4389120"/>
        </p:xfrm>
        <a:graphic>
          <a:graphicData uri="http://schemas.openxmlformats.org/drawingml/2006/table">
            <a:tbl>
              <a:tblPr>
                <a:tableStyleId>{5C22544A-7EE6-4342-B048-85BDC9FD1C3A}</a:tableStyleId>
              </a:tblPr>
              <a:tblGrid>
                <a:gridCol w="2095256">
                  <a:extLst>
                    <a:ext uri="{9D8B030D-6E8A-4147-A177-3AD203B41FA5}">
                      <a16:colId xmlns:a16="http://schemas.microsoft.com/office/drawing/2014/main" val="20000"/>
                    </a:ext>
                  </a:extLst>
                </a:gridCol>
                <a:gridCol w="5820156">
                  <a:extLst>
                    <a:ext uri="{9D8B030D-6E8A-4147-A177-3AD203B41FA5}">
                      <a16:colId xmlns:a16="http://schemas.microsoft.com/office/drawing/2014/main" val="20001"/>
                    </a:ext>
                  </a:extLst>
                </a:gridCol>
                <a:gridCol w="3724899">
                  <a:extLst>
                    <a:ext uri="{9D8B030D-6E8A-4147-A177-3AD203B41FA5}">
                      <a16:colId xmlns:a16="http://schemas.microsoft.com/office/drawing/2014/main" val="20002"/>
                    </a:ext>
                  </a:extLst>
                </a:gridCol>
              </a:tblGrid>
              <a:tr h="877824">
                <a:tc>
                  <a:txBody>
                    <a:bodyPr/>
                    <a:lstStyle/>
                    <a:p>
                      <a:r>
                        <a:rPr sz="1900" b="1" i="0">
                          <a:solidFill>
                            <a:srgbClr val="1F2A44"/>
                          </a:solidFill>
                          <a:latin typeface="Calibri"/>
                        </a:rPr>
                        <a:t>Case</a:t>
                      </a:r>
                    </a:p>
                  </a:txBody>
                  <a:tcPr marL="73152" marR="73152" marT="18288" marB="18288">
                    <a:solidFill>
                      <a:srgbClr val="FFFFFF"/>
                    </a:solidFill>
                  </a:tcPr>
                </a:tc>
                <a:tc>
                  <a:txBody>
                    <a:bodyPr/>
                    <a:lstStyle/>
                    <a:p>
                      <a:r>
                        <a:rPr sz="1900" b="1" i="0">
                          <a:solidFill>
                            <a:srgbClr val="1F2A44"/>
                          </a:solidFill>
                          <a:latin typeface="Calibri"/>
                        </a:rPr>
                        <a:t>What each error costs</a:t>
                      </a:r>
                    </a:p>
                  </a:txBody>
                  <a:tcPr marL="73152" marR="73152" marT="18288" marB="18288">
                    <a:solidFill>
                      <a:srgbClr val="FFFFFF"/>
                    </a:solidFill>
                  </a:tcPr>
                </a:tc>
                <a:tc>
                  <a:txBody>
                    <a:bodyPr/>
                    <a:lstStyle/>
                    <a:p>
                      <a:r>
                        <a:rPr sz="1900" b="1" i="0">
                          <a:solidFill>
                            <a:srgbClr val="1F2A44"/>
                          </a:solidFill>
                          <a:latin typeface="Calibri"/>
                        </a:rPr>
                        <a:t>Best criterion</a:t>
                      </a:r>
                    </a:p>
                  </a:txBody>
                  <a:tcPr marL="73152" marR="73152" marT="18288" marB="18288">
                    <a:solidFill>
                      <a:srgbClr val="FFFFFF"/>
                    </a:solidFill>
                  </a:tcPr>
                </a:tc>
                <a:extLst>
                  <a:ext uri="{0D108BD9-81ED-4DB2-BD59-A6C34878D82A}">
                    <a16:rowId xmlns:a16="http://schemas.microsoft.com/office/drawing/2014/main" val="10000"/>
                  </a:ext>
                </a:extLst>
              </a:tr>
              <a:tr h="877824">
                <a:tc>
                  <a:txBody>
                    <a:bodyPr/>
                    <a:lstStyle/>
                    <a:p>
                      <a:r>
                        <a:rPr sz="1800" b="0" i="0">
                          <a:solidFill>
                            <a:srgbClr val="222222"/>
                          </a:solidFill>
                          <a:latin typeface="Calibri"/>
                        </a:rPr>
                        <a:t>The small fish</a:t>
                      </a:r>
                    </a:p>
                  </a:txBody>
                  <a:tcPr marL="73152" marR="73152" marT="18288" marB="18288">
                    <a:solidFill>
                      <a:srgbClr val="FFFFFF"/>
                    </a:solidFill>
                  </a:tcPr>
                </a:tc>
                <a:tc>
                  <a:txBody>
                    <a:bodyPr/>
                    <a:lstStyle/>
                    <a:p>
                      <a:r>
                        <a:rPr sz="1800" b="0" i="0">
                          <a:solidFill>
                            <a:srgbClr val="222222"/>
                          </a:solidFill>
                          <a:latin typeface="Calibri"/>
                        </a:rPr>
                        <a:t>A miss may end its life; a false alarm loses a few minutes of feeding</a:t>
                      </a:r>
                    </a:p>
                  </a:txBody>
                  <a:tcPr marL="73152" marR="73152" marT="18288" marB="18288">
                    <a:solidFill>
                      <a:srgbClr val="FFFFFF"/>
                    </a:solidFill>
                  </a:tcPr>
                </a:tc>
                <a:tc>
                  <a:txBody>
                    <a:bodyPr/>
                    <a:lstStyle/>
                    <a:p>
                      <a:r>
                        <a:rPr sz="1800" b="0" i="0">
                          <a:solidFill>
                            <a:srgbClr val="222222"/>
                          </a:solidFill>
                          <a:latin typeface="Calibri"/>
                        </a:rPr>
                        <a:t>Liberal</a:t>
                      </a:r>
                    </a:p>
                  </a:txBody>
                  <a:tcPr marL="73152" marR="73152" marT="18288" marB="18288">
                    <a:solidFill>
                      <a:srgbClr val="FFFFFF"/>
                    </a:solidFill>
                  </a:tcPr>
                </a:tc>
                <a:extLst>
                  <a:ext uri="{0D108BD9-81ED-4DB2-BD59-A6C34878D82A}">
                    <a16:rowId xmlns:a16="http://schemas.microsoft.com/office/drawing/2014/main" val="10001"/>
                  </a:ext>
                </a:extLst>
              </a:tr>
              <a:tr h="877824">
                <a:tc>
                  <a:txBody>
                    <a:bodyPr/>
                    <a:lstStyle/>
                    <a:p>
                      <a:r>
                        <a:rPr sz="1800" b="0" i="0">
                          <a:solidFill>
                            <a:srgbClr val="222222"/>
                          </a:solidFill>
                          <a:latin typeface="Calibri"/>
                        </a:rPr>
                        <a:t>Rare targets</a:t>
                      </a:r>
                    </a:p>
                  </a:txBody>
                  <a:tcPr marL="73152" marR="73152" marT="18288" marB="18288">
                    <a:solidFill>
                      <a:srgbClr val="FFFFFF"/>
                    </a:solidFill>
                  </a:tcPr>
                </a:tc>
                <a:tc>
                  <a:txBody>
                    <a:bodyPr/>
                    <a:lstStyle/>
                    <a:p>
                      <a:r>
                        <a:rPr sz="1800" b="0" i="0">
                          <a:solidFill>
                            <a:srgbClr val="222222"/>
                          </a:solidFill>
                          <a:latin typeface="Calibri"/>
                        </a:rPr>
                        <a:t>False alarms lose a great deal</a:t>
                      </a:r>
                    </a:p>
                  </a:txBody>
                  <a:tcPr marL="73152" marR="73152" marT="18288" marB="18288">
                    <a:solidFill>
                      <a:srgbClr val="FFFFFF"/>
                    </a:solidFill>
                  </a:tcPr>
                </a:tc>
                <a:tc>
                  <a:txBody>
                    <a:bodyPr/>
                    <a:lstStyle/>
                    <a:p>
                      <a:r>
                        <a:rPr sz="1800" b="0" i="0">
                          <a:solidFill>
                            <a:srgbClr val="222222"/>
                          </a:solidFill>
                          <a:latin typeface="Calibri"/>
                        </a:rPr>
                        <a:t>Conservative</a:t>
                      </a:r>
                    </a:p>
                  </a:txBody>
                  <a:tcPr marL="73152" marR="73152" marT="18288" marB="18288">
                    <a:solidFill>
                      <a:srgbClr val="FFFFFF"/>
                    </a:solidFill>
                  </a:tcPr>
                </a:tc>
                <a:extLst>
                  <a:ext uri="{0D108BD9-81ED-4DB2-BD59-A6C34878D82A}">
                    <a16:rowId xmlns:a16="http://schemas.microsoft.com/office/drawing/2014/main" val="10002"/>
                  </a:ext>
                </a:extLst>
              </a:tr>
              <a:tr h="877824">
                <a:tc>
                  <a:txBody>
                    <a:bodyPr/>
                    <a:lstStyle/>
                    <a:p>
                      <a:r>
                        <a:rPr sz="1800" b="0" i="0">
                          <a:solidFill>
                            <a:srgbClr val="222222"/>
                          </a:solidFill>
                          <a:latin typeface="Calibri"/>
                        </a:rPr>
                        <a:t>A worked example</a:t>
                      </a:r>
                    </a:p>
                  </a:txBody>
                  <a:tcPr marL="73152" marR="73152" marT="18288" marB="18288">
                    <a:solidFill>
                      <a:srgbClr val="FFFFFF"/>
                    </a:solidFill>
                  </a:tcPr>
                </a:tc>
                <a:tc>
                  <a:txBody>
                    <a:bodyPr/>
                    <a:lstStyle/>
                    <a:p>
                      <a:r>
                        <a:rPr sz="1800" b="0" i="0">
                          <a:solidFill>
                            <a:srgbClr val="222222"/>
                          </a:solidFill>
                          <a:latin typeface="Calibri"/>
                        </a:rPr>
                        <a:t>A false alarm loses 15 points; a miss loses 1</a:t>
                      </a:r>
                    </a:p>
                  </a:txBody>
                  <a:tcPr marL="73152" marR="73152" marT="18288" marB="18288">
                    <a:solidFill>
                      <a:srgbClr val="FFFFFF"/>
                    </a:solidFill>
                  </a:tcPr>
                </a:tc>
                <a:tc>
                  <a:txBody>
                    <a:bodyPr/>
                    <a:lstStyle/>
                    <a:p>
                      <a:r>
                        <a:rPr sz="1800" b="0" i="0">
                          <a:solidFill>
                            <a:srgbClr val="222222"/>
                          </a:solidFill>
                          <a:latin typeface="Calibri"/>
                        </a:rPr>
                        <a:t>Conservative: accuracy peaks at neutral, but points peak here</a:t>
                      </a:r>
                    </a:p>
                  </a:txBody>
                  <a:tcPr marL="73152" marR="73152" marT="18288" marB="18288">
                    <a:solidFill>
                      <a:srgbClr val="FFFFFF"/>
                    </a:solidFill>
                  </a:tcPr>
                </a:tc>
                <a:extLst>
                  <a:ext uri="{0D108BD9-81ED-4DB2-BD59-A6C34878D82A}">
                    <a16:rowId xmlns:a16="http://schemas.microsoft.com/office/drawing/2014/main" val="10003"/>
                  </a:ext>
                </a:extLst>
              </a:tr>
              <a:tr h="877824">
                <a:tc>
                  <a:txBody>
                    <a:bodyPr/>
                    <a:lstStyle/>
                    <a:p>
                      <a:r>
                        <a:rPr sz="1800" b="0" i="0">
                          <a:solidFill>
                            <a:srgbClr val="222222"/>
                          </a:solidFill>
                          <a:latin typeface="Calibri"/>
                        </a:rPr>
                        <a:t>A dim room</a:t>
                      </a:r>
                    </a:p>
                  </a:txBody>
                  <a:tcPr marL="73152" marR="73152" marT="18288" marB="18288">
                    <a:solidFill>
                      <a:srgbClr val="FFFFFF"/>
                    </a:solidFill>
                  </a:tcPr>
                </a:tc>
                <a:tc>
                  <a:txBody>
                    <a:bodyPr/>
                    <a:lstStyle/>
                    <a:p>
                      <a:r>
                        <a:rPr sz="1800" b="0" i="0">
                          <a:solidFill>
                            <a:srgbClr val="222222"/>
                          </a:solidFill>
                          <a:latin typeface="Calibri"/>
                        </a:rPr>
                        <a:t>Sensitivity is poorer</a:t>
                      </a:r>
                    </a:p>
                  </a:txBody>
                  <a:tcPr marL="73152" marR="73152" marT="18288" marB="18288">
                    <a:solidFill>
                      <a:srgbClr val="FFFFFF"/>
                    </a:solidFill>
                  </a:tcPr>
                </a:tc>
                <a:tc>
                  <a:txBody>
                    <a:bodyPr/>
                    <a:lstStyle/>
                    <a:p>
                      <a:r>
                        <a:rPr sz="1800" b="0" i="0">
                          <a:solidFill>
                            <a:srgbClr val="222222"/>
                          </a:solidFill>
                          <a:latin typeface="Calibri"/>
                        </a:rPr>
                        <a:t>More extreme in the same direction</a:t>
                      </a:r>
                    </a:p>
                  </a:txBody>
                  <a:tcPr marL="73152" marR="73152" marT="18288" marB="18288">
                    <a:solidFill>
                      <a:srgbClr val="FFFFFF"/>
                    </a:solidFill>
                  </a:tcPr>
                </a:tc>
                <a:extLst>
                  <a:ext uri="{0D108BD9-81ED-4DB2-BD59-A6C34878D82A}">
                    <a16:rowId xmlns:a16="http://schemas.microsoft.com/office/drawing/2014/main" val="10004"/>
                  </a:ext>
                </a:extLst>
              </a:tr>
            </a:tbl>
          </a:graphicData>
        </a:graphic>
      </p:graphicFrame>
      <p:sp>
        <p:nvSpPr>
          <p:cNvPr id="4" name="body_box"/>
          <p:cNvSpPr txBox="1"/>
          <p:nvPr/>
        </p:nvSpPr>
        <p:spPr>
          <a:xfrm>
            <a:off x="109728" y="932688"/>
            <a:ext cx="11987784" cy="850391"/>
          </a:xfrm>
          <a:prstGeom prst="rect">
            <a:avLst/>
          </a:prstGeom>
          <a:noFill/>
        </p:spPr>
        <p:txBody>
          <a:bodyPr wrap="square">
            <a:spAutoFit/>
          </a:bodyPr>
          <a:lstStyle/>
          <a:p>
            <a:r>
              <a:rPr sz="2000" b="0" i="0">
                <a:solidFill>
                  <a:srgbClr val="222222"/>
                </a:solidFill>
                <a:latin typeface="Calibri"/>
              </a:rPr>
              <a:t>It depends on what each outcome gains or loses, and on how common targets are. Accuracy is the wrong measure when the two errors cost different amounts.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categories_have_structur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Categories Have Structure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category</a:t>
            </a:r>
            <a:r>
              <a:rPr sz="2000" b="0" i="0">
                <a:solidFill>
                  <a:srgbClr val="222222"/>
                </a:solidFill>
                <a:latin typeface="Calibri"/>
              </a:rPr>
              <a:t> is a set of things treated as the same kind, for some purpose. </a:t>
            </a:r>
            <a:r>
              <a:rPr sz="2000" b="1" i="0">
                <a:solidFill>
                  <a:srgbClr val="222222"/>
                </a:solidFill>
                <a:latin typeface="Calibri"/>
              </a:rPr>
              <a:t>Typicality</a:t>
            </a:r>
            <a:r>
              <a:rPr sz="2000" b="0" i="0">
                <a:solidFill>
                  <a:srgbClr val="222222"/>
                </a:solidFill>
                <a:latin typeface="Calibri"/>
              </a:rPr>
              <a:t>: some members are better examples than others.</a:t>
            </a:r>
          </a:p>
        </p:txBody>
      </p:sp>
      <p:pic>
        <p:nvPicPr>
          <p:cNvPr id="4" name="img0" descr="Top panel, headed how good an example of a bird: a scale from 1, a very good example, to 7, a very poor example, with three marks: robin at 1.02, penguin at 4.53, and bat at 6.15, labeled not a bird. Bottom left, headed family resemblance: one member shares some features with a second, the second shares others with a third, and nothing runs through the whole set; the most typical share most with their own kind. Bottom right, headed not held together by resemblance: built around a goal, things to take out of a burning house; defined by a relation, a predator, by what it does to other animals. A footnote reads: ratings from 209 students; different groups agreed closely."/>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only_combinations_matter">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When Only Combinations Matter</a:t>
            </a:r>
          </a:p>
        </p:txBody>
      </p:sp>
      <p:graphicFrame>
        <p:nvGraphicFramePr>
          <p:cNvPr id="3" name="table"/>
          <p:cNvGraphicFramePr>
            <a:graphicFrameLocks noGrp="1"/>
          </p:cNvGraphicFramePr>
          <p:nvPr/>
        </p:nvGraphicFramePr>
        <p:xfrm>
          <a:off x="1280160" y="2103120"/>
          <a:ext cx="9628630" cy="2926080"/>
        </p:xfrm>
        <a:graphic>
          <a:graphicData uri="http://schemas.openxmlformats.org/drawingml/2006/table">
            <a:tbl>
              <a:tblPr>
                <a:tableStyleId>{5C22544A-7EE6-4342-B048-85BDC9FD1C3A}</a:tableStyleId>
              </a:tblPr>
              <a:tblGrid>
                <a:gridCol w="3273734">
                  <a:extLst>
                    <a:ext uri="{9D8B030D-6E8A-4147-A177-3AD203B41FA5}">
                      <a16:colId xmlns:a16="http://schemas.microsoft.com/office/drawing/2014/main" val="20000"/>
                    </a:ext>
                  </a:extLst>
                </a:gridCol>
                <a:gridCol w="3177448">
                  <a:extLst>
                    <a:ext uri="{9D8B030D-6E8A-4147-A177-3AD203B41FA5}">
                      <a16:colId xmlns:a16="http://schemas.microsoft.com/office/drawing/2014/main" val="20001"/>
                    </a:ext>
                  </a:extLst>
                </a:gridCol>
                <a:gridCol w="3177448">
                  <a:extLst>
                    <a:ext uri="{9D8B030D-6E8A-4147-A177-3AD203B41FA5}">
                      <a16:colId xmlns:a16="http://schemas.microsoft.com/office/drawing/2014/main" val="20002"/>
                    </a:ext>
                  </a:extLst>
                </a:gridCol>
              </a:tblGrid>
              <a:tr h="975360">
                <a:tc>
                  <a:txBody>
                    <a:bodyPr/>
                    <a:lstStyle/>
                    <a:p>
                      <a:endParaRPr/>
                    </a:p>
                  </a:txBody>
                  <a:tcPr marL="73152" marR="73152" marT="18288" marB="18288">
                    <a:solidFill>
                      <a:srgbClr val="FFFFFF"/>
                    </a:solidFill>
                  </a:tcPr>
                </a:tc>
                <a:tc>
                  <a:txBody>
                    <a:bodyPr/>
                    <a:lstStyle/>
                    <a:p>
                      <a:r>
                        <a:rPr sz="2600" b="1" i="0">
                          <a:solidFill>
                            <a:srgbClr val="1F2A44"/>
                          </a:solidFill>
                          <a:latin typeface="Calibri"/>
                        </a:rPr>
                        <a:t>Smell B absent</a:t>
                      </a:r>
                    </a:p>
                  </a:txBody>
                  <a:tcPr marL="73152" marR="73152" marT="18288" marB="18288">
                    <a:solidFill>
                      <a:srgbClr val="FFFFFF"/>
                    </a:solidFill>
                  </a:tcPr>
                </a:tc>
                <a:tc>
                  <a:txBody>
                    <a:bodyPr/>
                    <a:lstStyle/>
                    <a:p>
                      <a:r>
                        <a:rPr sz="2600" b="1" i="0">
                          <a:solidFill>
                            <a:srgbClr val="1F2A44"/>
                          </a:solidFill>
                          <a:latin typeface="Calibri"/>
                        </a:rPr>
                        <a:t>Smell B present</a:t>
                      </a:r>
                    </a:p>
                  </a:txBody>
                  <a:tcPr marL="73152" marR="73152" marT="18288" marB="18288">
                    <a:solidFill>
                      <a:srgbClr val="FFFFFF"/>
                    </a:solidFill>
                  </a:tcPr>
                </a:tc>
                <a:extLst>
                  <a:ext uri="{0D108BD9-81ED-4DB2-BD59-A6C34878D82A}">
                    <a16:rowId xmlns:a16="http://schemas.microsoft.com/office/drawing/2014/main" val="10000"/>
                  </a:ext>
                </a:extLst>
              </a:tr>
              <a:tr h="975360">
                <a:tc>
                  <a:txBody>
                    <a:bodyPr/>
                    <a:lstStyle/>
                    <a:p>
                      <a:r>
                        <a:rPr sz="2600" b="0" i="0">
                          <a:solidFill>
                            <a:srgbClr val="222222"/>
                          </a:solidFill>
                          <a:latin typeface="Calibri"/>
                        </a:rPr>
                        <a:t>Smell A absent</a:t>
                      </a:r>
                    </a:p>
                  </a:txBody>
                  <a:tcPr marL="73152" marR="73152" marT="18288" marB="18288">
                    <a:solidFill>
                      <a:srgbClr val="FFFFFF"/>
                    </a:solidFill>
                  </a:tcPr>
                </a:tc>
                <a:tc>
                  <a:txBody>
                    <a:bodyPr/>
                    <a:lstStyle/>
                    <a:p>
                      <a:r>
                        <a:rPr sz="2600" b="0" i="0">
                          <a:solidFill>
                            <a:srgbClr val="222222"/>
                          </a:solidFill>
                          <a:latin typeface="Calibri"/>
                        </a:rPr>
                        <a:t>No fruit</a:t>
                      </a:r>
                    </a:p>
                  </a:txBody>
                  <a:tcPr marL="73152" marR="73152" marT="18288" marB="18288">
                    <a:solidFill>
                      <a:srgbClr val="FFFFFF"/>
                    </a:solidFill>
                  </a:tcPr>
                </a:tc>
                <a:tc>
                  <a:txBody>
                    <a:bodyPr/>
                    <a:lstStyle/>
                    <a:p>
                      <a:r>
                        <a:rPr sz="2600" b="0" i="0">
                          <a:solidFill>
                            <a:srgbClr val="222222"/>
                          </a:solidFill>
                          <a:latin typeface="Calibri"/>
                        </a:rPr>
                        <a:t>Ripe fruit</a:t>
                      </a:r>
                    </a:p>
                  </a:txBody>
                  <a:tcPr marL="73152" marR="73152" marT="18288" marB="18288">
                    <a:solidFill>
                      <a:srgbClr val="FFFFFF"/>
                    </a:solidFill>
                  </a:tcPr>
                </a:tc>
                <a:extLst>
                  <a:ext uri="{0D108BD9-81ED-4DB2-BD59-A6C34878D82A}">
                    <a16:rowId xmlns:a16="http://schemas.microsoft.com/office/drawing/2014/main" val="10001"/>
                  </a:ext>
                </a:extLst>
              </a:tr>
              <a:tr h="975360">
                <a:tc>
                  <a:txBody>
                    <a:bodyPr/>
                    <a:lstStyle/>
                    <a:p>
                      <a:r>
                        <a:rPr sz="2600" b="0" i="0">
                          <a:solidFill>
                            <a:srgbClr val="222222"/>
                          </a:solidFill>
                          <a:latin typeface="Calibri"/>
                        </a:rPr>
                        <a:t>Smell A present</a:t>
                      </a:r>
                    </a:p>
                  </a:txBody>
                  <a:tcPr marL="73152" marR="73152" marT="18288" marB="18288">
                    <a:solidFill>
                      <a:srgbClr val="FFFFFF"/>
                    </a:solidFill>
                  </a:tcPr>
                </a:tc>
                <a:tc>
                  <a:txBody>
                    <a:bodyPr/>
                    <a:lstStyle/>
                    <a:p>
                      <a:r>
                        <a:rPr sz="2600" b="0" i="0">
                          <a:solidFill>
                            <a:srgbClr val="222222"/>
                          </a:solidFill>
                          <a:latin typeface="Calibri"/>
                        </a:rPr>
                        <a:t>Ripe fruit</a:t>
                      </a:r>
                    </a:p>
                  </a:txBody>
                  <a:tcPr marL="73152" marR="73152" marT="18288" marB="18288">
                    <a:solidFill>
                      <a:srgbClr val="FFFFFF"/>
                    </a:solidFill>
                  </a:tcPr>
                </a:tc>
                <a:tc>
                  <a:txBody>
                    <a:bodyPr/>
                    <a:lstStyle/>
                    <a:p>
                      <a:r>
                        <a:rPr sz="2600" b="0" i="0">
                          <a:solidFill>
                            <a:srgbClr val="222222"/>
                          </a:solidFill>
                          <a:latin typeface="Calibri"/>
                        </a:rPr>
                        <a:t>Rotting fruit</a:t>
                      </a:r>
                    </a:p>
                  </a:txBody>
                  <a:tcPr marL="73152" marR="73152" marT="18288" marB="18288">
                    <a:solidFill>
                      <a:srgbClr val="FFFFFF"/>
                    </a:solidFill>
                  </a:tcPr>
                </a:tc>
                <a:extLst>
                  <a:ext uri="{0D108BD9-81ED-4DB2-BD59-A6C34878D82A}">
                    <a16:rowId xmlns:a16="http://schemas.microsoft.com/office/drawing/2014/main" val="10002"/>
                  </a:ext>
                </a:extLst>
              </a:tr>
            </a:tbl>
          </a:graphicData>
        </a:graphic>
      </p:graphicFrame>
      <p:sp>
        <p:nvSpPr>
          <p:cNvPr id="4" name="body_box"/>
          <p:cNvSpPr txBox="1"/>
          <p:nvPr/>
        </p:nvSpPr>
        <p:spPr>
          <a:xfrm>
            <a:off x="109728" y="932688"/>
            <a:ext cx="11987784" cy="1078991"/>
          </a:xfrm>
          <a:prstGeom prst="rect">
            <a:avLst/>
          </a:prstGeom>
          <a:noFill/>
        </p:spPr>
        <p:txBody>
          <a:bodyPr wrap="square">
            <a:spAutoFit/>
          </a:bodyPr>
          <a:lstStyle/>
          <a:p>
            <a:r>
              <a:rPr sz="2000" b="0" i="0">
                <a:solidFill>
                  <a:srgbClr val="222222"/>
                </a:solidFill>
                <a:latin typeface="Calibri"/>
              </a:rPr>
              <a:t>For some categories, no single input carries any information. The fruit-eater’s rule is </a:t>
            </a:r>
            <a:r>
              <a:rPr sz="2000" b="0" i="1">
                <a:solidFill>
                  <a:srgbClr val="222222"/>
                </a:solidFill>
                <a:latin typeface="Calibri"/>
              </a:rPr>
              <a:t>exclusive or</a:t>
            </a:r>
            <a:r>
              <a:rPr sz="2000" b="0" i="0">
                <a:solidFill>
                  <a:srgbClr val="222222"/>
                </a:solidFill>
                <a:latin typeface="Calibri"/>
              </a:rPr>
              <a:t> (XOR): one smell or the other, but not both.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the_hardest_case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3900" b="1" i="0">
                <a:solidFill>
                  <a:srgbClr val="1F2A44"/>
                </a:solidFill>
                <a:latin typeface="Calibri"/>
              </a:rPr>
              <a:t>The Hardest Cases: Invariance, and Learning in Sequence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Invariance</a:t>
            </a:r>
            <a:r>
              <a:rPr sz="2000" b="0" i="0">
                <a:solidFill>
                  <a:srgbClr val="222222"/>
                </a:solidFill>
                <a:latin typeface="Calibri"/>
              </a:rPr>
              <a:t>: recognizing one thing across changes that leave its inputs barely overlapping. And new learning has to add to old without overwriting it.</a:t>
            </a:r>
          </a:p>
        </p:txBody>
      </p:sp>
      <p:pic>
        <p:nvPicPr>
          <p:cNvPr id="4" name="img0" descr="Two panels. The left, headed one thing, inputs that barely overlap, shows three rows of receptor bars: an eel close by, with tall filled bars; the same eel far away, with the same pattern shrunk to small bars; and the sucker, with hollow bars of middling height. Beneath: the two eel smells can differ from each other more than either differs from the sucker's; invariance, one neuron downstream fires for both. The right panel, headed learning in sequence, shows two rows of filled bars, the eel and a new predator, with three receptor types shaded in both, labeled receptor types the two smells share. Beneath: learning the new predator must not erase what the fish knows about eels, though both use many of the same receptors; Module 5, stability versus plasticity. A footnote says the numbers are invented to show the shape of the argument."/>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discussion_a_detector">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Detector for AI-Written Essays</a:t>
            </a:r>
          </a:p>
        </p:txBody>
      </p:sp>
      <p:sp>
        <p:nvSpPr>
          <p:cNvPr id="3" name="body_box"/>
          <p:cNvSpPr txBox="1"/>
          <p:nvPr/>
        </p:nvSpPr>
        <p:spPr>
          <a:xfrm>
            <a:off x="822960" y="1280160"/>
            <a:ext cx="10515600" cy="4754880"/>
          </a:xfrm>
          <a:prstGeom prst="rect">
            <a:avLst/>
          </a:prstGeom>
          <a:noFill/>
        </p:spPr>
        <p:txBody>
          <a:bodyPr wrap="square">
            <a:spAutoFit/>
          </a:bodyPr>
          <a:lstStyle/>
          <a:p>
            <a:pPr>
              <a:spcAft>
                <a:spcPts val="2000"/>
              </a:spcAft>
            </a:pPr>
            <a:r>
              <a:rPr sz="2000" b="1" i="0">
                <a:solidFill>
                  <a:srgbClr val="222222"/>
                </a:solidFill>
                <a:latin typeface="Calibri"/>
              </a:rPr>
              <a:t>In your group, four minutes.</a:t>
            </a:r>
          </a:p>
          <a:p>
            <a:pPr>
              <a:defRPr sz="1000"/>
            </a:pPr>
            <a:endParaRPr sz="2000" b="1" i="0">
              <a:solidFill>
                <a:srgbClr val="222222"/>
              </a:solidFill>
              <a:latin typeface="Calibri"/>
            </a:endParaRPr>
          </a:p>
          <a:p>
            <a:pPr>
              <a:spcAft>
                <a:spcPts val="2000"/>
              </a:spcAft>
            </a:pPr>
            <a:r>
              <a:rPr sz="2000" b="0" i="0">
                <a:solidFill>
                  <a:srgbClr val="222222"/>
                </a:solidFill>
                <a:latin typeface="Calibri"/>
              </a:rPr>
              <a:t>A company sells a detector that flags student essays as AI-written.</a:t>
            </a:r>
          </a:p>
          <a:p>
            <a:pPr>
              <a:defRPr sz="1000"/>
            </a:pPr>
            <a:endParaRPr sz="2000" b="0" i="0">
              <a:solidFill>
                <a:srgbClr val="222222"/>
              </a:solidFill>
              <a:latin typeface="Calibri"/>
            </a:endParaRPr>
          </a:p>
          <a:p>
            <a:pPr>
              <a:spcAft>
                <a:spcPts val="2000"/>
              </a:spcAft>
            </a:pPr>
            <a:r>
              <a:rPr sz="2000" b="0" i="0">
                <a:solidFill>
                  <a:srgbClr val="222222"/>
                </a:solidFill>
                <a:latin typeface="Calibri"/>
              </a:rPr>
              <a:t>What are its four outcomes? Which error costs more, and to whom?</a:t>
            </a:r>
          </a:p>
          <a:p>
            <a:pPr>
              <a:defRPr sz="1000"/>
            </a:pPr>
            <a:endParaRPr sz="2000" b="0" i="0">
              <a:solidFill>
                <a:srgbClr val="222222"/>
              </a:solidFill>
              <a:latin typeface="Calibri"/>
            </a:endParaRPr>
          </a:p>
          <a:p>
            <a:pPr>
              <a:spcAft>
                <a:spcPts val="2000"/>
              </a:spcAft>
            </a:pPr>
            <a:r>
              <a:rPr sz="2000" b="0" i="0">
                <a:solidFill>
                  <a:srgbClr val="222222"/>
                </a:solidFill>
                <a:latin typeface="Calibri"/>
              </a:rPr>
              <a:t>The company announces a new version that is “more sensitive”: it catches more AI-written essays. What else would we need to know before believing that its sensitivity improved?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No receptor stands for an eel</a:t>
                      </a:r>
                    </a:p>
                  </a:txBody>
                  <a:tcPr marL="73152" marR="73152" marT="18288" marB="18288">
                    <a:solidFill>
                      <a:srgbClr val="FFFFFF"/>
                    </a:solidFill>
                  </a:tcPr>
                </a:tc>
                <a:tc>
                  <a:txBody>
                    <a:bodyPr/>
                    <a:lstStyle/>
                    <a:p>
                      <a:r>
                        <a:rPr sz="1000" b="0" i="0">
                          <a:solidFill>
                            <a:srgbClr val="222222"/>
                          </a:solidFill>
                          <a:latin typeface="Calibri"/>
                        </a:rPr>
                        <a:t>fig-never-twice.png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1"/>
                  </a:ext>
                </a:extLst>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A labeled line, and a pattern</a:t>
                      </a:r>
                    </a:p>
                  </a:txBody>
                  <a:tcPr marL="73152" marR="73152" marT="18288" marB="18288">
                    <a:solidFill>
                      <a:srgbClr val="FFFFFF"/>
                    </a:solidFill>
                  </a:tcPr>
                </a:tc>
                <a:tc>
                  <a:txBody>
                    <a:bodyPr/>
                    <a:lstStyle/>
                    <a:p>
                      <a:r>
                        <a:rPr sz="1000" b="0" i="0">
                          <a:solidFill>
                            <a:srgbClr val="222222"/>
                          </a:solidFill>
                          <a:latin typeface="Calibri"/>
                        </a:rPr>
                        <a:t>fig-two-ways.png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2"/>
                  </a:ext>
                </a:extLst>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Two demands on the same smells</a:t>
                      </a:r>
                    </a:p>
                  </a:txBody>
                  <a:tcPr marL="73152" marR="73152" marT="18288" marB="18288">
                    <a:solidFill>
                      <a:srgbClr val="FFFFFF"/>
                    </a:solidFill>
                  </a:tcPr>
                </a:tc>
                <a:tc>
                  <a:txBody>
                    <a:bodyPr/>
                    <a:lstStyle/>
                    <a:p>
                      <a:r>
                        <a:rPr sz="1000" b="0" i="0">
                          <a:solidFill>
                            <a:srgbClr val="222222"/>
                          </a:solidFill>
                          <a:latin typeface="Calibri"/>
                        </a:rPr>
                        <a:t>fig-two-demands.png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3"/>
                  </a:ext>
                </a:extLst>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Why the two demands conflict</a:t>
                      </a:r>
                    </a:p>
                  </a:txBody>
                  <a:tcPr marL="73152" marR="73152" marT="18288" marB="18288">
                    <a:solidFill>
                      <a:srgbClr val="FFFFFF"/>
                    </a:solidFill>
                  </a:tcPr>
                </a:tc>
                <a:tc>
                  <a:txBody>
                    <a:bodyPr/>
                    <a:lstStyle/>
                    <a:p>
                      <a:r>
                        <a:rPr sz="1000" b="0" i="0">
                          <a:solidFill>
                            <a:srgbClr val="222222"/>
                          </a:solidFill>
                          <a:latin typeface="Calibri"/>
                        </a:rPr>
                        <a:t>fig-pull-both-ways.png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4"/>
                  </a:ext>
                </a:extLst>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Generalization, measured as behavior</a:t>
                      </a:r>
                    </a:p>
                  </a:txBody>
                  <a:tcPr marL="73152" marR="73152" marT="18288" marB="18288">
                    <a:solidFill>
                      <a:srgbClr val="FFFFFF"/>
                    </a:solidFill>
                  </a:tcPr>
                </a:tc>
                <a:tc>
                  <a:txBody>
                    <a:bodyPr/>
                    <a:lstStyle/>
                    <a:p>
                      <a:r>
                        <a:rPr sz="1000" b="0" i="0">
                          <a:solidFill>
                            <a:srgbClr val="222222"/>
                          </a:solidFill>
                          <a:latin typeface="Calibri"/>
                        </a:rPr>
                        <a:t>fig-gradient-behavior.png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5"/>
                  </a:ext>
                </a:extLst>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Sensitivity and criterion</a:t>
                      </a:r>
                    </a:p>
                  </a:txBody>
                  <a:tcPr marL="73152" marR="73152" marT="18288" marB="18288">
                    <a:solidFill>
                      <a:srgbClr val="FFFFFF"/>
                    </a:solidFill>
                  </a:tcPr>
                </a:tc>
                <a:tc>
                  <a:txBody>
                    <a:bodyPr/>
                    <a:lstStyle/>
                    <a:p>
                      <a:r>
                        <a:rPr sz="1000" b="0" i="0">
                          <a:solidFill>
                            <a:srgbClr val="222222"/>
                          </a:solidFill>
                          <a:latin typeface="Calibri"/>
                        </a:rPr>
                        <a:t>fig-sdt.png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7 reading  ·  own work</a:t>
                      </a:r>
                    </a:p>
                  </a:txBody>
                  <a:tcPr marL="73152" marR="73152" marT="18288" marB="18288">
                    <a:solidFill>
                      <a:srgbClr val="FFFFFF"/>
                    </a:solidFill>
                  </a:tcPr>
                </a:tc>
                <a:extLst>
                  <a:ext uri="{0D108BD9-81ED-4DB2-BD59-A6C34878D82A}">
                    <a16:rowId xmlns:a16="http://schemas.microsoft.com/office/drawing/2014/main" val="10006"/>
                  </a:ext>
                </a:extLst>
              </a:tr>
              <a:tr h="44094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Graded membership, and categories beyond resemblance</a:t>
                      </a:r>
                    </a:p>
                  </a:txBody>
                  <a:tcPr marL="73152" marR="73152" marT="18288" marB="18288">
                    <a:solidFill>
                      <a:srgbClr val="FFFFFF"/>
                    </a:solidFill>
                  </a:tcPr>
                </a:tc>
                <a:tc>
                  <a:txBody>
                    <a:bodyPr/>
                    <a:lstStyle/>
                    <a:p>
                      <a:r>
                        <a:rPr sz="1000" b="0" i="0">
                          <a:solidFill>
                            <a:srgbClr val="222222"/>
                          </a:solidFill>
                          <a:latin typeface="Calibri"/>
                        </a:rPr>
                        <a:t>fig-typicality.png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after Rosch's reported ratings  ·  own work</a:t>
                      </a:r>
                    </a:p>
                  </a:txBody>
                  <a:tcPr marL="73152" marR="73152" marT="18288" marB="18288">
                    <a:solidFill>
                      <a:srgbClr val="FFFFFF"/>
                    </a:solidFill>
                  </a:tcPr>
                </a:tc>
                <a:extLst>
                  <a:ext uri="{0D108BD9-81ED-4DB2-BD59-A6C34878D82A}">
                    <a16:rowId xmlns:a16="http://schemas.microsoft.com/office/drawing/2014/main" val="10007"/>
                  </a:ext>
                </a:extLst>
              </a:tr>
              <a:tr h="44094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Invariance, and learning in sequence</a:t>
                      </a:r>
                    </a:p>
                  </a:txBody>
                  <a:tcPr marL="73152" marR="73152" marT="18288" marB="18288">
                    <a:solidFill>
                      <a:srgbClr val="FFFFFF"/>
                    </a:solidFill>
                  </a:tcPr>
                </a:tc>
                <a:tc>
                  <a:txBody>
                    <a:bodyPr/>
                    <a:lstStyle/>
                    <a:p>
                      <a:r>
                        <a:rPr sz="1000" b="0" i="0">
                          <a:solidFill>
                            <a:srgbClr val="222222"/>
                          </a:solidFill>
                          <a:latin typeface="Calibri"/>
                        </a:rPr>
                        <a:t>fig-hardest-cases.png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1161</TotalTime>
  <Words>4888</Words>
  <Application>Microsoft Macintosh PowerPoint</Application>
  <PresentationFormat>Widescreen</PresentationFormat>
  <Paragraphs>246</Paragraphs>
  <Slides>15</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Willits, Jon Anthony</cp:lastModifiedBy>
  <cp:revision>2</cp:revision>
  <dcterms:created xsi:type="dcterms:W3CDTF">2013-01-27T09:14:16Z</dcterms:created>
  <dcterms:modified xsi:type="dcterms:W3CDTF">2026-10-06T14:17:54Z</dcterms:modified>
  <cp:category/>
</cp:coreProperties>
</file>