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about how senses recover a world from physical signals that never fully determine it. It is also about how an animal’s own movement both disturbs its senses and helps them.</a:t>
            </a:r>
          </a:p>
          <a:p/>
          <a:p>
            <a:r>
              <a:t>This first lecture is the computational level. It asks what problems a moving animal’s senses have to solve, and why. Every procedure that might solve those problems waits for the next lecture, and every receptor, pathway and brain structure waits for the third.</a:t>
            </a:r>
          </a:p>
          <a:p/>
          <a:p>
            <a:r>
              <a:t>The animal is still the fish we followed in Module 7, in a stream where eels hunt. But much of what is known about how senses work comes from mammals, monkeys and people. So in this module we go where the evidence is, well ahead of where our evolutionary story has reached. Human senses are worth studying for their own sake, and unlike much of what we have covered so far, they have changed a lot since the ancestor humans share with fish. The fish stays with us, and we come back to it whenever a point can be made with a fish.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the guiding questions at the start of the reading, put in everyday form.</a:t>
            </a:r>
          </a:p>
          <a:p/>
          <a:p>
            <a:r>
              <a:t>Groups usually start with what makes each sound distinct. The voice has a pitch, the water hisses, the pan clangs and keeps ringing. That last one is worth holding on to. Sound carries information about what made it. A dropped pan and a dropped book sound different because they are different things: metal keeps ringing, and a book goes quiet almost at once.</a:t>
            </a:r>
          </a:p>
          <a:p/>
          <a:p>
            <a:r>
              <a:t>The harder part of the question is the word *sum*. Nothing reaches the ear as three separate sounds. Each ear receives a single pressure wave, with the voice, the water and the pan already added together. Many different combinations of sources could have produced that same wave. So pulling the three apart is not a matter of reading them off. It has to be worked out.</a:t>
            </a:r>
          </a:p>
          <a:p/>
          <a:p>
            <a:r>
              <a:t>The second question usually brings out exact position and layout. The ears can tell that something is happening out of sight, but the eyes say where things are, and how surfaces are laid out, with far more precision.</a:t>
            </a:r>
          </a:p>
          <a:p/>
          <a:p>
            <a:r>
              <a:t>Hold on to both answers. This lecture is about what each sense can and cannot recover, and why none of them gets the answer handed to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7, the smell of an eel arrived as a pattern of activity in the fish’s olfactory bulb, and we asked what the fish could do with that pattern. We took the pattern as given.</a:t>
            </a:r>
          </a:p>
          <a:p/>
          <a:p>
            <a:r>
              <a:t>But before there was a pattern, molecules carried by the current had to reach receptor cells in the fish’s nose, and those cells had to turn the molecules into electrical signals. Light, sound and the push of moving water have to be turned into signals too, by other kinds of cells. And each kind of signal can tell the fish some things about the world, and not others.</a:t>
            </a:r>
          </a:p>
          <a:p/>
          <a:p>
            <a:r>
              <a:t>We also treated the fish as if it were holding still. It is not. To follow a smell upstream, the fish swims. Every beat of its tail stirs the water along its sides, where the lateral line feels it. Every turn of its body sweeps the whole scene across its eyes. So at any moment, much of what reaches the fish’s senses was caused by the fish itself. And when the eel does appear, the signals that tell the fish where the eel is are already a little out of date.</a:t>
            </a:r>
          </a:p>
          <a:p/>
          <a:p>
            <a:r>
              <a:t>Those are the two subjects of this module. First, the senses that deliver patterns to the brain. Second, the movement of the animal that has those senses. The point of putting them in one module is that they turn out to be hard to separate.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sense lets an animal find out about things it is not touching, or cannot see inside. It does this through a physical signal that those things have shaped. An eel reflects light, disturbs the water, and sheds molecules into the current. Each of those signals carries information about the eel, but none of it is direct. What in the world caused a signal has to be recovered from the signal.</a:t>
            </a:r>
          </a:p>
          <a:p/>
          <a:p>
            <a:r>
              <a:t>Different signals carry different facts, because they travel in different ways. Light moves fast and in straight lines, so it carries the layout of surfaces at a distance, with great precision about direction. But anything in the way blocks it. Sound bends around obstacles and works in the dark, so it is well suited to saying that something is happening, even out of sight. And it carries the makeup of what made it: heavy things ring low, metal keeps ringing, wood goes quiet. Chemicals move slowly and linger, drifting with the current. So they carry *what* something is far better than *where* it is.</a:t>
            </a:r>
          </a:p>
          <a:p/>
          <a:p>
            <a:r>
              <a:t>Touch is the exception to sensing at a distance. It reports only what is in contact with the body. The **lateral line**, the line of sensory organs along a fish’s sides, extends something like touch a short way into the water, a body length or two.</a:t>
            </a:r>
          </a:p>
          <a:p/>
          <a:p>
            <a:r>
              <a:t>In Module 4, we introduced transduction, the conversion of an event in the world into a change in membrane voltage, for touch and smell. Light and sound are transduced too, by their own receptor cells, which we describe in the third lecture. The consequence matters now. A sense can only report what its physical signal carries, and only to the extent its receptors respond to it.</a:t>
            </a:r>
          </a:p>
          <a:p/>
          <a:p>
            <a:r>
              <a:t>So the fish uses each sense for a different job. Smell says an eel has been somewhere upstream. The lateral line says something is moving close by. Vision says where, exactly, something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Physics sets what a signal can carry. But what a sense has to deliver also depends on how its owner lives, and vision is the clearest case.</a:t>
            </a:r>
          </a:p>
          <a:p/>
          <a:p>
            <a:r>
              <a:t>Many fish in shallow water can see ultraviolet light, which the human eye filters out before it reaches the receptors. Early mammals were probably small animals active mostly at night, when sensitivity to dim light matters far more than color. A primate picking fruit and insects in daylight needs sharp detail at the center of what it is looking at.</a:t>
            </a:r>
          </a:p>
          <a:p/>
          <a:p>
            <a:r>
              <a:t>These are three different answers to the question of what an eye is for. None of them is the best eye in general. Each is good for a way of life.</a:t>
            </a:r>
          </a:p>
          <a:p/>
          <a:p>
            <a:r>
              <a:t>In the third lecture, we take up how these different eyes came about, including which kinds of color receptor were lost along the way, and how new ones arose. For now, the point is computational. Before asking how an eye works, we have to ask what its owner needs it to deliver.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1, we saw that vision faces an **ill-posed problem**. A flat image on the retina could have been produced by many different arrangements of objects, and nothing in the image alone settles which one was there. A small object close by and a large one far away can cast exactly the same image. Every sense faces some version of this.</a:t>
            </a:r>
          </a:p>
          <a:p/>
          <a:p>
            <a:r>
              <a:t>Take hearing, which the busy kitchen in the opening discussion raised. Each ear receives one pressure wave, the sum of every sound reaching it. Recovering the separate sources from one summed wave is ill-posed in exactly the same sense, since many combinations of sources produce the same wave. And hearing has a difficulty vision does not. In vision, a near object hides the one behind it, so the parts that stay visible are usually intact. In hearing, nothing is hidden, but every source is spread across the whole mixture.</a:t>
            </a:r>
          </a:p>
          <a:p/>
          <a:p>
            <a:r>
              <a:t>The organs of balance give a third case. They contain sensors that respond to gravity and to acceleration. To any sensor that responds to acceleration, tilting the head back and accelerating forward produce the same signal. A motion-simulator ride uses this on purpose. The seat tilts slowly backward, and the rider feels pressed into it as if speeding forward.</a:t>
            </a:r>
          </a:p>
          <a:p/>
          <a:p>
            <a:r>
              <a:t>So what do brains recover, when the information cannot settle the answer? Not everything. They settle for what can be deduced from the signal. People judge very reliably which of two points is nearer, and they judge an object’s shape well, if sometimes a little deeper or flatter than it is. They do not judge exact distances reliably, even in a well-lit room with every cue available. In one researcher’s phrase, vision prefers “robustness over precision”.</a:t>
            </a:r>
          </a:p>
          <a:p/>
          <a:p>
            <a:r>
              <a:t>That is a sensible bargain. The fish needs to know that the eel is closer than the weed, and which way it is moving. It does not need the distance in centimeters. What a sense delivers is shaped by what the animal needs to do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7, the hardest generalization was recognizing the same thing across variation that changes its inputs completely, like recognizing an object seen from a new angle. Each sense has its own version of that problem.</a:t>
            </a:r>
          </a:p>
          <a:p/>
          <a:p>
            <a:r>
              <a:t>In vision, one object casts very different images from the front and the side, near and far, in shade and in sunlight. On top of that, the overall amount of light varies enormously. Daylight can be up to a billion times brighter than starlight.</a:t>
            </a:r>
          </a:p>
          <a:p/>
          <a:p>
            <a:r>
              <a:t>Color poses the problem too. The light reaching the eye from a surface depends on the surface and on the light falling on it, mixed together. The light reaching the eye from a banana changes a great deal between noon and dusk, and between daylight and a lamp. Yet the banana keeps looking yellow. This is *color constancy*, and it is invariance applied to color. It is also ill-posed, in the same sense as the last slide. Nothing in the light from the banana alone says how much of it is due to the banana and how much to the lamp.</a:t>
            </a:r>
          </a:p>
          <a:p/>
          <a:p>
            <a:r>
              <a:t>Hearing has the same problem. A phone’s ringtone can be loud or quiet. It can be muffled in a pocket, a purse, or under a pillow. The room changes it too, as the sound echoes off the walls. A listener still recognizes every one of those at once as the same sound.</a:t>
            </a:r>
          </a:p>
          <a:p/>
          <a:p>
            <a:r>
              <a:t>Recognizing a kind of object, or a kind of sound, is the categorization problem from Module 7. We take up how vision and hearing handle their own versions of it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have focused mostly on *what* something is. Just as important is *where* it is, and here the senses differ in an instructive way.</a:t>
            </a:r>
          </a:p>
          <a:p/>
          <a:p>
            <a:r>
              <a:t>The retina gives direction almost for free. An eye forms an image, so light from each direction falls on a different place on the retina. Where the light falls already says which direction it came from, with no further computation. Touch works the same way: which receptors in the skin are pressed says where on the body the touch fell.</a:t>
            </a:r>
          </a:p>
          <a:p/>
          <a:p>
            <a:r>
              <a:t>Distance is another matter. It is not laid out anywhere on the retina, so it has to be computed. The information for it lies in differences between views. Two eyes see a scene from slightly different places, and one eye that moves sees it from different places over time.</a:t>
            </a:r>
          </a:p>
          <a:p/>
          <a:p>
            <a:r>
              <a:t>How much two eyes can provide depends on where they sit. Eyes on the sides of the head together cover a wide view, which is good for watching for predators. Eyes that both face forward give up much of that view. In exchange, their fields overlap, so most of the scene is seen twice. Two such views carry the most information about depth at close range, within arm’s reach, which is where a primate’s hands do their work.</a:t>
            </a:r>
          </a:p>
          <a:p/>
          <a:p>
            <a:r>
              <a:t>We take up how differences between views are turned into depth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Hearing has to compute direction, much more than vision does.</a:t>
            </a:r>
          </a:p>
          <a:p/>
          <a:p>
            <a:r>
              <a:t>The **cochlea** is the organ of hearing in the inner ear of mammals. It is a fluid-filled tube, coiled like a snail shell in most mammals. Birds and reptiles have a shorter, uncoiled version, and fish have no cochlea at all, hearing with other organs of the inner ear. Like the retina, the cochlea lays its receptor cells out in a map. But this map is organized by pitch, not by direction. Which receptors respond says which frequencies are in a sound, not where the sound came from.</a:t>
            </a:r>
          </a:p>
          <a:p/>
          <a:p>
            <a:r>
              <a:t>So the information about direction has to come from somewhere else, and it lies in the differences between what arrives at the two ears. A sound straight off to one side reaches the far ear only about seven tenths of a millisecond after the near one. Yet people can notice a sound move by about one degree, which changes that timing difference by roughly ten millionths of a second. That is the scale hearing works at.</a:t>
            </a:r>
          </a:p>
          <a:p/>
          <a:p>
            <a:r>
              <a:t>Animals differ in how their ears are joined. A lizard’s two eardrums are connected through its mouth, so each ear is directional by itself. A mammal’s ears are acoustically isolated from each other, so for a mammal, left and right exist only in the difference between them.</a:t>
            </a:r>
          </a:p>
          <a:p/>
          <a:p>
            <a:r>
              <a:t>How a nervous system could measure a difference of a few millionths of a second is one of the next two lectures’ best puzzles.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one more complication, and with it the problem passes from the senses to the animal’s own movement.</a:t>
            </a:r>
          </a:p>
          <a:p/>
          <a:p>
            <a:r>
              <a:t>Where an image falls on the retina gives its direction relative to the eye, not relative to the world. Every movement of the eye, the head, or the body moves the image across the retina. After one beat of the fish’s tail, the image of the eel falls on different cells, although the eel has not moved at all.</a:t>
            </a:r>
          </a:p>
          <a:p/>
          <a:p>
            <a:r>
              <a:t>So before the position of an image means anything about the position of the eel, it has to be combined with where the eye was pointing. A place on the retina is a fact about the eel and the eye together.</a:t>
            </a:r>
          </a:p>
          <a:p/>
          <a:p>
            <a:r>
              <a:t>That makes the next problem unavoidable. The fish moves all the time, and much of what its senses report is about its own movement rather than the world’s.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6, we noted that a moving animal has to tell its own doings from the world’s, and left the question of how for this module. The two kinds of sensation have names. Sensation caused by the animal’s own movement is **reafference**. Sensation caused by the world, independent of what the animal is doing, is **exafference**.</a:t>
            </a:r>
          </a:p>
          <a:p/>
          <a:p>
            <a:r>
              <a:t>The scale of the problem is easy to underestimate. Some fish sense weak electric fields with receptors in their skin, and use them to find prey hidden in mud. In one such fish, an ordinary bend of its own tail changes the electrical input along its body ten to a hundred times more than a small prey animal nearby does. Primate eyes jump to a new position about three times a second, and each jump sweeps the whole image across the retina. And a voice is loudest in its owner’s own ears. In every one of these cases, the self-caused signal can drown out the signal from the world.</a:t>
            </a:r>
          </a:p>
          <a:p/>
          <a:p>
            <a:r>
              <a:t>Vertebrates were not the first animals to face this, or the first with ways of handling it. A crayfish walking into a rock and a crayfish touched by a predator stimulate the same receptors. Crayfish and flies both treat their own movement differently from the world’s. In Module 6, we placed the problem’s origin in the Cambrian, when fast animals with jointed bodies and image-forming eyes began producing self-caused signals in floods.</a:t>
            </a:r>
          </a:p>
          <a:p/>
          <a:p>
            <a:r>
              <a:t>To separate its own doings from the world’s, an animal has two sources of information about its own movement. One is the commands it sends to its muscles. The other is a pair of senses that respond to the movement itself. The **vestibular system**, the organs of balance in the inner ear, senses rotation and acceleration of the head. **Proprioception** is the sense of the body’s own position and movement, from receptors in the muscles, tendons and joints.</a:t>
            </a:r>
          </a:p>
          <a:p/>
          <a:p>
            <a:r>
              <a:t>We take up how either source is used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a body brings three more problems.</a:t>
            </a:r>
          </a:p>
          <a:p/>
          <a:p>
            <a:r>
              <a:t>The first is delay. News that the image has slipped across the retina takes about a tenth of a second to turn into a correction. A nervous system that waited for that news would always be correcting an error that had already changed. Engineers know this problem well. Feedback that arrives late tends to overshoot and oscillate, because each correction responds to a situation that no longer exists. So keeping the eyes steady while the head turns cannot wait for vision. And some movements are over before feedback could arrive at all. A **saccade** is a quick jump of the eyes to a new target, and it lasts only tens of milliseconds. If the target moves during the jump, it is too late to correct, and a second saccade is needed.</a:t>
            </a:r>
          </a:p>
          <a:p/>
          <a:p>
            <a:r>
              <a:t>The second is that the body keeps changing. Heads and eyeballs grow. Muscles tire, and some weaken with age or injury. Glasses change how the world lines up on the retina. So the mapping from a command to its outcome has to keep being relearned.</a:t>
            </a:r>
          </a:p>
          <a:p/>
          <a:p>
            <a:r>
              <a:t>The third is coordinates. A target appears at some place on the retina. Reaching for it requires a set of angles at the shoulder, elbow and wrist. One description has to be turned into the other, and the turning depends on where the eyes and head are pointing at that moment.</a:t>
            </a:r>
          </a:p>
          <a:p/>
          <a:p>
            <a:r>
              <a:t>All three arise at once when the fish strikes at a drifting water flea. The strike has to be aimed at where the flea will be. The fish’s signals report only where the flea was, and they report it relative to the fish’s eye. Somewhere in its nervous system, the fish has to turn old, eye-centered signals into a current, body-centered command.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Movement is not only a source of trouble. In Module 6, we noted that an animal can act on the world and see what comes back. Moving changes what reaches the senses, and it changes it in lawful ways. As an animal moves, near things shift across its eyes faster than far ones, and the water flowing past its body changes shape as it passes objects. So movement makes information available that a stationary animal does not have. (The observer in the drawing looks straight ahead. When an observer fixates one point instead, as in the depth-cue drawing in the next lecture, things beyond that point drift the other way.)</a:t>
            </a:r>
          </a:p>
          <a:p/>
          <a:p>
            <a:r>
              <a:t>Perception is shaped by action in a further way. What an animal can do in a place depends on the place and on its body together. The same drop is a small step to a large animal, and a cliff to a small one. A gap is passable for one body and not for another. Psychologists call such a fact an **affordance**: an opportunity for action that a place or object offers to a particular body.</a:t>
            </a:r>
          </a:p>
          <a:p/>
          <a:p>
            <a:r>
              <a:t>Perceiving an affordance is a separate problem from the affordance itself, and perceived affordances can be recalibrated with practice. A new wheelchair user learns quickly which gaps are wide enough.</a:t>
            </a:r>
          </a:p>
          <a:p/>
          <a:p>
            <a:r>
              <a:t>James Gibson, the psychologist who introduced the word, also argued that perceiving the world needs no interpretation, because the information in the senses is enough. We do not take that view, in the reading or here, for the reason we gave with the ill-posed problem: the signals reaching the senses never fully settle what produced them. The idea of affordances is useful without the larger claim.</a:t>
            </a:r>
          </a:p>
          <a:p/>
          <a:p>
            <a:r>
              <a:t>That joins the two halves of this lecture. The flood of self-caused signals and the information gained by moving are the same fact, seen from two sides. A moving animal produces most of what it senses. That is a problem to solve, and it is also how much of the sensing gets done.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try out reafference on a device most people carry.</a:t>
            </a:r>
          </a:p>
          <a:p/>
          <a:p>
            <a:r>
              <a:t>The shake and the running dog both move the image across the camera’s sensor. In the terms we have been using, the shake is reafference, caused by the movement of the camera itself, and the dog is exafference, caused by the world. The image alone does not fully settle which is which, though motion of the whole frame is a strong hint, and some phones use it.</a:t>
            </a:r>
          </a:p>
          <a:p/>
          <a:p>
            <a:r>
              <a:t>So the phone needs information about its own movement. Many phones carry a motion sensor that measures how the phone itself is turning, and use it to steady the picture. That is the phone’s version of the second source, a sense of the movement itself, like the vestibular system. What the phone lacks is the first source. It sends no commands to the hand that moves it, so it cannot know a movement is coming before it happens. A robot carrying its own camera would have both.</a:t>
            </a:r>
          </a:p>
          <a:p/>
          <a:p>
            <a:r>
              <a:t>The pan is the interesting case. A deliberate pan is self-caused too, yet nobody wants it removed, because it is movement made in order to see more: the change it causes is the point, not noise. That is the idea of moving in order to perceive. How animals use their two sources of information about their own movement is a question for the next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Perception and Action</a:t>
            </a:r>
          </a:p>
          <a:p>
            <a:pPr algn="ctr"/>
            <a:r>
              <a:rPr sz="2000" b="0" i="0">
                <a:solidFill>
                  <a:srgbClr val="FFFFFF"/>
                </a:solidFill>
                <a:latin typeface="Calibri"/>
              </a:rPr>
              <a:t>Lecture 8.1 — The Problems That Senses Solve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one_wav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One Wave at Each Ear</a:t>
            </a:r>
          </a:p>
        </p:txBody>
      </p:sp>
      <p:sp>
        <p:nvSpPr>
          <p:cNvPr id="3" name="body_box"/>
          <p:cNvSpPr txBox="1"/>
          <p:nvPr/>
        </p:nvSpPr>
        <p:spPr>
          <a:xfrm>
            <a:off x="822960" y="1371600"/>
            <a:ext cx="10515600" cy="4480560"/>
          </a:xfrm>
          <a:prstGeom prst="rect">
            <a:avLst/>
          </a:prstGeom>
          <a:noFill/>
        </p:spPr>
        <p:txBody>
          <a:bodyPr wrap="square">
            <a:spAutoFit/>
          </a:bodyPr>
          <a:lstStyle/>
          <a:p>
            <a:pPr>
              <a:spcAft>
                <a:spcPts val="2000"/>
              </a:spcAft>
            </a:pPr>
            <a:r>
              <a:rPr sz="2000" b="1" i="0">
                <a:solidFill>
                  <a:srgbClr val="222222"/>
                </a:solidFill>
                <a:latin typeface="Calibri"/>
              </a:rPr>
              <a:t>In your group, three minutes.</a:t>
            </a:r>
          </a:p>
          <a:p>
            <a:pPr>
              <a:defRPr sz="1000"/>
            </a:pPr>
          </a:p>
          <a:p>
            <a:pPr>
              <a:spcAft>
                <a:spcPts val="2000"/>
              </a:spcAft>
            </a:pPr>
            <a:r>
              <a:rPr sz="2000" b="0" i="0">
                <a:solidFill>
                  <a:srgbClr val="222222"/>
                </a:solidFill>
                <a:latin typeface="Calibri"/>
              </a:rPr>
              <a:t>Picture a busy kitchen, eyes closed. A pan drops, someone is talking, and water is running. Each ear receives one wave, the sum of all of it.</a:t>
            </a:r>
          </a:p>
          <a:p>
            <a:pPr>
              <a:defRPr sz="1000"/>
            </a:pPr>
          </a:p>
          <a:p>
            <a:pPr>
              <a:spcAft>
                <a:spcPts val="2000"/>
              </a:spcAft>
            </a:pPr>
            <a:r>
              <a:rPr sz="2000" b="0" i="0">
                <a:solidFill>
                  <a:srgbClr val="222222"/>
                </a:solidFill>
                <a:latin typeface="Calibri"/>
              </a:rPr>
              <a:t>How can anyone tell there are three things, and what each one is? What can the ears not tell, that the eyes could?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what_module_7_set_asid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We Set Aside in Module 7</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Receptors have to make a pattern before a brain can use one. And a moving animal causes much of what reaches its own senses.</a:t>
            </a:r>
          </a:p>
        </p:txBody>
      </p:sp>
      <p:pic>
        <p:nvPicPr>
          <p:cNvPr id="4" name="img0" descr="Two panels. The left, headed before there is a pattern, shows four boxes labeled molecules, light, moving water and sound, each with an arrow into a tall box labeled receptor cells, and an arrow on to a box labeled electrical signals: a pattern. Beneath: in Module 7, we took the pattern as given; each kind of signal tells the fish some things, and not others. The right, headed a fish that moves, shows a small fish seen from above with dashed ripples behind its tail, labeled each tail beat stirs the water along its own lateral line, and a curved arrow at its head labeled each turn sweeps the scene across its eyes. In one corner, a dashed eel labeled then and a solid eel a little farther on labeled now, with the note: by the time news of the eel arrives, the eel has moved on. Across the bottom: much of what reaches a moving animal's senses was caused by the animal itself."/>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what_each_signal_carri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Each Signal Carries</a:t>
            </a:r>
          </a:p>
        </p:txBody>
      </p:sp>
      <p:graphicFrame>
        <p:nvGraphicFramePr>
          <p:cNvPr id="3" name="table"/>
          <p:cNvGraphicFramePr>
            <a:graphicFrameLocks noGrp="1"/>
          </p:cNvGraphicFramePr>
          <p:nvPr/>
        </p:nvGraphicFramePr>
        <p:xfrm>
          <a:off x="274320" y="1828800"/>
          <a:ext cx="11640311" cy="4572000"/>
        </p:xfrm>
        <a:graphic>
          <a:graphicData uri="http://schemas.openxmlformats.org/drawingml/2006/table">
            <a:tbl>
              <a:tblPr>
                <a:tableStyleId>{5C22544A-7EE6-4342-B048-85BDC9FD1C3A}</a:tableStyleId>
              </a:tblPr>
              <a:tblGrid>
                <a:gridCol w="1978853"/>
                <a:gridCol w="3142884"/>
                <a:gridCol w="3608496"/>
                <a:gridCol w="2910078"/>
              </a:tblGrid>
              <a:tr h="914400">
                <a:tc>
                  <a:txBody>
                    <a:bodyPr/>
                    <a:lstStyle/>
                    <a:p>
                      <a:r>
                        <a:rPr sz="1800" b="1" i="0">
                          <a:solidFill>
                            <a:srgbClr val="1F2A44"/>
                          </a:solidFill>
                          <a:latin typeface="Calibri"/>
                        </a:rPr>
                        <a:t>Signal</a:t>
                      </a:r>
                    </a:p>
                  </a:txBody>
                  <a:tcPr marL="73152" marR="73152" marT="18288" marB="18288">
                    <a:solidFill>
                      <a:srgbClr val="FFFFFF"/>
                    </a:solidFill>
                  </a:tcPr>
                </a:tc>
                <a:tc>
                  <a:txBody>
                    <a:bodyPr/>
                    <a:lstStyle/>
                    <a:p>
                      <a:r>
                        <a:rPr sz="1800" b="1" i="0">
                          <a:solidFill>
                            <a:srgbClr val="1F2A44"/>
                          </a:solidFill>
                          <a:latin typeface="Calibri"/>
                        </a:rPr>
                        <a:t>How it travels</a:t>
                      </a:r>
                    </a:p>
                  </a:txBody>
                  <a:tcPr marL="73152" marR="73152" marT="18288" marB="18288">
                    <a:solidFill>
                      <a:srgbClr val="FFFFFF"/>
                    </a:solidFill>
                  </a:tcPr>
                </a:tc>
                <a:tc>
                  <a:txBody>
                    <a:bodyPr/>
                    <a:lstStyle/>
                    <a:p>
                      <a:r>
                        <a:rPr sz="1800" b="1" i="0">
                          <a:solidFill>
                            <a:srgbClr val="1F2A44"/>
                          </a:solidFill>
                          <a:latin typeface="Calibri"/>
                        </a:rPr>
                        <a:t>Carries well</a:t>
                      </a:r>
                    </a:p>
                  </a:txBody>
                  <a:tcPr marL="73152" marR="73152" marT="18288" marB="18288">
                    <a:solidFill>
                      <a:srgbClr val="FFFFFF"/>
                    </a:solidFill>
                  </a:tcPr>
                </a:tc>
                <a:tc>
                  <a:txBody>
                    <a:bodyPr/>
                    <a:lstStyle/>
                    <a:p>
                      <a:r>
                        <a:rPr sz="1800" b="1" i="0">
                          <a:solidFill>
                            <a:srgbClr val="1F2A44"/>
                          </a:solidFill>
                          <a:latin typeface="Calibri"/>
                        </a:rPr>
                        <a:t>Leaves out</a:t>
                      </a:r>
                    </a:p>
                  </a:txBody>
                  <a:tcPr marL="73152" marR="73152" marT="18288" marB="18288">
                    <a:solidFill>
                      <a:srgbClr val="FFFFFF"/>
                    </a:solidFill>
                  </a:tcPr>
                </a:tc>
              </a:tr>
              <a:tr h="914400">
                <a:tc>
                  <a:txBody>
                    <a:bodyPr/>
                    <a:lstStyle/>
                    <a:p>
                      <a:r>
                        <a:rPr sz="1700" b="0" i="0">
                          <a:solidFill>
                            <a:srgbClr val="222222"/>
                          </a:solidFill>
                          <a:latin typeface="Calibri"/>
                        </a:rPr>
                        <a:t>Light</a:t>
                      </a:r>
                    </a:p>
                  </a:txBody>
                  <a:tcPr marL="73152" marR="73152" marT="18288" marB="18288">
                    <a:solidFill>
                      <a:srgbClr val="FFFFFF"/>
                    </a:solidFill>
                  </a:tcPr>
                </a:tc>
                <a:tc>
                  <a:txBody>
                    <a:bodyPr/>
                    <a:lstStyle/>
                    <a:p>
                      <a:r>
                        <a:rPr sz="1700" b="0" i="0">
                          <a:solidFill>
                            <a:srgbClr val="222222"/>
                          </a:solidFill>
                          <a:latin typeface="Calibri"/>
                        </a:rPr>
                        <a:t>Fast, in straight lines</a:t>
                      </a:r>
                    </a:p>
                  </a:txBody>
                  <a:tcPr marL="73152" marR="73152" marT="18288" marB="18288">
                    <a:solidFill>
                      <a:srgbClr val="FFFFFF"/>
                    </a:solidFill>
                  </a:tcPr>
                </a:tc>
                <a:tc>
                  <a:txBody>
                    <a:bodyPr/>
                    <a:lstStyle/>
                    <a:p>
                      <a:r>
                        <a:rPr sz="1700" b="0" i="0">
                          <a:solidFill>
                            <a:srgbClr val="222222"/>
                          </a:solidFill>
                          <a:latin typeface="Calibri"/>
                        </a:rPr>
                        <a:t>The layout of surfaces at a distance, and precise direction</a:t>
                      </a:r>
                    </a:p>
                  </a:txBody>
                  <a:tcPr marL="73152" marR="73152" marT="18288" marB="18288">
                    <a:solidFill>
                      <a:srgbClr val="FFFFFF"/>
                    </a:solidFill>
                  </a:tcPr>
                </a:tc>
                <a:tc>
                  <a:txBody>
                    <a:bodyPr/>
                    <a:lstStyle/>
                    <a:p>
                      <a:r>
                        <a:rPr sz="1700" b="0" i="0">
                          <a:solidFill>
                            <a:srgbClr val="222222"/>
                          </a:solidFill>
                          <a:latin typeface="Calibri"/>
                        </a:rPr>
                        <a:t>Anything behind an obstacle; everything, in the dark</a:t>
                      </a:r>
                    </a:p>
                  </a:txBody>
                  <a:tcPr marL="73152" marR="73152" marT="18288" marB="18288">
                    <a:solidFill>
                      <a:srgbClr val="FFFFFF"/>
                    </a:solidFill>
                  </a:tcPr>
                </a:tc>
              </a:tr>
              <a:tr h="914400">
                <a:tc>
                  <a:txBody>
                    <a:bodyPr/>
                    <a:lstStyle/>
                    <a:p>
                      <a:r>
                        <a:rPr sz="1700" b="0" i="0">
                          <a:solidFill>
                            <a:srgbClr val="222222"/>
                          </a:solidFill>
                          <a:latin typeface="Calibri"/>
                        </a:rPr>
                        <a:t>Sound</a:t>
                      </a:r>
                    </a:p>
                  </a:txBody>
                  <a:tcPr marL="73152" marR="73152" marT="18288" marB="18288">
                    <a:solidFill>
                      <a:srgbClr val="FFFFFF"/>
                    </a:solidFill>
                  </a:tcPr>
                </a:tc>
                <a:tc>
                  <a:txBody>
                    <a:bodyPr/>
                    <a:lstStyle/>
                    <a:p>
                      <a:r>
                        <a:rPr sz="1700" b="0" i="0">
                          <a:solidFill>
                            <a:srgbClr val="222222"/>
                          </a:solidFill>
                          <a:latin typeface="Calibri"/>
                        </a:rPr>
                        <a:t>Around obstacles, in the dark, from every direction at once</a:t>
                      </a:r>
                    </a:p>
                  </a:txBody>
                  <a:tcPr marL="73152" marR="73152" marT="18288" marB="18288">
                    <a:solidFill>
                      <a:srgbClr val="FFFFFF"/>
                    </a:solidFill>
                  </a:tcPr>
                </a:tc>
                <a:tc>
                  <a:txBody>
                    <a:bodyPr/>
                    <a:lstStyle/>
                    <a:p>
                      <a:r>
                        <a:rPr sz="1700" b="0" i="0">
                          <a:solidFill>
                            <a:srgbClr val="222222"/>
                          </a:solidFill>
                          <a:latin typeface="Calibri"/>
                        </a:rPr>
                        <a:t>That something is happening, even out of sight, and what made it</a:t>
                      </a:r>
                    </a:p>
                  </a:txBody>
                  <a:tcPr marL="73152" marR="73152" marT="18288" marB="18288">
                    <a:solidFill>
                      <a:srgbClr val="FFFFFF"/>
                    </a:solidFill>
                  </a:tcPr>
                </a:tc>
                <a:tc>
                  <a:txBody>
                    <a:bodyPr/>
                    <a:lstStyle/>
                    <a:p>
                      <a:r>
                        <a:rPr sz="1700" b="0" i="0">
                          <a:solidFill>
                            <a:srgbClr val="222222"/>
                          </a:solidFill>
                          <a:latin typeface="Calibri"/>
                        </a:rPr>
                        <a:t>Direction is not laid out; it has to be computed from the two ears</a:t>
                      </a:r>
                    </a:p>
                  </a:txBody>
                  <a:tcPr marL="73152" marR="73152" marT="18288" marB="18288">
                    <a:solidFill>
                      <a:srgbClr val="FFFFFF"/>
                    </a:solidFill>
                  </a:tcPr>
                </a:tc>
              </a:tr>
              <a:tr h="914400">
                <a:tc>
                  <a:txBody>
                    <a:bodyPr/>
                    <a:lstStyle/>
                    <a:p>
                      <a:r>
                        <a:rPr sz="1700" b="0" i="0">
                          <a:solidFill>
                            <a:srgbClr val="222222"/>
                          </a:solidFill>
                          <a:latin typeface="Calibri"/>
                        </a:rPr>
                        <a:t>Chemicals</a:t>
                      </a:r>
                    </a:p>
                  </a:txBody>
                  <a:tcPr marL="73152" marR="73152" marT="18288" marB="18288">
                    <a:solidFill>
                      <a:srgbClr val="FFFFFF"/>
                    </a:solidFill>
                  </a:tcPr>
                </a:tc>
                <a:tc>
                  <a:txBody>
                    <a:bodyPr/>
                    <a:lstStyle/>
                    <a:p>
                      <a:r>
                        <a:rPr sz="1700" b="0" i="0">
                          <a:solidFill>
                            <a:srgbClr val="222222"/>
                          </a:solidFill>
                          <a:latin typeface="Calibri"/>
                        </a:rPr>
                        <a:t>Slowly, drifting with the current, lingering</a:t>
                      </a:r>
                    </a:p>
                  </a:txBody>
                  <a:tcPr marL="73152" marR="73152" marT="18288" marB="18288">
                    <a:solidFill>
                      <a:srgbClr val="FFFFFF"/>
                    </a:solidFill>
                  </a:tcPr>
                </a:tc>
                <a:tc>
                  <a:txBody>
                    <a:bodyPr/>
                    <a:lstStyle/>
                    <a:p>
                      <a:r>
                        <a:rPr sz="1700" b="0" i="0">
                          <a:solidFill>
                            <a:srgbClr val="222222"/>
                          </a:solidFill>
                          <a:latin typeface="Calibri"/>
                        </a:rPr>
                        <a:t>What something is</a:t>
                      </a:r>
                    </a:p>
                  </a:txBody>
                  <a:tcPr marL="73152" marR="73152" marT="18288" marB="18288">
                    <a:solidFill>
                      <a:srgbClr val="FFFFFF"/>
                    </a:solidFill>
                  </a:tcPr>
                </a:tc>
                <a:tc>
                  <a:txBody>
                    <a:bodyPr/>
                    <a:lstStyle/>
                    <a:p>
                      <a:r>
                        <a:rPr sz="1700" b="0" i="0">
                          <a:solidFill>
                            <a:srgbClr val="222222"/>
                          </a:solidFill>
                          <a:latin typeface="Calibri"/>
                        </a:rPr>
                        <a:t>Where it is, except poorly</a:t>
                      </a:r>
                    </a:p>
                  </a:txBody>
                  <a:tcPr marL="73152" marR="73152" marT="18288" marB="18288">
                    <a:solidFill>
                      <a:srgbClr val="FFFFFF"/>
                    </a:solidFill>
                  </a:tcPr>
                </a:tc>
              </a:tr>
              <a:tr h="914400">
                <a:tc>
                  <a:txBody>
                    <a:bodyPr/>
                    <a:lstStyle/>
                    <a:p>
                      <a:r>
                        <a:rPr sz="1700" b="0" i="0">
                          <a:solidFill>
                            <a:srgbClr val="222222"/>
                          </a:solidFill>
                          <a:latin typeface="Calibri"/>
                        </a:rPr>
                        <a:t>Touch and the lateral line</a:t>
                      </a:r>
                    </a:p>
                  </a:txBody>
                  <a:tcPr marL="73152" marR="73152" marT="18288" marB="18288">
                    <a:solidFill>
                      <a:srgbClr val="FFFFFF"/>
                    </a:solidFill>
                  </a:tcPr>
                </a:tc>
                <a:tc>
                  <a:txBody>
                    <a:bodyPr/>
                    <a:lstStyle/>
                    <a:p>
                      <a:r>
                        <a:rPr sz="1700" b="0" i="0">
                          <a:solidFill>
                            <a:srgbClr val="222222"/>
                          </a:solidFill>
                          <a:latin typeface="Calibri"/>
                        </a:rPr>
                        <a:t>Contact with the body, or moving water within a body length or two</a:t>
                      </a:r>
                    </a:p>
                  </a:txBody>
                  <a:tcPr marL="73152" marR="73152" marT="18288" marB="18288">
                    <a:solidFill>
                      <a:srgbClr val="FFFFFF"/>
                    </a:solidFill>
                  </a:tcPr>
                </a:tc>
                <a:tc>
                  <a:txBody>
                    <a:bodyPr/>
                    <a:lstStyle/>
                    <a:p>
                      <a:r>
                        <a:rPr sz="1700" b="0" i="0">
                          <a:solidFill>
                            <a:srgbClr val="222222"/>
                          </a:solidFill>
                          <a:latin typeface="Calibri"/>
                        </a:rPr>
                        <a:t>What is touching, and movement close by</a:t>
                      </a:r>
                    </a:p>
                  </a:txBody>
                  <a:tcPr marL="73152" marR="73152" marT="18288" marB="18288">
                    <a:solidFill>
                      <a:srgbClr val="FFFFFF"/>
                    </a:solidFill>
                  </a:tcPr>
                </a:tc>
                <a:tc>
                  <a:txBody>
                    <a:bodyPr/>
                    <a:lstStyle/>
                    <a:p>
                      <a:r>
                        <a:rPr sz="1700" b="0" i="0">
                          <a:solidFill>
                            <a:srgbClr val="222222"/>
                          </a:solidFill>
                          <a:latin typeface="Calibri"/>
                        </a:rPr>
                        <a:t>Anything farther away</a:t>
                      </a:r>
                    </a:p>
                  </a:txBody>
                  <a:tcPr marL="73152" marR="73152" marT="18288" marB="18288">
                    <a:solidFill>
                      <a:srgbClr val="FFFFFF"/>
                    </a:solidFill>
                  </a:tcPr>
                </a:tc>
              </a:tr>
            </a:tbl>
          </a:graphicData>
        </a:graphic>
      </p:graphicFrame>
      <p:sp>
        <p:nvSpPr>
          <p:cNvPr id="4" name="body_box"/>
          <p:cNvSpPr txBox="1"/>
          <p:nvPr/>
        </p:nvSpPr>
        <p:spPr>
          <a:xfrm>
            <a:off x="109728" y="932688"/>
            <a:ext cx="11987784" cy="804672"/>
          </a:xfrm>
          <a:prstGeom prst="rect">
            <a:avLst/>
          </a:prstGeom>
          <a:noFill/>
        </p:spPr>
        <p:txBody>
          <a:bodyPr wrap="square">
            <a:spAutoFit/>
          </a:bodyPr>
          <a:lstStyle/>
          <a:p>
            <a:r>
              <a:rPr sz="2000" b="0" i="0">
                <a:solidFill>
                  <a:srgbClr val="222222"/>
                </a:solidFill>
                <a:latin typeface="Calibri"/>
              </a:rPr>
              <a:t>None of a sense’s information is direct. Each signal carries some facts and not others, because of how it travels.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eyes_for_different_liv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an Eye Must Deliver Depends on Its Owner</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What a sense has to provide depends on how its owner lives.</a:t>
            </a:r>
          </a:p>
        </p:txBody>
      </p:sp>
      <p:pic>
        <p:nvPicPr>
          <p:cNvPr id="4" name="img0" descr="Three panels. The first, headed a fish in shallow water, shows a fish in rippled water under a sun, with the text: sees ultraviolet light, which the human eye filters out before it reaches the receptors. The second, headed an early mammal, shows a small mouse-like animal under a crescent moon and stars, with the text: probably small and active mostly at night, when sensitivity to dim light matters far more than color. The third, headed a primate in daylight, shows three fruits hanging from a branch above an eye whose center is filled in and labeled sharp here, with the text: picking fruit and insects, it needs sharp detail at the center of what it is looking at. Across the bottom: what a sense has to provide depends on how its owner lives, and vision is the clearest case."/>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never_enough_informa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Never Enough Information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 </a:t>
            </a:r>
            <a:r>
              <a:rPr sz="2000" b="1" i="0">
                <a:solidFill>
                  <a:srgbClr val="222222"/>
                </a:solidFill>
                <a:latin typeface="Calibri"/>
              </a:rPr>
              <a:t>ill-posed problem</a:t>
            </a:r>
            <a:r>
              <a:rPr sz="2000" b="0" i="0">
                <a:solidFill>
                  <a:srgbClr val="222222"/>
                </a:solidFill>
                <a:latin typeface="Calibri"/>
              </a:rPr>
              <a:t>: the information available does not settle a single answer. Every sense faces a version of it.</a:t>
            </a:r>
          </a:p>
        </p:txBody>
      </p:sp>
      <p:pic>
        <p:nvPicPr>
          <p:cNvPr id="4" name="img0" descr="Three panels and a band beneath them. Vision: an eye with dashed lines running out to a short bar labeled small, near and a tall bar labeled large, far, both filling the same angle; one flat image fits many different scenes. Hearing: three thin waves labeled bird, branch and water, added together into one jagged wave labeled one ear; many combinations of sources give the same wave. Balance: two boxes, tilting the head back and speeding forward, each with an arrow into one box labeled the same signal; to a sensor that responds to acceleration, the two are the same. The band beneath, headed what brains settle for, reads: which of two points is nearer, and an object's shape, reliable; exact distance, even in a well-lit room, not reliable; with the quoted phrase robustness over precision."/>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the_same_thing_agai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Same Thing, Again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Recognizing the same thing across inputs that change completely is a problem every sense faces, in its own version.</a:t>
            </a:r>
          </a:p>
        </p:txBody>
      </p:sp>
      <p:pic>
        <p:nvPicPr>
          <p:cNvPr id="4" name="img0" descr="Three panels. The first, headed one object, many images, shows the same mug drawn four ways: near, far and small, turned with its handle on the other side, and in shade, filled gray; beneath, daylight can be up to a billion times brighter than starlight. The second, headed one color, many lights, shows three colored squares labeled noon, a bright yellow, dusk, an orange-brown, and under a lamp, a warm amber, captioned light reaching the eye from the banana, above a box reading still looks yellow; beneath, the light mixes surface and lamp, and nothing in it says how much is each. The third, headed one sound, many waves, shows three waves labeled loud, a large wave; in a pocket, a small, smooth wave; and echoing in a room, a wave with two fainter dashed copies trailing it; above a box reading the same ringtone, recognized at once, every time. Across the bottom: each sense has its own version of the hardest generalization from Module 7, the same thing across inputs that change completely."/>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direction_comes_fre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Things Are: Direction Comes Free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 image gives direction with no further computation. Distance is not on the retina, so it has to be computed, from differences between views.</a:t>
            </a:r>
          </a:p>
        </p:txBody>
      </p:sp>
      <p:pic>
        <p:nvPicPr>
          <p:cNvPr id="4" name="img0" descr="Two panels. The left, headed direction comes free with an image, shows light arriving at an eye from three directions labeled up, ahead and down; each ray crosses at the opening of the eye and lands at its own dot on a curved retina at the back. Beneath: where light lands already says which direction it came from; in bold, distance is not laid out on the retina. The right, headed where the eyes sit, shows two heads from above with their fields of view as shaded wedges. On the head labeled on the sides, the two wedges point out to either side and barely overlap in front: a wide view, good for watching for predators. On the head labeled facing forward, the two wedges point ahead and overlap over most of their width, the overlap darker and labeled darker, seen by both eyes: overlapping fields, most of the scene seen twice. Across the bottom: distance has to be computed, from differences between views, two eyes, or one eye that move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hearing_computes_direc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Hearing Has to Compute Even Direction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cochlea</a:t>
            </a:r>
            <a:r>
              <a:rPr sz="2000" b="0" i="0">
                <a:solidFill>
                  <a:srgbClr val="222222"/>
                </a:solidFill>
                <a:latin typeface="Calibri"/>
              </a:rPr>
              <a:t>, the mammalian organ of hearing, lays out its receptors by pitch, not by direction. Direction lies in differences between the two ears.</a:t>
            </a:r>
          </a:p>
        </p:txBody>
      </p:sp>
      <p:pic>
        <p:nvPicPr>
          <p:cNvPr id="4" name="img0" descr="Two panels. The left, headed the cochlea's layout is by pitch, shows a long rounded strip holding a row of twelve receptor circles, three of them filled, with high pitches at the left end and low pitches at the right, and an arrow between. Beneath: which receptors respond says which frequencies are in a sound, not where the sound came from; and in small type, the cochlea drawn uncoiled. The right, headed direction lies in the difference, shows a head seen from above with an ear on each side, and a sound source off to the left. A short solid arrow runs from the sound to the near ear, labeled near ear: first, and a longer dashed arrow curves round to the far ear, labeled far ear: later. Beneath: straight to one side, about 0.7 milliseconds later; a one-degree shift, about ten millionths of a second. Across the bottom: mammals' ears are isolated from each other, so left and right exist only in the difference; a lizard's eardrums are joined through its mouth, so each ear is directional by itself."/>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direction_on_the_ey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Direction on the Eye Is Not Direction in the World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Where an image falls gives its direction relative to the eye. Every movement of eye, head or body moves the image.</a:t>
            </a:r>
          </a:p>
        </p:txBody>
      </p:sp>
      <p:pic>
        <p:nvPicPr>
          <p:cNvPr id="4" name="img0" descr="Two side-by-side panels, headed before the tail beat and after one tail beat. In each, an eel lies in the same place at the left, a fish faces it, and the fish's eye is drawn enlarged beside it with a curved retina at the back. Before the tail beat, a dashed line runs from the eel straight into the eye and the eel's image, a dot, falls in the middle of the retina. After one tail beat, the fish's body is turned, the dashed line enters the eye at a slant, and the dot now falls near the top edge of the retina. Beneath both panels: same eel, same place, different place on the retina."/>
          <p:cNvPicPr>
            <a:picLocks noChangeAspect="1"/>
          </p:cNvPicPr>
          <p:nvPr/>
        </p:nvPicPr>
        <p:blipFill>
          <a:blip r:embed="rId2"/>
          <a:stretch>
            <a:fillRect/>
          </a:stretch>
        </p:blipFill>
        <p:spPr>
          <a:xfrm>
            <a:off x="301752" y="1783080"/>
            <a:ext cx="11582400" cy="4876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ignals_of_ones_own_mak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Signals of One’s Own Making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Reafference</a:t>
            </a:r>
            <a:r>
              <a:rPr sz="2000" b="0" i="0">
                <a:solidFill>
                  <a:srgbClr val="222222"/>
                </a:solidFill>
                <a:latin typeface="Calibri"/>
              </a:rPr>
              <a:t>: sensation caused by the animal’s own movement. </a:t>
            </a:r>
            <a:r>
              <a:rPr sz="2000" b="1" i="0">
                <a:solidFill>
                  <a:srgbClr val="222222"/>
                </a:solidFill>
                <a:latin typeface="Calibri"/>
              </a:rPr>
              <a:t>Exafference</a:t>
            </a:r>
            <a:r>
              <a:rPr sz="2000" b="0" i="0">
                <a:solidFill>
                  <a:srgbClr val="222222"/>
                </a:solidFill>
                <a:latin typeface="Calibri"/>
              </a:rPr>
              <a:t>: sensation caused by the world, independent of what the animal does.</a:t>
            </a:r>
          </a:p>
        </p:txBody>
      </p:sp>
      <p:pic>
        <p:nvPicPr>
          <p:cNvPr id="4" name="img0" descr="Two panels above a band. The left, headed same receptors, two causes, shows two boxes, walking into a rock, labeled reafference, caused by its own movement, and touched by a predator, labeled exafference, caused by the world; both have arrows into one box, the same receptors, captioned a crayfish. The right, headed self-caused signals can swamp the world's, shows two bars for a weakly electric fish, marked bars not to scale: a very short bar labeled prey nearby and a tall bar labeled its own tail bend, with a bracket reading 10 to 100 times. The band beneath, headed two sources of information about its own movement, holds two boxes: the commands it sends to its muscles; and senses of the movement itself, vestibular system and proprioception."/>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a_slow_bod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Slow Body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body acts on old information, keeps changing, and gets its signals in the wrong coordinates. A </a:t>
            </a:r>
            <a:r>
              <a:rPr sz="2000" b="1" i="0">
                <a:solidFill>
                  <a:srgbClr val="222222"/>
                </a:solidFill>
                <a:latin typeface="Calibri"/>
              </a:rPr>
              <a:t>saccade</a:t>
            </a:r>
            <a:r>
              <a:rPr sz="2000" b="0" i="0">
                <a:solidFill>
                  <a:srgbClr val="222222"/>
                </a:solidFill>
                <a:latin typeface="Calibri"/>
              </a:rPr>
              <a:t>, a quick jump of the eyes, is over before feedback could arrive.</a:t>
            </a:r>
          </a:p>
        </p:txBody>
      </p:sp>
      <p:pic>
        <p:nvPicPr>
          <p:cNvPr id="4" name="img0" descr="Left, a large panel headed the strike at a drifting water flea: a fish at the lower left, and a dashed path drifting up to the right with three marks on it, an open circle labeled where it was, when the light left it, a second open circle labeled where it is now, and a filled circle farthest along labeled where it will be when the strike arrives. A curved arrow runs from the fish's head to the filled circle. Beneath: aim at where the flea will be, from signals about where it was. Right, four stacked boxes. Delay: an image slip takes about a tenth of a second to become a correction; late feedback overshoots and oscillates. Too fast for feedback: a saccade, a jump of the eyes, lasts tens of milliseconds. A changing body: growth, fatigue, injury, glasses; command-to-outcome must be relearned. The wrong coordinates: a place on the retina is not a set of joint angle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moving_in_order_to_perceiv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Moving in Order to Perceive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Movement also makes information. An </a:t>
            </a:r>
            <a:r>
              <a:rPr sz="2000" b="1" i="0">
                <a:solidFill>
                  <a:srgbClr val="222222"/>
                </a:solidFill>
                <a:latin typeface="Calibri"/>
              </a:rPr>
              <a:t>affordance</a:t>
            </a:r>
            <a:r>
              <a:rPr sz="2000" b="0" i="0">
                <a:solidFill>
                  <a:srgbClr val="222222"/>
                </a:solidFill>
                <a:latin typeface="Calibri"/>
              </a:rPr>
              <a:t> is an opportunity for action that a place or object offers to a particular body.</a:t>
            </a:r>
          </a:p>
        </p:txBody>
      </p:sp>
      <p:pic>
        <p:nvPicPr>
          <p:cNvPr id="4" name="img0" descr="Two panels. The left, headed moving makes information, shows an observer, a circle on the ground with an arrow to the right labeled an observer moving right; a near box with a long arrow pointing left, labeled near: shifts fast; and a far box with a short arrow pointing left, labeled far: shifts slowly. A note in the corner reads a stationary animal does not have this information. The right, headed one drop, two bodies, shows a ledge dropping down to a lower level. A large four-legged animal stands back from the edge, labeled a large animal: a step. A tiny animal sits at the very edge, labeled in red, a small animal: a cliff. Beneath: what an animal can do in a place depends on the place and its body together. Across the bottom: affordance, an opportunity for action that a place or object offers to a particular body."/>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discussion_a_steady_pictur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Camera That Holds Still</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1800"/>
              </a:spcAft>
            </a:pPr>
            <a:r>
              <a:rPr sz="2000" b="1" i="0">
                <a:solidFill>
                  <a:srgbClr val="222222"/>
                </a:solidFill>
                <a:latin typeface="Calibri"/>
              </a:rPr>
              <a:t>In your group, four minutes.</a:t>
            </a:r>
          </a:p>
          <a:p>
            <a:pPr>
              <a:defRPr sz="1000"/>
            </a:pPr>
          </a:p>
          <a:p>
            <a:pPr>
              <a:spcAft>
                <a:spcPts val="1800"/>
              </a:spcAft>
            </a:pPr>
            <a:r>
              <a:rPr sz="2000" b="0" i="0">
                <a:solidFill>
                  <a:srgbClr val="222222"/>
                </a:solidFill>
                <a:latin typeface="Calibri"/>
              </a:rPr>
              <a:t>Many phone cameras steady a video when the hand holding them shakes, but not when a dog runs across the picture.</a:t>
            </a:r>
          </a:p>
          <a:p>
            <a:pPr>
              <a:defRPr sz="1000"/>
            </a:pPr>
          </a:p>
          <a:p>
            <a:pPr>
              <a:spcAft>
                <a:spcPts val="1800"/>
              </a:spcAft>
            </a:pPr>
            <a:r>
              <a:rPr sz="2000" b="0" i="0">
                <a:solidFill>
                  <a:srgbClr val="222222"/>
                </a:solidFill>
                <a:latin typeface="Calibri"/>
              </a:rPr>
              <a:t>How could the phone tell the two apart? Which of the fish’s two sources of information about its own movement does the phone have, and which does it lack?</a:t>
            </a:r>
          </a:p>
          <a:p>
            <a:pPr>
              <a:defRPr sz="1000"/>
            </a:pPr>
          </a:p>
          <a:p>
            <a:pPr>
              <a:spcAft>
                <a:spcPts val="1800"/>
              </a:spcAft>
            </a:pPr>
            <a:r>
              <a:rPr sz="2000" b="0" i="0">
                <a:solidFill>
                  <a:srgbClr val="222222"/>
                </a:solidFill>
                <a:latin typeface="Calibri"/>
              </a:rPr>
              <a:t>And what about a slow, deliberate pan across a room?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Two things set aside in Module 7</a:t>
                      </a:r>
                    </a:p>
                  </a:txBody>
                  <a:tcPr marL="73152" marR="73152" marT="18288" marB="18288">
                    <a:solidFill>
                      <a:srgbClr val="FFFFFF"/>
                    </a:solidFill>
                  </a:tcPr>
                </a:tc>
                <a:tc>
                  <a:txBody>
                    <a:bodyPr/>
                    <a:lstStyle/>
                    <a:p>
                      <a:r>
                        <a:rPr sz="1000" b="0" i="0">
                          <a:solidFill>
                            <a:srgbClr val="222222"/>
                          </a:solidFill>
                          <a:latin typeface="Calibri"/>
                        </a:rPr>
                        <a:t>fig-set-aside.png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Eyes for different lives</a:t>
                      </a:r>
                    </a:p>
                  </a:txBody>
                  <a:tcPr marL="73152" marR="73152" marT="18288" marB="18288">
                    <a:solidFill>
                      <a:srgbClr val="FFFFFF"/>
                    </a:solidFill>
                  </a:tcPr>
                </a:tc>
                <a:tc>
                  <a:txBody>
                    <a:bodyPr/>
                    <a:lstStyle/>
                    <a:p>
                      <a:r>
                        <a:rPr sz="1000" b="0" i="0">
                          <a:solidFill>
                            <a:srgbClr val="222222"/>
                          </a:solidFill>
                          <a:latin typeface="Calibri"/>
                        </a:rPr>
                        <a:t>fig-lives.png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Three senses, three ill-posed problems</a:t>
                      </a:r>
                    </a:p>
                  </a:txBody>
                  <a:tcPr marL="73152" marR="73152" marT="18288" marB="18288">
                    <a:solidFill>
                      <a:srgbClr val="FFFFFF"/>
                    </a:solidFill>
                  </a:tcPr>
                </a:tc>
                <a:tc>
                  <a:txBody>
                    <a:bodyPr/>
                    <a:lstStyle/>
                    <a:p>
                      <a:r>
                        <a:rPr sz="1000" b="0" i="0">
                          <a:solidFill>
                            <a:srgbClr val="222222"/>
                          </a:solidFill>
                          <a:latin typeface="Calibri"/>
                        </a:rPr>
                        <a:t>fig-ill-posed.png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Each sense's own invariance problem</a:t>
                      </a:r>
                    </a:p>
                  </a:txBody>
                  <a:tcPr marL="73152" marR="73152" marT="18288" marB="18288">
                    <a:solidFill>
                      <a:srgbClr val="FFFFFF"/>
                    </a:solidFill>
                  </a:tcPr>
                </a:tc>
                <a:tc>
                  <a:txBody>
                    <a:bodyPr/>
                    <a:lstStyle/>
                    <a:p>
                      <a:r>
                        <a:rPr sz="1000" b="0" i="0">
                          <a:solidFill>
                            <a:srgbClr val="222222"/>
                          </a:solidFill>
                          <a:latin typeface="Calibri"/>
                        </a:rPr>
                        <a:t>fig-same-thing.png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Direction free, distance computed</a:t>
                      </a:r>
                    </a:p>
                  </a:txBody>
                  <a:tcPr marL="73152" marR="73152" marT="18288" marB="18288">
                    <a:solidFill>
                      <a:srgbClr val="FFFFFF"/>
                    </a:solidFill>
                  </a:tcPr>
                </a:tc>
                <a:tc>
                  <a:txBody>
                    <a:bodyPr/>
                    <a:lstStyle/>
                    <a:p>
                      <a:r>
                        <a:rPr sz="1000" b="0" i="0">
                          <a:solidFill>
                            <a:srgbClr val="222222"/>
                          </a:solidFill>
                          <a:latin typeface="Calibri"/>
                        </a:rPr>
                        <a:t>fig-eyes-where.png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Hearing computes direction</a:t>
                      </a:r>
                    </a:p>
                  </a:txBody>
                  <a:tcPr marL="73152" marR="73152" marT="18288" marB="18288">
                    <a:solidFill>
                      <a:srgbClr val="FFFFFF"/>
                    </a:solidFill>
                  </a:tcPr>
                </a:tc>
                <a:tc>
                  <a:txBody>
                    <a:bodyPr/>
                    <a:lstStyle/>
                    <a:p>
                      <a:r>
                        <a:rPr sz="1000" b="0" i="0">
                          <a:solidFill>
                            <a:srgbClr val="222222"/>
                          </a:solidFill>
                          <a:latin typeface="Calibri"/>
                        </a:rPr>
                        <a:t>fig-ears-where.png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Where an image falls depends on where the eye points</a:t>
                      </a:r>
                    </a:p>
                  </a:txBody>
                  <a:tcPr marL="73152" marR="73152" marT="18288" marB="18288">
                    <a:solidFill>
                      <a:srgbClr val="FFFFFF"/>
                    </a:solidFill>
                  </a:tcPr>
                </a:tc>
                <a:tc>
                  <a:txBody>
                    <a:bodyPr/>
                    <a:lstStyle/>
                    <a:p>
                      <a:r>
                        <a:rPr sz="1000" b="0" i="0">
                          <a:solidFill>
                            <a:srgbClr val="222222"/>
                          </a:solidFill>
                          <a:latin typeface="Calibri"/>
                        </a:rPr>
                        <a:t>fig-where-on-the-eye.png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Self or world</a:t>
                      </a:r>
                    </a:p>
                  </a:txBody>
                  <a:tcPr marL="73152" marR="73152" marT="18288" marB="18288">
                    <a:solidFill>
                      <a:srgbClr val="FFFFFF"/>
                    </a:solidFill>
                  </a:tcPr>
                </a:tc>
                <a:tc>
                  <a:txBody>
                    <a:bodyPr/>
                    <a:lstStyle/>
                    <a:p>
                      <a:r>
                        <a:rPr sz="1000" b="0" i="0">
                          <a:solidFill>
                            <a:srgbClr val="222222"/>
                          </a:solidFill>
                          <a:latin typeface="Calibri"/>
                        </a:rPr>
                        <a:t>fig-self-or-world.png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gridCol w="2699308"/>
                <a:gridCol w="2699308"/>
                <a:gridCol w="1574596"/>
                <a:gridCol w="3599078"/>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815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strike at a water flea</a:t>
                      </a:r>
                    </a:p>
                  </a:txBody>
                  <a:tcPr marL="73152" marR="73152" marT="18288" marB="18288">
                    <a:solidFill>
                      <a:srgbClr val="FFFFFF"/>
                    </a:solidFill>
                  </a:tcPr>
                </a:tc>
                <a:tc>
                  <a:txBody>
                    <a:bodyPr/>
                    <a:lstStyle/>
                    <a:p>
                      <a:r>
                        <a:rPr sz="1000" b="0" i="0">
                          <a:solidFill>
                            <a:srgbClr val="222222"/>
                          </a:solidFill>
                          <a:latin typeface="Calibri"/>
                        </a:rPr>
                        <a:t>fig-slow-body.png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Moving makes information; one drop, two bodies</a:t>
                      </a:r>
                    </a:p>
                  </a:txBody>
                  <a:tcPr marL="73152" marR="73152" marT="18288" marB="18288">
                    <a:solidFill>
                      <a:srgbClr val="FFFFFF"/>
                    </a:solidFill>
                  </a:tcPr>
                </a:tc>
                <a:tc>
                  <a:txBody>
                    <a:bodyPr/>
                    <a:lstStyle/>
                    <a:p>
                      <a:r>
                        <a:rPr sz="1000" b="0" i="0">
                          <a:solidFill>
                            <a:srgbClr val="222222"/>
                          </a:solidFill>
                          <a:latin typeface="Calibri"/>
                        </a:rPr>
                        <a:t>fig-step-or-cliff.png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