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676"/>
  </p:normalViewPr>
  <p:slideViewPr>
    <p:cSldViewPr snapToGrid="0" snapToObjects="1">
      <p:cViewPr varScale="1">
        <p:scale>
          <a:sx n="206" d="100"/>
          <a:sy n="206" d="100"/>
        </p:scale>
        <p:origin x="133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2102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lecture is the implementational level. In the first lecture, we stated the problems a moving animal’s senses face. In the second, we gave procedures that could solve them in any substrate. In this one, we ask how real nervous systems do it, with receptor cells, neurons, maps and circuits, and at what cost.</a:t>
            </a:r>
          </a:p>
          <a:p>
            <a:endParaRPr/>
          </a:p>
          <a:p>
            <a:r>
              <a:t>Throughout, we answer something from one of the first two lectures: a problem, like direction or delay, or a procedure, like a delay line or learning from mismatch. We end with the cerebellum and with a circuit in electric fish that learns to cancel the fish’s own signals, and then with what every sense does.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second lecture, the theme was that the procedures are substrate-neutral. A delay line could be built from wires and clocks, a copy of the command could live in a variable, and learning from mismatch is the delta rule from Module 5. The question is what it would take to build each one from neurons.</a:t>
            </a:r>
          </a:p>
          <a:p>
            <a:endParaRPr/>
          </a:p>
          <a:p>
            <a:r>
              <a:t>The delay line is the most demanding. It needs signals from the two ears to travel toward each other along a row of detectors, and detectors that respond only when both arrive at once. Groups usually notice the timing problem straight away: the differences to be measured are millionths of a second, and a nerve impulse lasts about a thousandth. A copy of the command needs a pathway from wherever commands are issued to wherever the senses are compared. Learning from mismatch needs a signal that carries the error to the place where the change is made.</a:t>
            </a:r>
          </a:p>
          <a:p>
            <a:endParaRPr/>
          </a:p>
          <a:p>
            <a:r>
              <a:t>All three come up in this lecture. Hold on to the answers, and check them against what real nervous systems turn out to have.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Each sense begins with receptor cells that respond to one kind of physical signal. In most senses, those cells are laid out as a sheet, and the layout carries information before any neuron has computed anything. The table is the survey of the senses, all in one place.</a:t>
            </a:r>
          </a:p>
          <a:p>
            <a:endParaRPr dirty="0"/>
          </a:p>
          <a:p>
            <a:r>
              <a:rPr dirty="0"/>
              <a:t>Several principles run across it. Most receptor sheets keep their layout into the brain, forming the topographic maps we described in Module 6. Vision’s map is laid out by direction, which is **retinotopy**. Hearing’s is laid out by frequency, which is **tonotopy**. Touch’s is laid out by location on the body, which is **somatotopy**. This is the point about *where* from the first lecture, made physical: the retina gives direction free because its map is a map of direction, and the cochlea does not because its map is a map of pitch.</a:t>
            </a:r>
          </a:p>
          <a:p>
            <a:endParaRPr dirty="0"/>
          </a:p>
          <a:p>
            <a:r>
              <a:rPr dirty="0"/>
              <a:t>Maps are not drawn to scale. The center of gaze takes up a large share of the visual map, and the hands and lips a large share of the map of the body. A map’s proportions follow the density of receptors, and how much the animal uses that part of the sheet.</a:t>
            </a:r>
          </a:p>
          <a:p>
            <a:endParaRPr dirty="0"/>
          </a:p>
          <a:p>
            <a:r>
              <a:rPr dirty="0"/>
              <a:t>Of the senses that reach the cortex, every one but smell passes through the thalamus on the way. The visual relay in the thalamus is the **lateral geniculate nucleus**. Smell is the exception, as we noted in Module 7, because the olfactory bulb projects straight to the olfactory cortex. And balance is irregular. It has no single primary cortical area, and visual signals join it at its very first stop in the brainstem.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retina is not a camera’s film. It grows out of the developing brain, and it processes the image before any signal leaves the eye.</a:t>
            </a:r>
          </a:p>
          <a:p>
            <a:endParaRPr dirty="0"/>
          </a:p>
          <a:p>
            <a:r>
              <a:rPr dirty="0"/>
              <a:t>Its receptor cell is the **photoreceptor**. Each one contains a pigment that changes shape when it absorbs a particle of light, which sets off a chain of reactions that amplifies a single absorption many times over. Unlike the touch and smell receptors we described in Module 4, photoreceptors respond to light by releasing less transmitter, not more. What matters for the code is not the direction of the change but its consistency.</a:t>
            </a:r>
          </a:p>
          <a:p>
            <a:endParaRPr dirty="0"/>
          </a:p>
          <a:p>
            <a:r>
              <a:rPr dirty="0"/>
              <a:t>There are two kinds. A **rod** responds reliably to a single particle of light, and rods handle dim light. A **cone** needs more than a hundred, and cones handle daylight, detail and color. A human eye has about 90 million rods and 4.5 million cones. The cones crowd into the fovea, and its very center has no rods, which is why a faint star is easier to see by looking slightly to one side.</a:t>
            </a:r>
          </a:p>
          <a:p>
            <a:endParaRPr dirty="0"/>
          </a:p>
          <a:p>
            <a:r>
              <a:rPr dirty="0"/>
              <a:t>The wiring is a trade. Many rods pool onto one cell, so faint signals add up, but the brain can no longer tell which rod caught the light. In the fovea, one cone feeds one outgoing cell, which keeps exact location but gives up sensitivity. It is the same trade pooling made in Module 7.</a:t>
            </a:r>
          </a:p>
          <a:p>
            <a:endParaRPr dirty="0"/>
          </a:p>
          <a:p>
            <a:r>
              <a:rPr dirty="0"/>
              <a:t>The retina’s output cells, the ganglion cells, have center–surround receptive fields: they respond strongly to a spot that differs from its surroundings and weakly to even light. That is lateral inhibition, from Module 4, at work. Each ganglion cell also covers only about a tenfold range of light at a time, sliding that range across the billionfold range from starlight to daylight, much as a camera adjusts its exposure. So the retina reports mostly contrast and change. That is how the retina first handles the billionfold range of light from the first lecture.</a:t>
            </a:r>
          </a:p>
          <a:p>
            <a:endParaRPr dirty="0"/>
          </a:p>
          <a:p>
            <a:r>
              <a:rPr dirty="0"/>
              <a:t>Fibers from the inner half of each retina cross to the other side, so each half of the brain receives the opposite half of the visual world, from both eyes. The two eyes’ signals first converge on single neurons in visual cortex, which is the first place disparity can be computed. Overlapping eyes do not guarantee stereo, though. Many birds with overlapping fields seem to lack the cells it needs, and the stereo circuits, though probably largely built in, need both eyes working together during a critical period, in the sense we described in Module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second lecture, we said color needs a comparison between receptors. In the eye, those receptors are cones. A single cone reports only how much light it absorbed, not its wavelength, so color needs at least two kinds of cone. Humans have three.</a:t>
            </a:r>
          </a:p>
          <a:p>
            <a:endParaRPr dirty="0"/>
          </a:p>
          <a:p>
            <a:r>
              <a:rPr dirty="0"/>
              <a:t>The earliest vertebrates already had genes for four kinds of cone. Many shallow-water bony fish, zebrafish and goldfish among them, still use all four, including one sensitive to ultraviolet light. Mammals lost two of the four, and most mammals today have only two kinds. Many researchers link that loss to a long period when early mammals were active mainly at night, when color mattered little. That link is a well-supported hypothesis rather than a settled fact. This is the history behind the eyes for different lives from the first lecture.</a:t>
            </a:r>
          </a:p>
          <a:p>
            <a:endParaRPr dirty="0"/>
          </a:p>
          <a:p>
            <a:r>
              <a:rPr dirty="0"/>
              <a:t>In primates, the features of the eye came in steps. Forward-facing eyes came first, in primates still active at night. A fovea came later, in the ancestors of tarsiers and monkeys. </a:t>
            </a:r>
            <a:r>
              <a:rPr dirty="0" err="1"/>
              <a:t>Foveas</a:t>
            </a:r>
            <a:r>
              <a:rPr dirty="0"/>
              <a:t> also evolved separately in other lineages, including many birds.</a:t>
            </a:r>
          </a:p>
          <a:p>
            <a:endParaRPr dirty="0"/>
          </a:p>
          <a:p>
            <a:r>
              <a:rPr dirty="0"/>
              <a:t>Then a third kind of cone arose in the ancestors of Old World monkeys, apes and people. The gene for one long-wavelength pigment was duplicated, and the two copies drifted apart in the wavelengths they absorb. Most New World monkeys have a different arrangement, in which only some females have three kinds of cone, and in howler monkeys the same gene was duplicated independently. The human blue cone carries the old ultraviolet pigment of the early vertebrates, retuned to longer wavelengths.</a:t>
            </a:r>
          </a:p>
          <a:p>
            <a:endParaRPr dirty="0"/>
          </a:p>
          <a:p>
            <a:r>
              <a:rPr dirty="0"/>
              <a:t>There is a downside. The two long-wavelength genes sit side by side on the X chromosome and are easily miscopied, so about 8% of men in the United States have some red–green color deficiency.</a:t>
            </a:r>
          </a:p>
          <a:p>
            <a:endParaRPr dirty="0"/>
          </a:p>
          <a:p>
            <a:r>
              <a:rPr dirty="0"/>
              <a:t>So primate color vision did not recover the fish’s. It came from a copied gene and a retuned pigment, which is the lesson we drew about the vertebrate brain in Module 6: new structures from old parts.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primary visual cortex lie dozens of further visual areas, usually grouped into two broad streams. The ventral stream, which we followed in Module 7, runs into the temporal lobe and is concerned with form and objects. The **dorsal stream** runs into the parietal lobe and is concerned with motion, location, and guiding action.</a:t>
            </a:r>
          </a:p>
          <a:p>
            <a:endParaRPr dirty="0"/>
          </a:p>
          <a:p>
            <a:r>
              <a:rPr dirty="0"/>
              <a:t>Some of the evidence comes from damage. In monkeys, temporal-lobe damage impairs telling objects apart, and parietal damage impairs judging where things are. One woman who lost a region of cortex specialized for motion saw tea as frozen while it poured, and cars as far away and then suddenly close. Color can be lost too: after damage to particular visual areas, a person with achromatopsia sees in dirty shades of gray although the cones work, and still knows a school bus is yellow without seeing it. But a large recent study of stroke patients found that color deficits did not map neatly onto one area, and how color and its constancy arise beyond the cones is still unclear.</a:t>
            </a:r>
          </a:p>
          <a:p>
            <a:endParaRPr dirty="0"/>
          </a:p>
          <a:p>
            <a:r>
              <a:rPr dirty="0"/>
              <a:t>A second account contrasts vision for perception with vision for action. A patient known as D.F., after damage to her visual cortex, could not say or show how a slot was tilted, yet could post a card through it. She could not tell flat shapes of different widths apart by sight, yet her grip opened wider for the wider ones. The proposal was that the ventral stream serves perception and the dorsal stream action. Parietal damage can produce **optic ataxia**: reaching badly for objects away from the center of gaze, while reaching for objects looked at directly is nearly normal.</a:t>
            </a:r>
          </a:p>
          <a:p>
            <a:endParaRPr dirty="0"/>
          </a:p>
          <a:p>
            <a:r>
              <a:rPr dirty="0"/>
              <a:t>The evidence is weaker than that first telling. D.F. was tested on objects she looked at directly, and optic ataxia mostly affects objects off to the side, so the two are not a clean mirror image. D.F. herself later showed signs of optic ataxia. And when four laboratories tested 144 people, grasping was fooled by a size illusion about as much as judgment was. So the streams are specialized, not independent, and they exchange signals throughout.</a:t>
            </a:r>
          </a:p>
          <a:p>
            <a:endParaRPr dirty="0"/>
          </a:p>
          <a:p>
            <a:r>
              <a:rPr dirty="0"/>
              <a:t>Cells in the ventral stream fit the views account from the second lecture. In monkeys trained on novel objects, of 773 cells analyzed in inferior temporal cortex, 71 responded to particular views of the trained objects and only 8 across views. For the dorsal stream, a network trained to estimate its own movement from what it sees predicts dorsal-stream responses better than one trained to recognize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ear has a long history, and most of its parts began as something else.</a:t>
            </a:r>
          </a:p>
          <a:p>
            <a:endParaRPr dirty="0"/>
          </a:p>
          <a:p>
            <a:r>
              <a:rPr dirty="0"/>
              <a:t>The inner ear is as old as the vertebrates; lampreys and hagfishes have one. It is often said to have evolved from the lateral line, but that is unresolved. The two grow from a shared patch of embryonic tissue and use the same kind of receptor cell, so they are best seen as sisters. Fish hear with the balance organs of the inner ear, which can tell which way the water near a sound source is moving, but not whether the source is in front or behind.</a:t>
            </a:r>
          </a:p>
          <a:p>
            <a:endParaRPr dirty="0"/>
          </a:p>
          <a:p>
            <a:r>
              <a:rPr dirty="0"/>
              <a:t>The middle ear’s parts began as something else. The stapes, the bone that carries sound to the inner ear, began in fishes as the hyomandibula, a bone that braced the jaw. Early fishes had a spiracle, an opening behind each eye, and in land vertebrates the pouch behind it became the air-filled middle ear. Where the pouch stays sealed by thin skin, the result is an eardrum. In mammals, two more bones joined the stapes: the malleus and incus, which once formed the joint of the jaw.</a:t>
            </a:r>
          </a:p>
          <a:p>
            <a:endParaRPr dirty="0"/>
          </a:p>
          <a:p>
            <a:r>
              <a:rPr dirty="0"/>
              <a:t>An eardrum solves a real problem. Sound in air mostly bounces off water, and the inner ear is filled with fluid. The eardrum and its bones collect force over a large area and concentrate it onto a small opening into the inner ear, the way a thumbtack concentrates the push of a thumb onto its point. That raises the pressure about two hundredfold. Even so, eardrums that catch airborne sound evolved late, separately at least five times during the Triassic, more than 100 million years after vertebrates came onto land.</a:t>
            </a:r>
          </a:p>
          <a:p>
            <a:endParaRPr dirty="0"/>
          </a:p>
          <a:p>
            <a:r>
              <a:rPr dirty="0"/>
              <a:t>Directional hearing changed along the way. In frogs, lizards and birds the eardrums are joined through the mouth or a canal, which makes each ear directional, as we said for the lizard in the first lecture. Mammals lost that link. One proposal is that mammals’ high-frequency hearing made up for it, since only high frequencies are shadowed enough by a small head to differ in level, and only high frequencies are usefully filtered by the outer ear’s folds. The hearing organ also lengthened into the mammalian cochlea, and in most mammals it coiled, which fits a long tube into a small skull.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cochlea is a coiled tube of fluid with a membrane running along it. The membrane is stiff at the base and floppy at the far end, so high frequencies vibrate it most near the base and low frequencies near the end. That gives hearing its tonotopic map, and makes the cochlea a bank of overlapping filters. This is why, in the first lecture, we said the cochlea’s receptors report pitch and not direction.</a:t>
            </a:r>
          </a:p>
          <a:p>
            <a:endParaRPr dirty="0"/>
          </a:p>
          <a:p>
            <a:r>
              <a:rPr dirty="0"/>
              <a:t>The receptor is the **hair cell**, topped with a bundle of stiff projections. Bending the bundle pulls channels in the membrane open directly, with no chemical steps in between, in as little as ten millionths of a second. That speed is what timing-based localization needs. Mammalian hair cells, unlike those of fish and birds, do not regenerate once lost.</a:t>
            </a:r>
          </a:p>
          <a:p>
            <a:endParaRPr dirty="0"/>
          </a:p>
          <a:p>
            <a:r>
              <a:rPr dirty="0"/>
              <a:t>Signals from the two ears first meet in the brainstem. One group of neurons compares their timing by coincidence detection. Another compares their levels, excitation from one ear against inhibition from the other.</a:t>
            </a:r>
          </a:p>
          <a:p>
            <a:endParaRPr dirty="0"/>
          </a:p>
          <a:p>
            <a:r>
              <a:rPr dirty="0"/>
              <a:t>Measuring timing is hard for neurons, because a nerve impulse lasts about a thousandth of a second, a hundred times longer than the differences that matter. The barn owl, which hunts mice in the dark by sound, has one solution. Axons from the two ears run in opposite directions along a row of neurons, each of which fires only when impulses from both ears arrive at once, which is coincidence detection in the sense we described in Module 5. So the owl has a delay line of the kind described in the second lecture. Whether mammals do is debated. Many of their timing neurons prefer differences larger than their own heads produce, and timed inhibition reshapes their responses, so mammals may use the two broad channels instead. A model that fits one species need not hold for another.</a:t>
            </a:r>
          </a:p>
          <a:p>
            <a:endParaRPr dirty="0"/>
          </a:p>
          <a:p>
            <a:r>
              <a:rPr dirty="0"/>
              <a:t>The computed map of sound direction ends up lined up with vision’s. The **superior colliculus**, the mammalian tectum, turns the eyes and head toward things. In it, and in the owl’s tectum, a map of auditory space sits in register with the map of visual space. Auditory cortex, by contrast, is tonotopic and has no map of space.</a:t>
            </a:r>
          </a:p>
          <a:p>
            <a:endParaRPr dirty="0"/>
          </a:p>
          <a:p>
            <a:r>
              <a:rPr dirty="0"/>
              <a:t>Hearing also handles the animal’s own sounds with both of the strategies from the second lecture. Tiny middle-ear muscles contract during vocalizing, which dims one’s own voice. Auditory cortex quiets around vocalizing. And a mouse that learned its own lever press would produce a tone came to respond less to that tone than to the same tone played at random.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Module 7, we took the activity in the olfactory bulb as given. This is how that activity is produced. The genes for smell’s receptors, a large family, were identified in the rat in 1991 by Linda Buck and Richard Axel, who argued that smell needs many narrowly tuned receptors, where color vision needs only three. Working smell receptor genes run from a few dozen in a lamprey to about 400 in a human and about 1,000 in a mouse.</a:t>
            </a:r>
          </a:p>
          <a:p>
            <a:endParaRPr dirty="0"/>
          </a:p>
          <a:p>
            <a:r>
              <a:rPr dirty="0"/>
              <a:t>Each smell neuron in a mammal makes one kind of receptor. Neurons that make the same receptor are scattered across the lining of the nose, but their axons converge on the same few glomeruli in the olfactory bulb. A **glomerulus** is a small spherical cluster of connections between incoming axons and the bulb’s own neurons. In the mouse, about 25,000 axons converge onto one glomerulus, which feeds about 25 output cells.</a:t>
            </a:r>
          </a:p>
          <a:p>
            <a:endParaRPr dirty="0"/>
          </a:p>
          <a:p>
            <a:r>
              <a:rPr dirty="0"/>
              <a:t>So the bulb turns a scattered sheet of receptors into an array sorted by receptor type. A natural odor activates only a small fraction of the glomeruli, which is sparse coding in the sense we defined in Module 7. Whether the glomeruli form an orderly map of odors is not known, and nothing about their arrangement carries location.</a:t>
            </a:r>
          </a:p>
          <a:p>
            <a:endParaRPr dirty="0"/>
          </a:p>
          <a:p>
            <a:r>
              <a:rPr dirty="0"/>
              <a:t>Touch is the opposite case. Its receptors carry location above all, because they are laid out across the skin. Several kinds act as different filters, responding best to edges, to slipping, to vibration, or to stretch, and how finely a part of the body can feel depends on how densely they are packed. Two points on a fingertip feel separate about 2 millimeters apart. On the upper arm they need to be about 40 millimeters apart.</a:t>
            </a:r>
          </a:p>
          <a:p>
            <a:endParaRPr dirty="0"/>
          </a:p>
          <a:p>
            <a:r>
              <a:rPr dirty="0"/>
              <a:t>The somatosensory cortex holds a map of the body, often drawn as a **homunculus**, a distorted figure with huge hands and lips. Other animals’ maps are distorted in their own ways: in rats, the whiskers, each with its own cluster or barrel; in raccoons, the paws; in the platypus, the bill. These maps also reorganize after the loss of a body part, or after heavy use of 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**motor cortex** lies just in front of the somatosensory cortex. Its output fibers run down to the spinal cord, crossing to the opposite side on the way, and some contact the motor neurons of the hand directly, which lets the fingers move independently. Those direct connections are largest in species with skilled hands or forepaws.</a:t>
            </a:r>
          </a:p>
          <a:p>
            <a:endParaRPr dirty="0"/>
          </a:p>
          <a:p>
            <a:r>
              <a:rPr dirty="0"/>
              <a:t>The motor cortex has a map of the body too, with the same broad layout as the sensory map and the same enlarged hands and face. But the motor map is much coarser. One muscle can be activated from a patch millimeters wide, one site activates several muscles, and the zones for different body parts overlap a great deal. Longer stimulation in monkeys produces whole actions, like bringing a hand to the mouth, reaching, or raising an arm in defense. So a sensory map keeps the layout of a receptor sheet, while the motor map is organized around what the body does.</a:t>
            </a:r>
          </a:p>
          <a:p>
            <a:endParaRPr dirty="0"/>
          </a:p>
          <a:p>
            <a:r>
              <a:rPr dirty="0"/>
              <a:t>The direction of a movement is coded not by single neurons but by a vote across many of them, each preferring a different direction. That is a distributed code, of the kind we described in Module 7. A fish, for comparison, has no motor cortex at all. Its tectum and brainstem steer it.</a:t>
            </a:r>
          </a:p>
          <a:p>
            <a:endParaRPr dirty="0"/>
          </a:p>
          <a:p>
            <a:r>
              <a:rPr dirty="0"/>
              <a:t>Part of the coordinate problem from the first lecture is solved by layout. In the superior colliculus, a map of visual space sits directly above a map of eye movements, in register, so a target at one point in the visual map can drive the eyes toward that same point. Even so, the eye’s motor neurons are driven by firing rates, not places, so a place code has to become a rate code, which is likely needed wherever a sensory map drives a movement. Mappings like the simulated crab’s, from eye angles to arm angles, are thought to be carried by the strengths of many synapses, which learning and development can change. In primates, separate circuits between parietal and frontal areas handle reaching for an object and shaping the hand to grasp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Perception and Action</a:t>
            </a:r>
          </a:p>
          <a:p>
            <a:pPr algn="ctr"/>
            <a:r>
              <a:rPr sz="2000" b="0" i="0">
                <a:solidFill>
                  <a:srgbClr val="FFFFFF"/>
                </a:solidFill>
                <a:latin typeface="Calibri"/>
              </a:rPr>
              <a:t>Lecture 8.3 — Receptor Sheets, Maps, and the Cerebellum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what_it_would_tak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What Would It Take?</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endParaRPr sz="2000" b="1" i="0">
              <a:solidFill>
                <a:srgbClr val="222222"/>
              </a:solidFill>
              <a:latin typeface="Calibri"/>
            </a:endParaRPr>
          </a:p>
          <a:p>
            <a:pPr>
              <a:spcAft>
                <a:spcPts val="2400"/>
              </a:spcAft>
            </a:pPr>
            <a:r>
              <a:rPr sz="2000" b="0" i="0">
                <a:solidFill>
                  <a:srgbClr val="222222"/>
                </a:solidFill>
                <a:latin typeface="Calibri"/>
              </a:rPr>
              <a:t>Every procedure in the second lecture could run in any substrate. Pick one: the delay line, a copy of the command, or learning a mapping from mismatch.</a:t>
            </a:r>
          </a:p>
          <a:p>
            <a:pPr>
              <a:defRPr sz="1000"/>
            </a:pPr>
            <a:endParaRPr sz="2000" b="0" i="0">
              <a:solidFill>
                <a:srgbClr val="222222"/>
              </a:solidFill>
              <a:latin typeface="Calibri"/>
            </a:endParaRPr>
          </a:p>
          <a:p>
            <a:pPr>
              <a:spcAft>
                <a:spcPts val="2400"/>
              </a:spcAft>
            </a:pPr>
            <a:r>
              <a:rPr sz="2000" b="0" i="0">
                <a:solidFill>
                  <a:srgbClr val="222222"/>
                </a:solidFill>
                <a:latin typeface="Calibri"/>
              </a:rPr>
              <a:t>What would a nervous system need, to run it? What kind of cells, wired how, and how fast?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rom_receptor_sheet_to_cortex">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From Receptor Sheet to Cortex</a:t>
            </a:r>
          </a:p>
        </p:txBody>
      </p:sp>
      <p:graphicFrame>
        <p:nvGraphicFramePr>
          <p:cNvPr id="3" name="table"/>
          <p:cNvGraphicFramePr>
            <a:graphicFrameLocks noGrp="1"/>
          </p:cNvGraphicFramePr>
          <p:nvPr/>
        </p:nvGraphicFramePr>
        <p:xfrm>
          <a:off x="228600" y="1783080"/>
          <a:ext cx="11731750" cy="4892040"/>
        </p:xfrm>
        <a:graphic>
          <a:graphicData uri="http://schemas.openxmlformats.org/drawingml/2006/table">
            <a:tbl>
              <a:tblPr>
                <a:tableStyleId>{5C22544A-7EE6-4342-B048-85BDC9FD1C3A}</a:tableStyleId>
              </a:tblPr>
              <a:tblGrid>
                <a:gridCol w="1994397">
                  <a:extLst>
                    <a:ext uri="{9D8B030D-6E8A-4147-A177-3AD203B41FA5}">
                      <a16:colId xmlns:a16="http://schemas.microsoft.com/office/drawing/2014/main" val="20000"/>
                    </a:ext>
                  </a:extLst>
                </a:gridCol>
                <a:gridCol w="2932938">
                  <a:extLst>
                    <a:ext uri="{9D8B030D-6E8A-4147-A177-3AD203B41FA5}">
                      <a16:colId xmlns:a16="http://schemas.microsoft.com/office/drawing/2014/main" val="20001"/>
                    </a:ext>
                  </a:extLst>
                </a:gridCol>
                <a:gridCol w="2580985">
                  <a:extLst>
                    <a:ext uri="{9D8B030D-6E8A-4147-A177-3AD203B41FA5}">
                      <a16:colId xmlns:a16="http://schemas.microsoft.com/office/drawing/2014/main" val="20002"/>
                    </a:ext>
                  </a:extLst>
                </a:gridCol>
                <a:gridCol w="4223430">
                  <a:extLst>
                    <a:ext uri="{9D8B030D-6E8A-4147-A177-3AD203B41FA5}">
                      <a16:colId xmlns:a16="http://schemas.microsoft.com/office/drawing/2014/main" val="20003"/>
                    </a:ext>
                  </a:extLst>
                </a:gridCol>
              </a:tblGrid>
              <a:tr h="611505">
                <a:tc>
                  <a:txBody>
                    <a:bodyPr/>
                    <a:lstStyle/>
                    <a:p>
                      <a:r>
                        <a:rPr sz="1500" b="1" i="0">
                          <a:solidFill>
                            <a:srgbClr val="1F2A44"/>
                          </a:solidFill>
                          <a:latin typeface="Calibri"/>
                        </a:rPr>
                        <a:t>Sense</a:t>
                      </a:r>
                    </a:p>
                  </a:txBody>
                  <a:tcPr marL="73152" marR="73152" marT="18288" marB="18288">
                    <a:solidFill>
                      <a:srgbClr val="FFFFFF"/>
                    </a:solidFill>
                  </a:tcPr>
                </a:tc>
                <a:tc>
                  <a:txBody>
                    <a:bodyPr/>
                    <a:lstStyle/>
                    <a:p>
                      <a:r>
                        <a:rPr sz="1500" b="1" i="0">
                          <a:solidFill>
                            <a:srgbClr val="1F2A44"/>
                          </a:solidFill>
                          <a:latin typeface="Calibri"/>
                        </a:rPr>
                        <a:t>Receptors laid out by</a:t>
                      </a:r>
                    </a:p>
                  </a:txBody>
                  <a:tcPr marL="73152" marR="73152" marT="18288" marB="18288">
                    <a:solidFill>
                      <a:srgbClr val="FFFFFF"/>
                    </a:solidFill>
                  </a:tcPr>
                </a:tc>
                <a:tc>
                  <a:txBody>
                    <a:bodyPr/>
                    <a:lstStyle/>
                    <a:p>
                      <a:r>
                        <a:rPr sz="1500" b="1" i="0">
                          <a:solidFill>
                            <a:srgbClr val="1F2A44"/>
                          </a:solidFill>
                          <a:latin typeface="Calibri"/>
                        </a:rPr>
                        <a:t>What the layout gives free</a:t>
                      </a:r>
                    </a:p>
                  </a:txBody>
                  <a:tcPr marL="73152" marR="73152" marT="18288" marB="18288">
                    <a:solidFill>
                      <a:srgbClr val="FFFFFF"/>
                    </a:solidFill>
                  </a:tcPr>
                </a:tc>
                <a:tc>
                  <a:txBody>
                    <a:bodyPr/>
                    <a:lstStyle/>
                    <a:p>
                      <a:r>
                        <a:rPr sz="1500" b="1" i="0">
                          <a:solidFill>
                            <a:srgbClr val="1F2A44"/>
                          </a:solidFill>
                          <a:latin typeface="Calibri"/>
                        </a:rPr>
                        <a:t>Route to the cortex</a:t>
                      </a:r>
                    </a:p>
                  </a:txBody>
                  <a:tcPr marL="73152" marR="73152" marT="18288" marB="18288">
                    <a:solidFill>
                      <a:srgbClr val="FFFFFF"/>
                    </a:solidFill>
                  </a:tcPr>
                </a:tc>
                <a:extLst>
                  <a:ext uri="{0D108BD9-81ED-4DB2-BD59-A6C34878D82A}">
                    <a16:rowId xmlns:a16="http://schemas.microsoft.com/office/drawing/2014/main" val="10000"/>
                  </a:ext>
                </a:extLst>
              </a:tr>
              <a:tr h="611505">
                <a:tc>
                  <a:txBody>
                    <a:bodyPr/>
                    <a:lstStyle/>
                    <a:p>
                      <a:r>
                        <a:rPr sz="1400" b="0" i="0">
                          <a:solidFill>
                            <a:srgbClr val="222222"/>
                          </a:solidFill>
                          <a:latin typeface="Calibri"/>
                        </a:rPr>
                        <a:t>Vision</a:t>
                      </a:r>
                    </a:p>
                  </a:txBody>
                  <a:tcPr marL="73152" marR="73152" marT="18288" marB="18288">
                    <a:solidFill>
                      <a:srgbClr val="FFFFFF"/>
                    </a:solidFill>
                  </a:tcPr>
                </a:tc>
                <a:tc>
                  <a:txBody>
                    <a:bodyPr/>
                    <a:lstStyle/>
                    <a:p>
                      <a:r>
                        <a:rPr sz="1400" b="0" i="0">
                          <a:solidFill>
                            <a:srgbClr val="222222"/>
                          </a:solidFill>
                          <a:latin typeface="Calibri"/>
                        </a:rPr>
                        <a:t>Direction in the visual field</a:t>
                      </a:r>
                    </a:p>
                  </a:txBody>
                  <a:tcPr marL="73152" marR="73152" marT="18288" marB="18288">
                    <a:solidFill>
                      <a:srgbClr val="FFFFFF"/>
                    </a:solidFill>
                  </a:tcPr>
                </a:tc>
                <a:tc>
                  <a:txBody>
                    <a:bodyPr/>
                    <a:lstStyle/>
                    <a:p>
                      <a:r>
                        <a:rPr sz="1400" b="0" i="0">
                          <a:solidFill>
                            <a:srgbClr val="222222"/>
                          </a:solidFill>
                          <a:latin typeface="Calibri"/>
                        </a:rPr>
                        <a:t>Direction, relative to the eye</a:t>
                      </a:r>
                    </a:p>
                  </a:txBody>
                  <a:tcPr marL="73152" marR="73152" marT="18288" marB="18288">
                    <a:solidFill>
                      <a:srgbClr val="FFFFFF"/>
                    </a:solidFill>
                  </a:tcPr>
                </a:tc>
                <a:tc>
                  <a:txBody>
                    <a:bodyPr/>
                    <a:lstStyle/>
                    <a:p>
                      <a:r>
                        <a:rPr sz="1400" b="0" i="0">
                          <a:solidFill>
                            <a:srgbClr val="222222"/>
                          </a:solidFill>
                          <a:latin typeface="Calibri"/>
                        </a:rPr>
                        <a:t>Thalamus (lateral geniculate nucleus), then primary visual cortex</a:t>
                      </a:r>
                    </a:p>
                  </a:txBody>
                  <a:tcPr marL="73152" marR="73152" marT="18288" marB="18288">
                    <a:solidFill>
                      <a:srgbClr val="FFFFFF"/>
                    </a:solidFill>
                  </a:tcPr>
                </a:tc>
                <a:extLst>
                  <a:ext uri="{0D108BD9-81ED-4DB2-BD59-A6C34878D82A}">
                    <a16:rowId xmlns:a16="http://schemas.microsoft.com/office/drawing/2014/main" val="10001"/>
                  </a:ext>
                </a:extLst>
              </a:tr>
              <a:tr h="611505">
                <a:tc>
                  <a:txBody>
                    <a:bodyPr/>
                    <a:lstStyle/>
                    <a:p>
                      <a:r>
                        <a:rPr sz="1400" b="0" i="0">
                          <a:solidFill>
                            <a:srgbClr val="222222"/>
                          </a:solidFill>
                          <a:latin typeface="Calibri"/>
                        </a:rPr>
                        <a:t>Hearing</a:t>
                      </a:r>
                    </a:p>
                  </a:txBody>
                  <a:tcPr marL="73152" marR="73152" marT="18288" marB="18288">
                    <a:solidFill>
                      <a:srgbClr val="FFFFFF"/>
                    </a:solidFill>
                  </a:tcPr>
                </a:tc>
                <a:tc>
                  <a:txBody>
                    <a:bodyPr/>
                    <a:lstStyle/>
                    <a:p>
                      <a:r>
                        <a:rPr sz="1400" b="0" i="0">
                          <a:solidFill>
                            <a:srgbClr val="222222"/>
                          </a:solidFill>
                          <a:latin typeface="Calibri"/>
                        </a:rPr>
                        <a:t>Frequency</a:t>
                      </a:r>
                    </a:p>
                  </a:txBody>
                  <a:tcPr marL="73152" marR="73152" marT="18288" marB="18288">
                    <a:solidFill>
                      <a:srgbClr val="FFFFFF"/>
                    </a:solidFill>
                  </a:tcPr>
                </a:tc>
                <a:tc>
                  <a:txBody>
                    <a:bodyPr/>
                    <a:lstStyle/>
                    <a:p>
                      <a:r>
                        <a:rPr sz="1400" b="0" i="0">
                          <a:solidFill>
                            <a:srgbClr val="222222"/>
                          </a:solidFill>
                          <a:latin typeface="Calibri"/>
                        </a:rPr>
                        <a:t>Pitch, not direction</a:t>
                      </a:r>
                    </a:p>
                  </a:txBody>
                  <a:tcPr marL="73152" marR="73152" marT="18288" marB="18288">
                    <a:solidFill>
                      <a:srgbClr val="FFFFFF"/>
                    </a:solidFill>
                  </a:tcPr>
                </a:tc>
                <a:tc>
                  <a:txBody>
                    <a:bodyPr/>
                    <a:lstStyle/>
                    <a:p>
                      <a:r>
                        <a:rPr sz="1400" b="0" i="0">
                          <a:solidFill>
                            <a:srgbClr val="222222"/>
                          </a:solidFill>
                          <a:latin typeface="Calibri"/>
                        </a:rPr>
                        <a:t>Brainstem stations, thalamus, auditory cortex</a:t>
                      </a:r>
                    </a:p>
                  </a:txBody>
                  <a:tcPr marL="73152" marR="73152" marT="18288" marB="18288">
                    <a:solidFill>
                      <a:srgbClr val="FFFFFF"/>
                    </a:solidFill>
                  </a:tcPr>
                </a:tc>
                <a:extLst>
                  <a:ext uri="{0D108BD9-81ED-4DB2-BD59-A6C34878D82A}">
                    <a16:rowId xmlns:a16="http://schemas.microsoft.com/office/drawing/2014/main" val="10002"/>
                  </a:ext>
                </a:extLst>
              </a:tr>
              <a:tr h="611505">
                <a:tc>
                  <a:txBody>
                    <a:bodyPr/>
                    <a:lstStyle/>
                    <a:p>
                      <a:r>
                        <a:rPr sz="1400" b="0" i="0">
                          <a:solidFill>
                            <a:srgbClr val="222222"/>
                          </a:solidFill>
                          <a:latin typeface="Calibri"/>
                        </a:rPr>
                        <a:t>Balance</a:t>
                      </a:r>
                    </a:p>
                  </a:txBody>
                  <a:tcPr marL="73152" marR="73152" marT="18288" marB="18288">
                    <a:solidFill>
                      <a:srgbClr val="FFFFFF"/>
                    </a:solidFill>
                  </a:tcPr>
                </a:tc>
                <a:tc>
                  <a:txBody>
                    <a:bodyPr/>
                    <a:lstStyle/>
                    <a:p>
                      <a:r>
                        <a:rPr sz="1400" b="0" i="0">
                          <a:solidFill>
                            <a:srgbClr val="222222"/>
                          </a:solidFill>
                          <a:latin typeface="Calibri"/>
                        </a:rPr>
                        <a:t>Axis of rotation, direction of tilt</a:t>
                      </a:r>
                    </a:p>
                  </a:txBody>
                  <a:tcPr marL="73152" marR="73152" marT="18288" marB="18288">
                    <a:solidFill>
                      <a:srgbClr val="FFFFFF"/>
                    </a:solidFill>
                  </a:tcPr>
                </a:tc>
                <a:tc>
                  <a:txBody>
                    <a:bodyPr/>
                    <a:lstStyle/>
                    <a:p>
                      <a:r>
                        <a:rPr sz="1400" b="0" i="0">
                          <a:solidFill>
                            <a:srgbClr val="222222"/>
                          </a:solidFill>
                          <a:latin typeface="Calibri"/>
                        </a:rPr>
                        <a:t>Which way the head turns or tilts</a:t>
                      </a:r>
                    </a:p>
                  </a:txBody>
                  <a:tcPr marL="73152" marR="73152" marT="18288" marB="18288">
                    <a:solidFill>
                      <a:srgbClr val="FFFFFF"/>
                    </a:solidFill>
                  </a:tcPr>
                </a:tc>
                <a:tc>
                  <a:txBody>
                    <a:bodyPr/>
                    <a:lstStyle/>
                    <a:p>
                      <a:r>
                        <a:rPr sz="1400" b="0" i="0">
                          <a:solidFill>
                            <a:srgbClr val="222222"/>
                          </a:solidFill>
                          <a:latin typeface="Calibri"/>
                        </a:rPr>
                        <a:t>Brainstem and cerebellum; thalamus to several areas, no single primary area</a:t>
                      </a:r>
                    </a:p>
                  </a:txBody>
                  <a:tcPr marL="73152" marR="73152" marT="18288" marB="18288">
                    <a:solidFill>
                      <a:srgbClr val="FFFFFF"/>
                    </a:solidFill>
                  </a:tcPr>
                </a:tc>
                <a:extLst>
                  <a:ext uri="{0D108BD9-81ED-4DB2-BD59-A6C34878D82A}">
                    <a16:rowId xmlns:a16="http://schemas.microsoft.com/office/drawing/2014/main" val="10003"/>
                  </a:ext>
                </a:extLst>
              </a:tr>
              <a:tr h="611505">
                <a:tc>
                  <a:txBody>
                    <a:bodyPr/>
                    <a:lstStyle/>
                    <a:p>
                      <a:r>
                        <a:rPr sz="1400" b="0" i="0">
                          <a:solidFill>
                            <a:srgbClr val="222222"/>
                          </a:solidFill>
                          <a:latin typeface="Calibri"/>
                        </a:rPr>
                        <a:t>Touch and proprioception</a:t>
                      </a:r>
                    </a:p>
                  </a:txBody>
                  <a:tcPr marL="73152" marR="73152" marT="18288" marB="18288">
                    <a:solidFill>
                      <a:srgbClr val="FFFFFF"/>
                    </a:solidFill>
                  </a:tcPr>
                </a:tc>
                <a:tc>
                  <a:txBody>
                    <a:bodyPr/>
                    <a:lstStyle/>
                    <a:p>
                      <a:r>
                        <a:rPr sz="1400" b="0" i="0">
                          <a:solidFill>
                            <a:srgbClr val="222222"/>
                          </a:solidFill>
                          <a:latin typeface="Calibri"/>
                        </a:rPr>
                        <a:t>Location on the body</a:t>
                      </a:r>
                    </a:p>
                  </a:txBody>
                  <a:tcPr marL="73152" marR="73152" marT="18288" marB="18288">
                    <a:solidFill>
                      <a:srgbClr val="FFFFFF"/>
                    </a:solidFill>
                  </a:tcPr>
                </a:tc>
                <a:tc>
                  <a:txBody>
                    <a:bodyPr/>
                    <a:lstStyle/>
                    <a:p>
                      <a:r>
                        <a:rPr sz="1400" b="0" i="0">
                          <a:solidFill>
                            <a:srgbClr val="222222"/>
                          </a:solidFill>
                          <a:latin typeface="Calibri"/>
                        </a:rPr>
                        <a:t>Where on the body</a:t>
                      </a:r>
                    </a:p>
                  </a:txBody>
                  <a:tcPr marL="73152" marR="73152" marT="18288" marB="18288">
                    <a:solidFill>
                      <a:srgbClr val="FFFFFF"/>
                    </a:solidFill>
                  </a:tcPr>
                </a:tc>
                <a:tc>
                  <a:txBody>
                    <a:bodyPr/>
                    <a:lstStyle/>
                    <a:p>
                      <a:r>
                        <a:rPr sz="1400" b="0" i="0">
                          <a:solidFill>
                            <a:srgbClr val="222222"/>
                          </a:solidFill>
                          <a:latin typeface="Calibri"/>
                        </a:rPr>
                        <a:t>Spinal cord and brainstem, thalamus, somatosensory cortex</a:t>
                      </a:r>
                    </a:p>
                  </a:txBody>
                  <a:tcPr marL="73152" marR="73152" marT="18288" marB="18288">
                    <a:solidFill>
                      <a:srgbClr val="FFFFFF"/>
                    </a:solidFill>
                  </a:tcPr>
                </a:tc>
                <a:extLst>
                  <a:ext uri="{0D108BD9-81ED-4DB2-BD59-A6C34878D82A}">
                    <a16:rowId xmlns:a16="http://schemas.microsoft.com/office/drawing/2014/main" val="10004"/>
                  </a:ext>
                </a:extLst>
              </a:tr>
              <a:tr h="611505">
                <a:tc>
                  <a:txBody>
                    <a:bodyPr/>
                    <a:lstStyle/>
                    <a:p>
                      <a:r>
                        <a:rPr sz="1400" b="0" i="0">
                          <a:solidFill>
                            <a:srgbClr val="222222"/>
                          </a:solidFill>
                          <a:latin typeface="Calibri"/>
                        </a:rPr>
                        <a:t>Smell</a:t>
                      </a:r>
                    </a:p>
                  </a:txBody>
                  <a:tcPr marL="73152" marR="73152" marT="18288" marB="18288">
                    <a:solidFill>
                      <a:srgbClr val="FFFFFF"/>
                    </a:solidFill>
                  </a:tcPr>
                </a:tc>
                <a:tc>
                  <a:txBody>
                    <a:bodyPr/>
                    <a:lstStyle/>
                    <a:p>
                      <a:r>
                        <a:rPr sz="1400" b="0" i="0">
                          <a:solidFill>
                            <a:srgbClr val="222222"/>
                          </a:solidFill>
                          <a:latin typeface="Calibri"/>
                        </a:rPr>
                        <a:t>Scattered, then sorted by receptor type</a:t>
                      </a:r>
                    </a:p>
                  </a:txBody>
                  <a:tcPr marL="73152" marR="73152" marT="18288" marB="18288">
                    <a:solidFill>
                      <a:srgbClr val="FFFFFF"/>
                    </a:solidFill>
                  </a:tcPr>
                </a:tc>
                <a:tc>
                  <a:txBody>
                    <a:bodyPr/>
                    <a:lstStyle/>
                    <a:p>
                      <a:r>
                        <a:rPr sz="1400" b="0" i="0">
                          <a:solidFill>
                            <a:srgbClr val="222222"/>
                          </a:solidFill>
                          <a:latin typeface="Calibri"/>
                        </a:rPr>
                        <a:t>Nothing about location</a:t>
                      </a:r>
                    </a:p>
                  </a:txBody>
                  <a:tcPr marL="73152" marR="73152" marT="18288" marB="18288">
                    <a:solidFill>
                      <a:srgbClr val="FFFFFF"/>
                    </a:solidFill>
                  </a:tcPr>
                </a:tc>
                <a:tc>
                  <a:txBody>
                    <a:bodyPr/>
                    <a:lstStyle/>
                    <a:p>
                      <a:r>
                        <a:rPr sz="1400" b="0" i="0">
                          <a:solidFill>
                            <a:srgbClr val="222222"/>
                          </a:solidFill>
                          <a:latin typeface="Calibri"/>
                        </a:rPr>
                        <a:t>Olfactory bulb straight to olfactory cortex</a:t>
                      </a:r>
                    </a:p>
                  </a:txBody>
                  <a:tcPr marL="73152" marR="73152" marT="18288" marB="18288">
                    <a:solidFill>
                      <a:srgbClr val="FFFFFF"/>
                    </a:solidFill>
                  </a:tcPr>
                </a:tc>
                <a:extLst>
                  <a:ext uri="{0D108BD9-81ED-4DB2-BD59-A6C34878D82A}">
                    <a16:rowId xmlns:a16="http://schemas.microsoft.com/office/drawing/2014/main" val="10005"/>
                  </a:ext>
                </a:extLst>
              </a:tr>
              <a:tr h="611505">
                <a:tc>
                  <a:txBody>
                    <a:bodyPr/>
                    <a:lstStyle/>
                    <a:p>
                      <a:r>
                        <a:rPr sz="1400" b="0" i="0">
                          <a:solidFill>
                            <a:srgbClr val="222222"/>
                          </a:solidFill>
                          <a:latin typeface="Calibri"/>
                        </a:rPr>
                        <a:t>Taste</a:t>
                      </a:r>
                    </a:p>
                  </a:txBody>
                  <a:tcPr marL="73152" marR="73152" marT="18288" marB="18288">
                    <a:solidFill>
                      <a:srgbClr val="FFFFFF"/>
                    </a:solidFill>
                  </a:tcPr>
                </a:tc>
                <a:tc>
                  <a:txBody>
                    <a:bodyPr/>
                    <a:lstStyle/>
                    <a:p>
                      <a:r>
                        <a:rPr sz="1400" b="0" i="0">
                          <a:solidFill>
                            <a:srgbClr val="222222"/>
                          </a:solidFill>
                          <a:latin typeface="Calibri"/>
                        </a:rPr>
                        <a:t>Across the tongue, every region sensing every taste</a:t>
                      </a:r>
                    </a:p>
                  </a:txBody>
                  <a:tcPr marL="73152" marR="73152" marT="18288" marB="18288">
                    <a:solidFill>
                      <a:srgbClr val="FFFFFF"/>
                    </a:solidFill>
                  </a:tcPr>
                </a:tc>
                <a:tc>
                  <a:txBody>
                    <a:bodyPr/>
                    <a:lstStyle/>
                    <a:p>
                      <a:r>
                        <a:rPr sz="1400" b="0" i="0">
                          <a:solidFill>
                            <a:srgbClr val="222222"/>
                          </a:solidFill>
                          <a:latin typeface="Calibri"/>
                        </a:rPr>
                        <a:t>Which of five basic tastes</a:t>
                      </a:r>
                    </a:p>
                  </a:txBody>
                  <a:tcPr marL="73152" marR="73152" marT="18288" marB="18288">
                    <a:solidFill>
                      <a:srgbClr val="FFFFFF"/>
                    </a:solidFill>
                  </a:tcPr>
                </a:tc>
                <a:tc>
                  <a:txBody>
                    <a:bodyPr/>
                    <a:lstStyle/>
                    <a:p>
                      <a:r>
                        <a:rPr sz="1400" b="0" i="0">
                          <a:solidFill>
                            <a:srgbClr val="222222"/>
                          </a:solidFill>
                          <a:latin typeface="Calibri"/>
                        </a:rPr>
                        <a:t>Brainstem, thalamus, taste cortex</a:t>
                      </a:r>
                    </a:p>
                  </a:txBody>
                  <a:tcPr marL="73152" marR="73152" marT="18288" marB="18288">
                    <a:solidFill>
                      <a:srgbClr val="FFFFFF"/>
                    </a:solidFill>
                  </a:tcPr>
                </a:tc>
                <a:extLst>
                  <a:ext uri="{0D108BD9-81ED-4DB2-BD59-A6C34878D82A}">
                    <a16:rowId xmlns:a16="http://schemas.microsoft.com/office/drawing/2014/main" val="10006"/>
                  </a:ext>
                </a:extLst>
              </a:tr>
              <a:tr h="611505">
                <a:tc>
                  <a:txBody>
                    <a:bodyPr/>
                    <a:lstStyle/>
                    <a:p>
                      <a:r>
                        <a:rPr sz="1400" b="0" i="0">
                          <a:solidFill>
                            <a:srgbClr val="222222"/>
                          </a:solidFill>
                          <a:latin typeface="Calibri"/>
                        </a:rPr>
                        <a:t>Lateral line and electric sense (fishes)</a:t>
                      </a:r>
                    </a:p>
                  </a:txBody>
                  <a:tcPr marL="73152" marR="73152" marT="18288" marB="18288">
                    <a:solidFill>
                      <a:srgbClr val="FFFFFF"/>
                    </a:solidFill>
                  </a:tcPr>
                </a:tc>
                <a:tc>
                  <a:txBody>
                    <a:bodyPr/>
                    <a:lstStyle/>
                    <a:p>
                      <a:r>
                        <a:rPr sz="1400" b="0" i="0">
                          <a:solidFill>
                            <a:srgbClr val="222222"/>
                          </a:solidFill>
                          <a:latin typeface="Calibri"/>
                        </a:rPr>
                        <a:t>Along the body surface</a:t>
                      </a:r>
                    </a:p>
                  </a:txBody>
                  <a:tcPr marL="73152" marR="73152" marT="18288" marB="18288">
                    <a:solidFill>
                      <a:srgbClr val="FFFFFF"/>
                    </a:solidFill>
                  </a:tcPr>
                </a:tc>
                <a:tc>
                  <a:txBody>
                    <a:bodyPr/>
                    <a:lstStyle/>
                    <a:p>
                      <a:r>
                        <a:rPr sz="1400" b="0" i="0">
                          <a:solidFill>
                            <a:srgbClr val="222222"/>
                          </a:solidFill>
                          <a:latin typeface="Calibri"/>
                        </a:rPr>
                        <a:t>Where along the body</a:t>
                      </a:r>
                    </a:p>
                  </a:txBody>
                  <a:tcPr marL="73152" marR="73152" marT="18288" marB="18288">
                    <a:solidFill>
                      <a:srgbClr val="FFFFFF"/>
                    </a:solidFill>
                  </a:tcPr>
                </a:tc>
                <a:tc>
                  <a:txBody>
                    <a:bodyPr/>
                    <a:lstStyle/>
                    <a:p>
                      <a:r>
                        <a:rPr sz="1400" b="0" i="0">
                          <a:solidFill>
                            <a:srgbClr val="222222"/>
                          </a:solidFill>
                          <a:latin typeface="Calibri"/>
                        </a:rPr>
                        <a:t>Cerebellum-like structures in the hindbrain, then the midbrain</a:t>
                      </a:r>
                    </a:p>
                  </a:txBody>
                  <a:tcPr marL="73152" marR="73152" marT="18288" marB="18288">
                    <a:solidFill>
                      <a:srgbClr val="FFFFFF"/>
                    </a:solidFill>
                  </a:tcPr>
                </a:tc>
                <a:extLst>
                  <a:ext uri="{0D108BD9-81ED-4DB2-BD59-A6C34878D82A}">
                    <a16:rowId xmlns:a16="http://schemas.microsoft.com/office/drawing/2014/main" val="10007"/>
                  </a:ext>
                </a:extLst>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Most receptor sheets keep their layout as maps: </a:t>
            </a:r>
            <a:r>
              <a:rPr sz="2000" b="1" i="0">
                <a:solidFill>
                  <a:srgbClr val="222222"/>
                </a:solidFill>
                <a:latin typeface="Calibri"/>
              </a:rPr>
              <a:t>retinotopy</a:t>
            </a:r>
            <a:r>
              <a:rPr sz="2000" b="0" i="0">
                <a:solidFill>
                  <a:srgbClr val="222222"/>
                </a:solidFill>
                <a:latin typeface="Calibri"/>
              </a:rPr>
              <a:t>, </a:t>
            </a:r>
            <a:r>
              <a:rPr sz="2000" b="1" i="0">
                <a:solidFill>
                  <a:srgbClr val="222222"/>
                </a:solidFill>
                <a:latin typeface="Calibri"/>
              </a:rPr>
              <a:t>tonotopy</a:t>
            </a:r>
            <a:r>
              <a:rPr sz="2000" b="0" i="0">
                <a:solidFill>
                  <a:srgbClr val="222222"/>
                </a:solidFill>
                <a:latin typeface="Calibri"/>
              </a:rPr>
              <a:t>, </a:t>
            </a:r>
            <a:r>
              <a:rPr sz="2000" b="1" i="0">
                <a:solidFill>
                  <a:srgbClr val="222222"/>
                </a:solidFill>
                <a:latin typeface="Calibri"/>
              </a:rPr>
              <a:t>somatotopy</a:t>
            </a:r>
            <a:r>
              <a:rPr sz="2000" b="0" i="0">
                <a:solidFill>
                  <a:srgbClr val="222222"/>
                </a:solidFill>
                <a:latin typeface="Calibri"/>
              </a:rPr>
              <a:t>. Of the senses that reach the cortex, all but smell pass through the thalamus.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e_retina_comput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Retina Computes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photoreceptor</a:t>
            </a:r>
            <a:r>
              <a:rPr sz="2000" b="0" i="0">
                <a:solidFill>
                  <a:srgbClr val="222222"/>
                </a:solidFill>
                <a:latin typeface="Calibri"/>
              </a:rPr>
              <a:t> is the retina’s receptor: a </a:t>
            </a:r>
            <a:r>
              <a:rPr sz="2000" b="1" i="0">
                <a:solidFill>
                  <a:srgbClr val="222222"/>
                </a:solidFill>
                <a:latin typeface="Calibri"/>
              </a:rPr>
              <a:t>rod</a:t>
            </a:r>
            <a:r>
              <a:rPr sz="2000" b="0" i="0">
                <a:solidFill>
                  <a:srgbClr val="222222"/>
                </a:solidFill>
                <a:latin typeface="Calibri"/>
              </a:rPr>
              <a:t> for dim light, a </a:t>
            </a:r>
            <a:r>
              <a:rPr sz="2000" b="1" i="0">
                <a:solidFill>
                  <a:srgbClr val="222222"/>
                </a:solidFill>
                <a:latin typeface="Calibri"/>
              </a:rPr>
              <a:t>cone</a:t>
            </a:r>
            <a:r>
              <a:rPr sz="2000" b="0" i="0">
                <a:solidFill>
                  <a:srgbClr val="222222"/>
                </a:solidFill>
                <a:latin typeface="Calibri"/>
              </a:rPr>
              <a:t> for daylight, detail and color. Wiring trades sensitivity for location.</a:t>
            </a:r>
          </a:p>
        </p:txBody>
      </p:sp>
      <p:pic>
        <p:nvPicPr>
          <p:cNvPr id="4" name="img0" descr="A vertical slice through the retina with three layers labeled, from back to front: photoreceptors, bipolar cells, and ganglion cells, with an arrow showing light entering from the front and passing through the layers. On the left side, about a dozen rods converge through two bipolar cells onto one ganglion cell, labeled sensitive but location lost. On the right side, three cones each connect through their own bipolar cell to their own ganglion cell, labeled less sensitive, exact location."/>
          <p:cNvPicPr>
            <a:picLocks noChangeAspect="1"/>
          </p:cNvPicPr>
          <p:nvPr/>
        </p:nvPicPr>
        <p:blipFill>
          <a:blip r:embed="rId3"/>
          <a:stretch>
            <a:fillRect/>
          </a:stretch>
        </p:blipFill>
        <p:spPr>
          <a:xfrm>
            <a:off x="411480" y="1783080"/>
            <a:ext cx="11371021" cy="49374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ne_class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Cone Classes, Lost and Duplicated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Early vertebrates had four cone classes; mammals lost two. A third cone in our ancestors came from a duplicated gene, and the human blue cone carries the old ultraviolet pigment.</a:t>
            </a:r>
          </a:p>
        </p:txBody>
      </p:sp>
      <p:pic>
        <p:nvPicPr>
          <p:cNvPr id="4" name="img0" descr="A branching tree with labels at the tips: zebrafish, mouse, dog, howler monkey, macaque, human. Beside each tip, a row of colored dots in five labeled columns, ultraviolet, blue, green, red, and red copied, shows the cone pigments present: four dots for the zebrafish, two for the mouse and dog, and three for the howler monkey, macaque, and human. Small squares on the branches mark two pigment genes lost in early mammals and the red gene copied separately in howlers and in Old World primates. A dashed line runs down the ultraviolet column from the zebrafish to the human, whose dot is ringed and labeled as the human blue cone, the old ultraviolet pigment retuned."/>
          <p:cNvPicPr>
            <a:picLocks noChangeAspect="1"/>
          </p:cNvPicPr>
          <p:nvPr/>
        </p:nvPicPr>
        <p:blipFill>
          <a:blip r:embed="rId3"/>
          <a:stretch>
            <a:fillRect/>
          </a:stretch>
        </p:blipFill>
        <p:spPr>
          <a:xfrm>
            <a:off x="731520" y="1783080"/>
            <a:ext cx="10719511" cy="49366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wo_stream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Streams, Specialized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ventral stream for form and objects; the </a:t>
            </a:r>
            <a:r>
              <a:rPr sz="2000" b="1" i="0">
                <a:solidFill>
                  <a:srgbClr val="222222"/>
                </a:solidFill>
                <a:latin typeface="Calibri"/>
              </a:rPr>
              <a:t>dorsal stream</a:t>
            </a:r>
            <a:r>
              <a:rPr sz="2000" b="0" i="0">
                <a:solidFill>
                  <a:srgbClr val="222222"/>
                </a:solidFill>
                <a:latin typeface="Calibri"/>
              </a:rPr>
              <a:t> for motion, location and guiding action. Specialized, not independent.</a:t>
            </a:r>
          </a:p>
        </p:txBody>
      </p:sp>
      <p:pic>
        <p:nvPicPr>
          <p:cNvPr id="4" name="img0" descr="A side view of a human brain, front to the left, with its folds drawn in outline. A gray region at the back is labeled primary visual cortex. A shaded arrow curves from it upward and forward through a green region at the top of the back of the brain, labeled dorsal stream: motion, location, and guiding action. A second shaded arrow runs from it forward through a lavender region along the lower side of the brain, labeled ventral stream: form and objects. The cerebellum and brainstem are visible below."/>
          <p:cNvPicPr>
            <a:picLocks noChangeAspect="1"/>
          </p:cNvPicPr>
          <p:nvPr/>
        </p:nvPicPr>
        <p:blipFill>
          <a:blip r:embed="rId3"/>
          <a:stretch>
            <a:fillRect/>
          </a:stretch>
        </p:blipFill>
        <p:spPr>
          <a:xfrm>
            <a:off x="768096" y="1783080"/>
            <a:ext cx="10658703" cy="49366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e_ear_from_old_part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Ear, from Old Parts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middle ear’s bones began as a jaw brace and a jaw joint. An eardrum concentrates the force of sound in air, and eardrums evolved late, separately, at least five times.</a:t>
            </a:r>
          </a:p>
        </p:txBody>
      </p:sp>
      <p:pic>
        <p:nvPicPr>
          <p:cNvPr id="4" name="img0" descr="A colored cutaway drawing of a human ear, with labels. On the left, the auricle and the external auditory canal lead to the tympanic membrane. Behind it, in the tympanic cavity, three small connected bones labeled malleus, incus, and stapes, with the stapes attached to the oval window of a coiled, snail-shaped cochlea. The semicircular canals rise above the cochlea, the vestibular and cochlear nerves leave to the right, a round window sits below the stapes, and the Eustachian tube runs down and away. Beside the drawing, a key pairs each anatomical label with the term used in the reading: auricle, outer ear; tympanic membrane, eardrum; tympanic cavity, middle ear; malleus, incus, and stapes, the three bones; Eustachian tube, tube to the throat; semicircular canals, balance organs."/>
          <p:cNvPicPr>
            <a:picLocks noChangeAspect="1"/>
          </p:cNvPicPr>
          <p:nvPr/>
        </p:nvPicPr>
        <p:blipFill>
          <a:blip r:embed="rId3"/>
          <a:stretch>
            <a:fillRect/>
          </a:stretch>
        </p:blipFill>
        <p:spPr>
          <a:xfrm>
            <a:off x="1106424" y="1783080"/>
            <a:ext cx="9978237" cy="49366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chlea_hair_cell_owl">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Cochlea, the Hair Cell, and the Owl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cochlea is a bank of filters by pitch. The </a:t>
            </a:r>
            <a:r>
              <a:rPr sz="2000" b="1" i="0">
                <a:solidFill>
                  <a:srgbClr val="222222"/>
                </a:solidFill>
                <a:latin typeface="Calibri"/>
              </a:rPr>
              <a:t>hair cell</a:t>
            </a:r>
            <a:r>
              <a:rPr sz="2000" b="0" i="0">
                <a:solidFill>
                  <a:srgbClr val="222222"/>
                </a:solidFill>
                <a:latin typeface="Calibri"/>
              </a:rPr>
              <a:t> opens its channels directly, fast enough for timing. The </a:t>
            </a:r>
            <a:r>
              <a:rPr sz="2000" b="1" i="0">
                <a:solidFill>
                  <a:srgbClr val="222222"/>
                </a:solidFill>
                <a:latin typeface="Calibri"/>
              </a:rPr>
              <a:t>superior colliculus</a:t>
            </a:r>
            <a:r>
              <a:rPr sz="2000" b="0" i="0">
                <a:solidFill>
                  <a:srgbClr val="222222"/>
                </a:solidFill>
                <a:latin typeface="Calibri"/>
              </a:rPr>
              <a:t> aligns auditory space with visual space.</a:t>
            </a:r>
          </a:p>
        </p:txBody>
      </p:sp>
      <p:pic>
        <p:nvPicPr>
          <p:cNvPr id="4" name="img0" descr="A long horizontal strip representing the membrane of the uncoiled cochlea, narrow and labeled stiff at the left end near the base, and wider and labeled floppy at the right end. Above the strip, three wave envelopes peak at different points: a high-frequency wave near the left end, a middle-frequency wave in the middle, and a low-frequency wave near the right end. Frequency labels in hertz run from high on the left to low on the right."/>
          <p:cNvPicPr>
            <a:picLocks noChangeAspect="1"/>
          </p:cNvPicPr>
          <p:nvPr/>
        </p:nvPicPr>
        <p:blipFill>
          <a:blip r:embed="rId3"/>
          <a:stretch>
            <a:fillRect/>
          </a:stretch>
        </p:blipFill>
        <p:spPr>
          <a:xfrm>
            <a:off x="155448" y="2139696"/>
            <a:ext cx="11883542" cy="42217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mell_and_touch">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Smell and Touch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Smell neurons of one receptor type, scattered across the nose, converge on the same few glomeruli. A </a:t>
            </a:r>
            <a:r>
              <a:rPr sz="2000" b="1" i="0">
                <a:solidFill>
                  <a:srgbClr val="222222"/>
                </a:solidFill>
                <a:latin typeface="Calibri"/>
              </a:rPr>
              <a:t>glomerulus</a:t>
            </a:r>
            <a:r>
              <a:rPr sz="2000" b="0" i="0">
                <a:solidFill>
                  <a:srgbClr val="222222"/>
                </a:solidFill>
                <a:latin typeface="Calibri"/>
              </a:rPr>
              <a:t> is a small cluster of connections in the olfactory bulb. Touch keeps location, mapped as a </a:t>
            </a:r>
            <a:r>
              <a:rPr sz="2000" b="1" i="0">
                <a:solidFill>
                  <a:srgbClr val="222222"/>
                </a:solidFill>
                <a:latin typeface="Calibri"/>
              </a:rPr>
              <a:t>homunculus</a:t>
            </a:r>
            <a:r>
              <a:rPr sz="2000" b="0" i="0">
                <a:solidFill>
                  <a:srgbClr val="222222"/>
                </a:solidFill>
                <a:latin typeface="Calibri"/>
              </a:rPr>
              <a:t>.</a:t>
            </a:r>
          </a:p>
        </p:txBody>
      </p:sp>
      <p:pic>
        <p:nvPicPr>
          <p:cNvPr id="4" name="img0" descr="At the bottom, a sheet of tissue with small neurons drawn in red, blue, and green, mixed randomly together. Thin lines run upward from each neuron. At the top, three round clusters labeled glomeruli, one red, one blue, one green. Every red line ends in the red cluster, every blue line in the blue cluster, and every green line in the green cluster."/>
          <p:cNvPicPr>
            <a:picLocks noChangeAspect="1"/>
          </p:cNvPicPr>
          <p:nvPr/>
        </p:nvPicPr>
        <p:blipFill>
          <a:blip r:embed="rId3"/>
          <a:stretch>
            <a:fillRect/>
          </a:stretch>
        </p:blipFill>
        <p:spPr>
          <a:xfrm>
            <a:off x="155448" y="1901952"/>
            <a:ext cx="11883542" cy="4690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motor_cortex_not_a_mirro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Motor Cortex Is Not a Mirror</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Motor cortex</a:t>
            </a:r>
            <a:r>
              <a:rPr sz="2000" b="0" i="0">
                <a:solidFill>
                  <a:srgbClr val="222222"/>
                </a:solidFill>
                <a:latin typeface="Calibri"/>
              </a:rPr>
              <a:t> maps the body coarsely, in overlapping zones organized around what the body does. Direction is a vote across many neurons.</a:t>
            </a:r>
          </a:p>
        </p:txBody>
      </p:sp>
      <p:pic>
        <p:nvPicPr>
          <p:cNvPr id="4" name="img0" descr="Two curved strips side by side, each representing a slice of cortex running from the top of the head down the side. Along the left strip, labeled somatosensory map, labeled segments run in order from toes to tongue, each part in its own segment, with the segments for the hand and the lips far longer than the rest. Along the right strip, labeled motor map, the same order runs from leg to face as four translucent gray bands for leg, arm, hand, and face, which overlap where they meet."/>
          <p:cNvPicPr>
            <a:picLocks noChangeAspect="1"/>
          </p:cNvPicPr>
          <p:nvPr/>
        </p:nvPicPr>
        <p:blipFill>
          <a:blip r:embed="rId3"/>
          <a:stretch>
            <a:fillRect/>
          </a:stretch>
        </p:blipFill>
        <p:spPr>
          <a:xfrm>
            <a:off x="475488" y="1783080"/>
            <a:ext cx="11234927" cy="49374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226560"/>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Rods converge, cones do not</a:t>
                      </a:r>
                    </a:p>
                  </a:txBody>
                  <a:tcPr marL="73152" marR="73152" marT="18288" marB="18288">
                    <a:solidFill>
                      <a:srgbClr val="FFFFFF"/>
                    </a:solidFill>
                  </a:tcPr>
                </a:tc>
                <a:tc>
                  <a:txBody>
                    <a:bodyPr/>
                    <a:lstStyle/>
                    <a:p>
                      <a:r>
                        <a:rPr sz="1000" b="0" i="0">
                          <a:solidFill>
                            <a:srgbClr val="222222"/>
                          </a:solidFill>
                          <a:latin typeface="Calibri"/>
                        </a:rPr>
                        <a:t>fig-retina-convergence.png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Cone pigments across the vertebrates</a:t>
                      </a:r>
                    </a:p>
                  </a:txBody>
                  <a:tcPr marL="73152" marR="73152" marT="18288" marB="18288">
                    <a:solidFill>
                      <a:srgbClr val="FFFFFF"/>
                    </a:solidFill>
                  </a:tcPr>
                </a:tc>
                <a:tc>
                  <a:txBody>
                    <a:bodyPr/>
                    <a:lstStyle/>
                    <a:p>
                      <a:r>
                        <a:rPr sz="1000" b="0" i="0">
                          <a:solidFill>
                            <a:srgbClr val="222222"/>
                          </a:solidFill>
                          <a:latin typeface="Calibri"/>
                        </a:rPr>
                        <a:t>fig-cone-classes.png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two visual streams</a:t>
                      </a:r>
                    </a:p>
                  </a:txBody>
                  <a:tcPr marL="73152" marR="73152" marT="18288" marB="18288">
                    <a:solidFill>
                      <a:srgbClr val="FFFFFF"/>
                    </a:solidFill>
                  </a:tcPr>
                </a:tc>
                <a:tc>
                  <a:txBody>
                    <a:bodyPr/>
                    <a:lstStyle/>
                    <a:p>
                      <a:r>
                        <a:rPr sz="1000" b="0" i="0">
                          <a:solidFill>
                            <a:srgbClr val="222222"/>
                          </a:solidFill>
                          <a:latin typeface="Calibri"/>
                        </a:rPr>
                        <a:t>fig-two-streams.png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Selket, adapted from Gray's Anatomy; labels added for the Module 8 reading  ·  https://commons.wikimedia.org/wiki/File:Ventral-dorsal_streams.svg</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human ear</a:t>
                      </a:r>
                    </a:p>
                  </a:txBody>
                  <a:tcPr marL="73152" marR="73152" marT="18288" marB="18288">
                    <a:solidFill>
                      <a:srgbClr val="FFFFFF"/>
                    </a:solidFill>
                  </a:tcPr>
                </a:tc>
                <a:tc>
                  <a:txBody>
                    <a:bodyPr/>
                    <a:lstStyle/>
                    <a:p>
                      <a:r>
                        <a:rPr sz="1000" b="0" i="0">
                          <a:solidFill>
                            <a:srgbClr val="222222"/>
                          </a:solidFill>
                          <a:latin typeface="Calibri"/>
                        </a:rPr>
                        <a:t>fig-ear.png</a:t>
                      </a:r>
                    </a:p>
                  </a:txBody>
                  <a:tcPr marL="73152" marR="73152" marT="18288" marB="18288">
                    <a:solidFill>
                      <a:srgbClr val="FFFFFF"/>
                    </a:solidFill>
                  </a:tcPr>
                </a:tc>
                <a:tc>
                  <a:txBody>
                    <a:bodyPr/>
                    <a:lstStyle/>
                    <a:p>
                      <a:r>
                        <a:rPr sz="1000" b="0" i="0">
                          <a:solidFill>
                            <a:srgbClr val="222222"/>
                          </a:solidFill>
                          <a:latin typeface="Calibri"/>
                        </a:rPr>
                        <a:t>CC BY 2.5</a:t>
                      </a:r>
                    </a:p>
                  </a:txBody>
                  <a:tcPr marL="73152" marR="73152" marT="18288" marB="18288">
                    <a:solidFill>
                      <a:srgbClr val="FFFFFF"/>
                    </a:solidFill>
                  </a:tcPr>
                </a:tc>
                <a:tc>
                  <a:txBody>
                    <a:bodyPr/>
                    <a:lstStyle/>
                    <a:p>
                      <a:r>
                        <a:rPr sz="1000" b="0" i="0">
                          <a:solidFill>
                            <a:srgbClr val="222222"/>
                          </a:solidFill>
                          <a:latin typeface="Calibri"/>
                        </a:rPr>
                        <a:t>Lars Chittka and Axel Brockmann, vectorized by Inductiveload; labels removed and a key added for the Module 8 reading  ·  https://commons.wikimedia.org/wiki/File:Anatomy_of_the_Human_Ear.svg</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cochlea's map of pitch</a:t>
                      </a:r>
                    </a:p>
                  </a:txBody>
                  <a:tcPr marL="73152" marR="73152" marT="18288" marB="18288">
                    <a:solidFill>
                      <a:srgbClr val="FFFFFF"/>
                    </a:solidFill>
                  </a:tcPr>
                </a:tc>
                <a:tc>
                  <a:txBody>
                    <a:bodyPr/>
                    <a:lstStyle/>
                    <a:p>
                      <a:r>
                        <a:rPr sz="1000" b="0" i="0">
                          <a:solidFill>
                            <a:srgbClr val="222222"/>
                          </a:solidFill>
                          <a:latin typeface="Calibri"/>
                        </a:rPr>
                        <a:t>fig-cochlea-tonotopy.png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Scattered receptor neurons, sorted into glomeruli</a:t>
                      </a:r>
                    </a:p>
                  </a:txBody>
                  <a:tcPr marL="73152" marR="73152" marT="18288" marB="18288">
                    <a:solidFill>
                      <a:srgbClr val="FFFFFF"/>
                    </a:solidFill>
                  </a:tcPr>
                </a:tc>
                <a:tc>
                  <a:txBody>
                    <a:bodyPr/>
                    <a:lstStyle/>
                    <a:p>
                      <a:r>
                        <a:rPr sz="1000" b="0" i="0">
                          <a:solidFill>
                            <a:srgbClr val="222222"/>
                          </a:solidFill>
                          <a:latin typeface="Calibri"/>
                        </a:rPr>
                        <a:t>fig-glomeruli.png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sensory map and the motor map</a:t>
                      </a:r>
                    </a:p>
                  </a:txBody>
                  <a:tcPr marL="73152" marR="73152" marT="18288" marB="18288">
                    <a:solidFill>
                      <a:srgbClr val="FFFFFF"/>
                    </a:solidFill>
                  </a:tcPr>
                </a:tc>
                <a:tc>
                  <a:txBody>
                    <a:bodyPr/>
                    <a:lstStyle/>
                    <a:p>
                      <a:r>
                        <a:rPr sz="1000" b="0" i="0">
                          <a:solidFill>
                            <a:srgbClr val="222222"/>
                          </a:solidFill>
                          <a:latin typeface="Calibri"/>
                        </a:rPr>
                        <a:t>fig-two-homunculi.png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vestibulo-ocular reflex</a:t>
                      </a:r>
                    </a:p>
                  </a:txBody>
                  <a:tcPr marL="73152" marR="73152" marT="18288" marB="18288">
                    <a:solidFill>
                      <a:srgbClr val="FFFFFF"/>
                    </a:solidFill>
                  </a:tcPr>
                </a:tc>
                <a:tc>
                  <a:txBody>
                    <a:bodyPr/>
                    <a:lstStyle/>
                    <a:p>
                      <a:r>
                        <a:rPr sz="1000" b="0" i="0">
                          <a:solidFill>
                            <a:srgbClr val="222222"/>
                          </a:solidFill>
                          <a:latin typeface="Calibri"/>
                        </a:rPr>
                        <a:t>fig-vor.png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A learned negative image</a:t>
                      </a:r>
                    </a:p>
                  </a:txBody>
                  <a:tcPr marL="73152" marR="73152" marT="18288" marB="18288">
                    <a:solidFill>
                      <a:srgbClr val="FFFFFF"/>
                    </a:solidFill>
                  </a:tcPr>
                </a:tc>
                <a:tc>
                  <a:txBody>
                    <a:bodyPr/>
                    <a:lstStyle/>
                    <a:p>
                      <a:r>
                        <a:rPr sz="1000" b="0" i="0">
                          <a:solidFill>
                            <a:srgbClr val="222222"/>
                          </a:solidFill>
                          <a:latin typeface="Calibri"/>
                        </a:rPr>
                        <a:t>fig-negative-image.png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schematic after Bell (1981)  ·  own work</a:t>
                      </a:r>
                    </a:p>
                  </a:txBody>
                  <a:tcPr marL="73152" marR="73152" marT="18288" marB="18288">
                    <a:solidFill>
                      <a:srgbClr val="FFFFFF"/>
                    </a:solidFill>
                  </a:tcPr>
                </a:tc>
                <a:extLst>
                  <a:ext uri="{0D108BD9-81ED-4DB2-BD59-A6C34878D82A}">
                    <a16:rowId xmlns:a16="http://schemas.microsoft.com/office/drawing/2014/main" val="10001"/>
                  </a:ext>
                </a:extLst>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Three jobs every sense does</a:t>
                      </a:r>
                    </a:p>
                  </a:txBody>
                  <a:tcPr marL="73152" marR="73152" marT="18288" marB="18288">
                    <a:solidFill>
                      <a:srgbClr val="FFFFFF"/>
                    </a:solidFill>
                  </a:tcPr>
                </a:tc>
                <a:tc>
                  <a:txBody>
                    <a:bodyPr/>
                    <a:lstStyle/>
                    <a:p>
                      <a:r>
                        <a:rPr sz="1000" b="0" i="0">
                          <a:solidFill>
                            <a:srgbClr val="222222"/>
                          </a:solidFill>
                          <a:latin typeface="Calibri"/>
                        </a:rPr>
                        <a:t>fig-every-sense.png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6142</Words>
  <Application>Microsoft Macintosh PowerPoint</Application>
  <PresentationFormat>Widescreen</PresentationFormat>
  <Paragraphs>249</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2026-10-16T20:40:29Z</dcterms:modified>
  <cp:category/>
</cp:coreProperties>
</file>