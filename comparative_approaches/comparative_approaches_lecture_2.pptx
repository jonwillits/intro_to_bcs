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2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Monday we built a toolkit. Three questions to ask of any resemblance: where did it come from, how deep does it go, how precisely can we state it.</a:t>
            </a:r>
          </a:p>
          <a:p>
            <a:endParaRPr/>
          </a:p>
          <a:p>
            <a:r>
              <a:t>Today we point that toolkit at the oldest comparison the field makes, and the one this whole course is built on. Comparing our minds to the minds of other animals.</a:t>
            </a:r>
          </a:p>
          <a:p>
            <a:endParaRPr/>
          </a:p>
          <a:p>
            <a:r>
              <a:t>And I want to start with the question of whether we are allowed to do it at all.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a question that sounds rhetorical and is not. Why is it legitimate to compare a human mind to a crow's at all?</a:t>
            </a:r>
          </a:p>
          <a:p>
            <a:endParaRPr/>
          </a:p>
          <a:p>
            <a:r>
              <a:t>For most of the history of thought it was not obvious that it was. If human minds are a different kind of thing — a rational soul, say, and animals are machinery — then comparing them is a category error, and any resemblance you find is superficial.</a:t>
            </a:r>
          </a:p>
          <a:p>
            <a:endParaRPr/>
          </a:p>
          <a:p>
            <a:r>
              <a:t>Darwin is the reason we do it anyway.</a:t>
            </a:r>
          </a:p>
          <a:p>
            <a:endParaRPr/>
          </a:p>
          <a:p>
            <a:r>
              <a:t>In eighteen fifty-nine he published *On the Origin of Species*, which laid out natural selection. Twelve years later, in *The Descent of Man*, he applied it to us — and made the claim this section rests on. The difference between the human mind and the minds of other animals, he argued, is one of degree rather than one of kind.</a:t>
            </a:r>
          </a:p>
          <a:p>
            <a:endParaRPr/>
          </a:p>
          <a:p>
            <a:r>
              <a:t>Sit with what follows from that. If minds are products of evolution, minds have histories. And things with histories can be related to each other. A capacity in us might be the same capacity, modified, that exists in something else.</a:t>
            </a:r>
          </a:p>
          <a:p>
            <a:endParaRPr/>
          </a:p>
          <a:p>
            <a:r>
              <a:t>That is the license. Without it there is no comparative psychology.</a:t>
            </a:r>
          </a:p>
          <a:p>
            <a:endParaRPr/>
          </a:p>
          <a:p>
            <a:r>
              <a:t>Two honest notes. First, this is a claim somebody argued for, not an assumption — and a hundred and fifty years on it still looks reasonable.</a:t>
            </a:r>
          </a:p>
          <a:p>
            <a:endParaRPr/>
          </a:p>
          <a:p>
            <a:r>
              <a:t>Second, it is not unanimous. There are serious researchers who think there is a real discontinuity, that something about human relational reasoning is different in kind and that continuity has been oversold. The reading points you to that case. I am not going to settle it and neither is the book.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am going to spend the next three slides on evolution by natural selection, and I want to say why.</a:t>
            </a:r>
          </a:p>
          <a:p>
            <a:endParaRPr/>
          </a:p>
          <a:p>
            <a:r>
              <a:t>Some of you had this taught well. Some had it taught badly. Some never had it at all, and there is no way for me to tell which of you is which. Everything after this slide depends on it, and so does the module on neurons that starts Friday. So we do it properly, and quickly.</a:t>
            </a:r>
          </a:p>
          <a:p>
            <a:endParaRPr/>
          </a:p>
          <a:p>
            <a:r>
              <a:t>Here is the whole mechanism. Three things have to be true of a population.</a:t>
            </a:r>
          </a:p>
          <a:p>
            <a:endParaRPr/>
          </a:p>
          <a:p>
            <a:r>
              <a:t>Variation. The individuals are not identical to each other.</a:t>
            </a:r>
          </a:p>
          <a:p>
            <a:endParaRPr/>
          </a:p>
          <a:p>
            <a:r>
              <a:t>Inheritance. Offspring tend to resemble their parents.</a:t>
            </a:r>
          </a:p>
          <a:p>
            <a:endParaRPr/>
          </a:p>
          <a:p>
            <a:r>
              <a:t>And differential reproduction. Some of those variants leave more surviving offspring than others.</a:t>
            </a:r>
          </a:p>
          <a:p>
            <a:endParaRPr/>
          </a:p>
          <a:p>
            <a:r>
              <a:t>Notice what those three are. They are not assumptions, and they are not a theory. They are ordinary observations that you could check in an afternoon in any population you like.</a:t>
            </a:r>
          </a:p>
          <a:p>
            <a:endParaRPr/>
          </a:p>
          <a:p>
            <a:r>
              <a:t>And here is the part that I find genuinely startling every time. If those three things are true, the outcome is not likely. It is guaranteed. Whatever reproduces more becomes more common. Do that for enough generations and the population is a different population.</a:t>
            </a:r>
          </a:p>
          <a:p>
            <a:endParaRPr/>
          </a:p>
          <a:p>
            <a:r>
              <a:t>That is it. That is the entire mechanism.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common way to misunderstand natural selection is to hear it as a force. Something that pushes organisms toward being better.</a:t>
            </a:r>
          </a:p>
          <a:p>
            <a:endParaRPr/>
          </a:p>
          <a:p>
            <a:r>
              <a:t>It is not a force. It is closer to bookkeeping.</a:t>
            </a:r>
          </a:p>
          <a:p>
            <a:endParaRPr/>
          </a:p>
          <a:p>
            <a:r>
              <a:t>Here is the case everybody uses, and it is the right one. The peppered moth.</a:t>
            </a:r>
          </a:p>
          <a:p>
            <a:endParaRPr/>
          </a:p>
          <a:p>
            <a:r>
              <a:t>Before industrial Britain it was mostly pale, with fine speckling, and it sat on bark crusted with pale lichen, and it was nearly invisible. Then the industrial midlands filled with coal smoke, the smoke killed the lichens, and the bark went dark. Within a few decades the dark form of the moth dominated the sootiest regions. Then Britain passed clean-air laws, the bark lightened again, and the pale form came back.</a:t>
            </a:r>
          </a:p>
          <a:p>
            <a:endParaRPr/>
          </a:p>
          <a:p>
            <a:r>
              <a:t>Now — say carefully what happened. Did the soot darken the moths?</a:t>
            </a:r>
          </a:p>
          <a:p>
            <a:endParaRPr/>
          </a:p>
          <a:p>
            <a:r>
              <a:t>No. There were always dark moths. There were always pale moths. What the soot changed was which of them a bird could see against the bark.</a:t>
            </a:r>
          </a:p>
          <a:p>
            <a:endParaRPr/>
          </a:p>
          <a:p>
            <a:r>
              <a:t>I want to give you the same shape in the present tense, because it matters practically. When a bacterial population becomes resistant to an antibiotic, the antibiotic did not make the bacteria resistant. It killed everything that was not already resistant, and the survivors' descendants are what is left.</a:t>
            </a:r>
          </a:p>
          <a:p>
            <a:endParaRPr/>
          </a:p>
          <a:p>
            <a:r>
              <a:t>That is the sentence to take out of this slide. Selection edits an existing range of variation. It does not create the variation it works on.</a:t>
            </a:r>
          </a:p>
          <a:p>
            <a:endParaRPr/>
          </a:p>
          <a:p>
            <a:r>
              <a:t>One footnote worth having, because you will meet it. The bird-predation story for the moths was actually challenged on methodological grounds in the nineteen-nineties — the early experiments had real problems. Michael Majerus spent seven years doing it properly, and the result held. The textbook case survived a serious audit, which is more than many textbook cases can say.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consequences fall straight out of the mechanism, and both of them will do work later today.</a:t>
            </a:r>
          </a:p>
          <a:p>
            <a:endParaRPr/>
          </a:p>
          <a:p>
            <a:r>
              <a:t>The first is that there is no foresight anywhere in the process. Selection cannot plan. It cannot aim at something that will pay off in fifty generations. And here is the sharp version: it cannot hold out for a better design if getting there means passing through a worse one first. It only ever works on the variation that is actually present, and only ever on what pays off now.</a:t>
            </a:r>
          </a:p>
          <a:p>
            <a:endParaRPr/>
          </a:p>
          <a:p>
            <a:r>
              <a:t>Your eye is the standard demonstration. The wiring in the vertebrate retina runs across the front of the light-sensitive cells and then punches back through the sheet to leave, which is why you have a blind spot. No engineer would do that. The octopus, as we will see in a bit, does it the other way round and has no blind spot. Ours is not a design. It is what you get when you cannot go back and start again.</a:t>
            </a:r>
          </a:p>
          <a:p>
            <a:endParaRPr/>
          </a:p>
          <a:p>
            <a:r>
              <a:t>So when a biologist asks *why* an organism has some trait, that word does not mean what it means for a hammer. A hammer is for driving nails — somebody intended that. An evolutionary why is always a claim about the past. About what happened to work for that creature's ancestors, in the place they were actually living.</a:t>
            </a:r>
          </a:p>
          <a:p>
            <a:endParaRPr/>
          </a:p>
          <a:p>
            <a:r>
              <a:t>Second consequence, and this is the one I need you to hold onto for twenty minutes. An adaptation is a trait that became common because the organisms that had it were more likely to survive and reproduce in the environment they were actually in.</a:t>
            </a:r>
          </a:p>
          <a:p>
            <a:endParaRPr/>
          </a:p>
          <a:p>
            <a:r>
              <a:t>Local fit. Not improvement. Not progress. Not movement toward anything.</a:t>
            </a:r>
          </a:p>
          <a:p>
            <a:endParaRPr/>
          </a:p>
          <a:p>
            <a:r>
              <a:t>Which means a trait that was a beautiful adaptation two hundred years ago can be a liability now, without anything about the trait having changed. Ask the pale moths.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Monday I owed you something. We had three answers to the question of where a similarity comes from — shared origin, shared problem, coincidence — and I did them in words. English *brother* and German *Bruder*, inherited from one ancestor language. *Cuckoo* and *kakkō* and *kuku*, three unrelated languages all imitating the same bird. And I said the first two have proper names and we would do them properly on Wednesday.</a:t>
            </a:r>
          </a:p>
          <a:p>
            <a:endParaRPr/>
          </a:p>
          <a:p>
            <a:r>
              <a:t>It is Wednesday.</a:t>
            </a:r>
          </a:p>
          <a:p>
            <a:endParaRPr/>
          </a:p>
          <a:p>
            <a:r>
              <a:t>Shared origin, in biology, is **homology**. Both species have the trait because both inherited it from a common ancestor — a species from which both are descended.</a:t>
            </a:r>
          </a:p>
          <a:p>
            <a:endParaRPr/>
          </a:p>
          <a:p>
            <a:r>
              <a:t>Shared problem is **analogy**. The trait arose separately in each lineage, under similar pressure, and the common ancestor did not have it. The process that produces analogies has its own name: **convergent evolution**. Two lineages converging on the same solution from different starting points.</a:t>
            </a:r>
          </a:p>
          <a:p>
            <a:endParaRPr/>
          </a:p>
          <a:p>
            <a:r>
              <a:t>Now here is the thing about these two words that I want to be very precise about, because it is the whole point of the slide.</a:t>
            </a:r>
          </a:p>
          <a:p>
            <a:endParaRPr/>
          </a:p>
          <a:p>
            <a:r>
              <a:t>Homology and analogy are not descriptions of a resemblance. You are not looking at two eyes and saying "those look homologous."</a:t>
            </a:r>
          </a:p>
          <a:p>
            <a:endParaRPr/>
          </a:p>
          <a:p>
            <a:r>
              <a:t>They are claims about *history*. About how the resemblance came to be there.</a:t>
            </a:r>
          </a:p>
          <a:p>
            <a:endParaRPr/>
          </a:p>
          <a:p>
            <a:r>
              <a:t>Which means two things can look absolutely identical and be either one. And nothing about how they look will tell you which. You cannot settle it by looking harder.</a:t>
            </a:r>
          </a:p>
          <a:p>
            <a:endParaRPr/>
          </a:p>
          <a:p>
            <a:r>
              <a:t>So what do you do instead?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do this. A phylogeny is a species' evolutionary history, and a phylogenetic tree is the map of it — a diagram of who is related to whom by descent, where the branch points are common ancestors.</a:t>
            </a:r>
          </a:p>
          <a:p>
            <a:endParaRPr/>
          </a:p>
          <a:p>
            <a:r>
              <a:t>And the tree is not a picture. It is a procedure. It is what converts a raw resemblance into an inference, and it runs in both directions.</a:t>
            </a:r>
          </a:p>
          <a:p>
            <a:endParaRPr/>
          </a:p>
          <a:p>
            <a:r>
              <a:t>Two species close together on the tree, both with the trait? Inheritance is the natural first hypothesis. Their common ancestor probably had it.</a:t>
            </a:r>
          </a:p>
          <a:p>
            <a:endParaRPr/>
          </a:p>
          <a:p>
            <a:r>
              <a:t>Two species far apart, and the species in between them do not have it? Then inheritance is ruled out — you would have to believe the trait was lost independently a dozen times. What is left is convergence, or coincidence.</a:t>
            </a:r>
          </a:p>
          <a:p>
            <a:endParaRPr/>
          </a:p>
          <a:p>
            <a:r>
              <a:t>Look at the eye on this tree. Humans, mice, lizards, sharks — all camera eyes, all homologous, all modifications of one inherited plan. Now find the octopus. A camera eye as good as ours, and the common ancestor did not have one. Analogous. They are alike because the physics of forming an image on a surface leaves very few good options, and two lineages both ran into the same physics.</a:t>
            </a:r>
          </a:p>
          <a:p>
            <a:endParaRPr/>
          </a:p>
          <a:p>
            <a:r>
              <a:t>That word for "the same physics" is **selective pressure** — a feature of the environment that makes one variant reproduce more successfully, so that variant spreads.</a:t>
            </a:r>
          </a:p>
          <a:p>
            <a:endParaRPr/>
          </a:p>
          <a:p>
            <a:r>
              <a:t>And now the detail that is easy to get wrong, and is the best thing in this section.</a:t>
            </a:r>
          </a:p>
          <a:p>
            <a:endParaRPr/>
          </a:p>
          <a:p>
            <a:r>
              <a:t>The vertebrate eye and the octopus eye evolved independently. But the genetic switch that *starts* an eye developing is shared between us — inherited from a distant common ancestor that had no eyes at all.</a:t>
            </a:r>
          </a:p>
          <a:p>
            <a:endParaRPr/>
          </a:p>
          <a:p>
            <a:r>
              <a:t>So: is the eye homologous or analogous?</a:t>
            </a:r>
          </a:p>
          <a:p>
            <a:endParaRPr/>
          </a:p>
          <a:p>
            <a:r>
              <a:t>Both answers are true, of different things. The eye is analogous. The switch is homologous. Which is Monday's precision question wearing a lab coat — an honest claim always says *what structure, described at what level*, is supposed to share an origin.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point the procedure at minds instead of eyes.</a:t>
            </a:r>
          </a:p>
          <a:p>
            <a:endParaRPr/>
          </a:p>
          <a:p>
            <a:r>
              <a:t>New Caledonian crows manufacture tools. Not use — manufacture. They take a twig, trim it, work a hook into the end, and use it to fish grubs out of holes in wood. In the wild, and without being taught.</a:t>
            </a:r>
          </a:p>
          <a:p>
            <a:endParaRPr/>
          </a:p>
          <a:p>
            <a:r>
              <a:t>Run the procedure on that. Where is the last common ancestor of birds and mammals? About three hundred million years back, before the dinosaurs, and it was a reptile-like vertebrate with nothing about it that suggests tool manufacture. Every lineage in between would have had to lose it.</a:t>
            </a:r>
          </a:p>
          <a:p>
            <a:endParaRPr/>
          </a:p>
          <a:p>
            <a:r>
              <a:t>So corvid tool use and human tool use is analogous. It happened twice.</a:t>
            </a:r>
          </a:p>
          <a:p>
            <a:endParaRPr/>
          </a:p>
          <a:p>
            <a:r>
              <a:t>And it is not a one-off. Corvids and apes both plan. Both deceive. Both keep track of who did what to whom.</a:t>
            </a:r>
          </a:p>
          <a:p>
            <a:endParaRPr/>
          </a:p>
          <a:p>
            <a:r>
              <a:t>Nicola Clayton's scrub jays are my favorite version. A scrub jay caches food, and when it comes back it remembers not just *where* it put things — it remembers *what* it put there and *how long ago*, and it goes for the perishable items first, before they rot. That is memory for a specific past event, in a specific place, at a specific time. Which was assumed for a long time to be exclusively ours.</a:t>
            </a:r>
          </a:p>
          <a:p>
            <a:endParaRPr/>
          </a:p>
          <a:p>
            <a:r>
              <a:t>And corvid brains diverged from the mammalian plan before either group had much of a brain to speak of. Clayton and Emery ended up calling them *feathered apes*.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But the crows are the easy case, because a bird is at least a vertebrate with a head.</a:t>
            </a:r>
          </a:p>
          <a:p>
            <a:endParaRPr/>
          </a:p>
          <a:p>
            <a:r>
              <a:t>The octopus is the radical one.</a:t>
            </a:r>
          </a:p>
          <a:p>
            <a:endParaRPr/>
          </a:p>
          <a:p>
            <a:r>
              <a:t>A large nervous system, arranged nothing like ours — most of its neurons are in its arms, not centralized. An arm does a great deal of its own processing. Our lineages separated something like six hundred million years ago, before there was anything either of us would call a brain.</a:t>
            </a:r>
          </a:p>
          <a:p>
            <a:endParaRPr/>
          </a:p>
          <a:p>
            <a:r>
              <a:t>Peter Godfrey-Smith's line is that if we want to know what it would be like to meet an intelligent alien, the octopus is the closest we are going to get, and it is here.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we have a pile of charming animal facts. Why does the course care?</a:t>
            </a:r>
          </a:p>
          <a:p>
            <a:endParaRPr/>
          </a:p>
          <a:p>
            <a:r>
              <a:t>Here is the worry they answer, and it is a serious one.</a:t>
            </a:r>
          </a:p>
          <a:p>
            <a:endParaRPr/>
          </a:p>
          <a:p>
            <a:r>
              <a:t>Module 1 told you the computational level asks what problem a system is solving. For biological systems, that answer is going to be adaptive — this capacity is here because it solved something.</a:t>
            </a:r>
          </a:p>
          <a:p>
            <a:endParaRPr/>
          </a:p>
          <a:p>
            <a:r>
              <a:t>The trouble is that adaptive stories are cheap. Watch.</a:t>
            </a:r>
          </a:p>
          <a:p>
            <a:endParaRPr/>
          </a:p>
          <a:p>
            <a:r>
              <a:t>Humans detect snakes unusually fast in cluttered scenes. Why? Obviously an adaptation against venomous predators. Sounds right.</a:t>
            </a:r>
          </a:p>
          <a:p>
            <a:endParaRPr/>
          </a:p>
          <a:p>
            <a:r>
              <a:t>Now suppose the finding had come out the other way and we detected snakes unusually *slowly*. Why? Well — obviously, because freezing is the better response once a predator is already close, and rapid visual searching is exactly the movement that draws a strike. Also sounds right.</a:t>
            </a:r>
          </a:p>
          <a:p>
            <a:endParaRPr/>
          </a:p>
          <a:p>
            <a:r>
              <a:t>If your explanation would have accommodated the opposite result just as comfortably, it has not told you anything yet. That is not a story. That is a shape you can pour any outcome into.</a:t>
            </a:r>
          </a:p>
          <a:p>
            <a:endParaRPr/>
          </a:p>
          <a:p>
            <a:r>
              <a:t>Convergence is what gets us out.</a:t>
            </a:r>
          </a:p>
          <a:p>
            <a:endParaRPr/>
          </a:p>
          <a:p>
            <a:r>
              <a:t>When two lineages that share no relevant history arrive at the same solution independently, that is evidence the problem was real. Not invented afterwards to fit. The same answer reached twice, from different directions, is a strong hint the question was not one we made up.</a:t>
            </a:r>
          </a:p>
          <a:p>
            <a:endParaRPr/>
          </a:p>
          <a:p>
            <a:r>
              <a:t>That is why the octopus matters more than any single fact about octopuses.</a:t>
            </a:r>
          </a:p>
          <a:p>
            <a:endParaRPr/>
          </a:p>
          <a:p>
            <a:r>
              <a:t>And now let me fence it, because this argument is easy to over-run.</a:t>
            </a:r>
          </a:p>
          <a:p>
            <a:endParaRPr/>
          </a:p>
          <a:p>
            <a:r>
              <a:t>"They have the same capacity" is a claim. It is an empirical claim with a graded answer, and you do not get it by noticing a resemblance — which is Monday's whole lesson, arriving on schedule.</a:t>
            </a:r>
          </a:p>
          <a:p>
            <a:endParaRPr/>
          </a:p>
          <a:p>
            <a:r>
              <a:t>Two species may both cache and recover food while relying on completely different cues, over different time windows, failing in different circumstances. From outside, one behavior. Underneath, two.</a:t>
            </a:r>
          </a:p>
          <a:p>
            <a:endParaRPr/>
          </a:p>
          <a:p>
            <a:r>
              <a:t>So here is the rough rule, and we will use it again on Friday. If you want to know whether two systems are really doing the same thing, find out whether they **break the same way**.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Monday I gave you four ways this method goes wrong. Three of them do their worst damage right here, across species, and the next three slides take them one at a time.</a:t>
            </a:r>
          </a:p>
          <a:p>
            <a:endParaRPr/>
          </a:p>
          <a:p>
            <a:r>
              <a:t>The first is anthropocentrism, and across species it takes a specific shape. The ladder.</a:t>
            </a:r>
          </a:p>
          <a:p>
            <a:endParaRPr/>
          </a:p>
          <a:p>
            <a:r>
              <a:t>You have this picture whether or not you endorse it. Simple creatures down at the bottom — sponges, worms. Then fish, then reptiles, then mammals, then primates, then us at the top. Everything ranked by how close it comes to being human.</a:t>
            </a:r>
          </a:p>
          <a:p>
            <a:endParaRPr/>
          </a:p>
          <a:p>
            <a:r>
              <a:t>I want to reject that completely, and I want to give you the reason rather than just the disapproval.</a:t>
            </a:r>
          </a:p>
          <a:p>
            <a:endParaRPr/>
          </a:p>
          <a:p>
            <a:r>
              <a:t>Every living species is equally the product of the same span of evolutionary time. The tick has been evolving exactly as long as you have. It is not an early draft of something. It is not on its way anywhere. It is a finished, superbly adapted solution to the problem of being a tick.</a:t>
            </a:r>
          </a:p>
          <a:p>
            <a:endParaRPr/>
          </a:p>
          <a:p>
            <a:r>
              <a:t>The ladder is not a modern scientific idea that turned out wrong. It is inherited — the medieval great chain of being, running from plants up through animals to humans to God, with the theology removed and the ordering kept. And keeping the ordering left comparative psychology without a real theory for a long time.</a:t>
            </a:r>
          </a:p>
          <a:p>
            <a:endParaRPr/>
          </a:p>
          <a:p>
            <a:r>
              <a:t>So what replaces it?</a:t>
            </a:r>
          </a:p>
          <a:p>
            <a:endParaRPr/>
          </a:p>
          <a:p>
            <a:r>
              <a:t>Judge a capacity against the world the animal actually lives in. Jakob von Uexküll's word for that is *Umwelt* — the environment as that species senses it and acts on it, not as we see it.</a:t>
            </a:r>
          </a:p>
          <a:p>
            <a:endParaRPr/>
          </a:p>
          <a:p>
            <a:r>
              <a:t>A tick's Umwelt is roughly three things. Butyric acid, which mammals give off. Warmth. And touch. That is it. That is the entire world, and within it the tick is superb — it can wait years on a branch for those three signals in the right order.</a:t>
            </a:r>
          </a:p>
          <a:p>
            <a:endParaRPr/>
          </a:p>
          <a:p>
            <a:r>
              <a:t>Once you have that, look what happens to the question "is a tick smarter than a crow?"</a:t>
            </a:r>
          </a:p>
          <a:p>
            <a:endParaRPr/>
          </a:p>
          <a:p>
            <a:r>
              <a:t>It is not a hard question. It is a badly formed one. You are asking which of two animals is better at a task neither of them has.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error, and it comes with its own mirror image.</a:t>
            </a:r>
          </a:p>
          <a:p>
            <a:endParaRPr/>
          </a:p>
          <a:p>
            <a:r>
              <a:t>Clever Hans was a horse in Berlin in the early nineteen-hundreds. You asked him what three plus five was, and he tapped his hoof eight times. Reliably. In front of crowds. In front of a scientific commission.</a:t>
            </a:r>
          </a:p>
          <a:p>
            <a:endParaRPr/>
          </a:p>
          <a:p>
            <a:r>
              <a:t>And I want to be fair to everyone involved: his owner was not cheating. Von Osten believed in that horse completely, which turns out to matter.</a:t>
            </a:r>
          </a:p>
          <a:p>
            <a:endParaRPr/>
          </a:p>
          <a:p>
            <a:r>
              <a:t>Oskar Pfungst worked out what was going on, and the answer is better than the trick. Hans was reading the humans. As he tapped, whoever in the room knew the answer got very slightly tense, and at the correct number they released — a fractional change in posture, in breathing, in the angle of a head. Hans stopped there.</a:t>
            </a:r>
          </a:p>
          <a:p>
            <a:endParaRPr/>
          </a:p>
          <a:p>
            <a:r>
              <a:t>Take that seriously as a finding. A horse was reading involuntary human body language at a resolution no human in the room could consciously detect. That is a real and genuinely impressive ability.</a:t>
            </a:r>
          </a:p>
          <a:p>
            <a:endParaRPr/>
          </a:p>
          <a:p>
            <a:r>
              <a:t>It is just not arithmetic.</a:t>
            </a:r>
          </a:p>
          <a:p>
            <a:endParaRPr/>
          </a:p>
          <a:p>
            <a:r>
              <a:t>Crediting a system with more mind than it has is **anthropomorphism**. That is Monday's word, and this is the case it was made for.</a:t>
            </a:r>
          </a:p>
          <a:p>
            <a:endParaRPr/>
          </a:p>
          <a:p>
            <a:r>
              <a:t>But there is an opposite error, and Frans de Waal named it **anthropodenial** — refusing an animal a capacity it plainly has, because granting it feels unrigorous. Watching a chimpanzee reconcile after a fight and insisting we mustn't call it reconciliation.</a:t>
            </a:r>
          </a:p>
          <a:p>
            <a:endParaRPr/>
          </a:p>
          <a:p>
            <a:r>
              <a:t>Here is the point of putting them on one slide. They look like opposite sins — too generous, too stingy — but they have exactly the same cause. In both cases somebody decided in advance what the answer ought to be, and then read the evidence to get there.</a:t>
            </a:r>
          </a:p>
          <a:p>
            <a:endParaRPr/>
          </a:p>
          <a:p>
            <a:r>
              <a:t>The discipline that guards against both is **Morgan's Canon**, from C. Lloyd Morgan in eighteen ninety-four. Do not explain a behavior by a higher mental process if a simpler one accounts for it. In practice: rule out plain associative learning before you reach for anything richer.</a:t>
            </a:r>
          </a:p>
          <a:p>
            <a:endParaRPr/>
          </a:p>
          <a:p>
            <a:r>
              <a:t>And that habit is the founding discipline of **ethology** — the study of animal behavior as a biological trait, with an evolutionary history, usually observed in natural conditions.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 error. Monday I called it unconstrained adaptationism. Here is where it does its damage.</a:t>
            </a:r>
          </a:p>
          <a:p>
            <a:endParaRPr/>
          </a:p>
          <a:p>
            <a:r>
              <a:t>Natural selection explains so much that it becomes tempting to treat every single trait as a finely tuned solution to something, and to supply a plausible story for whatever you happen to find.</a:t>
            </a:r>
          </a:p>
          <a:p>
            <a:endParaRPr/>
          </a:p>
          <a:p>
            <a:r>
              <a:t>The plain counter-fact first: many traits are not adaptations at all. They came to be for other reasons.</a:t>
            </a:r>
          </a:p>
          <a:p>
            <a:endParaRPr/>
          </a:p>
          <a:p>
            <a:r>
              <a:t>Gould and Lewontin made this argument in nineteen seventy-nine with an image from architecture. When you put a dome on top of arches, you get these curved triangular spaces where the arches meet. In great cathedrals those spaces are spectacularly painted — evangelists, saints, gold leaf.</a:t>
            </a:r>
          </a:p>
          <a:p>
            <a:endParaRPr/>
          </a:p>
          <a:p>
            <a:r>
              <a:t>Now: were those spaces built in order to be decorated?</a:t>
            </a:r>
          </a:p>
          <a:p>
            <a:endParaRPr/>
          </a:p>
          <a:p>
            <a:r>
              <a:t>No. They are a byproduct. They are what is left over when you put a dome on arches — you cannot not have them. Later builders looked at them and correctly thought, those are excellent places for paintings.</a:t>
            </a:r>
          </a:p>
          <a:p>
            <a:endParaRPr/>
          </a:p>
          <a:p>
            <a:r>
              <a:t>But somebody who studied only the paintings would conclude the spaces exist for the paintings. And they would be exactly backwards.</a:t>
            </a:r>
          </a:p>
          <a:p>
            <a:endParaRPr/>
          </a:p>
          <a:p>
            <a:r>
              <a:t>Biology is full of these. Byproducts. Developmental constraints. Leftovers that never cost enough to get rid of.</a:t>
            </a:r>
          </a:p>
          <a:p>
            <a:endParaRPr/>
          </a:p>
          <a:p>
            <a:r>
              <a:t>The name for the bad version is *just-so stories*, after Kipling — how the leopard got his spots, how the camel got his hump. And here is the thing about Kipling's stories. They are charming, and each one fits its animal perfectly.</a:t>
            </a:r>
          </a:p>
          <a:p>
            <a:endParaRPr/>
          </a:p>
          <a:p>
            <a:r>
              <a:t>That is exactly the problem. Each one was written to fit.</a:t>
            </a:r>
          </a:p>
          <a:p>
            <a:endParaRPr/>
          </a:p>
          <a:p>
            <a:r>
              <a:t>So what is the corrective? Notice that *why* is not one question.</a:t>
            </a:r>
          </a:p>
          <a:p>
            <a:endParaRPr/>
          </a:p>
          <a:p>
            <a:r>
              <a:t>Niko Tinbergen counted four of them in nineteen sixty-three, and they have different answers. What causes this behavior right now. How does it develop over an individual's lifetime. What is it good for. And how did it evolve.</a:t>
            </a:r>
          </a:p>
          <a:p>
            <a:endParaRPr/>
          </a:p>
          <a:p>
            <a:r>
              <a:t>Keep those separate. Collapsing them is precisely how a plausible story starts to feel like evidence.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things to close, and the second one is an objection to me.</a:t>
            </a:r>
          </a:p>
          <a:p>
            <a:endParaRPr/>
          </a:p>
          <a:p>
            <a:r>
              <a:t>First, the stakes. Monday I said comparisons of minds are never neutral, and across species that is at its sharpest. Many people hold — reasonably — that whether an animal thinks, or plans, or suffers, bears directly on how we may treat it. As a laboratory subject. As a farmed animal. As a pet.</a:t>
            </a:r>
          </a:p>
          <a:p>
            <a:endParaRPr/>
          </a:p>
          <a:p>
            <a:r>
              <a:t>Which means the distortion runs in both directions. A generous reading motivated by wanting to extend protection. A stingy one motivated by not wanting to change anything about how we live.</a:t>
            </a:r>
          </a:p>
          <a:p>
            <a:endParaRPr/>
          </a:p>
          <a:p>
            <a:r>
              <a:t>Neither motive makes anyone wrong. But it does mean the evidence has to be assessed on its own terms — and that is easier to do when you can see what is riding on the answer.</a:t>
            </a:r>
          </a:p>
          <a:p>
            <a:endParaRPr/>
          </a:p>
          <a:p>
            <a:r>
              <a:t>Second. Starting Friday, this is the shape of the rest of the course.</a:t>
            </a:r>
          </a:p>
          <a:p>
            <a:endParaRPr/>
          </a:p>
          <a:p>
            <a:r>
              <a:t>Each module takes up a step in the evolution of the human mind and brain, and we start before neurons existed at all. The reason is the argument I made twenty minutes ago: we understand what a capacity is for by understanding the problem it solved, and the way to see that problem clearly is to look at who else solved it, and how.</a:t>
            </a:r>
          </a:p>
          <a:p>
            <a:endParaRPr/>
          </a:p>
          <a:p>
            <a:r>
              <a:t>And now the objection, which I want to raise myself rather than let you raise it in week nine.</a:t>
            </a:r>
          </a:p>
          <a:p>
            <a:endParaRPr/>
          </a:p>
          <a:p>
            <a:r>
              <a:t>I spent a whole slide telling you there is no ladder. And now I am announcing a course that walks forward from the first cells to human cognition, in order, ending with us.</a:t>
            </a:r>
          </a:p>
          <a:p>
            <a:endParaRPr/>
          </a:p>
          <a:p>
            <a:r>
              <a:t>Is that not exactly the ladder?</a:t>
            </a:r>
          </a:p>
          <a:p>
            <a:endParaRPr/>
          </a:p>
          <a:p>
            <a:r>
              <a:t>It is not, and the difference matters. Evolution has no destination. No lineage is further along than any other, and every species alive today sits at the end of an equally long line.</a:t>
            </a:r>
          </a:p>
          <a:p>
            <a:endParaRPr/>
          </a:p>
          <a:p>
            <a:r>
              <a:t>We follow the human lineage because human cognition is what this course is trying to explain. Not because it is the best one, and not because it is the last one.</a:t>
            </a:r>
          </a:p>
          <a:p>
            <a:endParaRPr/>
          </a:p>
          <a:p>
            <a:r>
              <a:t>A course built around octopus cognition could walk a completely different path through the same tree and be no less complete. It would just be a different course.</a:t>
            </a:r>
          </a:p>
          <a:p>
            <a:endParaRPr/>
          </a:p>
          <a:p>
            <a:r>
              <a:t>Friday: the neuron. The first cell specialized for carrying a signal quickly over distance — and the first module that gives each of Marr's three levels a section of its own.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FE552E"/>
        </a:solidFill>
        <a:effectLst/>
      </p:bgPr>
    </p:bg>
    <p:spTree>
      <p:nvGrpSpPr>
        <p:cNvPr id="1" name=""/>
        <p:cNvGrpSpPr/>
        <p:nvPr/>
      </p:nvGrpSpPr>
      <p:grpSpPr>
        <a:xfrm>
          <a:off x="0" y="0"/>
          <a:ext cx="0" cy="0"/>
          <a:chOff x="0" y="0"/>
          <a:chExt cx="0" cy="0"/>
        </a:xfrm>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title_logo" descr="University of Illinois Urbana-Champaign wordmark"/>
          <p:cNvPicPr>
            <a:picLocks noChangeAspect="1"/>
          </p:cNvPicPr>
          <p:nvPr/>
        </p:nvPicPr>
        <p:blipFill>
          <a:blip r:embed="rId3"/>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Comparative Approaches</a:t>
            </a:r>
          </a:p>
          <a:p>
            <a:pPr algn="ctr"/>
            <a:r>
              <a:rPr sz="2000" b="0" i="0">
                <a:solidFill>
                  <a:srgbClr val="FFFFFF"/>
                </a:solidFill>
                <a:latin typeface="Calibri"/>
              </a:rPr>
              <a:t>Lecture 2.2 — Comparisons Across Species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arwins_premise">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Why This Is Even Allowed</a:t>
            </a:r>
          </a:p>
        </p:txBody>
      </p:sp>
      <p:sp>
        <p:nvSpPr>
          <p:cNvPr id="3" name="body_box"/>
          <p:cNvSpPr txBox="1"/>
          <p:nvPr/>
        </p:nvSpPr>
        <p:spPr>
          <a:xfrm>
            <a:off x="4572000" y="1280160"/>
            <a:ext cx="7223760" cy="4937760"/>
          </a:xfrm>
          <a:prstGeom prst="rect">
            <a:avLst/>
          </a:prstGeom>
          <a:noFill/>
        </p:spPr>
        <p:txBody>
          <a:bodyPr wrap="square">
            <a:spAutoFit/>
          </a:bodyPr>
          <a:lstStyle/>
          <a:p>
            <a:r>
              <a:rPr sz="2000" b="0" i="0">
                <a:solidFill>
                  <a:srgbClr val="222222"/>
                </a:solidFill>
                <a:latin typeface="Calibri"/>
              </a:rPr>
              <a:t>Darwin, </a:t>
            </a:r>
            <a:r>
              <a:rPr sz="2000" b="0" i="1">
                <a:solidFill>
                  <a:srgbClr val="222222"/>
                </a:solidFill>
                <a:latin typeface="Calibri"/>
              </a:rPr>
              <a:t>The Descent of Man</a:t>
            </a:r>
            <a:r>
              <a:rPr sz="2000" b="0" i="0">
                <a:solidFill>
                  <a:srgbClr val="222222"/>
                </a:solidFill>
                <a:latin typeface="Calibri"/>
              </a:rPr>
              <a:t> (1871): the difference between the human mind and the minds of other animals is one </a:t>
            </a:r>
            <a:r>
              <a:rPr sz="2000" b="1" i="0">
                <a:solidFill>
                  <a:srgbClr val="222222"/>
                </a:solidFill>
                <a:latin typeface="Calibri"/>
              </a:rPr>
              <a:t>of degree</a:t>
            </a:r>
            <a:r>
              <a:rPr sz="2000" b="0" i="0">
                <a:solidFill>
                  <a:srgbClr val="222222"/>
                </a:solidFill>
                <a:latin typeface="Calibri"/>
              </a:rPr>
              <a:t>, not </a:t>
            </a:r>
            <a:r>
              <a:rPr sz="2000" b="1" i="0">
                <a:solidFill>
                  <a:srgbClr val="222222"/>
                </a:solidFill>
                <a:latin typeface="Calibri"/>
              </a:rPr>
              <a:t>of kind</a:t>
            </a:r>
            <a:r>
              <a:rPr sz="2000" b="0" i="0">
                <a:solidFill>
                  <a:srgbClr val="222222"/>
                </a:solidFill>
                <a:latin typeface="Calibri"/>
              </a:rPr>
              <a:t>.</a:t>
            </a:r>
          </a:p>
          <a:p>
            <a:pPr>
              <a:defRPr sz="1000"/>
            </a:pPr>
            <a:endParaRPr sz="2000" b="0" i="0">
              <a:solidFill>
                <a:srgbClr val="222222"/>
              </a:solidFill>
              <a:latin typeface="Calibri"/>
            </a:endParaRPr>
          </a:p>
          <a:p>
            <a:r>
              <a:rPr sz="2000" b="0" i="0">
                <a:solidFill>
                  <a:srgbClr val="222222"/>
                </a:solidFill>
                <a:latin typeface="Calibri"/>
              </a:rPr>
              <a:t>That claim is what makes the whole enterprise legitimate. If minds are products of evolution, then minds have histories — and related species should have related minds.</a:t>
            </a:r>
          </a:p>
          <a:p>
            <a:pPr>
              <a:defRPr sz="1000"/>
            </a:pPr>
            <a:endParaRPr sz="2000" b="0" i="0">
              <a:solidFill>
                <a:srgbClr val="222222"/>
              </a:solidFill>
              <a:latin typeface="Calibri"/>
            </a:endParaRPr>
          </a:p>
          <a:p>
            <a:r>
              <a:rPr sz="2000" b="0" i="0">
                <a:solidFill>
                  <a:srgbClr val="222222"/>
                </a:solidFill>
                <a:latin typeface="Calibri"/>
              </a:rPr>
              <a:t>It is a substantive claim that somebody argued for. </a:t>
            </a:r>
            <a:r>
              <a:rPr sz="2000" b="1" i="0">
                <a:solidFill>
                  <a:srgbClr val="222222"/>
                </a:solidFill>
                <a:latin typeface="Calibri"/>
              </a:rPr>
              <a:t>It is not unanimous.</a:t>
            </a:r>
          </a:p>
        </p:txBody>
      </p:sp>
      <p:pic>
        <p:nvPicPr>
          <p:cNvPr id="4" name="img0" descr="An 1871 editorial cartoon: Darwin's head, bald and heavily bearded, on the body of an ape walking on all fours along a branch in a wooded setting."/>
          <p:cNvPicPr>
            <a:picLocks noChangeAspect="1"/>
          </p:cNvPicPr>
          <p:nvPr/>
        </p:nvPicPr>
        <p:blipFill>
          <a:blip r:embed="rId3"/>
          <a:stretch>
            <a:fillRect/>
          </a:stretch>
        </p:blipFill>
        <p:spPr>
          <a:xfrm>
            <a:off x="548640" y="1234440"/>
            <a:ext cx="3602735" cy="48468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three_requirements">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Natural Selection, From Scratch</a:t>
            </a:r>
          </a:p>
        </p:txBody>
      </p:sp>
      <p:pic>
        <p:nvPicPr>
          <p:cNvPr id="3" name="img0" descr="TO WRITE"/>
          <p:cNvPicPr>
            <a:picLocks noChangeAspect="1"/>
          </p:cNvPicPr>
          <p:nvPr/>
        </p:nvPicPr>
        <p:blipFill>
          <a:blip r:embed="rId3"/>
          <a:stretch>
            <a:fillRect/>
          </a:stretch>
        </p:blipFill>
        <p:spPr>
          <a:xfrm>
            <a:off x="91440" y="1097280"/>
            <a:ext cx="12051368" cy="43040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election_edits">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Not a Force. Bookkeeping.</a:t>
            </a:r>
          </a:p>
        </p:txBody>
      </p:sp>
      <p:sp>
        <p:nvSpPr>
          <p:cNvPr id="3" name="body_box"/>
          <p:cNvSpPr txBox="1"/>
          <p:nvPr/>
        </p:nvSpPr>
        <p:spPr>
          <a:xfrm>
            <a:off x="5989320" y="1143000"/>
            <a:ext cx="5897880" cy="5577840"/>
          </a:xfrm>
          <a:prstGeom prst="rect">
            <a:avLst/>
          </a:prstGeom>
          <a:noFill/>
        </p:spPr>
        <p:txBody>
          <a:bodyPr wrap="square">
            <a:spAutoFit/>
          </a:bodyPr>
          <a:lstStyle/>
          <a:p>
            <a:r>
              <a:rPr sz="2000" b="0" i="0">
                <a:solidFill>
                  <a:srgbClr val="222222"/>
                </a:solidFill>
                <a:latin typeface="Calibri"/>
              </a:rPr>
              <a:t>Before industrial Britain: the peppered moth was pale and speckled, nearly invisible on lichen-crusted bark.</a:t>
            </a:r>
          </a:p>
          <a:p>
            <a:pPr>
              <a:defRPr sz="1000"/>
            </a:pPr>
            <a:endParaRPr sz="2000" b="0" i="0">
              <a:solidFill>
                <a:srgbClr val="222222"/>
              </a:solidFill>
              <a:latin typeface="Calibri"/>
            </a:endParaRPr>
          </a:p>
          <a:p>
            <a:r>
              <a:rPr sz="2000" b="0" i="0">
                <a:solidFill>
                  <a:srgbClr val="222222"/>
                </a:solidFill>
                <a:latin typeface="Calibri"/>
              </a:rPr>
              <a:t>Coal smoke killed the lichens and blackened the bark. Within decades, dark moths dominated the sootiest regions. Clean-air laws reversed it again.</a:t>
            </a:r>
          </a:p>
          <a:p>
            <a:pPr>
              <a:defRPr sz="1000"/>
            </a:pPr>
            <a:endParaRPr sz="2000" b="0" i="0">
              <a:solidFill>
                <a:srgbClr val="222222"/>
              </a:solidFill>
              <a:latin typeface="Calibri"/>
            </a:endParaRPr>
          </a:p>
          <a:p>
            <a:r>
              <a:rPr sz="2000" b="1" i="0">
                <a:solidFill>
                  <a:srgbClr val="222222"/>
                </a:solidFill>
                <a:latin typeface="Calibri"/>
              </a:rPr>
              <a:t>The soot did not darken the moths.</a:t>
            </a:r>
            <a:r>
              <a:rPr sz="2000" b="0" i="0">
                <a:solidFill>
                  <a:srgbClr val="222222"/>
                </a:solidFill>
                <a:latin typeface="Calibri"/>
              </a:rPr>
              <a:t> It changed which moths a bird could see.</a:t>
            </a:r>
          </a:p>
          <a:p>
            <a:pPr>
              <a:defRPr sz="1000"/>
            </a:pPr>
            <a:endParaRPr sz="2000" b="0" i="0">
              <a:solidFill>
                <a:srgbClr val="222222"/>
              </a:solidFill>
              <a:latin typeface="Calibri"/>
            </a:endParaRPr>
          </a:p>
          <a:p>
            <a:r>
              <a:rPr sz="2000" b="0" i="0">
                <a:solidFill>
                  <a:srgbClr val="222222"/>
                </a:solidFill>
                <a:latin typeface="Calibri"/>
              </a:rPr>
              <a:t>Same shape, present tense: the antibiotic did not </a:t>
            </a:r>
            <a:r>
              <a:rPr sz="2000" b="0" i="1">
                <a:solidFill>
                  <a:srgbClr val="222222"/>
                </a:solidFill>
                <a:latin typeface="Calibri"/>
              </a:rPr>
              <a:t>make</a:t>
            </a:r>
            <a:r>
              <a:rPr sz="2000" b="0" i="0">
                <a:solidFill>
                  <a:srgbClr val="222222"/>
                </a:solidFill>
                <a:latin typeface="Calibri"/>
              </a:rPr>
              <a:t> the bacteria resistant. It killed everything that was not.</a:t>
            </a:r>
          </a:p>
          <a:p>
            <a:pPr>
              <a:defRPr sz="1000"/>
            </a:pPr>
            <a:endParaRPr sz="2000" b="0" i="0">
              <a:solidFill>
                <a:srgbClr val="222222"/>
              </a:solidFill>
              <a:latin typeface="Calibri"/>
            </a:endParaRPr>
          </a:p>
          <a:p>
            <a:r>
              <a:rPr sz="2000" b="1" i="0">
                <a:solidFill>
                  <a:srgbClr val="222222"/>
                </a:solidFill>
                <a:latin typeface="Calibri"/>
              </a:rPr>
              <a:t>Selection edits an existing range of variation. It does not create it.</a:t>
            </a:r>
          </a:p>
        </p:txBody>
      </p:sp>
      <p:pic>
        <p:nvPicPr>
          <p:cNvPr id="4" name="img0" descr="A pale birch trunk in a wood with two peppered moths on it. The dark form sits on the light bark and is immediately obvious; the pale speckled form sits on a lichen-covered patch and is very hard to pick out."/>
          <p:cNvPicPr>
            <a:picLocks noChangeAspect="1"/>
          </p:cNvPicPr>
          <p:nvPr/>
        </p:nvPicPr>
        <p:blipFill>
          <a:blip r:embed="rId3"/>
          <a:stretch>
            <a:fillRect/>
          </a:stretch>
        </p:blipFill>
        <p:spPr>
          <a:xfrm>
            <a:off x="502920" y="1600200"/>
            <a:ext cx="5394960" cy="40394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no_foresight">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No Foresight, No Progress</a:t>
            </a:r>
          </a:p>
        </p:txBody>
      </p:sp>
      <p:sp>
        <p:nvSpPr>
          <p:cNvPr id="3" name="body_box"/>
          <p:cNvSpPr txBox="1"/>
          <p:nvPr/>
        </p:nvSpPr>
        <p:spPr>
          <a:xfrm>
            <a:off x="91440" y="1081331"/>
            <a:ext cx="6126480" cy="5623560"/>
          </a:xfrm>
          <a:prstGeom prst="rect">
            <a:avLst/>
          </a:prstGeom>
          <a:noFill/>
        </p:spPr>
        <p:txBody>
          <a:bodyPr wrap="square">
            <a:spAutoFit/>
          </a:bodyPr>
          <a:lstStyle/>
          <a:p>
            <a:r>
              <a:rPr sz="2000" b="0" i="0" dirty="0">
                <a:solidFill>
                  <a:srgbClr val="222222"/>
                </a:solidFill>
                <a:latin typeface="Calibri"/>
              </a:rPr>
              <a:t>Selection cannot plan. It cannot aim at a future benefit, and it cannot hold out for a better design that would require passing through a worse one first.</a:t>
            </a:r>
          </a:p>
          <a:p>
            <a:pPr>
              <a:defRPr sz="1000"/>
            </a:pPr>
            <a:endParaRPr sz="2000" b="0" i="0" dirty="0">
              <a:solidFill>
                <a:srgbClr val="222222"/>
              </a:solidFill>
              <a:latin typeface="Calibri"/>
            </a:endParaRPr>
          </a:p>
          <a:p>
            <a:r>
              <a:rPr sz="2000" b="0" i="0" dirty="0">
                <a:solidFill>
                  <a:srgbClr val="222222"/>
                </a:solidFill>
                <a:latin typeface="Calibri"/>
              </a:rPr>
              <a:t>So an evolutionary </a:t>
            </a:r>
            <a:r>
              <a:rPr sz="2000" b="1" i="0" dirty="0">
                <a:solidFill>
                  <a:srgbClr val="222222"/>
                </a:solidFill>
                <a:latin typeface="Calibri"/>
              </a:rPr>
              <a:t>why</a:t>
            </a:r>
            <a:r>
              <a:rPr sz="2000" b="0" i="0" dirty="0">
                <a:solidFill>
                  <a:srgbClr val="222222"/>
                </a:solidFill>
                <a:latin typeface="Calibri"/>
              </a:rPr>
              <a:t> is never a claim about what something is </a:t>
            </a:r>
            <a:r>
              <a:rPr sz="2000" b="0" i="1" dirty="0">
                <a:solidFill>
                  <a:srgbClr val="222222"/>
                </a:solidFill>
                <a:latin typeface="Calibri"/>
              </a:rPr>
              <a:t>for</a:t>
            </a:r>
            <a:r>
              <a:rPr sz="2000" b="0" i="0" dirty="0">
                <a:solidFill>
                  <a:srgbClr val="222222"/>
                </a:solidFill>
                <a:latin typeface="Calibri"/>
              </a:rPr>
              <a:t>, the way a hammer is for driving nails. It is a claim about </a:t>
            </a:r>
            <a:r>
              <a:rPr sz="2000" b="1" i="0" dirty="0">
                <a:solidFill>
                  <a:srgbClr val="222222"/>
                </a:solidFill>
                <a:latin typeface="Calibri"/>
              </a:rPr>
              <a:t>the past</a:t>
            </a:r>
            <a:r>
              <a:rPr sz="2000" b="0" i="0" dirty="0">
                <a:solidFill>
                  <a:srgbClr val="222222"/>
                </a:solidFill>
                <a:latin typeface="Calibri"/>
              </a:rPr>
              <a:t> — about what happened to work for a creature's ancestors.</a:t>
            </a:r>
          </a:p>
          <a:p>
            <a:pPr>
              <a:defRPr sz="1000"/>
            </a:pPr>
            <a:endParaRPr sz="2000" b="0" i="0" dirty="0">
              <a:solidFill>
                <a:srgbClr val="222222"/>
              </a:solidFill>
              <a:latin typeface="Calibri"/>
            </a:endParaRPr>
          </a:p>
          <a:p>
            <a:r>
              <a:rPr sz="2000" b="0" i="0" dirty="0">
                <a:solidFill>
                  <a:srgbClr val="222222"/>
                </a:solidFill>
                <a:latin typeface="Calibri"/>
              </a:rPr>
              <a:t>An </a:t>
            </a:r>
            <a:r>
              <a:rPr sz="2000" b="1" i="0" dirty="0">
                <a:solidFill>
                  <a:srgbClr val="222222"/>
                </a:solidFill>
                <a:latin typeface="Calibri"/>
              </a:rPr>
              <a:t>adaptation</a:t>
            </a:r>
            <a:r>
              <a:rPr sz="2000" b="0" i="0" dirty="0">
                <a:solidFill>
                  <a:srgbClr val="222222"/>
                </a:solidFill>
                <a:latin typeface="Calibri"/>
              </a:rPr>
              <a:t> is a trait that became common because the organisms that had it were more likely to survive and reproduce </a:t>
            </a:r>
            <a:r>
              <a:rPr sz="2000" b="0" i="1" dirty="0">
                <a:solidFill>
                  <a:srgbClr val="222222"/>
                </a:solidFill>
                <a:latin typeface="Calibri"/>
              </a:rPr>
              <a:t>in the environment they were actually living in</a:t>
            </a:r>
            <a:r>
              <a:rPr sz="2000" b="0" i="0" dirty="0">
                <a:solidFill>
                  <a:srgbClr val="222222"/>
                </a:solidFill>
                <a:latin typeface="Calibri"/>
              </a:rPr>
              <a:t>.</a:t>
            </a:r>
          </a:p>
          <a:p>
            <a:pPr>
              <a:defRPr sz="1000"/>
            </a:pPr>
            <a:endParaRPr sz="2000" b="0" i="0" dirty="0">
              <a:solidFill>
                <a:srgbClr val="222222"/>
              </a:solidFill>
              <a:latin typeface="Calibri"/>
            </a:endParaRPr>
          </a:p>
          <a:p>
            <a:r>
              <a:rPr sz="2000" b="1" i="0" dirty="0">
                <a:solidFill>
                  <a:srgbClr val="222222"/>
                </a:solidFill>
                <a:latin typeface="Calibri"/>
              </a:rPr>
              <a:t>Local fit. Not improvement.</a:t>
            </a:r>
            <a:r>
              <a:rPr sz="2000" b="0" i="0" dirty="0">
                <a:solidFill>
                  <a:srgbClr val="222222"/>
                </a:solidFill>
                <a:latin typeface="Calibri"/>
              </a:rPr>
              <a:t> When circumstances change, the fit can vanish.</a:t>
            </a:r>
          </a:p>
        </p:txBody>
      </p:sp>
      <p:pic>
        <p:nvPicPr>
          <p:cNvPr id="4" name="img0" descr="An illustration of a broad branching tree with a bacterium, a mushroom, a violet, a beetle, a fish, a frog, a lizard, a bird, a mouse, a chimpanzee and a person each standing at the tip of its own branch, all at roughly the same height. Above the tree, a faded march-of-progress sequence ending in a figure on a pedestal is struck through with a red cross. The caption reads: evolution is a branching tree, not a ladder."/>
          <p:cNvPicPr>
            <a:picLocks noChangeAspect="1"/>
          </p:cNvPicPr>
          <p:nvPr/>
        </p:nvPicPr>
        <p:blipFill>
          <a:blip r:embed="rId3"/>
          <a:stretch>
            <a:fillRect/>
          </a:stretch>
        </p:blipFill>
        <p:spPr>
          <a:xfrm>
            <a:off x="6094476" y="1451167"/>
            <a:ext cx="5933501" cy="395566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homology_analogy">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Two Names for Two Histories</a:t>
            </a:r>
          </a:p>
        </p:txBody>
      </p:sp>
      <p:sp>
        <p:nvSpPr>
          <p:cNvPr id="3" name="body_box"/>
          <p:cNvSpPr txBox="1"/>
          <p:nvPr/>
        </p:nvSpPr>
        <p:spPr>
          <a:xfrm>
            <a:off x="731520" y="6227064"/>
            <a:ext cx="10040112" cy="402336"/>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common ancestor</a:t>
            </a:r>
            <a:r>
              <a:rPr sz="2000" b="0" i="0">
                <a:solidFill>
                  <a:srgbClr val="222222"/>
                </a:solidFill>
                <a:latin typeface="Calibri"/>
              </a:rPr>
              <a:t> is a species from which both are descended.</a:t>
            </a:r>
          </a:p>
        </p:txBody>
      </p:sp>
      <p:pic>
        <p:nvPicPr>
          <p:cNvPr id="4" name="img0" descr="TO WRITE"/>
          <p:cNvPicPr>
            <a:picLocks noChangeAspect="1"/>
          </p:cNvPicPr>
          <p:nvPr/>
        </p:nvPicPr>
        <p:blipFill>
          <a:blip r:embed="rId3"/>
          <a:stretch>
            <a:fillRect/>
          </a:stretch>
        </p:blipFill>
        <p:spPr>
          <a:xfrm>
            <a:off x="91440" y="749808"/>
            <a:ext cx="12028170" cy="45105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he_tree">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Tree Is a Procedure</a:t>
            </a:r>
          </a:p>
        </p:txBody>
      </p:sp>
      <p:pic>
        <p:nvPicPr>
          <p:cNvPr id="4" name="img0" descr="TO WRITE"/>
          <p:cNvPicPr>
            <a:picLocks noChangeAspect="1"/>
          </p:cNvPicPr>
          <p:nvPr/>
        </p:nvPicPr>
        <p:blipFill>
          <a:blip r:embed="rId3"/>
          <a:stretch>
            <a:fillRect/>
          </a:stretch>
        </p:blipFill>
        <p:spPr>
          <a:xfrm>
            <a:off x="91440" y="1595734"/>
            <a:ext cx="6404371" cy="3881437"/>
          </a:xfrm>
          <a:prstGeom prst="rect">
            <a:avLst/>
          </a:prstGeom>
        </p:spPr>
      </p:pic>
      <p:sp>
        <p:nvSpPr>
          <p:cNvPr id="3" name="body_box"/>
          <p:cNvSpPr txBox="1"/>
          <p:nvPr/>
        </p:nvSpPr>
        <p:spPr>
          <a:xfrm>
            <a:off x="6094476" y="513553"/>
            <a:ext cx="5440680" cy="6355080"/>
          </a:xfrm>
          <a:prstGeom prst="rect">
            <a:avLst/>
          </a:prstGeom>
          <a:noFill/>
        </p:spPr>
        <p:txBody>
          <a:bodyPr wrap="square">
            <a:spAutoFit/>
          </a:bodyPr>
          <a:lstStyle/>
          <a:p>
            <a:r>
              <a:rPr sz="2000" b="0" i="0" dirty="0">
                <a:solidFill>
                  <a:srgbClr val="222222"/>
                </a:solidFill>
                <a:latin typeface="Calibri"/>
              </a:rPr>
              <a:t>A </a:t>
            </a:r>
            <a:r>
              <a:rPr sz="2000" b="1" i="0" dirty="0">
                <a:solidFill>
                  <a:srgbClr val="222222"/>
                </a:solidFill>
                <a:latin typeface="Calibri"/>
              </a:rPr>
              <a:t>phylogeny</a:t>
            </a:r>
            <a:r>
              <a:rPr sz="2000" b="0" i="0" dirty="0">
                <a:solidFill>
                  <a:srgbClr val="222222"/>
                </a:solidFill>
                <a:latin typeface="Calibri"/>
              </a:rPr>
              <a:t> is a species' evolutionary history. A </a:t>
            </a:r>
            <a:r>
              <a:rPr sz="2000" b="1" i="0" dirty="0">
                <a:solidFill>
                  <a:srgbClr val="222222"/>
                </a:solidFill>
                <a:latin typeface="Calibri"/>
              </a:rPr>
              <a:t>phylogenetic tree</a:t>
            </a:r>
            <a:r>
              <a:rPr sz="2000" b="0" i="0" dirty="0">
                <a:solidFill>
                  <a:srgbClr val="222222"/>
                </a:solidFill>
                <a:latin typeface="Calibri"/>
              </a:rPr>
              <a:t> is the map of it — relatedness by descent, with branch points marking common ancestors.</a:t>
            </a:r>
          </a:p>
          <a:p>
            <a:pPr>
              <a:defRPr sz="1000"/>
            </a:pPr>
            <a:endParaRPr sz="2000" b="0" i="0" dirty="0">
              <a:solidFill>
                <a:srgbClr val="222222"/>
              </a:solidFill>
              <a:latin typeface="Calibri"/>
            </a:endParaRPr>
          </a:p>
          <a:p>
            <a:r>
              <a:rPr sz="2000" b="1" i="0" dirty="0">
                <a:solidFill>
                  <a:srgbClr val="222222"/>
                </a:solidFill>
                <a:latin typeface="Calibri"/>
              </a:rPr>
              <a:t>Close together, both have it</a:t>
            </a:r>
            <a:r>
              <a:rPr sz="2000" b="0" i="0" dirty="0">
                <a:solidFill>
                  <a:srgbClr val="222222"/>
                </a:solidFill>
                <a:latin typeface="Calibri"/>
              </a:rPr>
              <a:t> → inheritance is the natural first hypothesis.</a:t>
            </a:r>
          </a:p>
          <a:p>
            <a:r>
              <a:rPr sz="2000" b="1" i="0" dirty="0">
                <a:solidFill>
                  <a:srgbClr val="222222"/>
                </a:solidFill>
                <a:latin typeface="Calibri"/>
              </a:rPr>
              <a:t>Far apart, and the species in between lack it</a:t>
            </a:r>
            <a:r>
              <a:rPr sz="2000" b="0" i="0" dirty="0">
                <a:solidFill>
                  <a:srgbClr val="222222"/>
                </a:solidFill>
                <a:latin typeface="Calibri"/>
              </a:rPr>
              <a:t> → inheritance is ruled out. Convergence or coincidence.</a:t>
            </a:r>
          </a:p>
          <a:p>
            <a:pPr>
              <a:defRPr sz="1000"/>
            </a:pPr>
            <a:endParaRPr sz="2000" b="0" i="0" dirty="0">
              <a:solidFill>
                <a:srgbClr val="222222"/>
              </a:solidFill>
              <a:latin typeface="Calibri"/>
            </a:endParaRPr>
          </a:p>
          <a:p>
            <a:r>
              <a:rPr sz="2000" b="0" i="0" dirty="0">
                <a:solidFill>
                  <a:srgbClr val="222222"/>
                </a:solidFill>
                <a:latin typeface="Calibri"/>
              </a:rPr>
              <a:t>A </a:t>
            </a:r>
            <a:r>
              <a:rPr sz="2000" b="1" i="0" dirty="0">
                <a:solidFill>
                  <a:srgbClr val="222222"/>
                </a:solidFill>
                <a:latin typeface="Calibri"/>
              </a:rPr>
              <a:t>selective pressure</a:t>
            </a:r>
            <a:r>
              <a:rPr sz="2000" b="0" i="0" dirty="0">
                <a:solidFill>
                  <a:srgbClr val="222222"/>
                </a:solidFill>
                <a:latin typeface="Calibri"/>
              </a:rPr>
              <a:t> is a feature of the environment that makes one variant reproduce more successfully, so that variant spreads.</a:t>
            </a:r>
          </a:p>
          <a:p>
            <a:pPr>
              <a:defRPr sz="1000"/>
            </a:pPr>
            <a:endParaRPr sz="2000" b="0" i="0" dirty="0">
              <a:solidFill>
                <a:srgbClr val="222222"/>
              </a:solidFill>
              <a:latin typeface="Calibri"/>
            </a:endParaRPr>
          </a:p>
          <a:p>
            <a:r>
              <a:rPr sz="2000" b="0" i="0" dirty="0">
                <a:solidFill>
                  <a:srgbClr val="222222"/>
                </a:solidFill>
                <a:latin typeface="Calibri"/>
              </a:rPr>
              <a:t>Human and octopus camera eyes are </a:t>
            </a:r>
            <a:r>
              <a:rPr sz="2000" b="1" i="0" dirty="0">
                <a:solidFill>
                  <a:srgbClr val="222222"/>
                </a:solidFill>
                <a:latin typeface="Calibri"/>
              </a:rPr>
              <a:t>analogous</a:t>
            </a:r>
            <a:r>
              <a:rPr sz="2000" b="0" i="0" dirty="0">
                <a:solidFill>
                  <a:srgbClr val="222222"/>
                </a:solidFill>
                <a:latin typeface="Calibri"/>
              </a:rPr>
              <a:t>. The genetic switch that starts an eye developing is </a:t>
            </a:r>
            <a:r>
              <a:rPr sz="2000" b="1" i="0" dirty="0">
                <a:solidFill>
                  <a:srgbClr val="222222"/>
                </a:solidFill>
                <a:latin typeface="Calibri"/>
              </a:rPr>
              <a:t>homologous</a:t>
            </a:r>
            <a:r>
              <a:rPr sz="2000" b="0" i="0" dirty="0">
                <a:solidFill>
                  <a:srgbClr val="222222"/>
                </a:solidFill>
                <a:latin typeface="Calibri"/>
              </a:rPr>
              <a:t> — inherited from an ancestor with no eyes at all.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convergent_minds__1">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It Happened More Than Once</a:t>
            </a:r>
          </a:p>
        </p:txBody>
      </p:sp>
      <p:sp>
        <p:nvSpPr>
          <p:cNvPr id="3" name="body_box"/>
          <p:cNvSpPr txBox="1"/>
          <p:nvPr/>
        </p:nvSpPr>
        <p:spPr>
          <a:xfrm>
            <a:off x="457200" y="1234440"/>
            <a:ext cx="6675120" cy="5074920"/>
          </a:xfrm>
          <a:prstGeom prst="rect">
            <a:avLst/>
          </a:prstGeom>
          <a:noFill/>
        </p:spPr>
        <p:txBody>
          <a:bodyPr wrap="square">
            <a:spAutoFit/>
          </a:bodyPr>
          <a:lstStyle/>
          <a:p>
            <a:r>
              <a:rPr sz="2000" b="1" i="0">
                <a:solidFill>
                  <a:srgbClr val="222222"/>
                </a:solidFill>
                <a:latin typeface="Calibri"/>
              </a:rPr>
              <a:t>New Caledonian crows</a:t>
            </a:r>
            <a:r>
              <a:rPr sz="2000" b="0" i="0">
                <a:solidFill>
                  <a:srgbClr val="222222"/>
                </a:solidFill>
                <a:latin typeface="Calibri"/>
              </a:rPr>
              <a:t> manufacture tools — trimming twigs into hooks to fish grubs out of wood. In the wild, untaught.</a:t>
            </a:r>
          </a:p>
          <a:p>
            <a:pPr>
              <a:defRPr sz="1000"/>
            </a:pPr>
            <a:endParaRPr sz="2000" b="0" i="0">
              <a:solidFill>
                <a:srgbClr val="222222"/>
              </a:solidFill>
              <a:latin typeface="Calibri"/>
            </a:endParaRPr>
          </a:p>
          <a:p>
            <a:r>
              <a:rPr sz="2000" b="0" i="0">
                <a:solidFill>
                  <a:srgbClr val="222222"/>
                </a:solidFill>
                <a:latin typeface="Calibri"/>
              </a:rPr>
              <a:t>Last common ancestor of birds and mammals: a reptile-like vertebrate, roughly </a:t>
            </a:r>
            <a:r>
              <a:rPr sz="2000" b="1" i="0">
                <a:solidFill>
                  <a:srgbClr val="222222"/>
                </a:solidFill>
                <a:latin typeface="Calibri"/>
              </a:rPr>
              <a:t>300 million years ago</a:t>
            </a:r>
            <a:r>
              <a:rPr sz="2000" b="0" i="0">
                <a:solidFill>
                  <a:srgbClr val="222222"/>
                </a:solidFill>
                <a:latin typeface="Calibri"/>
              </a:rPr>
              <a:t>, before the dinosaurs, with nothing about it suggesting tool manufacture.</a:t>
            </a:r>
          </a:p>
          <a:p>
            <a:pPr>
              <a:defRPr sz="1000"/>
            </a:pPr>
            <a:endParaRPr sz="2000" b="0" i="0">
              <a:solidFill>
                <a:srgbClr val="222222"/>
              </a:solidFill>
              <a:latin typeface="Calibri"/>
            </a:endParaRPr>
          </a:p>
          <a:p>
            <a:r>
              <a:rPr sz="2000" b="0" i="0">
                <a:solidFill>
                  <a:srgbClr val="222222"/>
                </a:solidFill>
                <a:latin typeface="Calibri"/>
              </a:rPr>
              <a:t>Run the procedure: corvid and human tool use is </a:t>
            </a:r>
            <a:r>
              <a:rPr sz="2000" b="1" i="0">
                <a:solidFill>
                  <a:srgbClr val="222222"/>
                </a:solidFill>
                <a:latin typeface="Calibri"/>
              </a:rPr>
              <a:t>analogous</a:t>
            </a:r>
            <a:r>
              <a:rPr sz="2000" b="0" i="0">
                <a:solidFill>
                  <a:srgbClr val="222222"/>
                </a:solidFill>
                <a:latin typeface="Calibri"/>
              </a:rPr>
              <a:t>.</a:t>
            </a:r>
          </a:p>
          <a:p>
            <a:pPr>
              <a:defRPr sz="1000"/>
            </a:pPr>
            <a:endParaRPr sz="2000" b="0" i="0">
              <a:solidFill>
                <a:srgbClr val="222222"/>
              </a:solidFill>
              <a:latin typeface="Calibri"/>
            </a:endParaRPr>
          </a:p>
          <a:p>
            <a:r>
              <a:rPr sz="2000" b="1" i="0">
                <a:solidFill>
                  <a:srgbClr val="222222"/>
                </a:solidFill>
                <a:latin typeface="Calibri"/>
              </a:rPr>
              <a:t>Scrub jays</a:t>
            </a:r>
            <a:r>
              <a:rPr sz="2000" b="0" i="0">
                <a:solidFill>
                  <a:srgbClr val="222222"/>
                </a:solidFill>
                <a:latin typeface="Calibri"/>
              </a:rPr>
              <a:t> remember not only </a:t>
            </a:r>
            <a:r>
              <a:rPr sz="2000" b="0" i="1">
                <a:solidFill>
                  <a:srgbClr val="222222"/>
                </a:solidFill>
                <a:latin typeface="Calibri"/>
              </a:rPr>
              <a:t>where</a:t>
            </a:r>
            <a:r>
              <a:rPr sz="2000" b="0" i="0">
                <a:solidFill>
                  <a:srgbClr val="222222"/>
                </a:solidFill>
                <a:latin typeface="Calibri"/>
              </a:rPr>
              <a:t> they cached, but </a:t>
            </a:r>
            <a:r>
              <a:rPr sz="2000" b="0" i="1">
                <a:solidFill>
                  <a:srgbClr val="222222"/>
                </a:solidFill>
                <a:latin typeface="Calibri"/>
              </a:rPr>
              <a:t>what</a:t>
            </a:r>
            <a:r>
              <a:rPr sz="2000" b="0" i="0">
                <a:solidFill>
                  <a:srgbClr val="222222"/>
                </a:solidFill>
                <a:latin typeface="Calibri"/>
              </a:rPr>
              <a:t>, and </a:t>
            </a:r>
            <a:r>
              <a:rPr sz="2000" b="0" i="1">
                <a:solidFill>
                  <a:srgbClr val="222222"/>
                </a:solidFill>
                <a:latin typeface="Calibri"/>
              </a:rPr>
              <a:t>how long ago</a:t>
            </a:r>
            <a:r>
              <a:rPr sz="2000" b="0" i="0">
                <a:solidFill>
                  <a:srgbClr val="222222"/>
                </a:solidFill>
                <a:latin typeface="Calibri"/>
              </a:rPr>
              <a:t> — recovering the perishable items first. Memory for a specific past event, long assumed to be ours alone.</a:t>
            </a:r>
          </a:p>
        </p:txBody>
      </p:sp>
      <p:pic>
        <p:nvPicPr>
          <p:cNvPr id="4" name="img0" descr="A black crow standing on a mossy fallen log, holding a long thin stick in its beak and angling it down toward the wood."/>
          <p:cNvPicPr>
            <a:picLocks noChangeAspect="1"/>
          </p:cNvPicPr>
          <p:nvPr/>
        </p:nvPicPr>
        <p:blipFill>
          <a:blip r:embed="rId3"/>
          <a:stretch>
            <a:fillRect/>
          </a:stretch>
        </p:blipFill>
        <p:spPr>
          <a:xfrm>
            <a:off x="7342631" y="1234440"/>
            <a:ext cx="3730752" cy="2487168"/>
          </a:xfrm>
          <a:prstGeom prst="rect">
            <a:avLst/>
          </a:prstGeom>
        </p:spPr>
      </p:pic>
      <p:pic>
        <p:nvPicPr>
          <p:cNvPr id="5" name="img1" descr="A blue and grey California scrub jay perched on a leafy branch in profile, its long tail hanging below."/>
          <p:cNvPicPr>
            <a:picLocks noChangeAspect="1"/>
          </p:cNvPicPr>
          <p:nvPr/>
        </p:nvPicPr>
        <p:blipFill>
          <a:blip r:embed="rId4"/>
          <a:stretch>
            <a:fillRect/>
          </a:stretch>
        </p:blipFill>
        <p:spPr>
          <a:xfrm>
            <a:off x="7342631" y="3886200"/>
            <a:ext cx="3732066" cy="24870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convergent_minds__2">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It Happened More Than Once</a:t>
            </a:r>
          </a:p>
        </p:txBody>
      </p:sp>
      <p:sp>
        <p:nvSpPr>
          <p:cNvPr id="3" name="body_box"/>
          <p:cNvSpPr txBox="1"/>
          <p:nvPr/>
        </p:nvSpPr>
        <p:spPr>
          <a:xfrm>
            <a:off x="457200" y="1463040"/>
            <a:ext cx="5852160" cy="4206240"/>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octopus</a:t>
            </a:r>
            <a:r>
              <a:rPr sz="2000" b="0" i="0">
                <a:solidFill>
                  <a:srgbClr val="222222"/>
                </a:solidFill>
                <a:latin typeface="Calibri"/>
              </a:rPr>
              <a:t> is the more radical case. A large nervous system arranged nothing like ours — most of its neurons in its arms rather than centralized. Our lineages separated roughly </a:t>
            </a:r>
            <a:r>
              <a:rPr sz="2000" b="1" i="0">
                <a:solidFill>
                  <a:srgbClr val="222222"/>
                </a:solidFill>
                <a:latin typeface="Calibri"/>
              </a:rPr>
              <a:t>600 million years ago</a:t>
            </a:r>
            <a:r>
              <a:rPr sz="2000" b="0" i="0">
                <a:solidFill>
                  <a:srgbClr val="222222"/>
                </a:solidFill>
                <a:latin typeface="Calibri"/>
              </a:rPr>
              <a:t>, before anything we would call a brain.</a:t>
            </a:r>
          </a:p>
          <a:p>
            <a:pPr>
              <a:defRPr sz="1000"/>
            </a:pPr>
            <a:endParaRPr sz="2000" b="0" i="0">
              <a:solidFill>
                <a:srgbClr val="222222"/>
              </a:solidFill>
              <a:latin typeface="Calibri"/>
            </a:endParaRPr>
          </a:p>
          <a:p>
            <a:r>
              <a:rPr sz="2000" b="0" i="0">
                <a:solidFill>
                  <a:srgbClr val="222222"/>
                </a:solidFill>
                <a:latin typeface="Calibri"/>
              </a:rPr>
              <a:t>Godfrey-Smith: meeting an octopus may be the closest we will come to meeting an intelligent alien.</a:t>
            </a:r>
          </a:p>
        </p:txBody>
      </p:sp>
      <p:pic>
        <p:nvPicPr>
          <p:cNvPr id="4" name="img2" descr="An octopus on the sea floor among rock, its arms spread and curling in several directions at once, one eye visible."/>
          <p:cNvPicPr>
            <a:picLocks noChangeAspect="1"/>
          </p:cNvPicPr>
          <p:nvPr/>
        </p:nvPicPr>
        <p:blipFill>
          <a:blip r:embed="rId3"/>
          <a:stretch>
            <a:fillRect/>
          </a:stretch>
        </p:blipFill>
        <p:spPr>
          <a:xfrm>
            <a:off x="6583680" y="1463040"/>
            <a:ext cx="5073822" cy="38053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convergence_as_evidence">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Why Convergence Is Evidence</a:t>
            </a:r>
          </a:p>
        </p:txBody>
      </p:sp>
      <p:sp>
        <p:nvSpPr>
          <p:cNvPr id="3" name="body_box"/>
          <p:cNvSpPr txBox="1"/>
          <p:nvPr/>
        </p:nvSpPr>
        <p:spPr>
          <a:xfrm>
            <a:off x="457200" y="1371600"/>
            <a:ext cx="11247120" cy="5029200"/>
          </a:xfrm>
          <a:prstGeom prst="rect">
            <a:avLst/>
          </a:prstGeom>
          <a:noFill/>
        </p:spPr>
        <p:txBody>
          <a:bodyPr wrap="square">
            <a:spAutoFit/>
          </a:bodyPr>
          <a:lstStyle/>
          <a:p>
            <a:r>
              <a:rPr sz="2000" b="1" i="0">
                <a:solidFill>
                  <a:srgbClr val="222222"/>
                </a:solidFill>
                <a:latin typeface="Calibri"/>
              </a:rPr>
              <a:t>The worry.</a:t>
            </a:r>
            <a:r>
              <a:rPr sz="2000" b="0" i="0">
                <a:solidFill>
                  <a:srgbClr val="222222"/>
                </a:solidFill>
                <a:latin typeface="Calibri"/>
              </a:rPr>
              <a:t> Module 1 said the computational level asks what problem a system solves — and for living things the answer is adaptive. But adaptive stories are cheap.</a:t>
            </a:r>
          </a:p>
          <a:p>
            <a:pPr>
              <a:defRPr sz="1000"/>
            </a:pPr>
            <a:endParaRPr sz="2000" b="0" i="0">
              <a:solidFill>
                <a:srgbClr val="222222"/>
              </a:solidFill>
              <a:latin typeface="Calibri"/>
            </a:endParaRPr>
          </a:p>
          <a:p>
            <a:r>
              <a:rPr sz="2000" b="0" i="1">
                <a:solidFill>
                  <a:srgbClr val="222222"/>
                </a:solidFill>
                <a:latin typeface="Calibri"/>
              </a:rPr>
              <a:t>Humans detect snakes fast</a:t>
            </a:r>
            <a:r>
              <a:rPr sz="2000" b="0" i="0">
                <a:solidFill>
                  <a:srgbClr val="222222"/>
                </a:solidFill>
                <a:latin typeface="Calibri"/>
              </a:rPr>
              <a:t> → an anti-venom adaptation. Obviously.</a:t>
            </a:r>
          </a:p>
          <a:p>
            <a:r>
              <a:rPr sz="2000" b="0" i="1">
                <a:solidFill>
                  <a:srgbClr val="222222"/>
                </a:solidFill>
                <a:latin typeface="Calibri"/>
              </a:rPr>
              <a:t>Suppose we detected them slowly</a:t>
            </a:r>
            <a:r>
              <a:rPr sz="2000" b="0" i="0">
                <a:solidFill>
                  <a:srgbClr val="222222"/>
                </a:solidFill>
                <a:latin typeface="Calibri"/>
              </a:rPr>
              <a:t> → freezing is better once a predator is close, and rapid searching is the movement that draws a strike. Also obviously.</a:t>
            </a:r>
          </a:p>
          <a:p>
            <a:pPr>
              <a:defRPr sz="1000"/>
            </a:pPr>
            <a:endParaRPr sz="2000" b="0" i="0">
              <a:solidFill>
                <a:srgbClr val="222222"/>
              </a:solidFill>
              <a:latin typeface="Calibri"/>
            </a:endParaRPr>
          </a:p>
          <a:p>
            <a:r>
              <a:rPr sz="2000" b="1" i="0">
                <a:solidFill>
                  <a:srgbClr val="222222"/>
                </a:solidFill>
                <a:latin typeface="Calibri"/>
              </a:rPr>
              <a:t>An explanation that would have accommodated either outcome has not told us anything.</a:t>
            </a:r>
          </a:p>
          <a:p>
            <a:pPr>
              <a:defRPr sz="1000"/>
            </a:pPr>
            <a:endParaRPr sz="2000" b="1" i="0">
              <a:solidFill>
                <a:srgbClr val="222222"/>
              </a:solidFill>
              <a:latin typeface="Calibri"/>
            </a:endParaRPr>
          </a:p>
          <a:p>
            <a:r>
              <a:rPr sz="2000" b="1" i="0">
                <a:solidFill>
                  <a:srgbClr val="222222"/>
                </a:solidFill>
                <a:latin typeface="Calibri"/>
              </a:rPr>
              <a:t>The answer.</a:t>
            </a:r>
            <a:r>
              <a:rPr sz="2000" b="0" i="0">
                <a:solidFill>
                  <a:srgbClr val="222222"/>
                </a:solidFill>
                <a:latin typeface="Calibri"/>
              </a:rPr>
              <a:t> When two lineages sharing no history arrive at the same solution, the problem they were both solving was </a:t>
            </a:r>
            <a:r>
              <a:rPr sz="2000" b="1" i="0">
                <a:solidFill>
                  <a:srgbClr val="222222"/>
                </a:solidFill>
                <a:latin typeface="Calibri"/>
              </a:rPr>
              <a:t>real</a:t>
            </a:r>
            <a:r>
              <a:rPr sz="2000" b="0" i="0">
                <a:solidFill>
                  <a:srgbClr val="222222"/>
                </a:solidFill>
                <a:latin typeface="Calibri"/>
              </a:rPr>
              <a:t>. The same answer reached twice is a strong hint the question was not one we made up.</a:t>
            </a:r>
          </a:p>
          <a:p>
            <a:pPr>
              <a:defRPr sz="1000"/>
            </a:pPr>
            <a:endParaRPr sz="2000" b="0" i="0">
              <a:solidFill>
                <a:srgbClr val="222222"/>
              </a:solidFill>
              <a:latin typeface="Calibri"/>
            </a:endParaRPr>
          </a:p>
          <a:p>
            <a:r>
              <a:rPr sz="2000" b="1" i="0">
                <a:solidFill>
                  <a:srgbClr val="222222"/>
                </a:solidFill>
                <a:latin typeface="Calibri"/>
              </a:rPr>
              <a:t>The fence.</a:t>
            </a:r>
            <a:r>
              <a:rPr sz="2000" b="0" i="0">
                <a:solidFill>
                  <a:srgbClr val="222222"/>
                </a:solidFill>
                <a:latin typeface="Calibri"/>
              </a:rPr>
              <a:t> "The same capacity" is a claim to be tested, not read off a resemblance. Test it by finding out </a:t>
            </a:r>
            <a:r>
              <a:rPr sz="2000" b="1" i="0">
                <a:solidFill>
                  <a:srgbClr val="222222"/>
                </a:solidFill>
                <a:latin typeface="Calibri"/>
              </a:rPr>
              <a:t>whether they break the same way</a:t>
            </a:r>
            <a:r>
              <a:rPr sz="2000" b="0" i="0">
                <a:solidFill>
                  <a:srgbClr val="222222"/>
                </a:solidFill>
                <a:latin typeface="Calibri"/>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no_ladder">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There Is No Ladder</a:t>
            </a:r>
          </a:p>
        </p:txBody>
      </p:sp>
      <p:sp>
        <p:nvSpPr>
          <p:cNvPr id="3" name="body_box"/>
          <p:cNvSpPr txBox="1"/>
          <p:nvPr/>
        </p:nvSpPr>
        <p:spPr>
          <a:xfrm>
            <a:off x="229552" y="5453754"/>
            <a:ext cx="11581447" cy="1323439"/>
          </a:xfrm>
          <a:prstGeom prst="rect">
            <a:avLst/>
          </a:prstGeom>
          <a:noFill/>
        </p:spPr>
        <p:txBody>
          <a:bodyPr wrap="square">
            <a:spAutoFit/>
          </a:bodyPr>
          <a:lstStyle/>
          <a:p>
            <a:r>
              <a:rPr sz="2000" b="0" i="0" dirty="0">
                <a:solidFill>
                  <a:srgbClr val="222222"/>
                </a:solidFill>
                <a:latin typeface="Calibri"/>
              </a:rPr>
              <a:t>Judge a capacity against the world the animal actually lives in — von </a:t>
            </a:r>
            <a:r>
              <a:rPr sz="2000" b="0" i="0" dirty="0" err="1">
                <a:solidFill>
                  <a:srgbClr val="222222"/>
                </a:solidFill>
                <a:latin typeface="Calibri"/>
              </a:rPr>
              <a:t>Uexküll's</a:t>
            </a:r>
            <a:r>
              <a:rPr sz="2000" b="0" i="0" dirty="0">
                <a:solidFill>
                  <a:srgbClr val="222222"/>
                </a:solidFill>
                <a:latin typeface="Calibri"/>
              </a:rPr>
              <a:t> </a:t>
            </a:r>
            <a:r>
              <a:rPr sz="2000" b="1" i="0" dirty="0">
                <a:solidFill>
                  <a:srgbClr val="222222"/>
                </a:solidFill>
                <a:latin typeface="Calibri"/>
              </a:rPr>
              <a:t>Umwelt</a:t>
            </a:r>
            <a:r>
              <a:rPr sz="2000" b="0" i="0" dirty="0">
                <a:solidFill>
                  <a:srgbClr val="222222"/>
                </a:solidFill>
                <a:latin typeface="Calibri"/>
              </a:rPr>
              <a:t>, the environment as that species senses and acts on it.</a:t>
            </a:r>
          </a:p>
          <a:p>
            <a:pPr>
              <a:defRPr sz="1000"/>
            </a:pPr>
            <a:endParaRPr sz="2000" b="0" i="0" dirty="0">
              <a:solidFill>
                <a:srgbClr val="222222"/>
              </a:solidFill>
              <a:latin typeface="Calibri"/>
            </a:endParaRPr>
          </a:p>
          <a:p>
            <a:r>
              <a:rPr sz="2000" b="0" i="0" dirty="0">
                <a:solidFill>
                  <a:srgbClr val="222222"/>
                </a:solidFill>
                <a:latin typeface="Calibri"/>
              </a:rPr>
              <a:t>A tick's is built out of butyric acid, warmth, and touch. That is the whole world, and within it the tick is superb.</a:t>
            </a:r>
          </a:p>
        </p:txBody>
      </p:sp>
      <p:pic>
        <p:nvPicPr>
          <p:cNvPr id="4" name="img0" descr="TO WRITE"/>
          <p:cNvPicPr>
            <a:picLocks noChangeAspect="1"/>
          </p:cNvPicPr>
          <p:nvPr/>
        </p:nvPicPr>
        <p:blipFill>
          <a:blip r:embed="rId3"/>
          <a:stretch>
            <a:fillRect/>
          </a:stretch>
        </p:blipFill>
        <p:spPr>
          <a:xfrm>
            <a:off x="229552" y="745442"/>
            <a:ext cx="11748135" cy="451044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anthropomorphism_anthropodenial">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Both Errors, One Cause</a:t>
            </a:r>
          </a:p>
        </p:txBody>
      </p:sp>
      <p:sp>
        <p:nvSpPr>
          <p:cNvPr id="3" name="body_box"/>
          <p:cNvSpPr txBox="1"/>
          <p:nvPr/>
        </p:nvSpPr>
        <p:spPr>
          <a:xfrm>
            <a:off x="3877056" y="777240"/>
            <a:ext cx="8311896" cy="6035040"/>
          </a:xfrm>
          <a:prstGeom prst="rect">
            <a:avLst/>
          </a:prstGeom>
          <a:noFill/>
        </p:spPr>
        <p:txBody>
          <a:bodyPr wrap="square">
            <a:spAutoFit/>
          </a:bodyPr>
          <a:lstStyle/>
          <a:p>
            <a:r>
              <a:rPr sz="2000" b="1" i="0">
                <a:solidFill>
                  <a:srgbClr val="222222"/>
                </a:solidFill>
                <a:latin typeface="Calibri"/>
              </a:rPr>
              <a:t>Clever Hans</a:t>
            </a:r>
            <a:r>
              <a:rPr sz="2000" b="0" i="0">
                <a:solidFill>
                  <a:srgbClr val="222222"/>
                </a:solidFill>
                <a:latin typeface="Calibri"/>
              </a:rPr>
              <a:t>, Berlin, early 1900s. Asked "what is three plus five," the horse tapped a hoof the correct number of times. Reliably. Taken as evidence that horses understood language and arithmetic.</a:t>
            </a:r>
          </a:p>
          <a:p>
            <a:pPr>
              <a:defRPr sz="1000"/>
            </a:pPr>
            <a:endParaRPr sz="2000" b="0" i="0">
              <a:solidFill>
                <a:srgbClr val="222222"/>
              </a:solidFill>
              <a:latin typeface="Calibri"/>
            </a:endParaRPr>
          </a:p>
          <a:p>
            <a:r>
              <a:rPr sz="2000" b="0" i="0">
                <a:solidFill>
                  <a:srgbClr val="222222"/>
                </a:solidFill>
                <a:latin typeface="Calibri"/>
              </a:rPr>
              <a:t>Pfungst worked out what was happening: Hans was reading tiny, unintentional changes in the posture and breathing of whoever in the room knew the answer.</a:t>
            </a:r>
          </a:p>
          <a:p>
            <a:pPr>
              <a:defRPr sz="1000"/>
            </a:pPr>
            <a:endParaRPr sz="2000" b="0" i="0">
              <a:solidFill>
                <a:srgbClr val="222222"/>
              </a:solidFill>
              <a:latin typeface="Calibri"/>
            </a:endParaRPr>
          </a:p>
          <a:p>
            <a:r>
              <a:rPr sz="2000" b="0" i="0">
                <a:solidFill>
                  <a:srgbClr val="222222"/>
                </a:solidFill>
                <a:latin typeface="Calibri"/>
              </a:rPr>
              <a:t>That is </a:t>
            </a:r>
            <a:r>
              <a:rPr sz="2000" b="1" i="0">
                <a:solidFill>
                  <a:srgbClr val="222222"/>
                </a:solidFill>
                <a:latin typeface="Calibri"/>
              </a:rPr>
              <a:t>anthropomorphism</a:t>
            </a:r>
            <a:r>
              <a:rPr sz="2000" b="0" i="0">
                <a:solidFill>
                  <a:srgbClr val="222222"/>
                </a:solidFill>
                <a:latin typeface="Calibri"/>
              </a:rPr>
              <a:t>. Its opposite is de Waal's </a:t>
            </a:r>
            <a:r>
              <a:rPr sz="2000" b="1" i="0">
                <a:solidFill>
                  <a:srgbClr val="222222"/>
                </a:solidFill>
                <a:latin typeface="Calibri"/>
              </a:rPr>
              <a:t>anthropodenial</a:t>
            </a:r>
            <a:r>
              <a:rPr sz="2000" b="0" i="0">
                <a:solidFill>
                  <a:srgbClr val="222222"/>
                </a:solidFill>
                <a:latin typeface="Calibri"/>
              </a:rPr>
              <a:t> — refusing an animal a capacity it plainly has, because granting it feels unscientific.</a:t>
            </a:r>
          </a:p>
          <a:p>
            <a:pPr>
              <a:defRPr sz="1000"/>
            </a:pPr>
            <a:endParaRPr sz="2000" b="0" i="0">
              <a:solidFill>
                <a:srgbClr val="222222"/>
              </a:solidFill>
              <a:latin typeface="Calibri"/>
            </a:endParaRPr>
          </a:p>
          <a:p>
            <a:r>
              <a:rPr sz="2000" b="1" i="0">
                <a:solidFill>
                  <a:srgbClr val="222222"/>
                </a:solidFill>
                <a:latin typeface="Calibri"/>
              </a:rPr>
              <a:t>Both errors have the same cause: deciding in advance what the answer should be.</a:t>
            </a:r>
          </a:p>
          <a:p>
            <a:pPr>
              <a:defRPr sz="1000"/>
            </a:pPr>
            <a:endParaRPr sz="2000" b="1" i="0">
              <a:solidFill>
                <a:srgbClr val="222222"/>
              </a:solidFill>
              <a:latin typeface="Calibri"/>
            </a:endParaRPr>
          </a:p>
          <a:p>
            <a:r>
              <a:rPr sz="2000" b="1" i="0">
                <a:solidFill>
                  <a:srgbClr val="222222"/>
                </a:solidFill>
                <a:latin typeface="Calibri"/>
              </a:rPr>
              <a:t>Morgan's Canon</a:t>
            </a:r>
            <a:r>
              <a:rPr sz="2000" b="0" i="0">
                <a:solidFill>
                  <a:srgbClr val="222222"/>
                </a:solidFill>
                <a:latin typeface="Calibri"/>
              </a:rPr>
              <a:t> (1894): do not explain a behavior by a higher mental process if a simpler one accounts for it. This is the founding discipline of </a:t>
            </a:r>
            <a:r>
              <a:rPr sz="2000" b="1" i="0">
                <a:solidFill>
                  <a:srgbClr val="222222"/>
                </a:solidFill>
                <a:latin typeface="Calibri"/>
              </a:rPr>
              <a:t>ethology</a:t>
            </a:r>
            <a:r>
              <a:rPr sz="2000" b="0" i="0">
                <a:solidFill>
                  <a:srgbClr val="222222"/>
                </a:solidFill>
                <a:latin typeface="Calibri"/>
              </a:rPr>
              <a:t> — the study of animal behavior as a biological trait with an evolutionary history.</a:t>
            </a:r>
          </a:p>
        </p:txBody>
      </p:sp>
      <p:pic>
        <p:nvPicPr>
          <p:cNvPr id="4" name="img0" descr="A sepia photograph in a courtyard. A white-haired man in a long coat reaches toward a dark horse's head while a second man in a suit stands on the horse's other side holding a board. Both men are watching the horse."/>
          <p:cNvPicPr>
            <a:picLocks noChangeAspect="1"/>
          </p:cNvPicPr>
          <p:nvPr/>
        </p:nvPicPr>
        <p:blipFill>
          <a:blip r:embed="rId3"/>
          <a:stretch>
            <a:fillRect/>
          </a:stretch>
        </p:blipFill>
        <p:spPr>
          <a:xfrm>
            <a:off x="91440" y="1325880"/>
            <a:ext cx="3634547" cy="48469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just_so_stories">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Stories Written to Fit</a:t>
            </a:r>
          </a:p>
        </p:txBody>
      </p:sp>
      <p:sp>
        <p:nvSpPr>
          <p:cNvPr id="3" name="body_box"/>
          <p:cNvSpPr txBox="1"/>
          <p:nvPr/>
        </p:nvSpPr>
        <p:spPr>
          <a:xfrm>
            <a:off x="411480" y="5184648"/>
            <a:ext cx="11338560" cy="1645920"/>
          </a:xfrm>
          <a:prstGeom prst="rect">
            <a:avLst/>
          </a:prstGeom>
          <a:noFill/>
        </p:spPr>
        <p:txBody>
          <a:bodyPr wrap="square">
            <a:spAutoFit/>
          </a:bodyPr>
          <a:lstStyle/>
          <a:p>
            <a:r>
              <a:rPr sz="2000" b="0" i="0">
                <a:solidFill>
                  <a:srgbClr val="222222"/>
                </a:solidFill>
                <a:latin typeface="Calibri"/>
              </a:rPr>
              <a:t>Kipling wrote how the leopard got his spots and the camel his hump. Each story fits its animal perfectly — </a:t>
            </a:r>
            <a:r>
              <a:rPr sz="2000" b="1" i="0">
                <a:solidFill>
                  <a:srgbClr val="222222"/>
                </a:solidFill>
                <a:latin typeface="Calibri"/>
              </a:rPr>
              <a:t>which is exactly the problem. Each was written to fit.</a:t>
            </a:r>
          </a:p>
          <a:p>
            <a:pPr>
              <a:defRPr sz="1000"/>
            </a:pPr>
            <a:endParaRPr sz="2000" b="1" i="0">
              <a:solidFill>
                <a:srgbClr val="222222"/>
              </a:solidFill>
              <a:latin typeface="Calibri"/>
            </a:endParaRPr>
          </a:p>
          <a:p>
            <a:r>
              <a:rPr sz="2000" b="1" i="0">
                <a:solidFill>
                  <a:srgbClr val="222222"/>
                </a:solidFill>
                <a:latin typeface="Calibri"/>
              </a:rPr>
              <a:t>The corrective — why is not one question.</a:t>
            </a:r>
            <a:r>
              <a:rPr sz="2000" b="0" i="0">
                <a:solidFill>
                  <a:srgbClr val="222222"/>
                </a:solidFill>
                <a:latin typeface="Calibri"/>
              </a:rPr>
              <a:t> Tinbergen (1963) counted four — what causes it now · how it develops over a lifetime · what it is good for · how it evolved.</a:t>
            </a:r>
          </a:p>
        </p:txBody>
      </p:sp>
      <p:pic>
        <p:nvPicPr>
          <p:cNvPr id="4" name="img0" descr="A schematic wall of three rounded arches. The wall itself is tinted, and the arch openings are cut out of it in white, so the only tinted areas left are the curved triangles between and above the arches. One of them is labelled a spandrel, what is left over. A band along the top is labelled as where the dome sits."/>
          <p:cNvPicPr>
            <a:picLocks noChangeAspect="1"/>
          </p:cNvPicPr>
          <p:nvPr/>
        </p:nvPicPr>
        <p:blipFill>
          <a:blip r:embed="rId3"/>
          <a:stretch>
            <a:fillRect/>
          </a:stretch>
        </p:blipFill>
        <p:spPr>
          <a:xfrm>
            <a:off x="1298448" y="676656"/>
            <a:ext cx="9601200" cy="45125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he_spine">
    <p:spTree>
      <p:nvGrpSpPr>
        <p:cNvPr id="1" name=""/>
        <p:cNvGrpSpPr/>
        <p:nvPr/>
      </p:nvGrpSpPr>
      <p:grpSpPr>
        <a:xfrm>
          <a:off x="0" y="0"/>
          <a:ext cx="0" cy="0"/>
          <a:chOff x="0" y="0"/>
          <a:chExt cx="0" cy="0"/>
        </a:xfrm>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Spine — and the Objection to It</a:t>
            </a:r>
          </a:p>
        </p:txBody>
      </p:sp>
      <p:sp>
        <p:nvSpPr>
          <p:cNvPr id="3" name="body_box"/>
          <p:cNvSpPr txBox="1"/>
          <p:nvPr/>
        </p:nvSpPr>
        <p:spPr>
          <a:xfrm>
            <a:off x="457200" y="1371600"/>
            <a:ext cx="11247120" cy="5029200"/>
          </a:xfrm>
          <a:prstGeom prst="rect">
            <a:avLst/>
          </a:prstGeom>
          <a:noFill/>
        </p:spPr>
        <p:txBody>
          <a:bodyPr wrap="square">
            <a:spAutoFit/>
          </a:bodyPr>
          <a:lstStyle/>
          <a:p>
            <a:r>
              <a:rPr sz="2000" b="0" i="0">
                <a:solidFill>
                  <a:srgbClr val="222222"/>
                </a:solidFill>
                <a:latin typeface="Calibri"/>
              </a:rPr>
              <a:t>These arguments are never neutral. Whether an animal thinks, plans, or suffers bears on how we may treat it — as a laboratory subject, as a farmed animal, as a pet. Arguments about animal minds carry a charge that arguments about animal digestion do not.</a:t>
            </a:r>
          </a:p>
          <a:p>
            <a:pPr>
              <a:defRPr sz="1000"/>
            </a:pPr>
            <a:endParaRPr sz="2000" b="0" i="0">
              <a:solidFill>
                <a:srgbClr val="222222"/>
              </a:solidFill>
              <a:latin typeface="Calibri"/>
            </a:endParaRPr>
          </a:p>
          <a:p>
            <a:r>
              <a:rPr sz="2000" b="1" i="0">
                <a:solidFill>
                  <a:srgbClr val="222222"/>
                </a:solidFill>
                <a:latin typeface="Calibri"/>
              </a:rPr>
              <a:t>From Module 3 onward, this is the structure of the course.</a:t>
            </a:r>
            <a:r>
              <a:rPr sz="2000" b="0" i="0">
                <a:solidFill>
                  <a:srgbClr val="222222"/>
                </a:solidFill>
                <a:latin typeface="Calibri"/>
              </a:rPr>
              <a:t> Each module takes up a step in the evolution of the human mind and brain, starting before neurons existed. We understand what a capacity is </a:t>
            </a:r>
            <a:r>
              <a:rPr sz="2000" b="0" i="1">
                <a:solidFill>
                  <a:srgbClr val="222222"/>
                </a:solidFill>
                <a:latin typeface="Calibri"/>
              </a:rPr>
              <a:t>for</a:t>
            </a:r>
            <a:r>
              <a:rPr sz="2000" b="0" i="0">
                <a:solidFill>
                  <a:srgbClr val="222222"/>
                </a:solidFill>
                <a:latin typeface="Calibri"/>
              </a:rPr>
              <a:t> by understanding the problem it solved — and the way to see the problem is to look at who else solved it.</a:t>
            </a:r>
          </a:p>
          <a:p>
            <a:pPr>
              <a:defRPr sz="1000"/>
            </a:pPr>
            <a:endParaRPr sz="2000" b="0" i="0">
              <a:solidFill>
                <a:srgbClr val="222222"/>
              </a:solidFill>
              <a:latin typeface="Calibri"/>
            </a:endParaRPr>
          </a:p>
          <a:p>
            <a:r>
              <a:rPr sz="2000" b="1" i="0">
                <a:solidFill>
                  <a:srgbClr val="222222"/>
                </a:solidFill>
                <a:latin typeface="Calibri"/>
              </a:rPr>
              <a:t>The obvious objection: isn't that the ladder you just rejected?</a:t>
            </a:r>
          </a:p>
          <a:p>
            <a:pPr>
              <a:defRPr sz="1000"/>
            </a:pPr>
            <a:endParaRPr sz="2000" b="1" i="0">
              <a:solidFill>
                <a:srgbClr val="222222"/>
              </a:solidFill>
              <a:latin typeface="Calibri"/>
            </a:endParaRPr>
          </a:p>
          <a:p>
            <a:r>
              <a:rPr sz="2000" b="0" i="0">
                <a:solidFill>
                  <a:srgbClr val="222222"/>
                </a:solidFill>
                <a:latin typeface="Calibri"/>
              </a:rPr>
              <a:t>No. Evolution has no destination and no lineage is further along than any other. We follow the human lineage because human cognition is what this course is trying to explain — </a:t>
            </a:r>
            <a:r>
              <a:rPr sz="2000" b="1" i="0">
                <a:solidFill>
                  <a:srgbClr val="222222"/>
                </a:solidFill>
                <a:latin typeface="Calibri"/>
              </a:rPr>
              <a:t>not because it is best, and not because it is last.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4232656"/>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Darwin as an ape, The Hornet, 1871</a:t>
                      </a:r>
                    </a:p>
                  </a:txBody>
                  <a:tcPr marL="73152" marR="73152" marT="18288" marB="18288">
                    <a:solidFill>
                      <a:srgbClr val="FFFFFF"/>
                    </a:solidFill>
                  </a:tcPr>
                </a:tc>
                <a:tc>
                  <a:txBody>
                    <a:bodyPr/>
                    <a:lstStyle/>
                    <a:p>
                      <a:r>
                        <a:rPr sz="1000" b="0" i="0">
                          <a:solidFill>
                            <a:srgbClr val="222222"/>
                          </a:solidFill>
                          <a:latin typeface="Calibri"/>
                        </a:rPr>
                        <a:t>darwin_ape.jpg</a:t>
                      </a:r>
                    </a:p>
                  </a:txBody>
                  <a:tcPr marL="73152" marR="73152" marT="18288" marB="18288">
                    <a:solidFill>
                      <a:srgbClr val="FFFFFF"/>
                    </a:solidFill>
                  </a:tcPr>
                </a:tc>
                <a:tc>
                  <a:txBody>
                    <a:bodyPr/>
                    <a:lstStyle/>
                    <a:p>
                      <a:r>
                        <a:rPr sz="1000" b="0" i="0">
                          <a:solidFill>
                            <a:srgbClr val="222222"/>
                          </a:solidFill>
                          <a:latin typeface="Calibri"/>
                        </a:rPr>
                        <a:t>Public domain</a:t>
                      </a:r>
                    </a:p>
                  </a:txBody>
                  <a:tcPr marL="73152" marR="73152" marT="18288" marB="18288">
                    <a:solidFill>
                      <a:srgbClr val="FFFFFF"/>
                    </a:solidFill>
                  </a:tcPr>
                </a:tc>
                <a:tc>
                  <a:txBody>
                    <a:bodyPr/>
                    <a:lstStyle/>
                    <a:p>
                      <a:r>
                        <a:rPr sz="1000" b="0" i="0">
                          <a:solidFill>
                            <a:srgbClr val="222222"/>
                          </a:solidFill>
                          <a:latin typeface="Calibri"/>
                        </a:rPr>
                        <a:t>Unknown artist, The Hornet (1871), via Wikimedia Commons  ·  https://commons.wikimedia.org/wiki/File:Editorial_cartoon_depicting_Charles_Darwin_as_an_ape_(1871).jpg</a:t>
                      </a:r>
                    </a:p>
                  </a:txBody>
                  <a:tcPr marL="73152" marR="73152" marT="18288" marB="18288">
                    <a:solidFill>
                      <a:srgbClr val="FFFFFF"/>
                    </a:solidFill>
                  </a:tcPr>
                </a:tc>
                <a:extLst>
                  <a:ext uri="{0D108BD9-81ED-4DB2-BD59-A6C34878D82A}">
                    <a16:rowId xmlns:a16="http://schemas.microsoft.com/office/drawing/2014/main" val="10001"/>
                  </a:ext>
                </a:extLst>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The three requirements, and the outcome they guarantee</a:t>
                      </a:r>
                    </a:p>
                  </a:txBody>
                  <a:tcPr marL="73152" marR="73152" marT="18288" marB="18288">
                    <a:solidFill>
                      <a:srgbClr val="FFFFFF"/>
                    </a:solidFill>
                  </a:tcPr>
                </a:tc>
                <a:tc>
                  <a:txBody>
                    <a:bodyPr/>
                    <a:lstStyle/>
                    <a:p>
                      <a:r>
                        <a:rPr sz="1000" b="0" i="0">
                          <a:solidFill>
                            <a:srgbClr val="222222"/>
                          </a:solidFill>
                          <a:latin typeface="Calibri"/>
                        </a:rPr>
                        <a:t>fig-selection-loop.png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2"/>
                  </a:ext>
                </a:extLst>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Pale and dark peppered moths on a birch trunk</a:t>
                      </a:r>
                    </a:p>
                  </a:txBody>
                  <a:tcPr marL="73152" marR="73152" marT="18288" marB="18288">
                    <a:solidFill>
                      <a:srgbClr val="FFFFFF"/>
                    </a:solidFill>
                  </a:tcPr>
                </a:tc>
                <a:tc>
                  <a:txBody>
                    <a:bodyPr/>
                    <a:lstStyle/>
                    <a:p>
                      <a:r>
                        <a:rPr sz="1000" b="0" i="0">
                          <a:solidFill>
                            <a:srgbClr val="222222"/>
                          </a:solidFill>
                          <a:latin typeface="Calibri"/>
                        </a:rPr>
                        <a:t>peppered_moths_bark.jpg</a:t>
                      </a:r>
                    </a:p>
                  </a:txBody>
                  <a:tcPr marL="73152" marR="73152" marT="18288" marB="18288">
                    <a:solidFill>
                      <a:srgbClr val="FFFFFF"/>
                    </a:solidFill>
                  </a:tcPr>
                </a:tc>
                <a:tc>
                  <a:txBody>
                    <a:bodyPr/>
                    <a:lstStyle/>
                    <a:p>
                      <a:r>
                        <a:rPr sz="1000" b="0" i="0">
                          <a:solidFill>
                            <a:srgbClr val="222222"/>
                          </a:solidFill>
                          <a:latin typeface="Calibri"/>
                        </a:rPr>
                        <a:t>CC BY-SA 3.0</a:t>
                      </a:r>
                    </a:p>
                  </a:txBody>
                  <a:tcPr marL="73152" marR="73152" marT="18288" marB="18288">
                    <a:solidFill>
                      <a:srgbClr val="FFFFFF"/>
                    </a:solidFill>
                  </a:tcPr>
                </a:tc>
                <a:tc>
                  <a:txBody>
                    <a:bodyPr/>
                    <a:lstStyle/>
                    <a:p>
                      <a:r>
                        <a:rPr sz="1000" b="0" i="0">
                          <a:solidFill>
                            <a:srgbClr val="222222"/>
                          </a:solidFill>
                          <a:latin typeface="Calibri"/>
                        </a:rPr>
                        <a:t>Martinowksy, via Wikimedia Commons  ·  https://commons.wikimedia.org/wiki/File:Lichte_en_zwarte_versie_berkenspanner.jpg</a:t>
                      </a:r>
                    </a:p>
                  </a:txBody>
                  <a:tcPr marL="73152" marR="73152" marT="18288" marB="18288">
                    <a:solidFill>
                      <a:srgbClr val="FFFFFF"/>
                    </a:solidFill>
                  </a:tcPr>
                </a:tc>
                <a:extLst>
                  <a:ext uri="{0D108BD9-81ED-4DB2-BD59-A6C34878D82A}">
                    <a16:rowId xmlns:a16="http://schemas.microsoft.com/office/drawing/2014/main" val="10003"/>
                  </a:ext>
                </a:extLst>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Evolution is a branching tree, not a ladder</a:t>
                      </a:r>
                    </a:p>
                  </a:txBody>
                  <a:tcPr marL="73152" marR="73152" marT="18288" marB="18288">
                    <a:solidFill>
                      <a:srgbClr val="FFFFFF"/>
                    </a:solidFill>
                  </a:tcPr>
                </a:tc>
                <a:tc>
                  <a:txBody>
                    <a:bodyPr/>
                    <a:lstStyle/>
                    <a:p>
                      <a:r>
                        <a:rPr sz="1000" b="0" i="0">
                          <a:solidFill>
                            <a:srgbClr val="222222"/>
                          </a:solidFill>
                          <a:latin typeface="Calibri"/>
                        </a:rPr>
                        <a:t>branching_tree_not_ladder.png</a:t>
                      </a:r>
                    </a:p>
                  </a:txBody>
                  <a:tcPr marL="73152" marR="73152" marT="18288" marB="18288">
                    <a:solidFill>
                      <a:srgbClr val="FFFFFF"/>
                    </a:solidFill>
                  </a:tcPr>
                </a:tc>
                <a:tc>
                  <a:txBody>
                    <a:bodyPr/>
                    <a:lstStyle/>
                    <a:p>
                      <a:r>
                        <a:rPr sz="1000" b="0" i="0">
                          <a:solidFill>
                            <a:srgbClr val="222222"/>
                          </a:solidFill>
                          <a:latin typeface="Calibri"/>
                        </a:rPr>
                        <a:t>Generated with ChatGPT; see this folder's IMAGE_CREDITS.md</a:t>
                      </a:r>
                    </a:p>
                  </a:txBody>
                  <a:tcPr marL="73152" marR="73152" marT="18288" marB="18288">
                    <a:solidFill>
                      <a:srgbClr val="FFFFFF"/>
                    </a:solidFill>
                  </a:tcPr>
                </a:tc>
                <a:tc>
                  <a:txBody>
                    <a:bodyPr/>
                    <a:lstStyle/>
                    <a:p>
                      <a:r>
                        <a:rPr sz="1000" b="0" i="0">
                          <a:solidFill>
                            <a:srgbClr val="222222"/>
                          </a:solidFill>
                          <a:latin typeface="Calibri"/>
                        </a:rPr>
                        <a:t>Jon Willits — generated image  ·  own work</a:t>
                      </a:r>
                    </a:p>
                  </a:txBody>
                  <a:tcPr marL="73152" marR="73152" marT="18288" marB="18288">
                    <a:solidFill>
                      <a:srgbClr val="FFFFFF"/>
                    </a:solidFill>
                  </a:tcPr>
                </a:tc>
                <a:extLst>
                  <a:ext uri="{0D108BD9-81ED-4DB2-BD59-A6C34878D82A}">
                    <a16:rowId xmlns:a16="http://schemas.microsoft.com/office/drawing/2014/main" val="10004"/>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One inheritance against two independent arrivals</a:t>
                      </a:r>
                    </a:p>
                  </a:txBody>
                  <a:tcPr marL="73152" marR="73152" marT="18288" marB="18288">
                    <a:solidFill>
                      <a:srgbClr val="FFFFFF"/>
                    </a:solidFill>
                  </a:tcPr>
                </a:tc>
                <a:tc>
                  <a:txBody>
                    <a:bodyPr/>
                    <a:lstStyle/>
                    <a:p>
                      <a:r>
                        <a:rPr sz="1000" b="0" i="0">
                          <a:solidFill>
                            <a:srgbClr val="222222"/>
                          </a:solidFill>
                          <a:latin typeface="Calibri"/>
                        </a:rPr>
                        <a:t>fig-homology-analogy.png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5"/>
                  </a:ext>
                </a:extLst>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Camera eyes on the tree — one inheritance, one independent arrival</a:t>
                      </a:r>
                    </a:p>
                  </a:txBody>
                  <a:tcPr marL="73152" marR="73152" marT="18288" marB="18288">
                    <a:solidFill>
                      <a:srgbClr val="FFFFFF"/>
                    </a:solidFill>
                  </a:tcPr>
                </a:tc>
                <a:tc>
                  <a:txBody>
                    <a:bodyPr/>
                    <a:lstStyle/>
                    <a:p>
                      <a:r>
                        <a:rPr sz="1000" b="0" i="0">
                          <a:solidFill>
                            <a:srgbClr val="222222"/>
                          </a:solidFill>
                          <a:latin typeface="Calibri"/>
                        </a:rPr>
                        <a:t>f-phylogeny-eyes.png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2 reading  ·  own work</a:t>
                      </a:r>
                    </a:p>
                  </a:txBody>
                  <a:tcPr marL="73152" marR="73152" marT="18288" marB="18288">
                    <a:solidFill>
                      <a:srgbClr val="FFFFFF"/>
                    </a:solidFill>
                  </a:tcPr>
                </a:tc>
                <a:extLst>
                  <a:ext uri="{0D108BD9-81ED-4DB2-BD59-A6C34878D82A}">
                    <a16:rowId xmlns:a16="http://schemas.microsoft.com/office/drawing/2014/main" val="10006"/>
                  </a:ext>
                </a:extLst>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A crow holding a stick tool</a:t>
                      </a:r>
                    </a:p>
                  </a:txBody>
                  <a:tcPr marL="73152" marR="73152" marT="18288" marB="18288">
                    <a:solidFill>
                      <a:srgbClr val="FFFFFF"/>
                    </a:solidFill>
                  </a:tcPr>
                </a:tc>
                <a:tc>
                  <a:txBody>
                    <a:bodyPr/>
                    <a:lstStyle/>
                    <a:p>
                      <a:r>
                        <a:rPr sz="1000" b="0" i="0">
                          <a:solidFill>
                            <a:srgbClr val="222222"/>
                          </a:solidFill>
                          <a:latin typeface="Calibri"/>
                        </a:rPr>
                        <a:t>crow_tool.png</a:t>
                      </a:r>
                    </a:p>
                  </a:txBody>
                  <a:tcPr marL="73152" marR="73152" marT="18288" marB="18288">
                    <a:solidFill>
                      <a:srgbClr val="FFFFFF"/>
                    </a:solidFill>
                  </a:tcPr>
                </a:tc>
                <a:tc>
                  <a:txBody>
                    <a:bodyPr/>
                    <a:lstStyle/>
                    <a:p>
                      <a:r>
                        <a:rPr sz="1000" b="0" i="0">
                          <a:solidFill>
                            <a:srgbClr val="222222"/>
                          </a:solidFill>
                          <a:latin typeface="Calibri"/>
                        </a:rPr>
                        <a:t>Generated with ChatGPT; see this folder's IMAGE_CREDITS.md</a:t>
                      </a:r>
                    </a:p>
                  </a:txBody>
                  <a:tcPr marL="73152" marR="73152" marT="18288" marB="18288">
                    <a:solidFill>
                      <a:srgbClr val="FFFFFF"/>
                    </a:solidFill>
                  </a:tcPr>
                </a:tc>
                <a:tc>
                  <a:txBody>
                    <a:bodyPr/>
                    <a:lstStyle/>
                    <a:p>
                      <a:r>
                        <a:rPr sz="1000" b="0" i="0">
                          <a:solidFill>
                            <a:srgbClr val="222222"/>
                          </a:solidFill>
                          <a:latin typeface="Calibri"/>
                        </a:rPr>
                        <a:t>Jon Willits — generated image  ·  own work</a:t>
                      </a:r>
                    </a:p>
                  </a:txBody>
                  <a:tcPr marL="73152" marR="73152" marT="18288" marB="18288">
                    <a:solidFill>
                      <a:srgbClr val="FFFFFF"/>
                    </a:solidFill>
                  </a:tcPr>
                </a:tc>
                <a:extLst>
                  <a:ext uri="{0D108BD9-81ED-4DB2-BD59-A6C34878D82A}">
                    <a16:rowId xmlns:a16="http://schemas.microsoft.com/office/drawing/2014/main" val="10007"/>
                  </a:ext>
                </a:extLst>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A California scrub jay</a:t>
                      </a:r>
                    </a:p>
                  </a:txBody>
                  <a:tcPr marL="73152" marR="73152" marT="18288" marB="18288">
                    <a:solidFill>
                      <a:srgbClr val="FFFFFF"/>
                    </a:solidFill>
                  </a:tcPr>
                </a:tc>
                <a:tc>
                  <a:txBody>
                    <a:bodyPr/>
                    <a:lstStyle/>
                    <a:p>
                      <a:r>
                        <a:rPr sz="1000" b="0" i="0">
                          <a:solidFill>
                            <a:srgbClr val="222222"/>
                          </a:solidFill>
                          <a:latin typeface="Calibri"/>
                        </a:rPr>
                        <a:t>scrub_jay.jpg</a:t>
                      </a:r>
                    </a:p>
                  </a:txBody>
                  <a:tcPr marL="73152" marR="73152" marT="18288" marB="18288">
                    <a:solidFill>
                      <a:srgbClr val="FFFFFF"/>
                    </a:solidFill>
                  </a:tcPr>
                </a:tc>
                <a:tc>
                  <a:txBody>
                    <a:bodyPr/>
                    <a:lstStyle/>
                    <a:p>
                      <a:r>
                        <a:rPr sz="1000" b="0" i="0">
                          <a:solidFill>
                            <a:srgbClr val="222222"/>
                          </a:solidFill>
                          <a:latin typeface="Calibri"/>
                        </a:rPr>
                        <a:t>CC BY 2.0</a:t>
                      </a:r>
                    </a:p>
                  </a:txBody>
                  <a:tcPr marL="73152" marR="73152" marT="18288" marB="18288">
                    <a:solidFill>
                      <a:srgbClr val="FFFFFF"/>
                    </a:solidFill>
                  </a:tcPr>
                </a:tc>
                <a:tc>
                  <a:txBody>
                    <a:bodyPr/>
                    <a:lstStyle/>
                    <a:p>
                      <a:r>
                        <a:rPr sz="1000" b="0" i="0">
                          <a:solidFill>
                            <a:srgbClr val="222222"/>
                          </a:solidFill>
                          <a:latin typeface="Calibri"/>
                        </a:rPr>
                        <a:t>Becky Matsubara, via Wikimedia Commons  ·  https://commons.wikimedia.org/wiki/File:California_Scrub_Jay,_Richmond,_Contra_Costa,_California_(30644196597).jpg</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2286000"/>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57200">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57200">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Octopus vulgaris</a:t>
                      </a:r>
                    </a:p>
                  </a:txBody>
                  <a:tcPr marL="73152" marR="73152" marT="18288" marB="18288">
                    <a:solidFill>
                      <a:srgbClr val="FFFFFF"/>
                    </a:solidFill>
                  </a:tcPr>
                </a:tc>
                <a:tc>
                  <a:txBody>
                    <a:bodyPr/>
                    <a:lstStyle/>
                    <a:p>
                      <a:r>
                        <a:rPr sz="1000" b="0" i="0">
                          <a:solidFill>
                            <a:srgbClr val="222222"/>
                          </a:solidFill>
                          <a:latin typeface="Calibri"/>
                        </a:rPr>
                        <a:t>octopus.jpg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Isabelle Cheret / Ifremer, via Wikimedia Commons  ·  https://commons.wikimedia.org/wiki/File:Poulpe_de_roche_(Octopus_vulgaris)_(Ifremer_00634-74611_-_29806).jpg</a:t>
                      </a:r>
                    </a:p>
                  </a:txBody>
                  <a:tcPr marL="73152" marR="73152" marT="18288" marB="18288">
                    <a:solidFill>
                      <a:srgbClr val="FFFFFF"/>
                    </a:solidFill>
                  </a:tcPr>
                </a:tc>
                <a:extLst>
                  <a:ext uri="{0D108BD9-81ED-4DB2-BD59-A6C34878D82A}">
                    <a16:rowId xmlns:a16="http://schemas.microsoft.com/office/drawing/2014/main" val="10001"/>
                  </a:ext>
                </a:extLst>
              </a:tr>
              <a:tr h="457200">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The ranked ladder, and the tree that replaces it</a:t>
                      </a:r>
                    </a:p>
                  </a:txBody>
                  <a:tcPr marL="73152" marR="73152" marT="18288" marB="18288">
                    <a:solidFill>
                      <a:srgbClr val="FFFFFF"/>
                    </a:solidFill>
                  </a:tcPr>
                </a:tc>
                <a:tc>
                  <a:txBody>
                    <a:bodyPr/>
                    <a:lstStyle/>
                    <a:p>
                      <a:r>
                        <a:rPr sz="1000" b="0" i="0">
                          <a:solidFill>
                            <a:srgbClr val="222222"/>
                          </a:solidFill>
                          <a:latin typeface="Calibri"/>
                        </a:rPr>
                        <a:t>fig-not-a-ladder.png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2"/>
                  </a:ext>
                </a:extLst>
              </a:tr>
              <a:tr h="457200">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Clever Hans with von Osten and an examiner</a:t>
                      </a:r>
                    </a:p>
                  </a:txBody>
                  <a:tcPr marL="73152" marR="73152" marT="18288" marB="18288">
                    <a:solidFill>
                      <a:srgbClr val="FFFFFF"/>
                    </a:solidFill>
                  </a:tcPr>
                </a:tc>
                <a:tc>
                  <a:txBody>
                    <a:bodyPr/>
                    <a:lstStyle/>
                    <a:p>
                      <a:r>
                        <a:rPr sz="1000" b="0" i="0">
                          <a:solidFill>
                            <a:srgbClr val="222222"/>
                          </a:solidFill>
                          <a:latin typeface="Calibri"/>
                        </a:rPr>
                        <a:t>clever_hans.jpg</a:t>
                      </a:r>
                    </a:p>
                  </a:txBody>
                  <a:tcPr marL="73152" marR="73152" marT="18288" marB="18288">
                    <a:solidFill>
                      <a:srgbClr val="FFFFFF"/>
                    </a:solidFill>
                  </a:tcPr>
                </a:tc>
                <a:tc>
                  <a:txBody>
                    <a:bodyPr/>
                    <a:lstStyle/>
                    <a:p>
                      <a:r>
                        <a:rPr sz="1000" b="0" i="0">
                          <a:solidFill>
                            <a:srgbClr val="222222"/>
                          </a:solidFill>
                          <a:latin typeface="Calibri"/>
                        </a:rPr>
                        <a:t>Public domain</a:t>
                      </a:r>
                    </a:p>
                  </a:txBody>
                  <a:tcPr marL="73152" marR="73152" marT="18288" marB="18288">
                    <a:solidFill>
                      <a:srgbClr val="FFFFFF"/>
                    </a:solidFill>
                  </a:tcPr>
                </a:tc>
                <a:tc>
                  <a:txBody>
                    <a:bodyPr/>
                    <a:lstStyle/>
                    <a:p>
                      <a:r>
                        <a:rPr sz="1000" b="0" i="0">
                          <a:solidFill>
                            <a:srgbClr val="222222"/>
                          </a:solidFill>
                          <a:latin typeface="Calibri"/>
                        </a:rPr>
                        <a:t>From Karl Krall, Denkende Tiere (Tafel 3), via Wikimedia Commons  ·  https://commons.wikimedia.org/wiki/File:Hans_Ichbewusstsein.jpg</a:t>
                      </a:r>
                    </a:p>
                  </a:txBody>
                  <a:tcPr marL="73152" marR="73152" marT="18288" marB="18288">
                    <a:solidFill>
                      <a:srgbClr val="FFFFFF"/>
                    </a:solidFill>
                  </a:tcPr>
                </a:tc>
                <a:extLst>
                  <a:ext uri="{0D108BD9-81ED-4DB2-BD59-A6C34878D82A}">
                    <a16:rowId xmlns:a16="http://schemas.microsoft.com/office/drawing/2014/main" val="10003"/>
                  </a:ext>
                </a:extLst>
              </a:tr>
              <a:tr h="457200">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Why a spandrel is a byproduct</a:t>
                      </a:r>
                    </a:p>
                  </a:txBody>
                  <a:tcPr marL="73152" marR="73152" marT="18288" marB="18288">
                    <a:solidFill>
                      <a:srgbClr val="FFFFFF"/>
                    </a:solidFill>
                  </a:tcPr>
                </a:tc>
                <a:tc>
                  <a:txBody>
                    <a:bodyPr/>
                    <a:lstStyle/>
                    <a:p>
                      <a:r>
                        <a:rPr sz="1000" b="0" i="0">
                          <a:solidFill>
                            <a:srgbClr val="222222"/>
                          </a:solidFill>
                          <a:latin typeface="Calibri"/>
                        </a:rPr>
                        <a:t>fig-spandrel.png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6106</Words>
  <Application>Microsoft Macintosh PowerPoint</Application>
  <PresentationFormat>Widescreen</PresentationFormat>
  <Paragraphs>402</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Willits, Jon Anthony</cp:lastModifiedBy>
  <cp:revision>3</cp:revision>
  <dcterms:created xsi:type="dcterms:W3CDTF">2013-01-27T09:14:16Z</dcterms:created>
  <dcterms:modified xsi:type="dcterms:W3CDTF">2026-09-02T18:41:22Z</dcterms:modified>
  <cp:category/>
</cp:coreProperties>
</file>