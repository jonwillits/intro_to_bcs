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notesMasterIdLst>
    <p:notesMasterId r:id="rId18"/>
  </p:notesMasterIdLst>
  <p:sldIdLst>
    <p:sldId id="313" r:id="rId6"/>
    <p:sldId id="314" r:id="rId7"/>
    <p:sldId id="315" r:id="rId8"/>
    <p:sldId id="316" r:id="rId9"/>
    <p:sldId id="317" r:id="rId10"/>
    <p:sldId id="319" r:id="rId11"/>
    <p:sldId id="320" r:id="rId12"/>
    <p:sldId id="321" r:id="rId13"/>
    <p:sldId id="32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F33"/>
    <a:srgbClr val="E84A27"/>
    <a:srgbClr val="1329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3"/>
    <p:restoredTop sz="66348"/>
  </p:normalViewPr>
  <p:slideViewPr>
    <p:cSldViewPr snapToGrid="0" snapToObjects="1">
      <p:cViewPr varScale="1">
        <p:scale>
          <a:sx n="97" d="100"/>
          <a:sy n="97" d="100"/>
        </p:scale>
        <p:origin x="1096" y="240"/>
      </p:cViewPr>
      <p:guideLst>
        <p:guide orient="horz" pos="2160"/>
        <p:guide pos="3840"/>
      </p:guideLst>
    </p:cSldViewPr>
  </p:slideViewPr>
  <p:notesTextViewPr>
    <p:cViewPr>
      <p:scale>
        <a:sx n="140" d="100"/>
        <a:sy n="14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FD3E08-CD1E-6345-BF3D-6B539ADC1145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32C59-1409-2640-866F-4A1083575A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375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0FB9-EC51-D96B-AFE3-3A561077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77760-118D-66D4-134C-D00ADE6A7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D49C8-E3C0-91D7-0BB5-C2F10DD7F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understand how neurons — and eventually brains — evolved, we first need to remind ourselves how evolution by natural selection works.</a:t>
            </a:r>
          </a:p>
          <a:p>
            <a:endParaRPr lang="en-US" dirty="0"/>
          </a:p>
          <a:p>
            <a:r>
              <a:rPr lang="en-US" dirty="0"/>
              <a:t>For evolution by natural selection to work, there are three key ingredients: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200" b="1" dirty="0"/>
              <a:t>Variation</a:t>
            </a:r>
            <a:r>
              <a:rPr lang="en-US" sz="1200" dirty="0"/>
              <a:t>: individuals in a population vary in their traits; they have different </a:t>
            </a:r>
            <a:r>
              <a:rPr lang="en-US" sz="1200" b="1" dirty="0"/>
              <a:t>genotypes</a:t>
            </a:r>
            <a:r>
              <a:rPr lang="en-US" sz="1200" dirty="0"/>
              <a:t> (sets of genes) leading to different </a:t>
            </a:r>
            <a:r>
              <a:rPr lang="en-US" sz="1200" b="1" dirty="0"/>
              <a:t>phenotypes</a:t>
            </a:r>
            <a:r>
              <a:rPr lang="en-US" sz="1200" dirty="0"/>
              <a:t> (differences in physical bodies and behaviors).</a:t>
            </a:r>
            <a:endParaRPr lang="en-US" sz="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200" b="1" dirty="0"/>
              <a:t>Inheritance</a:t>
            </a:r>
            <a:r>
              <a:rPr lang="en-US" sz="1200" dirty="0"/>
              <a:t>: those traits are passed on to offspring</a:t>
            </a:r>
            <a:endParaRPr lang="en-US" sz="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200" b="1" dirty="0"/>
              <a:t>Selection</a:t>
            </a:r>
            <a:r>
              <a:rPr lang="en-US" sz="1200" dirty="0"/>
              <a:t>: traits that help organisms survive and reproduce are “selected”; they become more common over generations. Sometimes also called “</a:t>
            </a:r>
            <a:r>
              <a:rPr lang="en-US" sz="1200" b="1" dirty="0"/>
              <a:t>differential survival and reproduction</a:t>
            </a:r>
            <a:r>
              <a:rPr lang="en-US" sz="1200" dirty="0"/>
              <a:t>”.</a:t>
            </a:r>
          </a:p>
          <a:p>
            <a:endParaRPr lang="en-US" dirty="0"/>
          </a:p>
          <a:p>
            <a:r>
              <a:rPr lang="en-US" dirty="0"/>
              <a:t>That’s it. With these three ingredients, natural selection produces complexity and adaptation. </a:t>
            </a:r>
          </a:p>
          <a:p>
            <a:r>
              <a:rPr lang="en-US" dirty="0"/>
              <a:t>And note that this isn’t just to say that variation, inheritance, and selection are sufficient for natural selection to occur. </a:t>
            </a:r>
          </a:p>
          <a:p>
            <a:r>
              <a:rPr lang="en-US" dirty="0"/>
              <a:t>Natural selection will necessarily occur when all there of these properties are present.</a:t>
            </a:r>
          </a:p>
          <a:p>
            <a:endParaRPr lang="en-US" dirty="0"/>
          </a:p>
          <a:p>
            <a:r>
              <a:rPr lang="en-US" dirty="0"/>
              <a:t>Understanding the process of natural selection and its implications can help us better understand a lot about living things— including, eventually, the complexity of neurons, brains, and intelligence.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F669C-CDD5-9E18-D6D3-4696CB9965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792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DCDCE-ABEE-8807-26D7-AF058B206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88B3C-52D8-40D1-BA61-00D8C4AA8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3452C8-ABEB-5AF6-B4A8-1119555B3C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a classic case that shows natural selection at work: the peppered moths in England.</a:t>
            </a:r>
          </a:p>
          <a:p>
            <a:endParaRPr lang="en-US" dirty="0"/>
          </a:p>
          <a:p>
            <a:r>
              <a:rPr lang="en-US" dirty="0"/>
              <a:t>Originally, most moths were light-colored, which camouflaged them against the lichen-covered trees., which were very light in color. </a:t>
            </a:r>
          </a:p>
          <a:p>
            <a:r>
              <a:rPr lang="en-US" dirty="0"/>
              <a:t>But during the Industrial Revolution, soot darkened the trees. </a:t>
            </a:r>
          </a:p>
          <a:p>
            <a:r>
              <a:rPr lang="en-US" dirty="0"/>
              <a:t>Suddenly, the light moths were more visible to predators, while darker moths were better camouflaged.</a:t>
            </a:r>
          </a:p>
          <a:p>
            <a:endParaRPr lang="en-US" dirty="0"/>
          </a:p>
          <a:p>
            <a:r>
              <a:rPr lang="en-US" dirty="0"/>
              <a:t>As a result, the dark moths had higher survival and reproduction.</a:t>
            </a:r>
          </a:p>
          <a:p>
            <a:r>
              <a:rPr lang="en-US" dirty="0"/>
              <a:t>Over time, the population shifted, and darker moths became much more common.</a:t>
            </a:r>
          </a:p>
          <a:p>
            <a:endParaRPr lang="en-US" dirty="0"/>
          </a:p>
          <a:p>
            <a:r>
              <a:rPr lang="en-US" dirty="0"/>
              <a:t>This is natural selection in action: variation in coloration, inheritance of those traits, and selection based on environmental pressures.</a:t>
            </a:r>
          </a:p>
          <a:p>
            <a:endParaRPr lang="en-US" dirty="0"/>
          </a:p>
          <a:p>
            <a:r>
              <a:rPr lang="en-US" dirty="0"/>
              <a:t>We’ll use this same logic to understand how neurons — and eventually brains — were selected for in certain environments.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A75EE-B8AF-36EA-5BEF-A8649EAD0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6067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9EC34-7DAF-0007-1740-7CBA9028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F287F-38FC-A920-FD2B-859C79A66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849BE-0EBB-D5C2-6B08-F7FCDEBA2E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we move on, It’s important to clear up a common misconception.</a:t>
            </a:r>
          </a:p>
          <a:p>
            <a:r>
              <a:rPr lang="en-US" dirty="0"/>
              <a:t>Evolution is </a:t>
            </a:r>
            <a:r>
              <a:rPr lang="en-US" i="1" dirty="0"/>
              <a:t>not</a:t>
            </a:r>
            <a:r>
              <a:rPr lang="en-US" dirty="0"/>
              <a:t> a march of progress toward some goal, like humans at the top of a ladder.</a:t>
            </a:r>
          </a:p>
          <a:p>
            <a:endParaRPr lang="en-US" dirty="0"/>
          </a:p>
          <a:p>
            <a:r>
              <a:rPr lang="en-US" dirty="0"/>
              <a:t>Instead, evolution is about adaptation to local environments. </a:t>
            </a:r>
          </a:p>
          <a:p>
            <a:r>
              <a:rPr lang="en-US" dirty="0"/>
              <a:t>What works in one context may not in another. Traits can be gained, but they can also be lost if they’re no longer useful.</a:t>
            </a:r>
          </a:p>
          <a:p>
            <a:endParaRPr lang="en-US" dirty="0"/>
          </a:p>
          <a:p>
            <a:r>
              <a:rPr lang="en-US" dirty="0"/>
              <a:t>Think about cave fish that lost their eyes. </a:t>
            </a:r>
          </a:p>
          <a:p>
            <a:r>
              <a:rPr lang="en-US" dirty="0"/>
              <a:t>Or parasites that lost digestive systems because they live entirely inside hosts. </a:t>
            </a:r>
          </a:p>
          <a:p>
            <a:r>
              <a:rPr lang="en-US" dirty="0"/>
              <a:t>These changes weren’t ‘backward’—they were adaptive for those environments.</a:t>
            </a:r>
          </a:p>
          <a:p>
            <a:endParaRPr lang="en-US" dirty="0"/>
          </a:p>
          <a:p>
            <a:r>
              <a:rPr lang="en-US" dirty="0"/>
              <a:t>This is crucial for our purposes: neurons and brains didn’t evolve because evolution was trying to ‘make intelligence.’ </a:t>
            </a:r>
          </a:p>
          <a:p>
            <a:r>
              <a:rPr lang="en-US" dirty="0"/>
              <a:t>They evolved because, in certain ecological situations, they helped organisms survive and reproduce.</a:t>
            </a:r>
          </a:p>
          <a:p>
            <a:endParaRPr lang="en-US" dirty="0"/>
          </a:p>
          <a:p>
            <a:r>
              <a:rPr lang="en-US" dirty="0"/>
              <a:t>Intelligence isn’t inherently a “good” thing by evolutionary standards. It might be adaptive in certain situations, and maladaptive in others.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 the way, from an evolutionary perspective, intelligence isn’t even all that common.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we call ‘intelligent’ organisms are vastly outnumbered by bacteria, fungi, and other so-called ‘simple’ life forms.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nature’s point of view, being intelligent is the exception, not the rule.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69E64-B1C9-D551-83C1-8427A2B56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014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44D7B-11D9-B832-79B0-4B0D0BC1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FC6465-A669-49EA-34FA-1F9BC1A47A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87057D-68D6-C7DC-CFCD-502DC1087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early Earth about 4 billion years ago, random chemistry produced short chains of RNA. </a:t>
            </a:r>
          </a:p>
          <a:p>
            <a:r>
              <a:rPr lang="en-US" dirty="0"/>
              <a:t>Most of these just broke down, but a few folded into useful shapes. </a:t>
            </a:r>
          </a:p>
          <a:p>
            <a:r>
              <a:rPr lang="en-US" dirty="0"/>
              <a:t>Useful because they could catalyze chemical reactions.</a:t>
            </a:r>
          </a:p>
          <a:p>
            <a:r>
              <a:rPr lang="en-US" dirty="0"/>
              <a:t>These special RNAs are called </a:t>
            </a:r>
            <a:r>
              <a:rPr lang="en-US" i="1" dirty="0"/>
              <a:t>ribozymes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Every once in a while, a ribozyme helped an RNA chain get copied. </a:t>
            </a:r>
          </a:p>
          <a:p>
            <a:r>
              <a:rPr lang="en-US" dirty="0"/>
              <a:t>It wasn’t direct, efficient self-copying the way modern DNA replication works.</a:t>
            </a:r>
          </a:p>
          <a:p>
            <a:r>
              <a:rPr lang="en-US" dirty="0"/>
              <a:t>But even an indirect, clumsy process was a game-changer.</a:t>
            </a:r>
          </a:p>
          <a:p>
            <a:endParaRPr lang="en-US" dirty="0"/>
          </a:p>
          <a:p>
            <a:r>
              <a:rPr lang="en-US" dirty="0"/>
              <a:t>Because copying was imperfect, mistakes crept in — new variants appeared. </a:t>
            </a:r>
          </a:p>
          <a:p>
            <a:r>
              <a:rPr lang="en-US" dirty="0"/>
              <a:t>Some were better at surviving or making more copies, and those variants spread.</a:t>
            </a:r>
          </a:p>
          <a:p>
            <a:endParaRPr lang="en-US" dirty="0"/>
          </a:p>
          <a:p>
            <a:r>
              <a:rPr lang="en-US" dirty="0"/>
              <a:t>At this point, all three ingredients for natural selection were in place: variation, inheritance, and differential survival. In other words, evolution had begun — not yet with cells or organisms, but with relatively simple molecules.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3F503-8C44-A8F1-A25C-863BFD45D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245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196F9-ECE1-1C80-99F6-2F33790CE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AFDD4-0DE6-8AD8-D5ED-0A4397AEA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A24A1F-AC39-04B3-14E4-E4BB0C7CA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evolution was underway, certain innovations dramatically increased the complexity of these proto-cells.</a:t>
            </a:r>
          </a:p>
          <a:p>
            <a:endParaRPr lang="en-US" b="1" dirty="0"/>
          </a:p>
          <a:p>
            <a:r>
              <a:rPr lang="en-US" b="1" dirty="0"/>
              <a:t>Lipids</a:t>
            </a:r>
            <a:r>
              <a:rPr lang="en-US" dirty="0"/>
              <a:t>: Fatty molecules naturally form bubbles in water. If RNA systems got trapped inside, they gained protection. </a:t>
            </a:r>
          </a:p>
          <a:p>
            <a:r>
              <a:rPr lang="en-US" dirty="0"/>
              <a:t>Over time, RNAs and proteins that could help maintain or produce membranes were favored. This was the beginning of true cell membranes.</a:t>
            </a:r>
          </a:p>
          <a:p>
            <a:endParaRPr lang="en-US" dirty="0"/>
          </a:p>
          <a:p>
            <a:r>
              <a:rPr lang="en-US" b="1" dirty="0"/>
              <a:t>Ribozymes → Ribosomes</a:t>
            </a:r>
            <a:r>
              <a:rPr lang="en-US" dirty="0"/>
              <a:t>: Some RNAs catalyzed reactions that joined amino acids into short chains — the first proteins. </a:t>
            </a:r>
          </a:p>
          <a:p>
            <a:r>
              <a:rPr lang="en-US" dirty="0"/>
              <a:t>Proteins were more versatile than RNA enzymes, so any system that produced them had an edge. </a:t>
            </a:r>
          </a:p>
          <a:p>
            <a:r>
              <a:rPr lang="en-US" dirty="0"/>
              <a:t>Eventually, ribozymes and proteins co-evolved into ribosomes — dedicated machines for protein production.</a:t>
            </a:r>
          </a:p>
          <a:p>
            <a:endParaRPr lang="en-US" dirty="0"/>
          </a:p>
          <a:p>
            <a:r>
              <a:rPr lang="en-US" b="1" dirty="0"/>
              <a:t>Proteins</a:t>
            </a:r>
            <a:r>
              <a:rPr lang="en-US" dirty="0"/>
              <a:t>: These short chains could act as catalysts, energy metabolizers, sensors, or motors — dramatically expanding what early life could do.</a:t>
            </a:r>
          </a:p>
          <a:p>
            <a:endParaRPr lang="en-US" dirty="0"/>
          </a:p>
          <a:p>
            <a:r>
              <a:rPr lang="en-US" b="1" dirty="0"/>
              <a:t>DNA</a:t>
            </a:r>
            <a:r>
              <a:rPr lang="en-US" dirty="0"/>
              <a:t>: Finally, DNA entered the scene as a more stable storage molecule than RNA. </a:t>
            </a:r>
          </a:p>
          <a:p>
            <a:r>
              <a:rPr lang="en-US" dirty="0"/>
              <a:t>RNA and proteins did the work, while DNA became the long-term blueprint.</a:t>
            </a:r>
          </a:p>
          <a:p>
            <a:endParaRPr lang="en-US" dirty="0"/>
          </a:p>
          <a:p>
            <a:r>
              <a:rPr lang="en-US" dirty="0"/>
              <a:t>By the time these pieces came together, life looked much more like what we’d recognize as a modern cell: </a:t>
            </a:r>
          </a:p>
          <a:p>
            <a:r>
              <a:rPr lang="en-US" dirty="0"/>
              <a:t>a membrane, a genome, protein factories, and a metabolism powered by ATP.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4AC2D-9AB0-E1EF-350A-DA522D8F65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874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B7F58-154E-B876-856B-F765490C0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3C8CF-E3B8-69E7-430B-9E15165625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46895-CC8F-3118-DDD2-59D2CB8BC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1. Chemistry experiments</a:t>
            </a:r>
          </a:p>
          <a:p>
            <a:r>
              <a:rPr lang="en-US" b="0" dirty="0"/>
              <a:t>Classic Miller–Urey experiment (1950s) showed that with simple gases, sparks, and heat, you can get amino acids and nucleotides.</a:t>
            </a:r>
          </a:p>
          <a:p>
            <a:r>
              <a:rPr lang="en-US" b="0" dirty="0"/>
              <a:t>Modern versions with clays, minerals, and hydrothermal vent conditions show that short RNA and peptide chains can form spontaneously.</a:t>
            </a:r>
          </a:p>
          <a:p>
            <a:endParaRPr lang="en-US" b="0" dirty="0"/>
          </a:p>
          <a:p>
            <a:r>
              <a:rPr lang="en-US" b="0" dirty="0"/>
              <a:t>2. Ribozymes in modern biology</a:t>
            </a:r>
          </a:p>
          <a:p>
            <a:r>
              <a:rPr lang="en-US" b="0" dirty="0"/>
              <a:t>In labs, scientists have evolved RNAs that can catalyze their own partial copying.</a:t>
            </a:r>
          </a:p>
          <a:p>
            <a:r>
              <a:rPr lang="en-US" b="0" dirty="0"/>
              <a:t>In living cells, ribozymes still exist: the catalytic core of the ribosome is RNA, not protein. That’s a fossil of the RNA world.</a:t>
            </a:r>
          </a:p>
          <a:p>
            <a:endParaRPr lang="en-US" b="0" dirty="0"/>
          </a:p>
          <a:p>
            <a:r>
              <a:rPr lang="en-US" b="0" dirty="0"/>
              <a:t>3. Comparative biology (LUCA reconstruction)</a:t>
            </a:r>
          </a:p>
          <a:p>
            <a:r>
              <a:rPr lang="en-US" b="0" dirty="0"/>
              <a:t>By comparing genes across bacteria, archaea, and eukaryotes, scientists can infer what the last universal common ancestor (LUCA) had (DNA, ribosomes, ATP use, membranes).</a:t>
            </a:r>
          </a:p>
          <a:p>
            <a:r>
              <a:rPr lang="en-US" b="0" dirty="0"/>
              <a:t>Anything shared across all life today probably existed in LUCA.</a:t>
            </a:r>
          </a:p>
          <a:p>
            <a:endParaRPr lang="en-US" b="0" dirty="0"/>
          </a:p>
          <a:p>
            <a:r>
              <a:rPr lang="en-US" b="0" dirty="0"/>
              <a:t>4. Geological evidence</a:t>
            </a:r>
          </a:p>
          <a:p>
            <a:r>
              <a:rPr lang="en-US" b="0" dirty="0"/>
              <a:t>Ancient rocks (~3.5–3.8 billion years old) contain chemical signatures consistent with early life: carbon isotope ratios, stromatolite fossils.</a:t>
            </a:r>
          </a:p>
          <a:p>
            <a:r>
              <a:rPr lang="en-US" b="0" dirty="0"/>
              <a:t>These set a minimum date for when life had to exist.</a:t>
            </a:r>
          </a:p>
          <a:p>
            <a:endParaRPr lang="en-US" b="0" dirty="0"/>
          </a:p>
          <a:p>
            <a:r>
              <a:rPr lang="en-US" b="0" dirty="0"/>
              <a:t>5. Computer models &amp; lab evolution</a:t>
            </a:r>
          </a:p>
          <a:p>
            <a:r>
              <a:rPr lang="en-US" b="0" dirty="0"/>
              <a:t>Researchers simulate networks of replicators and show how self-replication, variation, and selection naturally emerge.</a:t>
            </a:r>
          </a:p>
          <a:p>
            <a:r>
              <a:rPr lang="en-US" b="0" dirty="0"/>
              <a:t>In labs, RNA molecules have been artificially evolved to improve replication — demonstrating plausibility.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6DA73-4CB9-321A-2254-D933560CF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907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7D3FD-50D4-1FD0-C62A-D925FB6E4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453481-6262-3B6F-237B-8306FE058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13337-1851-1A9F-1697-7C7CA68E8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before neurons existed, life was already showing what we could call </a:t>
            </a:r>
            <a:r>
              <a:rPr lang="en-US" i="1" dirty="0"/>
              <a:t>primitive intelligence.</a:t>
            </a:r>
            <a:endParaRPr lang="en-US" dirty="0"/>
          </a:p>
          <a:p>
            <a:endParaRPr lang="en-US" dirty="0"/>
          </a:p>
          <a:p>
            <a:r>
              <a:rPr lang="en-US" dirty="0"/>
              <a:t>Single-celled organisms like bacteria evolved proteins that acted like little machines. </a:t>
            </a:r>
          </a:p>
          <a:p>
            <a:r>
              <a:rPr lang="en-US" dirty="0"/>
              <a:t>Some proteins formed </a:t>
            </a:r>
            <a:r>
              <a:rPr lang="en-US" b="1" dirty="0"/>
              <a:t>motors and propellers</a:t>
            </a:r>
            <a:r>
              <a:rPr lang="en-US" dirty="0"/>
              <a:t> that let them swim through liquid. </a:t>
            </a:r>
          </a:p>
          <a:p>
            <a:r>
              <a:rPr lang="en-US" dirty="0"/>
              <a:t>Others acted as </a:t>
            </a:r>
            <a:r>
              <a:rPr lang="en-US" b="1" dirty="0"/>
              <a:t>receptors</a:t>
            </a:r>
            <a:r>
              <a:rPr lang="en-US" dirty="0"/>
              <a:t>, changing shape when they detected things in the environment, like light, heat, or chemicals.</a:t>
            </a:r>
          </a:p>
          <a:p>
            <a:endParaRPr lang="en-US" dirty="0"/>
          </a:p>
          <a:p>
            <a:r>
              <a:rPr lang="en-US" dirty="0"/>
              <a:t>This allowed bacteria to do more than just sit there. </a:t>
            </a:r>
          </a:p>
          <a:p>
            <a:r>
              <a:rPr lang="en-US" dirty="0"/>
              <a:t>They could actively </a:t>
            </a:r>
            <a:r>
              <a:rPr lang="en-US" i="1" dirty="0"/>
              <a:t>navigate</a:t>
            </a:r>
            <a:r>
              <a:rPr lang="en-US" dirty="0"/>
              <a:t>:</a:t>
            </a:r>
          </a:p>
          <a:p>
            <a:r>
              <a:rPr lang="en-US" dirty="0"/>
              <a:t>Swim toward food sources that supported replication.</a:t>
            </a:r>
          </a:p>
          <a:p>
            <a:r>
              <a:rPr lang="en-US" dirty="0"/>
              <a:t>Swim away from harmful chemicals, extreme heat, or anything that damaged their DNA.</a:t>
            </a:r>
          </a:p>
          <a:p>
            <a:endParaRPr lang="en-US" dirty="0"/>
          </a:p>
          <a:p>
            <a:r>
              <a:rPr lang="en-US" dirty="0"/>
              <a:t>This behavior is called </a:t>
            </a:r>
            <a:r>
              <a:rPr lang="en-US" b="1" dirty="0"/>
              <a:t>chemotaxis</a:t>
            </a:r>
            <a:r>
              <a:rPr lang="en-US" dirty="0"/>
              <a:t> — literally ‘movement in response to chemicals.’</a:t>
            </a:r>
          </a:p>
          <a:p>
            <a:r>
              <a:rPr lang="en-US" dirty="0"/>
              <a:t> It’s not neurons, but it’s the same basic idea: detecting the world and acting in ways that increase survival.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1F9C8-E09F-9D53-0D37-927E3340E6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8576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9537-0CC1-8EB7-7D69-E9B91D1AB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17E26B-5CB7-202A-CC18-1961B37A36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CBF88-BF96-9CED-BED5-A2D7FB22C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We often think about and talk about the brain as an information processing system. And it is.</a:t>
            </a:r>
          </a:p>
          <a:p>
            <a:r>
              <a:rPr lang="en-US" dirty="0"/>
              <a:t>But we shouldn’t miss that even the very basics of life are also another type of information processing system.</a:t>
            </a:r>
          </a:p>
          <a:p>
            <a:endParaRPr lang="en-US" dirty="0"/>
          </a:p>
          <a:p>
            <a:r>
              <a:rPr lang="en-US" dirty="0"/>
              <a:t>Once DNA took over, life had a system for </a:t>
            </a:r>
            <a:r>
              <a:rPr lang="en-US" b="1" dirty="0"/>
              <a:t>storing and using information</a:t>
            </a:r>
            <a:r>
              <a:rPr lang="en-US" dirty="0"/>
              <a:t>.</a:t>
            </a:r>
          </a:p>
          <a:p>
            <a:r>
              <a:rPr lang="en-US" dirty="0"/>
              <a:t>DNA is the </a:t>
            </a:r>
            <a:r>
              <a:rPr lang="en-US" b="1" dirty="0"/>
              <a:t>storage medium</a:t>
            </a:r>
            <a:r>
              <a:rPr lang="en-US" dirty="0"/>
              <a:t>, a long-term archive.</a:t>
            </a:r>
          </a:p>
          <a:p>
            <a:r>
              <a:rPr lang="en-US" dirty="0"/>
              <a:t>RNA is the </a:t>
            </a:r>
            <a:r>
              <a:rPr lang="en-US" b="1" dirty="0"/>
              <a:t>messenger</a:t>
            </a:r>
            <a:r>
              <a:rPr lang="en-US" dirty="0"/>
              <a:t>, transmitting information from storage to action.</a:t>
            </a:r>
          </a:p>
          <a:p>
            <a:r>
              <a:rPr lang="en-US" dirty="0"/>
              <a:t>Proteins carry out the </a:t>
            </a:r>
            <a:r>
              <a:rPr lang="en-US" b="1" dirty="0"/>
              <a:t>actions</a:t>
            </a:r>
            <a:r>
              <a:rPr lang="en-US" dirty="0"/>
              <a:t> — building, moving, sensing.</a:t>
            </a:r>
          </a:p>
          <a:p>
            <a:endParaRPr lang="en-US" dirty="0"/>
          </a:p>
          <a:p>
            <a:r>
              <a:rPr lang="en-US" dirty="0"/>
              <a:t>This is called the central dogma of molecular biology: DNA makes RNA, RNA makes proteins.</a:t>
            </a:r>
          </a:p>
          <a:p>
            <a:r>
              <a:rPr lang="en-US" dirty="0"/>
              <a:t>DNA itself doesn’t directly “do” the information processing. But it creates a set of systems that do.</a:t>
            </a:r>
          </a:p>
          <a:p>
            <a:r>
              <a:rPr lang="en-US" dirty="0"/>
              <a:t>Compare that to brains. Neurons store and transmit information in networks.</a:t>
            </a:r>
          </a:p>
          <a:p>
            <a:r>
              <a:rPr lang="en-US" dirty="0"/>
              <a:t>Just like DNA doesn’t ‘do’ anything on its own but encodes instructions, many mental representations are only useful because they can be transformed and acted on.</a:t>
            </a:r>
          </a:p>
          <a:p>
            <a:r>
              <a:rPr lang="en-US" dirty="0"/>
              <a:t>In both biology and cognition, understanding information flow is key: how it’s </a:t>
            </a:r>
            <a:r>
              <a:rPr lang="en-US" b="1" dirty="0"/>
              <a:t>stored, transmitted, and transformed</a:t>
            </a:r>
            <a:r>
              <a:rPr lang="en-US" dirty="0"/>
              <a:t> is what makes complex systems possible.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1A51-E1C1-0617-B4D8-30FAD935BD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5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3FFCC-0369-C16C-39E2-A4241A749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BDED7A-AB65-8774-5200-8B757B203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2501F4-B98C-EF03-B78C-45A04DF8D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living things — fungi, plants, bacteria, animals, us — share a common ancestor known as LUCA:</a:t>
            </a:r>
          </a:p>
          <a:p>
            <a:r>
              <a:rPr lang="en-US" dirty="0"/>
              <a:t>the Last Universal Common Ancestor, about 3.5 billion years ago.</a:t>
            </a:r>
          </a:p>
          <a:p>
            <a:endParaRPr lang="en-US" dirty="0"/>
          </a:p>
          <a:p>
            <a:r>
              <a:rPr lang="en-US" dirty="0"/>
              <a:t>LUCA already had DNA, RNA, proteins, lipid membranes, and used ATP for energy.</a:t>
            </a:r>
          </a:p>
          <a:p>
            <a:endParaRPr lang="en-US" dirty="0"/>
          </a:p>
          <a:p>
            <a:r>
              <a:rPr lang="en-US" dirty="0"/>
              <a:t>That means those features are not late inventions — they’re fundamental, shared by all life on Earth. </a:t>
            </a:r>
          </a:p>
          <a:p>
            <a:r>
              <a:rPr lang="en-US" dirty="0"/>
              <a:t>LUCA wasn’t the first living thing, but it’s the ancestor of everything alive today.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4056B-E542-B6C7-0C51-2B347A9F08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32C59-1409-2640-866F-4A1083575A3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1773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34809-F69F-0D48-97F8-9CF76A5308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340" y="1122363"/>
            <a:ext cx="5785769" cy="2387600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Title Here:</a:t>
            </a:r>
            <a:b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</a:br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Tell Your</a:t>
            </a:r>
            <a:b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</a:br>
            <a:r>
              <a:rPr lang="en-US" sz="4000" b="1" dirty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rPr>
              <a:t>Illinois Story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A99F5-1DAB-644E-87BD-7B2BE337D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1340" y="3602038"/>
            <a:ext cx="5785769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E86B4-4E28-5743-B958-4D04BD329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9BA8F-BF67-344F-9BFA-A8262A79BC8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537075" y="5718264"/>
            <a:ext cx="3117850" cy="807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320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B210D-E74D-9F46-BBEB-61CE8DBFB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7874" y="6095093"/>
            <a:ext cx="2743200" cy="365125"/>
          </a:xfrm>
        </p:spPr>
        <p:txBody>
          <a:bodyPr/>
          <a:lstStyle/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26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C4261-61FB-7142-9417-2F78D3797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23" y="365125"/>
            <a:ext cx="9614263" cy="1325563"/>
          </a:xfrm>
        </p:spPr>
        <p:txBody>
          <a:bodyPr/>
          <a:lstStyle>
            <a:lvl1pPr algn="ctr">
              <a:defRPr b="1" i="0">
                <a:solidFill>
                  <a:srgbClr val="E84A27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dirty="0"/>
              <a:t>Hello.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12F32-5110-BE43-86BA-CB778EC42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823" y="1690688"/>
            <a:ext cx="9614263" cy="3625895"/>
          </a:xfrm>
        </p:spPr>
        <p:txBody>
          <a:bodyPr/>
          <a:lstStyle>
            <a:lvl1pPr>
              <a:defRPr>
                <a:solidFill>
                  <a:srgbClr val="13294B"/>
                </a:solidFill>
              </a:defRPr>
            </a:lvl1pPr>
            <a:lvl2pPr>
              <a:defRPr>
                <a:solidFill>
                  <a:srgbClr val="13294B"/>
                </a:solidFill>
              </a:defRPr>
            </a:lvl2pPr>
            <a:lvl3pPr>
              <a:defRPr>
                <a:solidFill>
                  <a:srgbClr val="13294B"/>
                </a:solidFill>
              </a:defRPr>
            </a:lvl3pPr>
            <a:lvl4pPr>
              <a:defRPr>
                <a:solidFill>
                  <a:srgbClr val="13294B"/>
                </a:solidFill>
              </a:defRPr>
            </a:lvl4pPr>
            <a:lvl5pPr>
              <a:defRPr>
                <a:solidFill>
                  <a:srgbClr val="13294B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96323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26ADA6-32C7-6D47-94AB-D149FA9C1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FDBC8-5F1C-654A-9325-61F424413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1FB5C-A5C2-4C44-A9DF-4F6A196EC0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06C45-97B4-7545-8562-07255BCE2F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8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E84A27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3294B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3294B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3294B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3294B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3294B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2FBC4-E96B-0241-91AF-61174AC19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D18A016A-4BFD-2334-E2AC-86F21EC9550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Evolution by Natural Selection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DBD2B7-B0A9-78F4-7B0F-E0CB71F83920}"/>
              </a:ext>
            </a:extLst>
          </p:cNvPr>
          <p:cNvSpPr txBox="1"/>
          <p:nvPr/>
        </p:nvSpPr>
        <p:spPr>
          <a:xfrm>
            <a:off x="4803227" y="985345"/>
            <a:ext cx="7136523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Natural Selection as an Algorithm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Variation</a:t>
            </a:r>
            <a:r>
              <a:rPr lang="en-US" sz="2400" dirty="0"/>
              <a:t>: individuals in a population vary in their traits; they have different </a:t>
            </a:r>
            <a:r>
              <a:rPr lang="en-US" sz="2400" b="1" dirty="0"/>
              <a:t>genotypes</a:t>
            </a:r>
            <a:r>
              <a:rPr lang="en-US" sz="2400" dirty="0"/>
              <a:t> (sets of genes) leading to different </a:t>
            </a:r>
            <a:r>
              <a:rPr lang="en-US" sz="2400" b="1" dirty="0"/>
              <a:t>phenotypes</a:t>
            </a:r>
            <a:r>
              <a:rPr lang="en-US" sz="2400" dirty="0"/>
              <a:t> (differences in physical bodies and behaviors).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Inheritance</a:t>
            </a:r>
            <a:r>
              <a:rPr lang="en-US" sz="2400" dirty="0"/>
              <a:t>: those traits are passed on to offspring</a:t>
            </a:r>
          </a:p>
          <a:p>
            <a:endParaRPr lang="en-US" sz="1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Selection</a:t>
            </a:r>
            <a:r>
              <a:rPr lang="en-US" sz="2400" dirty="0"/>
              <a:t>: traits that help organisms survive and reproduce are “selected”; they become more common over generations. Sometimes also called “</a:t>
            </a:r>
            <a:r>
              <a:rPr lang="en-US" sz="2400" b="1" dirty="0"/>
              <a:t>differential survival and reproduction</a:t>
            </a:r>
            <a:r>
              <a:rPr lang="en-US" sz="2400" dirty="0"/>
              <a:t>”.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Google Shape;82;p17">
            <a:extLst>
              <a:ext uri="{FF2B5EF4-FFF2-40B4-BE49-F238E27FC236}">
                <a16:creationId xmlns:a16="http://schemas.microsoft.com/office/drawing/2014/main" id="{63AC3EFB-2AB3-74A6-D870-2BDC1AA891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2453" t="2004" r="2722" b="2546"/>
          <a:stretch>
            <a:fillRect/>
          </a:stretch>
        </p:blipFill>
        <p:spPr>
          <a:xfrm>
            <a:off x="336332" y="903890"/>
            <a:ext cx="4225158" cy="46455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61564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78C54-392C-E314-9500-74B90C77C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A9EA45C4-8D7E-AC5E-BB1E-C326AA4F244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Evolution by Natural Selection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370F1D-F284-A6BC-39E2-94BB0B2B5315}"/>
              </a:ext>
            </a:extLst>
          </p:cNvPr>
          <p:cNvSpPr txBox="1"/>
          <p:nvPr/>
        </p:nvSpPr>
        <p:spPr>
          <a:xfrm>
            <a:off x="6509982" y="1004473"/>
            <a:ext cx="5682018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Example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Peppered moths (light vs. dark)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Industrial Revolution → pollution darkened trees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Selection favored darker moths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8194" name="Picture 2" descr="Peppered moth | Industrial Melanism, Camouflage, Evolution | Britannica">
            <a:extLst>
              <a:ext uri="{FF2B5EF4-FFF2-40B4-BE49-F238E27FC236}">
                <a16:creationId xmlns:a16="http://schemas.microsoft.com/office/drawing/2014/main" id="{A995C8AE-3856-21B1-3A0E-A7A3851D5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092" y="1120253"/>
            <a:ext cx="6017526" cy="3369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864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B93C2-EC96-3C5C-F44D-E740CB7A7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2C4559D0-9814-193F-1239-BDD97BA25B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9103" y="2228193"/>
            <a:ext cx="9803398" cy="4629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6">
            <a:extLst>
              <a:ext uri="{FF2B5EF4-FFF2-40B4-BE49-F238E27FC236}">
                <a16:creationId xmlns:a16="http://schemas.microsoft.com/office/drawing/2014/main" id="{CC79BB68-147F-2EA8-F11F-15C94439650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Evolution by Natural Selection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E24986-D918-6946-B628-D2930361F717}"/>
              </a:ext>
            </a:extLst>
          </p:cNvPr>
          <p:cNvSpPr txBox="1"/>
          <p:nvPr/>
        </p:nvSpPr>
        <p:spPr>
          <a:xfrm>
            <a:off x="136635" y="735162"/>
            <a:ext cx="1191873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Evolution ≠ Progress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Not “progress” or a ladder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Evolution = adaptation to environment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Traits can be gained </a:t>
            </a:r>
            <a:r>
              <a:rPr lang="en-US" sz="2200" i="1" dirty="0"/>
              <a:t>or lost</a:t>
            </a:r>
            <a:r>
              <a:rPr lang="en-US" sz="2200" dirty="0"/>
              <a:t>, depending on whether those traits benefit survival or reproduction in the current environment.</a:t>
            </a:r>
          </a:p>
        </p:txBody>
      </p:sp>
    </p:spTree>
    <p:extLst>
      <p:ext uri="{BB962C8B-B14F-4D97-AF65-F5344CB8AC3E}">
        <p14:creationId xmlns:p14="http://schemas.microsoft.com/office/powerpoint/2010/main" val="2455798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7509E-AB27-EDE8-40AE-C8A4E344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66D072BA-47A4-F5CF-7A67-D20350C3EA7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The Evolution of the First Cells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1888B9-CF93-6611-1DE5-53A305B09872}"/>
              </a:ext>
            </a:extLst>
          </p:cNvPr>
          <p:cNvSpPr txBox="1"/>
          <p:nvPr/>
        </p:nvSpPr>
        <p:spPr>
          <a:xfrm>
            <a:off x="5326969" y="2107983"/>
            <a:ext cx="669759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~4 billion years ago: early Earth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random chemistry resulted in short RNA chains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Some RNA happened to be ribozymes (catalysts)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Rare ribozymes helped copying </a:t>
            </a:r>
            <a:r>
              <a:rPr lang="en-US" sz="2400" dirty="0">
                <a:sym typeface="Wingdings" pitchFamily="2" charset="2"/>
              </a:rPr>
              <a:t> </a:t>
            </a:r>
            <a:r>
              <a:rPr lang="en-US" sz="2400" b="1" dirty="0"/>
              <a:t>replication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Copying was imperfect → </a:t>
            </a:r>
            <a:r>
              <a:rPr lang="en-US" sz="2400" b="1" dirty="0"/>
              <a:t>variation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Some variants were better at surviving or copying themselves </a:t>
            </a:r>
            <a:r>
              <a:rPr lang="en-US" sz="2400" dirty="0">
                <a:sym typeface="Wingdings" pitchFamily="2" charset="2"/>
              </a:rPr>
              <a:t> </a:t>
            </a:r>
            <a:r>
              <a:rPr lang="en-US" sz="2400" b="1" dirty="0">
                <a:sym typeface="Wingdings" pitchFamily="2" charset="2"/>
              </a:rPr>
              <a:t>selection</a:t>
            </a:r>
            <a:endParaRPr lang="en-US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Variation + inheritance + selection = evolution begins</a:t>
            </a:r>
          </a:p>
        </p:txBody>
      </p:sp>
      <p:pic>
        <p:nvPicPr>
          <p:cNvPr id="7170" name="Picture 2" descr="How life could have arisen on an 'RNA world' | Science | AAAS">
            <a:extLst>
              <a:ext uri="{FF2B5EF4-FFF2-40B4-BE49-F238E27FC236}">
                <a16:creationId xmlns:a16="http://schemas.microsoft.com/office/drawing/2014/main" id="{01B51056-4AD2-3ED4-8D72-30A375388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2" y="2107983"/>
            <a:ext cx="4759617" cy="314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4E207E-DC66-AE89-9DB9-CEC34409CEAC}"/>
              </a:ext>
            </a:extLst>
          </p:cNvPr>
          <p:cNvSpPr txBox="1"/>
          <p:nvPr/>
        </p:nvSpPr>
        <p:spPr>
          <a:xfrm>
            <a:off x="290262" y="1341553"/>
            <a:ext cx="89784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Early Earth, Abiogenesis, &amp; RNA World Hypothesis</a:t>
            </a:r>
          </a:p>
        </p:txBody>
      </p:sp>
    </p:spTree>
    <p:extLst>
      <p:ext uri="{BB962C8B-B14F-4D97-AF65-F5344CB8AC3E}">
        <p14:creationId xmlns:p14="http://schemas.microsoft.com/office/powerpoint/2010/main" val="126655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F550F-4D54-CC4D-6A8F-F14C3F57A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6C82565B-0D89-F194-D245-8CFF7C84AF4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The Evolution of the First Cells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260C18-3FA1-8B22-D8BA-5B7044E20917}"/>
              </a:ext>
            </a:extLst>
          </p:cNvPr>
          <p:cNvSpPr txBox="1"/>
          <p:nvPr/>
        </p:nvSpPr>
        <p:spPr>
          <a:xfrm>
            <a:off x="6851176" y="1100351"/>
            <a:ext cx="5097046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Early Adaptations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Lipids resulting in membranes (protect &amp; contain RNA)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Ribozymes develop into ribosomes (protein factories)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Proteins can enrich complexity: catalysts, energy metabolizers, motors, sensors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DNA = stable blueprint</a:t>
            </a:r>
          </a:p>
          <a:p>
            <a:endParaRPr lang="en-US" sz="2400" dirty="0"/>
          </a:p>
        </p:txBody>
      </p:sp>
      <p:pic>
        <p:nvPicPr>
          <p:cNvPr id="6146" name="Picture 2" descr="How protocells bridge the gap from chemistry to biology | Feature |  Chemistry World">
            <a:extLst>
              <a:ext uri="{FF2B5EF4-FFF2-40B4-BE49-F238E27FC236}">
                <a16:creationId xmlns:a16="http://schemas.microsoft.com/office/drawing/2014/main" id="{24694280-078E-7445-C0A9-414138732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016" y="1267658"/>
            <a:ext cx="6244608" cy="3512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920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1D646-2E90-8C0A-2E2C-26053FE06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616148FB-B311-977A-9218-B0181FCACE9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The Evolution of the First Cells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E0EE37-FBE7-9D5A-1A3F-3938B53F2057}"/>
              </a:ext>
            </a:extLst>
          </p:cNvPr>
          <p:cNvSpPr txBox="1"/>
          <p:nvPr/>
        </p:nvSpPr>
        <p:spPr>
          <a:xfrm>
            <a:off x="4599296" y="1800952"/>
            <a:ext cx="7561176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How do we know this?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chemistry shows it’s possible,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biology shows traces of an RNA world still remain,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geology sets the timeline,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and comparative genomics shows what early cells must have had.</a:t>
            </a:r>
          </a:p>
          <a:p>
            <a:endParaRPr lang="en-US" sz="2400" dirty="0"/>
          </a:p>
        </p:txBody>
      </p:sp>
      <p:pic>
        <p:nvPicPr>
          <p:cNvPr id="5122" name="Picture 2" descr="Advanced Binocular Microscope For Labs | Home Science Tools">
            <a:extLst>
              <a:ext uri="{FF2B5EF4-FFF2-40B4-BE49-F238E27FC236}">
                <a16:creationId xmlns:a16="http://schemas.microsoft.com/office/drawing/2014/main" id="{DDCB7902-AB9A-8FCA-8698-6E03A499F4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147" y="1181384"/>
            <a:ext cx="3840991" cy="384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6271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AA03-176D-31CB-672B-ACD29FAB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DB36688F-10A4-BA0D-E82A-7287994357F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The Evolution of the First Cells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52AD2A-0630-6D41-3D12-93C95D8166BA}"/>
              </a:ext>
            </a:extLst>
          </p:cNvPr>
          <p:cNvSpPr txBox="1"/>
          <p:nvPr/>
        </p:nvSpPr>
        <p:spPr>
          <a:xfrm>
            <a:off x="6095999" y="1148064"/>
            <a:ext cx="5891285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Early Intelligence in Single-Celled Life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Single cells with proteins for: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Movement (propellers, motors)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Sensing (light, temperature, chemicals)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This resulted in behavior: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Move toward food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Avoid danger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Cells with adaptive behaviors had a better chance of survival and reproduction, and so came to outnumber those that did not.</a:t>
            </a:r>
          </a:p>
        </p:txBody>
      </p:sp>
      <p:pic>
        <p:nvPicPr>
          <p:cNvPr id="4100" name="Picture 4" descr="Can Single Cells Learn? | The Scientist">
            <a:extLst>
              <a:ext uri="{FF2B5EF4-FFF2-40B4-BE49-F238E27FC236}">
                <a16:creationId xmlns:a16="http://schemas.microsoft.com/office/drawing/2014/main" id="{7978BBEB-CD8F-4232-9CDE-38F0C8B36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16" y="1148064"/>
            <a:ext cx="5739050" cy="4017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2990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 uiExpand="1" build="p" bldLvl="2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5322-FA0C-0AE0-150E-56EA62D05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6FB26590-2145-899E-A58D-E6B30DB4B0C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The Evolution of the First Cells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01E8F3-FACB-278E-37BF-B020825619EC}"/>
              </a:ext>
            </a:extLst>
          </p:cNvPr>
          <p:cNvSpPr txBox="1"/>
          <p:nvPr/>
        </p:nvSpPr>
        <p:spPr>
          <a:xfrm>
            <a:off x="5741125" y="2031674"/>
            <a:ext cx="569560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DNA as Information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DNA = stable blueprint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RNA = messenger, helper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Proteins = machines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Central Dogma: DNA → RNA → Protein</a:t>
            </a:r>
          </a:p>
        </p:txBody>
      </p:sp>
      <p:pic>
        <p:nvPicPr>
          <p:cNvPr id="3074" name="Picture 2" descr="Central Dogma of Molecular Biology">
            <a:extLst>
              <a:ext uri="{FF2B5EF4-FFF2-40B4-BE49-F238E27FC236}">
                <a16:creationId xmlns:a16="http://schemas.microsoft.com/office/drawing/2014/main" id="{1D369AB0-3CDE-9D95-024C-85ACA744E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594" y="735162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90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2AB6-F1FC-661C-68F9-A8A94C85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C1786846-D5CF-D656-3446-306BACECDCA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482251" cy="735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rgbClr val="E84A27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latin typeface="Calibri"/>
                <a:cs typeface="Calibri"/>
              </a:rPr>
              <a:t>The Evolution of the First Cells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84AB11-99C5-8E80-F348-D81BA37224D1}"/>
              </a:ext>
            </a:extLst>
          </p:cNvPr>
          <p:cNvSpPr txBox="1"/>
          <p:nvPr/>
        </p:nvSpPr>
        <p:spPr>
          <a:xfrm>
            <a:off x="7902054" y="1843950"/>
            <a:ext cx="428994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LUCA: Last Universal Common Ancestor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~3.5 billion years ago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Shared by all life today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Features: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DNA, RNA, proteins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Lipid membranes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ATP metabolism</a:t>
            </a:r>
          </a:p>
        </p:txBody>
      </p:sp>
      <p:pic>
        <p:nvPicPr>
          <p:cNvPr id="2050" name="Picture 2" descr="Graphic showing life branching out into bacteria, eukaryotes and archaea from LUCA">
            <a:extLst>
              <a:ext uri="{FF2B5EF4-FFF2-40B4-BE49-F238E27FC236}">
                <a16:creationId xmlns:a16="http://schemas.microsoft.com/office/drawing/2014/main" id="{3340D297-5D8A-6F67-8FDC-2D6B9B4794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97"/>
          <a:stretch>
            <a:fillRect/>
          </a:stretch>
        </p:blipFill>
        <p:spPr bwMode="auto">
          <a:xfrm>
            <a:off x="387161" y="1173060"/>
            <a:ext cx="7323825" cy="4511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286904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Custom 5">
      <a:dk1>
        <a:srgbClr val="13284B"/>
      </a:dk1>
      <a:lt1>
        <a:srgbClr val="FFFFFF"/>
      </a:lt1>
      <a:dk2>
        <a:srgbClr val="1E3877"/>
      </a:dk2>
      <a:lt2>
        <a:srgbClr val="F8FAFC"/>
      </a:lt2>
      <a:accent1>
        <a:srgbClr val="FF552E"/>
      </a:accent1>
      <a:accent2>
        <a:srgbClr val="1D58A7"/>
      </a:accent2>
      <a:accent3>
        <a:srgbClr val="F5821E"/>
      </a:accent3>
      <a:accent4>
        <a:srgbClr val="009FD3"/>
      </a:accent4>
      <a:accent5>
        <a:srgbClr val="DD3403"/>
      </a:accent5>
      <a:accent6>
        <a:srgbClr val="D2D2D2"/>
      </a:accent6>
      <a:hlink>
        <a:srgbClr val="1D58A7"/>
      </a:hlink>
      <a:folHlink>
        <a:srgbClr val="DD3403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9" id="{EB6B2FBE-53CE-AE45-9D18-D10FBF4063E0}" vid="{7AC8A834-0896-8341-9AC3-2DE1C842C7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Custom Design</Template>
  <TotalTime>17512</TotalTime>
  <Words>3294</Words>
  <Application>Microsoft Macintosh PowerPoint</Application>
  <PresentationFormat>Widescreen</PresentationFormat>
  <Paragraphs>326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Georgia</vt:lpstr>
      <vt:lpstr>Wingdings</vt:lpstr>
      <vt:lpstr>Custom Design</vt:lpstr>
      <vt:lpstr>BCOG 100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Here</dc:title>
  <dc:creator>Willits, Jon Anthony</dc:creator>
  <cp:lastModifiedBy>Willits, Jon Anthony</cp:lastModifiedBy>
  <cp:revision>363</cp:revision>
  <dcterms:created xsi:type="dcterms:W3CDTF">2022-08-22T20:35:14Z</dcterms:created>
  <dcterms:modified xsi:type="dcterms:W3CDTF">2025-11-10T15:43:49Z</dcterms:modified>
</cp:coreProperties>
</file>