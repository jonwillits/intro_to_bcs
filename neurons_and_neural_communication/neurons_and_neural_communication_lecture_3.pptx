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notesMasterIdLst>
    <p:notesMasterId r:id="rId24"/>
  </p:notesMasterIdLst>
  <p:sldIdLst>
    <p:sldId id="256" r:id="rId2"/>
    <p:sldId id="331" r:id="rId3"/>
    <p:sldId id="310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4A27"/>
    <a:srgbClr val="131F33"/>
    <a:srgbClr val="1329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68"/>
    <p:restoredTop sz="53371"/>
  </p:normalViewPr>
  <p:slideViewPr>
    <p:cSldViewPr snapToGrid="0" snapToObjects="1">
      <p:cViewPr varScale="1">
        <p:scale>
          <a:sx n="76" d="100"/>
          <a:sy n="76" d="100"/>
        </p:scale>
        <p:origin x="1656" y="192"/>
      </p:cViewPr>
      <p:guideLst>
        <p:guide orient="horz" pos="2160"/>
        <p:guide pos="3840"/>
      </p:guideLst>
    </p:cSldViewPr>
  </p:slideViewPr>
  <p:notesTextViewPr>
    <p:cViewPr>
      <p:scale>
        <a:sx n="140" d="100"/>
        <a:sy n="14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FD3E08-CD1E-6345-BF3D-6B539ADC1145}" type="datetimeFigureOut">
              <a:rPr lang="en-US" smtClean="0"/>
              <a:t>9/27/25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32C59-1409-2640-866F-4A1083575A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375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6790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time, we saw how neurons evolved and how they work — </a:t>
            </a:r>
          </a:p>
          <a:p>
            <a:r>
              <a:rPr lang="en-US" dirty="0"/>
              <a:t>spikes, synapses, neurotransmitters, and the balance of excitation and inhibition.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Today, we’re going to take the next step in the story: how those neurons became organized into </a:t>
            </a:r>
            <a:r>
              <a:rPr lang="en-US" b="1" dirty="0"/>
              <a:t>brains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Our roadmap:</a:t>
            </a:r>
          </a:p>
          <a:p>
            <a:r>
              <a:rPr lang="en-US" dirty="0"/>
              <a:t>We’ll look at how the first complex nervous systems were simple neural networks, without a lot of structure or organization.</a:t>
            </a:r>
          </a:p>
          <a:p>
            <a:r>
              <a:rPr lang="en-US" dirty="0"/>
              <a:t>Then, we’ll look at how body plans — radial vs. bilateral symmetry — </a:t>
            </a:r>
          </a:p>
          <a:p>
            <a:r>
              <a:rPr lang="en-US" dirty="0"/>
              <a:t>created new opportunities for steering and decision-making, but required more organized neural structure.</a:t>
            </a:r>
          </a:p>
          <a:p>
            <a:r>
              <a:rPr lang="en-US" dirty="0"/>
              <a:t>Then, we’ll explore simple brains, using worms as a model.</a:t>
            </a:r>
          </a:p>
          <a:p>
            <a:r>
              <a:rPr lang="en-US" dirty="0"/>
              <a:t>We’ll talk about the idea of </a:t>
            </a:r>
            <a:r>
              <a:rPr lang="en-US" b="1" dirty="0"/>
              <a:t>valence</a:t>
            </a:r>
            <a:r>
              <a:rPr lang="en-US" dirty="0"/>
              <a:t> — good vs. bad signals — and how internal states like hunger shift behavior.</a:t>
            </a:r>
          </a:p>
          <a:p>
            <a:r>
              <a:rPr lang="en-US" dirty="0"/>
              <a:t>We’ll look at </a:t>
            </a:r>
            <a:r>
              <a:rPr lang="en-US" b="1" dirty="0"/>
              <a:t>neurotransmitters</a:t>
            </a:r>
            <a:r>
              <a:rPr lang="en-US" dirty="0"/>
              <a:t> not just in worms, but also in humans — how the same chemicals shape our moods, motivations, and even mental health disorders.</a:t>
            </a:r>
          </a:p>
          <a:p>
            <a:r>
              <a:rPr lang="en-US" dirty="0"/>
              <a:t>Finally, we’ll end with a preview of next week: how circuits of neurons can actually implement logic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6931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34809-F69F-0D48-97F8-9CF76A5308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340" y="1122363"/>
            <a:ext cx="5785769" cy="2387600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Title Here:</a:t>
            </a:r>
            <a:b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</a:br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Tell Your</a:t>
            </a:r>
            <a:b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</a:br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Illinois Story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A99F5-1DAB-644E-87BD-7B2BE337D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1340" y="3602038"/>
            <a:ext cx="5785769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E86B4-4E28-5743-B958-4D04BD329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9BA8F-BF67-344F-9BFA-A8262A79BC8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537075" y="5718264"/>
            <a:ext cx="3117850" cy="807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320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B210D-E74D-9F46-BBEB-61CE8DBFB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7874" y="6095093"/>
            <a:ext cx="2743200" cy="365125"/>
          </a:xfrm>
        </p:spPr>
        <p:txBody>
          <a:bodyPr/>
          <a:lstStyle/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26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C4261-61FB-7142-9417-2F78D3797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23" y="365125"/>
            <a:ext cx="9614263" cy="1325563"/>
          </a:xfrm>
        </p:spPr>
        <p:txBody>
          <a:bodyPr/>
          <a:lstStyle>
            <a:lvl1pPr algn="ctr">
              <a:defRPr b="1" i="0">
                <a:solidFill>
                  <a:srgbClr val="E84A27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dirty="0"/>
              <a:t>Hello.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12F32-5110-BE43-86BA-CB778EC42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823" y="1690688"/>
            <a:ext cx="9614263" cy="3625895"/>
          </a:xfrm>
        </p:spPr>
        <p:txBody>
          <a:bodyPr/>
          <a:lstStyle>
            <a:lvl1pPr>
              <a:defRPr>
                <a:solidFill>
                  <a:srgbClr val="13294B"/>
                </a:solidFill>
              </a:defRPr>
            </a:lvl1pPr>
            <a:lvl2pPr>
              <a:defRPr>
                <a:solidFill>
                  <a:srgbClr val="13294B"/>
                </a:solidFill>
              </a:defRPr>
            </a:lvl2pPr>
            <a:lvl3pPr>
              <a:defRPr>
                <a:solidFill>
                  <a:srgbClr val="13294B"/>
                </a:solidFill>
              </a:defRPr>
            </a:lvl3pPr>
            <a:lvl4pPr>
              <a:defRPr>
                <a:solidFill>
                  <a:srgbClr val="13294B"/>
                </a:solidFill>
              </a:defRPr>
            </a:lvl4pPr>
            <a:lvl5pPr>
              <a:defRPr>
                <a:solidFill>
                  <a:srgbClr val="13294B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96323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26ADA6-32C7-6D47-94AB-D149FA9C1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FDBC8-5F1C-654A-9325-61F424413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1FB5C-A5C2-4C44-A9DF-4F6A196EC0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8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E84A27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3294B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3294B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3294B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3294B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3294B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55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83CDB9E-798C-A842-B031-6BFA04385C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99571" y="773546"/>
            <a:ext cx="5935859" cy="272025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10000" dirty="0">
                <a:latin typeface="Calibri"/>
                <a:cs typeface="Calibri"/>
              </a:rPr>
              <a:t>BCOG 100</a:t>
            </a:r>
            <a:endParaRPr lang="en-US" sz="10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2F9A5BC-DE40-064D-98AE-B1AA2F274302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3017406" y="3472201"/>
            <a:ext cx="8283862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Calibri"/>
                <a:cs typeface="Calibri"/>
              </a:rPr>
              <a:t>The Evolution of Neurons</a:t>
            </a:r>
          </a:p>
          <a:p>
            <a:pPr marL="0" indent="0" algn="ctr">
              <a:buNone/>
            </a:pPr>
            <a:r>
              <a:rPr lang="en-US" dirty="0">
                <a:latin typeface="Calibri"/>
                <a:cs typeface="Calibri"/>
              </a:rPr>
              <a:t>Lecture 3: From Neurons to Brains and Behavior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87BCB3F-D51B-11CA-8A5C-B653C02DD655}"/>
              </a:ext>
            </a:extLst>
          </p:cNvPr>
          <p:cNvSpPr/>
          <p:nvPr/>
        </p:nvSpPr>
        <p:spPr>
          <a:xfrm>
            <a:off x="443346" y="1263072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96C562F-8F13-2516-D9AF-45E75A96A3C5}"/>
              </a:ext>
            </a:extLst>
          </p:cNvPr>
          <p:cNvSpPr/>
          <p:nvPr/>
        </p:nvSpPr>
        <p:spPr>
          <a:xfrm>
            <a:off x="1505528" y="3248890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2052EBC-2E12-F996-BB1F-41F23E64F1BE}"/>
              </a:ext>
            </a:extLst>
          </p:cNvPr>
          <p:cNvSpPr/>
          <p:nvPr/>
        </p:nvSpPr>
        <p:spPr>
          <a:xfrm>
            <a:off x="443345" y="3318162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A4D7291-4D5A-9593-1D85-950EBFC1FF07}"/>
              </a:ext>
            </a:extLst>
          </p:cNvPr>
          <p:cNvSpPr/>
          <p:nvPr/>
        </p:nvSpPr>
        <p:spPr>
          <a:xfrm>
            <a:off x="443346" y="5246253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E91675-03DF-90EE-942D-06C70F754DEE}"/>
              </a:ext>
            </a:extLst>
          </p:cNvPr>
          <p:cNvCxnSpPr/>
          <p:nvPr/>
        </p:nvCxnSpPr>
        <p:spPr>
          <a:xfrm>
            <a:off x="867642" y="2172278"/>
            <a:ext cx="1052944" cy="111067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2D74029-D6FE-2938-F6DF-602FCD9AA658}"/>
              </a:ext>
            </a:extLst>
          </p:cNvPr>
          <p:cNvCxnSpPr>
            <a:cxnSpLocks/>
          </p:cNvCxnSpPr>
          <p:nvPr/>
        </p:nvCxnSpPr>
        <p:spPr>
          <a:xfrm>
            <a:off x="879187" y="2172278"/>
            <a:ext cx="25400" cy="11799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831A33E-2612-45D1-F1F0-57371C01F8AB}"/>
              </a:ext>
            </a:extLst>
          </p:cNvPr>
          <p:cNvSpPr/>
          <p:nvPr/>
        </p:nvSpPr>
        <p:spPr>
          <a:xfrm>
            <a:off x="1505528" y="5246253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565D7F4-2920-5911-7086-757F822A07E3}"/>
              </a:ext>
            </a:extLst>
          </p:cNvPr>
          <p:cNvSpPr/>
          <p:nvPr/>
        </p:nvSpPr>
        <p:spPr>
          <a:xfrm>
            <a:off x="2694709" y="5246252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E6F4CE-E239-70EB-26D3-C8CB8E270185}"/>
              </a:ext>
            </a:extLst>
          </p:cNvPr>
          <p:cNvCxnSpPr>
            <a:cxnSpLocks/>
          </p:cNvCxnSpPr>
          <p:nvPr/>
        </p:nvCxnSpPr>
        <p:spPr>
          <a:xfrm>
            <a:off x="1941369" y="4169641"/>
            <a:ext cx="1168399" cy="108758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727C65-F6C0-78C9-A469-40AAD8018B82}"/>
              </a:ext>
            </a:extLst>
          </p:cNvPr>
          <p:cNvCxnSpPr>
            <a:cxnSpLocks/>
          </p:cNvCxnSpPr>
          <p:nvPr/>
        </p:nvCxnSpPr>
        <p:spPr>
          <a:xfrm flipH="1">
            <a:off x="1955223" y="4158096"/>
            <a:ext cx="9238" cy="108758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A7C2072-1E04-8B83-DAA8-B48C97536A6F}"/>
              </a:ext>
            </a:extLst>
          </p:cNvPr>
          <p:cNvCxnSpPr>
            <a:cxnSpLocks/>
          </p:cNvCxnSpPr>
          <p:nvPr/>
        </p:nvCxnSpPr>
        <p:spPr>
          <a:xfrm>
            <a:off x="890732" y="4227368"/>
            <a:ext cx="13855" cy="101831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583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CB9E45-42E1-51E0-9F59-9C62EC4158C4}"/>
              </a:ext>
            </a:extLst>
          </p:cNvPr>
          <p:cNvSpPr txBox="1"/>
          <p:nvPr/>
        </p:nvSpPr>
        <p:spPr>
          <a:xfrm>
            <a:off x="2067951" y="1730326"/>
            <a:ext cx="669965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Reading Check 4-3</a:t>
            </a:r>
          </a:p>
          <a:p>
            <a:endParaRPr lang="en-US" sz="3200" dirty="0"/>
          </a:p>
          <a:p>
            <a:r>
              <a:rPr lang="en-US" sz="3200" b="1" dirty="0"/>
              <a:t>Password</a:t>
            </a:r>
            <a:r>
              <a:rPr lang="en-US" sz="3200" dirty="0"/>
              <a:t>: potential</a:t>
            </a:r>
          </a:p>
          <a:p>
            <a:endParaRPr lang="en-US" sz="3200" dirty="0"/>
          </a:p>
          <a:p>
            <a:r>
              <a:rPr lang="en-US" sz="3200" b="1" dirty="0"/>
              <a:t>Question</a:t>
            </a:r>
            <a:r>
              <a:rPr lang="en-US" sz="3200" dirty="0"/>
              <a:t>: How’s the class going so far?</a:t>
            </a:r>
          </a:p>
        </p:txBody>
      </p:sp>
    </p:spTree>
    <p:extLst>
      <p:ext uri="{BB962C8B-B14F-4D97-AF65-F5344CB8AC3E}">
        <p14:creationId xmlns:p14="http://schemas.microsoft.com/office/powerpoint/2010/main" val="734412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4B2CA281-11FA-A27B-CD7A-9F443FAEA4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From Neurons to Brains and Behavior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92D8F-BC67-D36F-DFAC-BB3167810E94}"/>
              </a:ext>
            </a:extLst>
          </p:cNvPr>
          <p:cNvSpPr txBox="1"/>
          <p:nvPr/>
        </p:nvSpPr>
        <p:spPr>
          <a:xfrm>
            <a:off x="799548" y="1287347"/>
            <a:ext cx="61275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Last Time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Why animals evolved neurons, and what they could do with them</a:t>
            </a:r>
          </a:p>
          <a:p>
            <a:endParaRPr lang="en-US" sz="2800" b="1" dirty="0"/>
          </a:p>
          <a:p>
            <a:r>
              <a:rPr lang="en-US" sz="2800" b="1" dirty="0"/>
              <a:t>Today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Neural nets to neural circuits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Radial vs. bilateral body plans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Steering and simple brains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Valence &amp; internal states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Neurotransmitters in behavior</a:t>
            </a:r>
          </a:p>
        </p:txBody>
      </p:sp>
    </p:spTree>
    <p:extLst>
      <p:ext uri="{BB962C8B-B14F-4D97-AF65-F5344CB8AC3E}">
        <p14:creationId xmlns:p14="http://schemas.microsoft.com/office/powerpoint/2010/main" val="210600122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Custom 5">
      <a:dk1>
        <a:srgbClr val="13284B"/>
      </a:dk1>
      <a:lt1>
        <a:srgbClr val="FFFFFF"/>
      </a:lt1>
      <a:dk2>
        <a:srgbClr val="1E3877"/>
      </a:dk2>
      <a:lt2>
        <a:srgbClr val="F8FAFC"/>
      </a:lt2>
      <a:accent1>
        <a:srgbClr val="FF552E"/>
      </a:accent1>
      <a:accent2>
        <a:srgbClr val="1D58A7"/>
      </a:accent2>
      <a:accent3>
        <a:srgbClr val="F5821E"/>
      </a:accent3>
      <a:accent4>
        <a:srgbClr val="009FD3"/>
      </a:accent4>
      <a:accent5>
        <a:srgbClr val="DD3403"/>
      </a:accent5>
      <a:accent6>
        <a:srgbClr val="D2D2D2"/>
      </a:accent6>
      <a:hlink>
        <a:srgbClr val="1D58A7"/>
      </a:hlink>
      <a:folHlink>
        <a:srgbClr val="DD3403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9" id="{EB6B2FBE-53CE-AE45-9D18-D10FBF4063E0}" vid="{7AC8A834-0896-8341-9AC3-2DE1C842C7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Custom Design</Template>
  <TotalTime>19012</TotalTime>
  <Words>3869</Words>
  <Application>Microsoft Macintosh PowerPoint</Application>
  <PresentationFormat>Widescreen</PresentationFormat>
  <Paragraphs>466</Paragraphs>
  <Slides>22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Custom Design</vt:lpstr>
      <vt:lpstr>BCOG 100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Here</dc:title>
  <dc:creator>Willits, Jon Anthony</dc:creator>
  <cp:lastModifiedBy>Willits, Jon Anthony</cp:lastModifiedBy>
  <cp:revision>374</cp:revision>
  <dcterms:created xsi:type="dcterms:W3CDTF">2022-08-22T20:35:14Z</dcterms:created>
  <dcterms:modified xsi:type="dcterms:W3CDTF">2025-09-29T14:28:48Z</dcterms:modified>
</cp:coreProperties>
</file>