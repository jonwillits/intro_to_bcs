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18"/>
  </p:notesMasterIdLst>
  <p:sldIdLst>
    <p:sldId id="256" r:id="rId2"/>
    <p:sldId id="326" r:id="rId3"/>
    <p:sldId id="310" r:id="rId4"/>
    <p:sldId id="312" r:id="rId5"/>
    <p:sldId id="323" r:id="rId15"/>
    <p:sldId id="324" r:id="rId16"/>
    <p:sldId id="32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F33"/>
    <a:srgbClr val="E84A27"/>
    <a:srgbClr val="1329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3"/>
    <p:restoredTop sz="66348"/>
  </p:normalViewPr>
  <p:slideViewPr>
    <p:cSldViewPr snapToGrid="0" snapToObjects="1">
      <p:cViewPr varScale="1">
        <p:scale>
          <a:sx n="97" d="100"/>
          <a:sy n="97" d="100"/>
        </p:scale>
        <p:origin x="1096" y="240"/>
      </p:cViewPr>
      <p:guideLst>
        <p:guide orient="horz" pos="2160"/>
        <p:guide pos="3840"/>
      </p:guideLst>
    </p:cSldViewPr>
  </p:slideViewPr>
  <p:notesTextViewPr>
    <p:cViewPr>
      <p:scale>
        <a:sx n="140" d="100"/>
        <a:sy n="14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D3E08-CD1E-6345-BF3D-6B539ADC1145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32C59-1409-2640-866F-4A1083575A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7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dirty="0"/>
              <a:t>Today we’re starting a new arc in the course: building up the human brain from an evolutionary perspective. </a:t>
            </a:r>
          </a:p>
          <a:p>
            <a:r>
              <a:rPr lang="en-US" dirty="0"/>
              <a:t>Until now we’ve been asking big philosophical and methodological questions — what counts as knowledge, what logic is, how science works. Now we’re going to pivot into biology.</a:t>
            </a:r>
          </a:p>
          <a:p>
            <a:endParaRPr lang="en-US" dirty="0"/>
          </a:p>
          <a:p>
            <a:r>
              <a:rPr lang="en-US" dirty="0"/>
              <a:t>Why? Because brains are biological organs, and cognition is built on biology.</a:t>
            </a:r>
          </a:p>
          <a:p>
            <a:r>
              <a:rPr lang="en-US" dirty="0"/>
              <a:t> To understand how the human mind works, we need to know where brains came from and why they’re designed the way they are.</a:t>
            </a:r>
          </a:p>
          <a:p>
            <a:endParaRPr lang="en-US" dirty="0"/>
          </a:p>
          <a:p>
            <a:r>
              <a:rPr lang="en-US" dirty="0"/>
              <a:t>So in today’s lecture, we’ll start with the very basics: how evolution by natural selection works, how life began, and how even simple cells had surprisingly intelligent behaviors. </a:t>
            </a:r>
          </a:p>
          <a:p>
            <a:r>
              <a:rPr lang="en-US" dirty="0"/>
              <a:t>We’ll then talk about a major dilemma that all life on Earth faced, and how the evolution of the neuron was a solution that some organisms took to solve this problem.</a:t>
            </a:r>
          </a:p>
          <a:p>
            <a:r>
              <a:rPr lang="en-US" dirty="0"/>
              <a:t>This will set the stage for neurons, and later for brains and cognition.”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931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9E1-5A09-547E-8FAC-46F7BE6A7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DC4D5-FB6F-F2DB-8472-C4594E1AF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2BFDF-1949-D18C-C867-99C5033EB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are we pausing on biology in a cognitive science course? </a:t>
            </a:r>
          </a:p>
          <a:p>
            <a:r>
              <a:rPr lang="en-US" dirty="0"/>
              <a:t>Because cognition isn’t abstract — it runs on brains, and brains are biological organs.</a:t>
            </a:r>
          </a:p>
          <a:p>
            <a:endParaRPr lang="en-US" dirty="0"/>
          </a:p>
          <a:p>
            <a:r>
              <a:rPr lang="en-US" dirty="0"/>
              <a:t>Evolution shaped how brains work: what they can do really well, where they have limitations, and why they look the way they do.</a:t>
            </a:r>
          </a:p>
          <a:p>
            <a:r>
              <a:rPr lang="en-US" dirty="0"/>
              <a:t>Just like an engineer can’t build a plane out of anything but the materials available, evolution couldn’t build minds out of anything except cells, neurons, and proteins.</a:t>
            </a:r>
          </a:p>
          <a:p>
            <a:endParaRPr lang="en-US" dirty="0"/>
          </a:p>
          <a:p>
            <a:r>
              <a:rPr lang="en-US" dirty="0"/>
              <a:t>By understanding the biological constraints and tradeoffs evolution imposed, we get insight into why human cognition has certain features: </a:t>
            </a:r>
          </a:p>
          <a:p>
            <a:r>
              <a:rPr lang="en-US" dirty="0"/>
              <a:t>why we can reason in some ways but not others, </a:t>
            </a:r>
          </a:p>
          <a:p>
            <a:r>
              <a:rPr lang="en-US" dirty="0"/>
              <a:t>why memory is organized the way it is, </a:t>
            </a:r>
          </a:p>
          <a:p>
            <a:r>
              <a:rPr lang="en-US" dirty="0"/>
              <a:t>and why perception works the way it does.</a:t>
            </a:r>
          </a:p>
          <a:p>
            <a:endParaRPr lang="en-US" dirty="0"/>
          </a:p>
          <a:p>
            <a:r>
              <a:rPr lang="en-US" dirty="0"/>
              <a:t>In other words, biology doesn’t just tell us </a:t>
            </a:r>
            <a:r>
              <a:rPr lang="en-US" i="1" dirty="0"/>
              <a:t>how</a:t>
            </a:r>
            <a:r>
              <a:rPr lang="en-US" dirty="0"/>
              <a:t> brains work — it also tells us </a:t>
            </a:r>
            <a:r>
              <a:rPr lang="en-US" i="1" dirty="0"/>
              <a:t>why</a:t>
            </a:r>
            <a:r>
              <a:rPr lang="en-US" dirty="0"/>
              <a:t> they work the way they do.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1726E-DECA-0AD2-7BB6-690E2BA58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5055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41673-D346-3BB0-D09C-D177C6040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E44D62-B6C1-1689-2769-EA474878E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3B396B-ECD6-A714-041B-AB56AF8A8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living cells run on the same battery molecule: </a:t>
            </a:r>
            <a:r>
              <a:rPr lang="en-US" b="1" dirty="0"/>
              <a:t>ATP — adenosine triphosphate.</a:t>
            </a:r>
            <a:r>
              <a:rPr lang="en-US" dirty="0"/>
              <a:t> </a:t>
            </a:r>
          </a:p>
          <a:p>
            <a:r>
              <a:rPr lang="en-US" dirty="0"/>
              <a:t>Cells make ATP and then spend it to power everything: repairing DNA, building proteins, moving, dividing.</a:t>
            </a:r>
          </a:p>
          <a:p>
            <a:endParaRPr lang="en-US" dirty="0"/>
          </a:p>
          <a:p>
            <a:r>
              <a:rPr lang="en-US" dirty="0"/>
              <a:t>How did the first cells make ATP? Early life used </a:t>
            </a:r>
            <a:r>
              <a:rPr lang="en-US" b="1" dirty="0"/>
              <a:t>hydrogen gas (H₂)</a:t>
            </a:r>
            <a:r>
              <a:rPr lang="en-US" dirty="0"/>
              <a:t> as a fuel.</a:t>
            </a:r>
          </a:p>
          <a:p>
            <a:r>
              <a:rPr lang="en-US" dirty="0"/>
              <a:t>Here’s how that worked:</a:t>
            </a:r>
          </a:p>
          <a:p>
            <a:r>
              <a:rPr lang="en-US" dirty="0"/>
              <a:t>	Hydrogen (H2) electrons don’t bind very tightly.</a:t>
            </a:r>
          </a:p>
          <a:p>
            <a:r>
              <a:rPr lang="en-US" dirty="0"/>
              <a:t>	When those electrons were transferred to other molecules that held them more tightly, the ‘fall’ releases energy.</a:t>
            </a:r>
          </a:p>
          <a:p>
            <a:r>
              <a:rPr lang="en-US" dirty="0"/>
              <a:t>	Cells captured that energy by pumping protons (H⁺) across their membranes — like storing water behind a dam.</a:t>
            </a:r>
          </a:p>
          <a:p>
            <a:r>
              <a:rPr lang="en-US" dirty="0"/>
              <a:t>	As protons flowed back in, a protein machine called </a:t>
            </a:r>
            <a:r>
              <a:rPr lang="en-US" b="1" dirty="0"/>
              <a:t>ATP synthase</a:t>
            </a:r>
            <a:r>
              <a:rPr lang="en-US" dirty="0"/>
              <a:t> spun like a turbine, using that flow to make ATP.</a:t>
            </a:r>
          </a:p>
          <a:p>
            <a:endParaRPr lang="en-US" dirty="0"/>
          </a:p>
          <a:p>
            <a:r>
              <a:rPr lang="en-US" dirty="0"/>
              <a:t>It worked, but it wasn’t very efficient. Cells were always starved for energy.</a:t>
            </a:r>
          </a:p>
          <a:p>
            <a:endParaRPr lang="en-US" dirty="0"/>
          </a:p>
          <a:p>
            <a:r>
              <a:rPr lang="en-US" dirty="0"/>
              <a:t>Then came </a:t>
            </a:r>
            <a:r>
              <a:rPr lang="en-US" b="1" dirty="0"/>
              <a:t>photosynthesis.</a:t>
            </a:r>
            <a:r>
              <a:rPr lang="en-US" dirty="0"/>
              <a:t> </a:t>
            </a:r>
          </a:p>
          <a:p>
            <a:r>
              <a:rPr lang="en-US" dirty="0"/>
              <a:t>Some microbes figured out how to capture sunlight directly, use it to split water, and build sugars from carbon dioxide.</a:t>
            </a:r>
          </a:p>
          <a:p>
            <a:r>
              <a:rPr lang="en-US" dirty="0"/>
              <a:t>Those sugars could then be broken down to make much more ATP.</a:t>
            </a:r>
          </a:p>
          <a:p>
            <a:endParaRPr lang="en-US" dirty="0"/>
          </a:p>
          <a:p>
            <a:r>
              <a:rPr lang="en-US" dirty="0"/>
              <a:t>This was revolutionary: suddenly life had a powerful and renewable energy source. </a:t>
            </a:r>
          </a:p>
          <a:p>
            <a:r>
              <a:rPr lang="en-US" dirty="0"/>
              <a:t>Cells could produce ATP far more efficiently, which opened the door to greater complexity.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55445-B4BE-C7BE-CD34-ED85444A8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237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CAAC1-F97F-81DF-146B-C54B912F6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16365B-829B-9E2C-6257-8957EA15F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4091B-C691-900A-2C25-86D13E7A6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Photosynthesis didn’t just create sugars — it also produced </a:t>
            </a:r>
            <a:r>
              <a:rPr lang="en-US" b="1" dirty="0"/>
              <a:t>oxygen gas (O₂)</a:t>
            </a:r>
            <a:r>
              <a:rPr lang="en-US" dirty="0"/>
              <a:t> as waste.</a:t>
            </a:r>
          </a:p>
          <a:p>
            <a:endParaRPr lang="en-US" dirty="0"/>
          </a:p>
          <a:p>
            <a:r>
              <a:rPr lang="en-US" dirty="0"/>
              <a:t>At first, this was catastrophic. </a:t>
            </a:r>
          </a:p>
          <a:p>
            <a:r>
              <a:rPr lang="en-US" dirty="0"/>
              <a:t>Oxygen is extremely reactive, so it damaged DNA and proteins. </a:t>
            </a:r>
          </a:p>
          <a:p>
            <a:r>
              <a:rPr lang="en-US" dirty="0"/>
              <a:t>Many microbes couldn’t survive it. This led to one of Earth’s first mass extinctions, sometimes called the ‘Oxygen Holocaust.’</a:t>
            </a:r>
          </a:p>
          <a:p>
            <a:endParaRPr lang="en-US" dirty="0"/>
          </a:p>
          <a:p>
            <a:r>
              <a:rPr lang="en-US" dirty="0"/>
              <a:t>But oxygen also created an enormous opportunity. Why? Because oxygen is a </a:t>
            </a:r>
            <a:r>
              <a:rPr lang="en-US" b="1" dirty="0"/>
              <a:t>very strong electron acceptor.</a:t>
            </a:r>
            <a:endParaRPr lang="en-US" dirty="0"/>
          </a:p>
          <a:p>
            <a:endParaRPr lang="en-US" dirty="0"/>
          </a:p>
          <a:p>
            <a:r>
              <a:rPr lang="en-US" dirty="0"/>
              <a:t>Remember: early cells made ATP by transferring electrons from fuels like hydrogen to other molecules that grabbed them more tightly. </a:t>
            </a:r>
          </a:p>
          <a:p>
            <a:r>
              <a:rPr lang="en-US" dirty="0"/>
              <a:t>Oxygen grabs electrons more strongly than almost anything else. </a:t>
            </a:r>
          </a:p>
          <a:p>
            <a:r>
              <a:rPr lang="en-US" dirty="0"/>
              <a:t>That means electrons ‘fall’ further, releasing much more energy.</a:t>
            </a:r>
          </a:p>
          <a:p>
            <a:endParaRPr lang="en-US" dirty="0"/>
          </a:p>
          <a:p>
            <a:r>
              <a:rPr lang="en-US" dirty="0"/>
              <a:t>Cells that figured out how to use oxygen could suddenly make about </a:t>
            </a:r>
            <a:r>
              <a:rPr lang="en-US" b="1" dirty="0"/>
              <a:t>15 times more ATP</a:t>
            </a:r>
            <a:r>
              <a:rPr lang="en-US" dirty="0"/>
              <a:t> from the same amount of fuel. </a:t>
            </a:r>
          </a:p>
          <a:p>
            <a:r>
              <a:rPr lang="en-US" dirty="0"/>
              <a:t>That huge energy boost gave them the capacity for bigger, more active, and more complex forms of life.</a:t>
            </a:r>
          </a:p>
          <a:p>
            <a:endParaRPr lang="en-US" dirty="0"/>
          </a:p>
          <a:p>
            <a:r>
              <a:rPr lang="en-US" dirty="0"/>
              <a:t>So oxygen was both poison and opportunity: it killed many lineages, but it powered the rise of life forms that would eventually lead to neurons and brains.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5B0209-5C50-1764-774E-923F93550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5717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5AF7A-A432-02F2-B1DB-CB9CD70C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624F2D-1AFF-E01F-D16F-EA401C470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FC1E35-CFD9-C104-CA87-118BD19AA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Photosynthesis didn’t just create sugars — it also produced </a:t>
            </a:r>
            <a:r>
              <a:rPr lang="en-US" b="1" dirty="0"/>
              <a:t>oxygen gas (O₂)</a:t>
            </a:r>
            <a:r>
              <a:rPr lang="en-US" dirty="0"/>
              <a:t> as waste.</a:t>
            </a:r>
          </a:p>
          <a:p>
            <a:endParaRPr lang="en-US" dirty="0"/>
          </a:p>
          <a:p>
            <a:r>
              <a:rPr lang="en-US" dirty="0"/>
              <a:t>At first, this was catastrophic. </a:t>
            </a:r>
          </a:p>
          <a:p>
            <a:r>
              <a:rPr lang="en-US" dirty="0"/>
              <a:t>Oxygen is extremely reactive, so it damaged DNA and proteins. </a:t>
            </a:r>
          </a:p>
          <a:p>
            <a:r>
              <a:rPr lang="en-US" dirty="0"/>
              <a:t>Many microbes couldn’t survive it. This led to one of Earth’s first mass extinctions, sometimes called the ‘Oxygen Holocaust.’</a:t>
            </a:r>
          </a:p>
          <a:p>
            <a:endParaRPr lang="en-US" dirty="0"/>
          </a:p>
          <a:p>
            <a:r>
              <a:rPr lang="en-US" dirty="0"/>
              <a:t>But oxygen also created an enormous opportunity. Why? Because oxygen is a </a:t>
            </a:r>
            <a:r>
              <a:rPr lang="en-US" b="1" dirty="0"/>
              <a:t>very strong electron acceptor.</a:t>
            </a:r>
            <a:endParaRPr lang="en-US" dirty="0"/>
          </a:p>
          <a:p>
            <a:endParaRPr lang="en-US" dirty="0"/>
          </a:p>
          <a:p>
            <a:r>
              <a:rPr lang="en-US" dirty="0"/>
              <a:t>Remember: early cells made ATP by transferring electrons from fuels like hydrogen to other molecules that grabbed them more tightly. </a:t>
            </a:r>
          </a:p>
          <a:p>
            <a:r>
              <a:rPr lang="en-US" dirty="0"/>
              <a:t>Oxygen grabs electrons more strongly than almost anything else. </a:t>
            </a:r>
          </a:p>
          <a:p>
            <a:r>
              <a:rPr lang="en-US" dirty="0"/>
              <a:t>That means electrons ‘fall’ further, releasing much more energy.</a:t>
            </a:r>
          </a:p>
          <a:p>
            <a:endParaRPr lang="en-US" dirty="0"/>
          </a:p>
          <a:p>
            <a:r>
              <a:rPr lang="en-US" dirty="0"/>
              <a:t>Cells that figured out how to use oxygen could suddenly make about </a:t>
            </a:r>
            <a:r>
              <a:rPr lang="en-US" b="1" dirty="0"/>
              <a:t>15 times more ATP</a:t>
            </a:r>
            <a:r>
              <a:rPr lang="en-US" dirty="0"/>
              <a:t> from the same amount of fuel. </a:t>
            </a:r>
          </a:p>
          <a:p>
            <a:r>
              <a:rPr lang="en-US" dirty="0"/>
              <a:t>That huge energy boost gave them the capacity for bigger, more active, and more complex forms of life.</a:t>
            </a:r>
          </a:p>
          <a:p>
            <a:endParaRPr lang="en-US" dirty="0"/>
          </a:p>
          <a:p>
            <a:r>
              <a:rPr lang="en-US" dirty="0"/>
              <a:t>So oxygen was both poison and opportunity: it killed many lineages, but it powered the rise of life forms that would eventually lead to neurons and brains.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9E3DD-DDC7-E423-5BCF-C25906429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860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4809-F69F-0D48-97F8-9CF76A5308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340" y="1122363"/>
            <a:ext cx="5785769" cy="2387600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Title Here: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Tell Your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Illinois Story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A99F5-1DAB-644E-87BD-7B2BE337D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1340" y="3602038"/>
            <a:ext cx="5785769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E86B4-4E28-5743-B958-4D04BD32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9BA8F-BF67-344F-9BFA-A8262A79BC8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37075" y="5718264"/>
            <a:ext cx="3117850" cy="80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320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B210D-E74D-9F46-BBEB-61CE8DBFB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7874" y="6095093"/>
            <a:ext cx="2743200" cy="365125"/>
          </a:xfrm>
        </p:spPr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C4261-61FB-7142-9417-2F78D3797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23" y="365125"/>
            <a:ext cx="9614263" cy="1325563"/>
          </a:xfrm>
        </p:spPr>
        <p:txBody>
          <a:bodyPr/>
          <a:lstStyle>
            <a:lvl1pPr algn="ctr">
              <a:defRPr b="1" i="0">
                <a:solidFill>
                  <a:srgbClr val="E84A27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Hello.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12F32-5110-BE43-86BA-CB778EC42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823" y="1690688"/>
            <a:ext cx="9614263" cy="3625895"/>
          </a:xfrm>
        </p:spPr>
        <p:txBody>
          <a:bodyPr/>
          <a:lstStyle>
            <a:lvl1pPr>
              <a:defRPr>
                <a:solidFill>
                  <a:srgbClr val="13294B"/>
                </a:solidFill>
              </a:defRPr>
            </a:lvl1pPr>
            <a:lvl2pPr>
              <a:defRPr>
                <a:solidFill>
                  <a:srgbClr val="13294B"/>
                </a:solidFill>
              </a:defRPr>
            </a:lvl2pPr>
            <a:lvl3pPr>
              <a:defRPr>
                <a:solidFill>
                  <a:srgbClr val="13294B"/>
                </a:solidFill>
              </a:defRPr>
            </a:lvl3pPr>
            <a:lvl4pPr>
              <a:defRPr>
                <a:solidFill>
                  <a:srgbClr val="13294B"/>
                </a:solidFill>
              </a:defRPr>
            </a:lvl4pPr>
            <a:lvl5pPr>
              <a:defRPr>
                <a:solidFill>
                  <a:srgbClr val="13294B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963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26ADA6-32C7-6D47-94AB-D149FA9C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FDBC8-5F1C-654A-9325-61F424413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1FB5C-A5C2-4C44-A9DF-4F6A196EC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E84A27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3294B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3294B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3294B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55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83CDB9E-798C-A842-B031-6BFA04385C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99571" y="773546"/>
            <a:ext cx="5935859" cy="272025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10000" dirty="0">
                <a:latin typeface="Calibri"/>
                <a:cs typeface="Calibri"/>
              </a:rPr>
              <a:t>BCOG 100</a:t>
            </a:r>
            <a:endParaRPr lang="en-US" sz="10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2F9A5BC-DE40-064D-98AE-B1AA2F27430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3017406" y="3472201"/>
            <a:ext cx="7410764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Calibri"/>
                <a:cs typeface="Calibri"/>
              </a:rPr>
              <a:t>The Evolution of Neurons </a:t>
            </a:r>
          </a:p>
          <a:p>
            <a:pPr marL="0" indent="0" algn="ctr">
              <a:buNone/>
            </a:pPr>
            <a:r>
              <a:rPr lang="en-US" dirty="0">
                <a:latin typeface="Calibri"/>
                <a:cs typeface="Calibri"/>
              </a:rPr>
              <a:t>Lecture 1: Evolution and the Beginning of Life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87BCB3F-D51B-11CA-8A5C-B653C02DD655}"/>
              </a:ext>
            </a:extLst>
          </p:cNvPr>
          <p:cNvSpPr/>
          <p:nvPr/>
        </p:nvSpPr>
        <p:spPr>
          <a:xfrm>
            <a:off x="443346" y="126307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96C562F-8F13-2516-D9AF-45E75A96A3C5}"/>
              </a:ext>
            </a:extLst>
          </p:cNvPr>
          <p:cNvSpPr/>
          <p:nvPr/>
        </p:nvSpPr>
        <p:spPr>
          <a:xfrm>
            <a:off x="1505528" y="3248890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2052EBC-2E12-F996-BB1F-41F23E64F1BE}"/>
              </a:ext>
            </a:extLst>
          </p:cNvPr>
          <p:cNvSpPr/>
          <p:nvPr/>
        </p:nvSpPr>
        <p:spPr>
          <a:xfrm>
            <a:off x="443345" y="331816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A4D7291-4D5A-9593-1D85-950EBFC1FF07}"/>
              </a:ext>
            </a:extLst>
          </p:cNvPr>
          <p:cNvSpPr/>
          <p:nvPr/>
        </p:nvSpPr>
        <p:spPr>
          <a:xfrm>
            <a:off x="443346" y="5246253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E91675-03DF-90EE-942D-06C70F754DEE}"/>
              </a:ext>
            </a:extLst>
          </p:cNvPr>
          <p:cNvCxnSpPr/>
          <p:nvPr/>
        </p:nvCxnSpPr>
        <p:spPr>
          <a:xfrm>
            <a:off x="867642" y="2172278"/>
            <a:ext cx="1052944" cy="111067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2D74029-D6FE-2938-F6DF-602FCD9AA658}"/>
              </a:ext>
            </a:extLst>
          </p:cNvPr>
          <p:cNvCxnSpPr>
            <a:cxnSpLocks/>
          </p:cNvCxnSpPr>
          <p:nvPr/>
        </p:nvCxnSpPr>
        <p:spPr>
          <a:xfrm>
            <a:off x="879187" y="2172278"/>
            <a:ext cx="25400" cy="11799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31A33E-2612-45D1-F1F0-57371C01F8AB}"/>
              </a:ext>
            </a:extLst>
          </p:cNvPr>
          <p:cNvSpPr/>
          <p:nvPr/>
        </p:nvSpPr>
        <p:spPr>
          <a:xfrm>
            <a:off x="1505528" y="5246253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65D7F4-2920-5911-7086-757F822A07E3}"/>
              </a:ext>
            </a:extLst>
          </p:cNvPr>
          <p:cNvSpPr/>
          <p:nvPr/>
        </p:nvSpPr>
        <p:spPr>
          <a:xfrm>
            <a:off x="2694709" y="5246252"/>
            <a:ext cx="912090" cy="91209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E6F4CE-E239-70EB-26D3-C8CB8E270185}"/>
              </a:ext>
            </a:extLst>
          </p:cNvPr>
          <p:cNvCxnSpPr>
            <a:cxnSpLocks/>
          </p:cNvCxnSpPr>
          <p:nvPr/>
        </p:nvCxnSpPr>
        <p:spPr>
          <a:xfrm>
            <a:off x="1941369" y="4169641"/>
            <a:ext cx="1168399" cy="108758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727C65-F6C0-78C9-A469-40AAD8018B82}"/>
              </a:ext>
            </a:extLst>
          </p:cNvPr>
          <p:cNvCxnSpPr>
            <a:cxnSpLocks/>
          </p:cNvCxnSpPr>
          <p:nvPr/>
        </p:nvCxnSpPr>
        <p:spPr>
          <a:xfrm flipH="1">
            <a:off x="1955223" y="4158096"/>
            <a:ext cx="9238" cy="108758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A7C2072-1E04-8B83-DAA8-B48C97536A6F}"/>
              </a:ext>
            </a:extLst>
          </p:cNvPr>
          <p:cNvCxnSpPr>
            <a:cxnSpLocks/>
          </p:cNvCxnSpPr>
          <p:nvPr/>
        </p:nvCxnSpPr>
        <p:spPr>
          <a:xfrm>
            <a:off x="890732" y="4227368"/>
            <a:ext cx="13855" cy="101831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583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9425CA-F8AC-24D5-CE11-239C9B713FD4}"/>
              </a:ext>
            </a:extLst>
          </p:cNvPr>
          <p:cNvSpPr txBox="1"/>
          <p:nvPr/>
        </p:nvSpPr>
        <p:spPr>
          <a:xfrm>
            <a:off x="1271752" y="1282261"/>
            <a:ext cx="985870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Reading Check 4-1</a:t>
            </a:r>
          </a:p>
          <a:p>
            <a:endParaRPr lang="en-US" sz="2800" dirty="0"/>
          </a:p>
          <a:p>
            <a:r>
              <a:rPr lang="en-US" sz="2800" b="1" dirty="0"/>
              <a:t>Password</a:t>
            </a:r>
            <a:r>
              <a:rPr lang="en-US" sz="2800" dirty="0"/>
              <a:t>: neuron</a:t>
            </a:r>
          </a:p>
          <a:p>
            <a:endParaRPr lang="en-US" sz="2800" dirty="0"/>
          </a:p>
          <a:p>
            <a:r>
              <a:rPr lang="en-US" sz="2800" b="1" dirty="0"/>
              <a:t>Question</a:t>
            </a:r>
            <a:r>
              <a:rPr lang="en-US" sz="2800" dirty="0"/>
              <a:t>: Neurons are described as creating “electrochemical” communication. What does that mean?</a:t>
            </a:r>
          </a:p>
        </p:txBody>
      </p:sp>
    </p:spTree>
    <p:extLst>
      <p:ext uri="{BB962C8B-B14F-4D97-AF65-F5344CB8AC3E}">
        <p14:creationId xmlns:p14="http://schemas.microsoft.com/office/powerpoint/2010/main" val="2638555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4B2CA281-11FA-A27B-CD7A-9F443FAEA4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From Evolution to Neurons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92D8F-BC67-D36F-DFAC-BB3167810E94}"/>
              </a:ext>
            </a:extLst>
          </p:cNvPr>
          <p:cNvSpPr txBox="1"/>
          <p:nvPr/>
        </p:nvSpPr>
        <p:spPr>
          <a:xfrm>
            <a:off x="532262" y="963790"/>
            <a:ext cx="612753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Today’s Outline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Why biology in cognitive science?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Evolution by natural selection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Origins of life &amp; early “intelligence”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0600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5E177-1A7E-158B-6C97-A6DD3B729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8F8AAFC2-16F9-CFC0-3D72-2CA6AA1023B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From Evolution to Neurons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316C41-09EF-169B-0AD7-A24A41988AF1}"/>
              </a:ext>
            </a:extLst>
          </p:cNvPr>
          <p:cNvSpPr txBox="1"/>
          <p:nvPr/>
        </p:nvSpPr>
        <p:spPr>
          <a:xfrm>
            <a:off x="368490" y="958896"/>
            <a:ext cx="11113761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Why Biology Matters for Cognitive Science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Brains are biological organs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Evolution shaped cognition by shaping the brain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Constraints, tradeoffs, and possibilities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Simple life and evolution itself can be thought of as a kind of intelligent, information, processing, and algorithm</a:t>
            </a:r>
          </a:p>
          <a:p>
            <a:endParaRPr lang="en-US" sz="1200" dirty="0"/>
          </a:p>
          <a:p>
            <a:r>
              <a:rPr lang="en-US" sz="2400" dirty="0"/>
              <a:t>Over the next 8 weeks we’ll go from: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Molecules </a:t>
            </a:r>
            <a:r>
              <a:rPr lang="en-US" sz="2400" dirty="0">
                <a:sym typeface="Wingdings" pitchFamily="2" charset="2"/>
              </a:rPr>
              <a:t> </a:t>
            </a:r>
            <a:r>
              <a:rPr lang="en-US" sz="2400" dirty="0"/>
              <a:t>Cells → Neurons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Circuits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Brains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Higher Cognitive Abilities like Symbolic Reasoning, Language and Social Cognition.</a:t>
            </a:r>
          </a:p>
          <a:p>
            <a:endParaRPr lang="en-US" sz="1200" dirty="0"/>
          </a:p>
          <a:p>
            <a:r>
              <a:rPr lang="en-US" sz="2400" dirty="0"/>
              <a:t>This mirrors both evolution </a:t>
            </a:r>
            <a:r>
              <a:rPr lang="en-US" sz="2400" i="1" dirty="0"/>
              <a:t>and</a:t>
            </a:r>
            <a:r>
              <a:rPr lang="en-US" sz="2400" dirty="0"/>
              <a:t> our course.</a:t>
            </a:r>
          </a:p>
        </p:txBody>
      </p:sp>
    </p:spTree>
    <p:extLst>
      <p:ext uri="{BB962C8B-B14F-4D97-AF65-F5344CB8AC3E}">
        <p14:creationId xmlns:p14="http://schemas.microsoft.com/office/powerpoint/2010/main" val="4115969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A2107-7A9D-A33D-B364-630629FB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2E66D37D-019E-E35F-4797-8CE3E241C05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Energy Challenge in Early Life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DDA8F2-25DA-FEB6-0FDF-3EC7D3E52381}"/>
              </a:ext>
            </a:extLst>
          </p:cNvPr>
          <p:cNvSpPr txBox="1"/>
          <p:nvPr/>
        </p:nvSpPr>
        <p:spPr>
          <a:xfrm>
            <a:off x="5244662" y="1880396"/>
            <a:ext cx="7031421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Energy Challenge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ATP: adenosine triphosphate, a cell’s energy currency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Early life: hydrogen fuel → ATP (inefficient)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Photosynthesis: sunlight + CO₂ → sugar → ATP (efficient, renewable)</a:t>
            </a:r>
          </a:p>
        </p:txBody>
      </p:sp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31F5E6B6-E56A-73C0-2CA8-DB0ADAE6D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553" y="735162"/>
            <a:ext cx="4280777" cy="5200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211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5D06B-70FA-AF2C-5335-C9D3AEEE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94EEB716-66D7-9ADF-9BE1-C4812D4A2A7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Energy Challenge in Early Life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00F6E8-89D4-C150-0F42-33299DAECA03}"/>
              </a:ext>
            </a:extLst>
          </p:cNvPr>
          <p:cNvSpPr txBox="1"/>
          <p:nvPr/>
        </p:nvSpPr>
        <p:spPr>
          <a:xfrm>
            <a:off x="893379" y="804225"/>
            <a:ext cx="7031421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Great Oxygenation Event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Photosynthesis released oxygen (O₂)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Oxygen = toxic &amp; reactive → mass extinction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Oxygen = powerful electron acceptor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Respiration with O₂ → ~15× more ATP</a:t>
            </a:r>
          </a:p>
        </p:txBody>
      </p:sp>
      <p:pic>
        <p:nvPicPr>
          <p:cNvPr id="11266" name="Picture 2" descr="Liberal Arts Blog — Oxygen (Part Two) The Great Oxidation Event, Little Oxidation  Events, The Miracle of Daily Life | by John Muresianu | Medium">
            <a:extLst>
              <a:ext uri="{FF2B5EF4-FFF2-40B4-BE49-F238E27FC236}">
                <a16:creationId xmlns:a16="http://schemas.microsoft.com/office/drawing/2014/main" id="{7849BB6A-EE9B-EDD5-901D-FD28595C4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4777" y="2804773"/>
            <a:ext cx="85598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8474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2694C-8BB5-5CDC-CADF-AC61C4DDA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01FD3565-7AD7-1BFE-618D-19D1D457A27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Summarizing Evolution of Life Before Neurons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DC3C7A-0714-2106-7C9E-7A707F3CA831}"/>
              </a:ext>
            </a:extLst>
          </p:cNvPr>
          <p:cNvSpPr txBox="1"/>
          <p:nvPr/>
        </p:nvSpPr>
        <p:spPr>
          <a:xfrm>
            <a:off x="398198" y="942770"/>
            <a:ext cx="11395603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Today we saw: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Evolution by natural selection = variation + inheritance + selection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Life from non-life: the RNA world → DNA, proteins, membranes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Early “intelligence” in single cells (chemotaxis)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Energy revolution: photosynthesis &amp; oxygen</a:t>
            </a:r>
          </a:p>
          <a:p>
            <a:endParaRPr lang="en-US" sz="2400" dirty="0"/>
          </a:p>
          <a:p>
            <a:r>
              <a:rPr lang="en-US" sz="2400" b="1" dirty="0"/>
              <a:t>Next time…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Oxygen killed many forms of life…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…but also powered new complexity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With this energy, life could afford bigger bodies, new strategies, and the first neurons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456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theme/theme1.xml><?xml version="1.0" encoding="utf-8"?>
<a:theme xmlns:a="http://schemas.openxmlformats.org/drawingml/2006/main" name="Custom Design">
  <a:themeElements>
    <a:clrScheme name="Custom 5">
      <a:dk1>
        <a:srgbClr val="13284B"/>
      </a:dk1>
      <a:lt1>
        <a:srgbClr val="FFFFFF"/>
      </a:lt1>
      <a:dk2>
        <a:srgbClr val="1E3877"/>
      </a:dk2>
      <a:lt2>
        <a:srgbClr val="F8FAFC"/>
      </a:lt2>
      <a:accent1>
        <a:srgbClr val="FF552E"/>
      </a:accent1>
      <a:accent2>
        <a:srgbClr val="1D58A7"/>
      </a:accent2>
      <a:accent3>
        <a:srgbClr val="F5821E"/>
      </a:accent3>
      <a:accent4>
        <a:srgbClr val="009FD3"/>
      </a:accent4>
      <a:accent5>
        <a:srgbClr val="DD3403"/>
      </a:accent5>
      <a:accent6>
        <a:srgbClr val="D2D2D2"/>
      </a:accent6>
      <a:hlink>
        <a:srgbClr val="1D58A7"/>
      </a:hlink>
      <a:folHlink>
        <a:srgbClr val="DD340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9" id="{EB6B2FBE-53CE-AE45-9D18-D10FBF4063E0}" vid="{7AC8A834-0896-8341-9AC3-2DE1C842C7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Custom Design</Template>
  <TotalTime>17512</TotalTime>
  <Words>3294</Words>
  <Application>Microsoft Macintosh PowerPoint</Application>
  <PresentationFormat>Widescreen</PresentationFormat>
  <Paragraphs>326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Georgia</vt:lpstr>
      <vt:lpstr>Wingdings</vt:lpstr>
      <vt:lpstr>Custom Design</vt:lpstr>
      <vt:lpstr>BCOG 100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Here</dc:title>
  <dc:creator>Willits, Jon Anthony</dc:creator>
  <cp:lastModifiedBy>Willits, Jon Anthony</cp:lastModifiedBy>
  <cp:revision>363</cp:revision>
  <dcterms:created xsi:type="dcterms:W3CDTF">2022-08-22T20:35:14Z</dcterms:created>
  <dcterms:modified xsi:type="dcterms:W3CDTF">2025-11-10T15:43:49Z</dcterms:modified>
</cp:coreProperties>
</file>