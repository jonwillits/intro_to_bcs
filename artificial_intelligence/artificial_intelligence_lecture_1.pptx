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8" r:id="rId1"/>
  </p:sldMasterIdLst>
  <p:notesMasterIdLst>
    <p:notesMasterId r:id="rId26"/>
  </p:notesMasterIdLst>
  <p:sldIdLst>
    <p:sldId id="256" r:id="rId2"/>
    <p:sldId id="397" r:id="rId3"/>
    <p:sldId id="310" r:id="rId4"/>
    <p:sldId id="407" r:id="rId5"/>
    <p:sldId id="408" r:id="rId6"/>
    <p:sldId id="398" r:id="rId7"/>
    <p:sldId id="409" r:id="rId8"/>
    <p:sldId id="410" r:id="rId9"/>
    <p:sldId id="411" r:id="rId10"/>
    <p:sldId id="412" r:id="rId11"/>
    <p:sldId id="413" r:id="rId12"/>
    <p:sldId id="414" r:id="rId13"/>
    <p:sldId id="415" r:id="rId14"/>
    <p:sldId id="416" r:id="rId15"/>
    <p:sldId id="417" r:id="rId16"/>
    <p:sldId id="418" r:id="rId17"/>
    <p:sldId id="419" r:id="rId18"/>
    <p:sldId id="420" r:id="rId19"/>
    <p:sldId id="421" r:id="rId20"/>
    <p:sldId id="422" r:id="rId21"/>
    <p:sldId id="423" r:id="rId22"/>
    <p:sldId id="424" r:id="rId23"/>
    <p:sldId id="425" r:id="rId24"/>
    <p:sldId id="353"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532C"/>
    <a:srgbClr val="FF552E"/>
    <a:srgbClr val="FFEAE8"/>
    <a:srgbClr val="FFD2CD"/>
    <a:srgbClr val="E84A27"/>
    <a:srgbClr val="FFEAE9"/>
    <a:srgbClr val="9DBBA6"/>
    <a:srgbClr val="131F33"/>
    <a:srgbClr val="13294B"/>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247"/>
    <p:restoredTop sz="70340"/>
  </p:normalViewPr>
  <p:slideViewPr>
    <p:cSldViewPr snapToGrid="0" snapToObjects="1">
      <p:cViewPr varScale="1">
        <p:scale>
          <a:sx n="83" d="100"/>
          <a:sy n="83" d="100"/>
        </p:scale>
        <p:origin x="1104" y="208"/>
      </p:cViewPr>
      <p:guideLst>
        <p:guide orient="horz" pos="2160"/>
        <p:guide pos="3840"/>
      </p:guideLst>
    </p:cSldViewPr>
  </p:slideViewPr>
  <p:notesTextViewPr>
    <p:cViewPr>
      <p:scale>
        <a:sx n="150" d="100"/>
        <a:sy n="150" d="100"/>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FD3E08-CD1E-6345-BF3D-6B539ADC1145}" type="datetimeFigureOut">
              <a:rPr lang="en-US" smtClean="0"/>
              <a:t>12/1/25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0C32C59-1409-2640-866F-4A1083575A35}" type="slidenum">
              <a:rPr lang="en-US" smtClean="0"/>
              <a:t>‹#›</a:t>
            </a:fld>
            <a:endParaRPr lang="en-US"/>
          </a:p>
        </p:txBody>
      </p:sp>
    </p:spTree>
    <p:extLst>
      <p:ext uri="{BB962C8B-B14F-4D97-AF65-F5344CB8AC3E}">
        <p14:creationId xmlns:p14="http://schemas.microsoft.com/office/powerpoint/2010/main" val="40603753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0C32C59-1409-2640-866F-4A1083575A35}" type="slidenum">
              <a:rPr lang="en-US" smtClean="0"/>
              <a:t>1</a:t>
            </a:fld>
            <a:endParaRPr lang="en-US"/>
          </a:p>
        </p:txBody>
      </p:sp>
    </p:spTree>
    <p:extLst>
      <p:ext uri="{BB962C8B-B14F-4D97-AF65-F5344CB8AC3E}">
        <p14:creationId xmlns:p14="http://schemas.microsoft.com/office/powerpoint/2010/main" val="32640520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AFB2CB-A2CE-7123-644C-DCD538F085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87D764-C88F-CF78-5DDE-8B7A3B9D56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87A997-85AB-34F9-1811-3C515DAAF00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4A90DD2-0D39-6F80-7381-4AABCCDDE236}"/>
              </a:ext>
            </a:extLst>
          </p:cNvPr>
          <p:cNvSpPr>
            <a:spLocks noGrp="1"/>
          </p:cNvSpPr>
          <p:nvPr>
            <p:ph type="sldNum" sz="quarter" idx="5"/>
          </p:nvPr>
        </p:nvSpPr>
        <p:spPr/>
        <p:txBody>
          <a:bodyPr/>
          <a:lstStyle/>
          <a:p>
            <a:fld id="{B0C32C59-1409-2640-866F-4A1083575A35}" type="slidenum">
              <a:rPr lang="en-US" smtClean="0"/>
              <a:t>2</a:t>
            </a:fld>
            <a:endParaRPr lang="en-US"/>
          </a:p>
        </p:txBody>
      </p:sp>
    </p:spTree>
    <p:extLst>
      <p:ext uri="{BB962C8B-B14F-4D97-AF65-F5344CB8AC3E}">
        <p14:creationId xmlns:p14="http://schemas.microsoft.com/office/powerpoint/2010/main" val="21531963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Today’s lecture opens our exploration of artificial intelligence by asking a deceptively simple question: what is intelligence?</a:t>
            </a:r>
          </a:p>
          <a:p>
            <a:r>
              <a:rPr lang="en-US" dirty="0"/>
              <a:t>This question is far less straightforward than it seems, and AI forces us to confront that ambiguity directly.</a:t>
            </a:r>
          </a:p>
          <a:p>
            <a:r>
              <a:rPr lang="en-US" dirty="0"/>
              <a:t>Rather than providing answers immediately, we are going to spend this lecture examining the assumptions behind different definitions.</a:t>
            </a:r>
          </a:p>
          <a:p>
            <a:r>
              <a:rPr lang="en-US" dirty="0"/>
              <a:t>The goal is to unsettle our intuitions just enough to make room for deeper, more precise thinking in later lectures.</a:t>
            </a:r>
          </a:p>
          <a:p>
            <a:endParaRPr lang="en-US" dirty="0"/>
          </a:p>
          <a:p>
            <a:r>
              <a:rPr lang="en-US" dirty="0"/>
              <a:t>We will use a Socratic approach, examining ten major questions that philosophers, psychologists, and computer scientists have wrestled with for decades.</a:t>
            </a:r>
          </a:p>
          <a:p>
            <a:r>
              <a:rPr lang="en-US" dirty="0"/>
              <a:t>Each question highlights a fault line in how people think about minds, reasoning, understanding, and the nature of cognition itself.</a:t>
            </a:r>
          </a:p>
          <a:p>
            <a:r>
              <a:rPr lang="en-US" dirty="0"/>
              <a:t>Artificial intelligence—especially large language models—makes these questions newly urgent because they present behaviors that look intelligent without being grounded in biological processes.</a:t>
            </a:r>
          </a:p>
          <a:p>
            <a:r>
              <a:rPr lang="en-US" dirty="0"/>
              <a:t>By probing these questions, we begin separating the appearance of intelligence from its underlying mechanisms.</a:t>
            </a:r>
          </a:p>
          <a:p>
            <a:endParaRPr lang="en-US" dirty="0"/>
          </a:p>
          <a:p>
            <a:r>
              <a:rPr lang="en-US" dirty="0"/>
              <a:t>At first glance, you may feel certain about what intelligence is, or what counts as “real” reasoning or “real” understanding.</a:t>
            </a:r>
          </a:p>
          <a:p>
            <a:r>
              <a:rPr lang="en-US" dirty="0"/>
              <a:t>By the end of this lecture, I want you to recognize that these questions are more complicated than they initially appear.</a:t>
            </a:r>
          </a:p>
          <a:p>
            <a:r>
              <a:rPr lang="en-US" dirty="0"/>
              <a:t>Different answers rely on different theoretical commitments, and no single framework commands universal agreement.</a:t>
            </a:r>
          </a:p>
          <a:p>
            <a:r>
              <a:rPr lang="en-US" dirty="0"/>
              <a:t>This intellectual openness is essential for evaluating AI’s capabilities without being misled by either hype or fear.</a:t>
            </a:r>
          </a:p>
          <a:p>
            <a:endParaRPr lang="en-US" dirty="0"/>
          </a:p>
          <a:p>
            <a:r>
              <a:rPr lang="en-US" dirty="0"/>
              <a:t>As we move through the questions, I encourage you to hold your initial intuitions lightly.</a:t>
            </a:r>
          </a:p>
          <a:p>
            <a:r>
              <a:rPr lang="en-US" dirty="0"/>
              <a:t>Notice when a question makes you uncomfortable or challenges your assumptions.</a:t>
            </a:r>
          </a:p>
          <a:p>
            <a:r>
              <a:rPr lang="en-US" dirty="0"/>
              <a:t>These moments often reveal where our everyday concepts fail to capture the complexity of cognition.</a:t>
            </a:r>
          </a:p>
          <a:p>
            <a:r>
              <a:rPr lang="en-US" dirty="0"/>
              <a:t>Our task today is not to solve these debates, but to illuminate the landscape so we can navigate it more thoughtfully in the rest of the module.</a:t>
            </a:r>
          </a:p>
        </p:txBody>
      </p:sp>
      <p:sp>
        <p:nvSpPr>
          <p:cNvPr id="4" name="Slide Number Placeholder 3"/>
          <p:cNvSpPr>
            <a:spLocks noGrp="1"/>
          </p:cNvSpPr>
          <p:nvPr>
            <p:ph type="sldNum" sz="quarter" idx="5"/>
          </p:nvPr>
        </p:nvSpPr>
        <p:spPr/>
        <p:txBody>
          <a:bodyPr/>
          <a:lstStyle/>
          <a:p>
            <a:fld id="{B0C32C59-1409-2640-866F-4A1083575A35}" type="slidenum">
              <a:rPr lang="en-US" smtClean="0"/>
              <a:t>3</a:t>
            </a:fld>
            <a:endParaRPr lang="en-US"/>
          </a:p>
        </p:txBody>
      </p:sp>
    </p:spTree>
    <p:extLst>
      <p:ext uri="{BB962C8B-B14F-4D97-AF65-F5344CB8AC3E}">
        <p14:creationId xmlns:p14="http://schemas.microsoft.com/office/powerpoint/2010/main" val="9826931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79FA18-A3EB-A69D-D3E8-321020DDA0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A254B8-BDD2-9B77-630C-838F34E716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0DC7C8-E991-6F16-9036-E42E0E0A360D}"/>
              </a:ext>
            </a:extLst>
          </p:cNvPr>
          <p:cNvSpPr>
            <a:spLocks noGrp="1"/>
          </p:cNvSpPr>
          <p:nvPr>
            <p:ph type="body" idx="1"/>
          </p:nvPr>
        </p:nvSpPr>
        <p:spPr/>
        <p:txBody>
          <a:bodyPr/>
          <a:lstStyle/>
          <a:p>
            <a:r>
              <a:rPr lang="en-US" dirty="0"/>
              <a:t>Intelligence is much harder to define precisely than most people initially assume, and beginning with this question helps reveal that complexity.</a:t>
            </a:r>
          </a:p>
          <a:p>
            <a:r>
              <a:rPr lang="en-US" dirty="0"/>
              <a:t>We often treat intelligence as an obvious property, yet when we try to specify it, the concept becomes slippery.</a:t>
            </a:r>
          </a:p>
          <a:p>
            <a:r>
              <a:rPr lang="en-US" dirty="0"/>
              <a:t>This question encourages us to surface our implicit assumptions and notice how contested the idea really is.</a:t>
            </a:r>
          </a:p>
          <a:p>
            <a:r>
              <a:rPr lang="en-US" dirty="0"/>
              <a:t>The goal is to open up philosophical space for multiple interpretations before we introduce AI systems.</a:t>
            </a:r>
          </a:p>
          <a:p>
            <a:endParaRPr lang="en-US" dirty="0"/>
          </a:p>
          <a:p>
            <a:r>
              <a:rPr lang="en-US" dirty="0"/>
              <a:t>The first </a:t>
            </a:r>
            <a:r>
              <a:rPr lang="en-US" dirty="0" err="1"/>
              <a:t>subquestion</a:t>
            </a:r>
            <a:r>
              <a:rPr lang="en-US" dirty="0"/>
              <a:t> highlights the distinction between *having* intelligence as an internal property and *doing* intelligent behavior.</a:t>
            </a:r>
          </a:p>
          <a:p>
            <a:r>
              <a:rPr lang="en-US" dirty="0"/>
              <a:t>The thermostat example challenges us to consider whether simple feedback loops count as intelligence under some definitions.</a:t>
            </a:r>
          </a:p>
          <a:p>
            <a:r>
              <a:rPr lang="en-US" dirty="0"/>
              <a:t>If intelligence is purely functional, then many simple systems might qualify; if it requires richer internal states, they would not.</a:t>
            </a:r>
          </a:p>
          <a:p>
            <a:r>
              <a:rPr lang="en-US" dirty="0"/>
              <a:t>This tension mirrors larger debates about whether AI performance reflects true intelligence or just engineered cleverness.</a:t>
            </a:r>
            <a:br>
              <a:rPr lang="en-US" dirty="0"/>
            </a:br>
            <a:endParaRPr lang="en-US" dirty="0"/>
          </a:p>
          <a:p>
            <a:r>
              <a:rPr lang="en-US" dirty="0"/>
              <a:t>The second </a:t>
            </a:r>
            <a:r>
              <a:rPr lang="en-US" dirty="0" err="1"/>
              <a:t>subquestion</a:t>
            </a:r>
            <a:r>
              <a:rPr lang="en-US" dirty="0"/>
              <a:t> raises the issue of behavioral versus representational definitions.</a:t>
            </a:r>
          </a:p>
          <a:p>
            <a:r>
              <a:rPr lang="en-US" dirty="0"/>
              <a:t>The parrot example forces us to ask whether fluent output guarantees understanding or whether meaning requires internal structure.</a:t>
            </a:r>
          </a:p>
          <a:p>
            <a:r>
              <a:rPr lang="en-US" dirty="0"/>
              <a:t>Behaviorist views emphasize observable behavior, while cognitive views stress internal representations and mechanisms.</a:t>
            </a:r>
          </a:p>
          <a:p>
            <a:r>
              <a:rPr lang="en-US" dirty="0"/>
              <a:t>This difference becomes crucial when we later evaluate whether LLMs “understand” language or merely generate it.</a:t>
            </a:r>
            <a:br>
              <a:rPr lang="en-US" dirty="0"/>
            </a:br>
            <a:endParaRPr lang="en-US" dirty="0"/>
          </a:p>
          <a:p>
            <a:r>
              <a:rPr lang="en-US" dirty="0"/>
              <a:t>The final </a:t>
            </a:r>
            <a:r>
              <a:rPr lang="en-US" dirty="0" err="1"/>
              <a:t>subquestion</a:t>
            </a:r>
            <a:r>
              <a:rPr lang="en-US" dirty="0"/>
              <a:t> asks us to distinguish genuine intelligence from the superficial appearance of it.</a:t>
            </a:r>
          </a:p>
          <a:p>
            <a:r>
              <a:rPr lang="en-US" dirty="0"/>
              <a:t>The chatbot example encourages them to think critically about systems that perform well on tasks without comprehension.</a:t>
            </a:r>
          </a:p>
          <a:p>
            <a:r>
              <a:rPr lang="en-US" dirty="0"/>
              <a:t>Many AI systems appear competent because they exploit statistical patterns rather than conceptual knowledge.</a:t>
            </a:r>
          </a:p>
          <a:p>
            <a:r>
              <a:rPr lang="en-US" dirty="0"/>
              <a:t>Recognizing this distinction prepares us to engage with the complexities of modern AI claims.</a:t>
            </a:r>
          </a:p>
        </p:txBody>
      </p:sp>
      <p:sp>
        <p:nvSpPr>
          <p:cNvPr id="4" name="Slide Number Placeholder 3">
            <a:extLst>
              <a:ext uri="{FF2B5EF4-FFF2-40B4-BE49-F238E27FC236}">
                <a16:creationId xmlns:a16="http://schemas.microsoft.com/office/drawing/2014/main" id="{B740A53D-156B-E2DE-183F-E804FA4F34E5}"/>
              </a:ext>
            </a:extLst>
          </p:cNvPr>
          <p:cNvSpPr>
            <a:spLocks noGrp="1"/>
          </p:cNvSpPr>
          <p:nvPr>
            <p:ph type="sldNum" sz="quarter" idx="5"/>
          </p:nvPr>
        </p:nvSpPr>
        <p:spPr/>
        <p:txBody>
          <a:bodyPr/>
          <a:lstStyle/>
          <a:p>
            <a:fld id="{B0C32C59-1409-2640-866F-4A1083575A35}" type="slidenum">
              <a:rPr lang="en-US" smtClean="0"/>
              <a:t>4</a:t>
            </a:fld>
            <a:endParaRPr lang="en-US"/>
          </a:p>
        </p:txBody>
      </p:sp>
    </p:spTree>
    <p:extLst>
      <p:ext uri="{BB962C8B-B14F-4D97-AF65-F5344CB8AC3E}">
        <p14:creationId xmlns:p14="http://schemas.microsoft.com/office/powerpoint/2010/main" val="102933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D20A96-D0B7-64E7-E97F-7E256DB1C2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9CEBC7-DD34-0FF1-AF10-BB2695CE9C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4E119A-A1C9-A60A-CC97-BA26EF815CD4}"/>
              </a:ext>
            </a:extLst>
          </p:cNvPr>
          <p:cNvSpPr>
            <a:spLocks noGrp="1"/>
          </p:cNvSpPr>
          <p:nvPr>
            <p:ph type="body" idx="1"/>
          </p:nvPr>
        </p:nvSpPr>
        <p:spPr/>
        <p:txBody>
          <a:bodyPr/>
          <a:lstStyle/>
          <a:p>
            <a:r>
              <a:rPr lang="en-US" dirty="0"/>
              <a:t>Functionalism treats intelligence as whatever produces flexible, successful behavior in a range of situations.</a:t>
            </a:r>
          </a:p>
          <a:p>
            <a:r>
              <a:rPr lang="en-US" dirty="0"/>
              <a:t>In this view, intelligence is defined by what a system can do, not by how it achieves those outcomes internally.</a:t>
            </a:r>
          </a:p>
          <a:p>
            <a:r>
              <a:rPr lang="en-US" dirty="0"/>
              <a:t>It is an appealing perspective because it applies equally to humans, animals, and machines.</a:t>
            </a:r>
          </a:p>
          <a:p>
            <a:r>
              <a:rPr lang="en-US" dirty="0"/>
              <a:t>At the same time, it risks blurring the line between genuine intelligence and the mere appearance of competence.</a:t>
            </a:r>
          </a:p>
          <a:p>
            <a:endParaRPr lang="en-US" dirty="0"/>
          </a:p>
          <a:p>
            <a:r>
              <a:rPr lang="en-US" dirty="0"/>
              <a:t>The cognitive view argues that intelligence requires internal mental representations that carry content.</a:t>
            </a:r>
          </a:p>
          <a:p>
            <a:r>
              <a:rPr lang="en-US" dirty="0"/>
              <a:t>According to this perspective, behavior alone does not reveal whether a system understands anything, </a:t>
            </a:r>
          </a:p>
          <a:p>
            <a:r>
              <a:rPr lang="en-US" dirty="0"/>
              <a:t>	because understanding depends on inner structure.</a:t>
            </a:r>
          </a:p>
          <a:p>
            <a:r>
              <a:rPr lang="en-US" dirty="0"/>
              <a:t>Supporters see this as crucial for distinguishing real cognition from superficial mimicry.</a:t>
            </a:r>
          </a:p>
          <a:p>
            <a:r>
              <a:rPr lang="en-US" dirty="0"/>
              <a:t>The challenge is that internal representations are difficult to observe directly, </a:t>
            </a:r>
          </a:p>
          <a:p>
            <a:r>
              <a:rPr lang="en-US" dirty="0"/>
              <a:t>	which complicates claims about both humans and AI.</a:t>
            </a:r>
          </a:p>
          <a:p>
            <a:endParaRPr lang="en-US" dirty="0"/>
          </a:p>
          <a:p>
            <a:r>
              <a:rPr lang="en-US" dirty="0"/>
              <a:t>The ecological or adaptive view defines intelligence as the ability to navigate environments effectively and achieve goals.</a:t>
            </a:r>
          </a:p>
          <a:p>
            <a:r>
              <a:rPr lang="en-US" dirty="0"/>
              <a:t>It emphasizes the role of perception, action, and context in shaping intelligent behavior.</a:t>
            </a:r>
          </a:p>
          <a:p>
            <a:r>
              <a:rPr lang="en-US" dirty="0"/>
              <a:t>This perspective naturally connects intelligence to survival, problem-solving, and real-world functioning.</a:t>
            </a:r>
          </a:p>
          <a:p>
            <a:r>
              <a:rPr lang="en-US" dirty="0"/>
              <a:t>Its limitation is that it may treat systems as intelligent only if they operate in rich, embodied settings, </a:t>
            </a:r>
          </a:p>
          <a:p>
            <a:r>
              <a:rPr lang="en-US" dirty="0"/>
              <a:t>	which complicates how we assess disembodied models like LLMs.</a:t>
            </a:r>
          </a:p>
        </p:txBody>
      </p:sp>
      <p:sp>
        <p:nvSpPr>
          <p:cNvPr id="4" name="Slide Number Placeholder 3">
            <a:extLst>
              <a:ext uri="{FF2B5EF4-FFF2-40B4-BE49-F238E27FC236}">
                <a16:creationId xmlns:a16="http://schemas.microsoft.com/office/drawing/2014/main" id="{AB6E5E81-B67A-32B5-AD57-83D7F958BCC6}"/>
              </a:ext>
            </a:extLst>
          </p:cNvPr>
          <p:cNvSpPr>
            <a:spLocks noGrp="1"/>
          </p:cNvSpPr>
          <p:nvPr>
            <p:ph type="sldNum" sz="quarter" idx="5"/>
          </p:nvPr>
        </p:nvSpPr>
        <p:spPr/>
        <p:txBody>
          <a:bodyPr/>
          <a:lstStyle/>
          <a:p>
            <a:fld id="{B0C32C59-1409-2640-866F-4A1083575A35}" type="slidenum">
              <a:rPr lang="en-US" smtClean="0"/>
              <a:t>5</a:t>
            </a:fld>
            <a:endParaRPr lang="en-US"/>
          </a:p>
        </p:txBody>
      </p:sp>
    </p:spTree>
    <p:extLst>
      <p:ext uri="{BB962C8B-B14F-4D97-AF65-F5344CB8AC3E}">
        <p14:creationId xmlns:p14="http://schemas.microsoft.com/office/powerpoint/2010/main" val="6597806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316A28-CDBB-B836-698F-A70528DBE7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459B85-59AF-D8C4-B44C-FF76A40147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7F4CAE-F300-E1F5-4A5C-163BFB0B4126}"/>
              </a:ext>
            </a:extLst>
          </p:cNvPr>
          <p:cNvSpPr>
            <a:spLocks noGrp="1"/>
          </p:cNvSpPr>
          <p:nvPr>
            <p:ph type="body" idx="1"/>
          </p:nvPr>
        </p:nvSpPr>
        <p:spPr/>
        <p:txBody>
          <a:bodyPr/>
          <a:lstStyle/>
          <a:p>
            <a:r>
              <a:rPr lang="en-US" dirty="0"/>
              <a:t>The question of whether intelligence is unified or divided has shaped psychology for more than a century.</a:t>
            </a:r>
          </a:p>
          <a:p>
            <a:r>
              <a:rPr lang="en-US" dirty="0"/>
              <a:t>Some theorists argue that a single, general cognitive resource explains why different skills correlate with one another.</a:t>
            </a:r>
          </a:p>
          <a:p>
            <a:r>
              <a:rPr lang="en-US" dirty="0"/>
              <a:t>Others believe intelligence is fundamentally heterogeneous, made up of distinct abilities that may develop and function independently.</a:t>
            </a:r>
          </a:p>
          <a:p>
            <a:r>
              <a:rPr lang="en-US" dirty="0"/>
              <a:t>This question encourages us to reflect on how these competing frameworks shape our interpretation of both human and machine intelligence.</a:t>
            </a:r>
          </a:p>
          <a:p>
            <a:endParaRPr lang="en-US" dirty="0"/>
          </a:p>
          <a:p>
            <a:r>
              <a:rPr lang="en-US" dirty="0"/>
              <a:t>The first </a:t>
            </a:r>
            <a:r>
              <a:rPr lang="en-US" dirty="0" err="1"/>
              <a:t>subquestion</a:t>
            </a:r>
            <a:r>
              <a:rPr lang="en-US" dirty="0"/>
              <a:t> raises the idea that different cognitive skills may rely on a shared underlying capacity.</a:t>
            </a:r>
          </a:p>
          <a:p>
            <a:r>
              <a:rPr lang="en-US" dirty="0"/>
              <a:t>The math–verbal correlation example highlights a real empirical pattern that helped motivate theories of general intelligence.</a:t>
            </a:r>
          </a:p>
          <a:p>
            <a:r>
              <a:rPr lang="en-US" dirty="0"/>
              <a:t>Supporters of this view argue that core abilities like working memory or fluid reasoning contribute broadly across tasks.</a:t>
            </a:r>
          </a:p>
          <a:p>
            <a:r>
              <a:rPr lang="en-US" dirty="0"/>
              <a:t>However, this line of reasoning risks overlooking the nuance and diversity of cognitive strengths observed in individuals.</a:t>
            </a:r>
          </a:p>
          <a:p>
            <a:endParaRPr lang="en-US" dirty="0"/>
          </a:p>
          <a:p>
            <a:r>
              <a:rPr lang="en-US" dirty="0"/>
              <a:t>The second </a:t>
            </a:r>
            <a:r>
              <a:rPr lang="en-US" dirty="0" err="1"/>
              <a:t>subquestion</a:t>
            </a:r>
            <a:r>
              <a:rPr lang="en-US" dirty="0"/>
              <a:t> points to cases where abilities clearly diverge.</a:t>
            </a:r>
          </a:p>
          <a:p>
            <a:r>
              <a:rPr lang="en-US" dirty="0"/>
              <a:t>The chess prodigy with poor social reasoning is a common and intuitive example that challenges a single-factor view.</a:t>
            </a:r>
          </a:p>
          <a:p>
            <a:r>
              <a:rPr lang="en-US" dirty="0"/>
              <a:t>Instances of uneven cognitive profiles lend support to theories proposing multiple intelligences or modularity.</a:t>
            </a:r>
          </a:p>
          <a:p>
            <a:r>
              <a:rPr lang="en-US" dirty="0"/>
              <a:t>These examples push us to consider whether different kinds of intelligence should be recognized and valued separately.</a:t>
            </a:r>
          </a:p>
          <a:p>
            <a:endParaRPr lang="en-US" dirty="0"/>
          </a:p>
          <a:p>
            <a:r>
              <a:rPr lang="en-US" dirty="0"/>
              <a:t>The final </a:t>
            </a:r>
            <a:r>
              <a:rPr lang="en-US" dirty="0" err="1"/>
              <a:t>subquestion</a:t>
            </a:r>
            <a:r>
              <a:rPr lang="en-US" dirty="0"/>
              <a:t> brings AI into the conceptual space.</a:t>
            </a:r>
          </a:p>
          <a:p>
            <a:r>
              <a:rPr lang="en-US" dirty="0"/>
              <a:t>A system like AlphaGo performs superhumanly in one domain while remaining useless outside of it, illustrating extremely narrow competence.</a:t>
            </a:r>
          </a:p>
          <a:p>
            <a:r>
              <a:rPr lang="en-US" dirty="0"/>
              <a:t>This contrast shows that high performance in a specific domain does not guarantee general intelligence.</a:t>
            </a:r>
          </a:p>
          <a:p>
            <a:r>
              <a:rPr lang="en-US" dirty="0"/>
              <a:t>Thinking about these AI examples helps us question what, if anything, would count as truly general intelligence in either biological or artificial systems.</a:t>
            </a:r>
          </a:p>
        </p:txBody>
      </p:sp>
      <p:sp>
        <p:nvSpPr>
          <p:cNvPr id="4" name="Slide Number Placeholder 3">
            <a:extLst>
              <a:ext uri="{FF2B5EF4-FFF2-40B4-BE49-F238E27FC236}">
                <a16:creationId xmlns:a16="http://schemas.microsoft.com/office/drawing/2014/main" id="{B8854447-45A8-5E72-6CE4-C570FBFF8137}"/>
              </a:ext>
            </a:extLst>
          </p:cNvPr>
          <p:cNvSpPr>
            <a:spLocks noGrp="1"/>
          </p:cNvSpPr>
          <p:nvPr>
            <p:ph type="sldNum" sz="quarter" idx="5"/>
          </p:nvPr>
        </p:nvSpPr>
        <p:spPr/>
        <p:txBody>
          <a:bodyPr/>
          <a:lstStyle/>
          <a:p>
            <a:fld id="{B0C32C59-1409-2640-866F-4A1083575A35}" type="slidenum">
              <a:rPr lang="en-US" smtClean="0"/>
              <a:t>6</a:t>
            </a:fld>
            <a:endParaRPr lang="en-US"/>
          </a:p>
        </p:txBody>
      </p:sp>
    </p:spTree>
    <p:extLst>
      <p:ext uri="{BB962C8B-B14F-4D97-AF65-F5344CB8AC3E}">
        <p14:creationId xmlns:p14="http://schemas.microsoft.com/office/powerpoint/2010/main" val="28921725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1812DB-99BD-39E6-2D18-A62958F9E4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AC47F4-7FAB-C1D3-DEB1-81D423A8C0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67CEFE-F6E7-C325-8FE7-82D066F88142}"/>
              </a:ext>
            </a:extLst>
          </p:cNvPr>
          <p:cNvSpPr>
            <a:spLocks noGrp="1"/>
          </p:cNvSpPr>
          <p:nvPr>
            <p:ph type="body" idx="1"/>
          </p:nvPr>
        </p:nvSpPr>
        <p:spPr/>
        <p:txBody>
          <a:bodyPr/>
          <a:lstStyle/>
          <a:p>
            <a:r>
              <a:rPr lang="en-US" dirty="0"/>
              <a:t>General intelligence, or g, proposes that a single underlying cognitive resource drives performance across many tasks.</a:t>
            </a:r>
          </a:p>
          <a:p>
            <a:r>
              <a:rPr lang="en-US" dirty="0"/>
              <a:t>Supporters point to strong correlations among different test domains, suggesting a shared capacity for reasoning or processing.</a:t>
            </a:r>
          </a:p>
          <a:p>
            <a:r>
              <a:rPr lang="en-US" dirty="0"/>
              <a:t>This model has been influential in psychometrics and often shapes popular discussion about intelligence.</a:t>
            </a:r>
          </a:p>
          <a:p>
            <a:r>
              <a:rPr lang="en-US" dirty="0"/>
              <a:t>However, critics warn that a statistical pattern does not necessarily reflect a unified psychological mechanism.</a:t>
            </a:r>
          </a:p>
          <a:p>
            <a:endParaRPr lang="en-US" dirty="0"/>
          </a:p>
          <a:p>
            <a:r>
              <a:rPr lang="en-US" dirty="0"/>
              <a:t>The multiple intelligences view argues that cognitive abilities can be independent, with each domain having its own structure and development.</a:t>
            </a:r>
          </a:p>
          <a:p>
            <a:r>
              <a:rPr lang="en-US" dirty="0"/>
              <a:t>Cases like savants, talented artists with poor verbal skills, or individuals with strong social intelligence but weak math skills highlight this dissociation.</a:t>
            </a:r>
          </a:p>
          <a:p>
            <a:r>
              <a:rPr lang="en-US" dirty="0"/>
              <a:t>This perspective aligns with some findings from cognitive neuroscience showing partial modular specialization.</a:t>
            </a:r>
          </a:p>
          <a:p>
            <a:r>
              <a:rPr lang="en-US" dirty="0"/>
              <a:t>Its main challenge is that it sometimes broadens the concept of “intelligence” to include traits that may not be core cognitive capacities.</a:t>
            </a:r>
          </a:p>
          <a:p>
            <a:endParaRPr lang="en-US" dirty="0"/>
          </a:p>
          <a:p>
            <a:r>
              <a:rPr lang="en-US" dirty="0"/>
              <a:t>Hybrid models attempt to reconcile these positions by positing both a general factor and distinct domain-specific abilities.</a:t>
            </a:r>
          </a:p>
          <a:p>
            <a:r>
              <a:rPr lang="en-US" dirty="0"/>
              <a:t>These frameworks explain empirical data well by noting shared variance alongside meaningful patterns of divergence.</a:t>
            </a:r>
          </a:p>
          <a:p>
            <a:r>
              <a:rPr lang="en-US" dirty="0"/>
              <a:t>They acknowledge that some skills tend to cluster together while others can differ dramatically even within the same individual.</a:t>
            </a:r>
          </a:p>
          <a:p>
            <a:r>
              <a:rPr lang="en-US" dirty="0"/>
              <a:t>Still, the nature of the “general” component remains debated, raising questions about whether g reflects a real psychological construct or a statistical artifact.</a:t>
            </a:r>
          </a:p>
        </p:txBody>
      </p:sp>
      <p:sp>
        <p:nvSpPr>
          <p:cNvPr id="4" name="Slide Number Placeholder 3">
            <a:extLst>
              <a:ext uri="{FF2B5EF4-FFF2-40B4-BE49-F238E27FC236}">
                <a16:creationId xmlns:a16="http://schemas.microsoft.com/office/drawing/2014/main" id="{BB1D3C7A-31E0-428E-5DD0-5652FC7F42B0}"/>
              </a:ext>
            </a:extLst>
          </p:cNvPr>
          <p:cNvSpPr>
            <a:spLocks noGrp="1"/>
          </p:cNvSpPr>
          <p:nvPr>
            <p:ph type="sldNum" sz="quarter" idx="5"/>
          </p:nvPr>
        </p:nvSpPr>
        <p:spPr/>
        <p:txBody>
          <a:bodyPr/>
          <a:lstStyle/>
          <a:p>
            <a:fld id="{B0C32C59-1409-2640-866F-4A1083575A35}" type="slidenum">
              <a:rPr lang="en-US" smtClean="0"/>
              <a:t>7</a:t>
            </a:fld>
            <a:endParaRPr lang="en-US"/>
          </a:p>
        </p:txBody>
      </p:sp>
    </p:spTree>
    <p:extLst>
      <p:ext uri="{BB962C8B-B14F-4D97-AF65-F5344CB8AC3E}">
        <p14:creationId xmlns:p14="http://schemas.microsoft.com/office/powerpoint/2010/main" val="24451020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69085-45C9-4512-56E0-31D0F201B1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7EFD3F-28D3-4F66-D966-0890A39162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98C65C-BDFE-A5EB-2E51-FFA0D2F64901}"/>
              </a:ext>
            </a:extLst>
          </p:cNvPr>
          <p:cNvSpPr>
            <a:spLocks noGrp="1"/>
          </p:cNvSpPr>
          <p:nvPr>
            <p:ph type="body" idx="1"/>
          </p:nvPr>
        </p:nvSpPr>
        <p:spPr/>
        <p:txBody>
          <a:bodyPr/>
          <a:lstStyle/>
          <a:p>
            <a:r>
              <a:rPr lang="en-US" dirty="0"/>
              <a:t>This question asks whether intelligence is fundamentally connected to the body or whether it can exist independently of it.</a:t>
            </a:r>
          </a:p>
          <a:p>
            <a:r>
              <a:rPr lang="en-US" dirty="0"/>
              <a:t>Many classical theories assume cognition is substrate-independent, whereas many modern theories highlight embodiment as central to thought.</a:t>
            </a:r>
          </a:p>
          <a:p>
            <a:r>
              <a:rPr lang="en-US" dirty="0"/>
              <a:t>AI gives us new test cases—systems with no bodies that nonetheless display sophisticated behavior.</a:t>
            </a:r>
          </a:p>
          <a:p>
            <a:r>
              <a:rPr lang="en-US" dirty="0"/>
              <a:t>This tension reveals how unsettled the relationship between intelligence and embodiment remains.</a:t>
            </a:r>
          </a:p>
          <a:p>
            <a:endParaRPr lang="en-US" dirty="0"/>
          </a:p>
          <a:p>
            <a:r>
              <a:rPr lang="en-US" dirty="0"/>
              <a:t>The first </a:t>
            </a:r>
            <a:r>
              <a:rPr lang="en-US" dirty="0" err="1"/>
              <a:t>subquestion</a:t>
            </a:r>
            <a:r>
              <a:rPr lang="en-US" dirty="0"/>
              <a:t> examines whether intelligence requires direct sensory and motor engagement.</a:t>
            </a:r>
          </a:p>
          <a:p>
            <a:r>
              <a:rPr lang="en-US" dirty="0"/>
              <a:t>The brain-in-a-vat and text-only model examples force us to confront whether perception and action are optional or essential for thought.</a:t>
            </a:r>
          </a:p>
          <a:p>
            <a:r>
              <a:rPr lang="en-US" dirty="0"/>
              <a:t>If cognition is computational, such disembodied systems might still count as intelligent.</a:t>
            </a:r>
          </a:p>
          <a:p>
            <a:r>
              <a:rPr lang="en-US" dirty="0"/>
              <a:t>If cognition depends on interacting with the world, they would be fundamentally limited.</a:t>
            </a:r>
          </a:p>
          <a:p>
            <a:endParaRPr lang="en-US" dirty="0"/>
          </a:p>
          <a:p>
            <a:r>
              <a:rPr lang="en-US" dirty="0"/>
              <a:t>The second </a:t>
            </a:r>
            <a:r>
              <a:rPr lang="en-US" dirty="0" err="1"/>
              <a:t>subquestion</a:t>
            </a:r>
            <a:r>
              <a:rPr lang="en-US" dirty="0"/>
              <a:t> raises the idea that meaning may depend on embodied experience.</a:t>
            </a:r>
          </a:p>
          <a:p>
            <a:r>
              <a:rPr lang="en-US" dirty="0"/>
              <a:t>The example of a robot that cannot perceive texture challenges us to think about how concepts form without sensory grounding.</a:t>
            </a:r>
          </a:p>
          <a:p>
            <a:r>
              <a:rPr lang="en-US" dirty="0"/>
              <a:t>Embodied theorists argue that sensory-motor systems shape concepts from the ground up.</a:t>
            </a:r>
          </a:p>
          <a:p>
            <a:r>
              <a:rPr lang="en-US" dirty="0"/>
              <a:t>This perspective suggests that some aspects of intelligence may be impossible to achieve in disembodied agents.</a:t>
            </a:r>
          </a:p>
          <a:p>
            <a:endParaRPr lang="en-US" dirty="0"/>
          </a:p>
          <a:p>
            <a:r>
              <a:rPr lang="en-US" dirty="0"/>
              <a:t>The final </a:t>
            </a:r>
            <a:r>
              <a:rPr lang="en-US" dirty="0" err="1"/>
              <a:t>subquestion</a:t>
            </a:r>
            <a:r>
              <a:rPr lang="en-US" dirty="0"/>
              <a:t> invites us to interpret the fascinating case of LLMs.</a:t>
            </a:r>
          </a:p>
          <a:p>
            <a:r>
              <a:rPr lang="en-US" dirty="0"/>
              <a:t>These models can vividly describe bodily experience despite lacking any direct contact with the world.</a:t>
            </a:r>
          </a:p>
          <a:p>
            <a:r>
              <a:rPr lang="en-US" dirty="0"/>
              <a:t>This ability might suggest that embodiment is unnecessary, or it may just reflect the models’ exposure to human-generated text.</a:t>
            </a:r>
          </a:p>
          <a:p>
            <a:r>
              <a:rPr lang="en-US" dirty="0"/>
              <a:t>The ambiguity highlights why LLMs both challenge and reinforce debates about the role of the body in cognition.</a:t>
            </a:r>
          </a:p>
        </p:txBody>
      </p:sp>
      <p:sp>
        <p:nvSpPr>
          <p:cNvPr id="4" name="Slide Number Placeholder 3">
            <a:extLst>
              <a:ext uri="{FF2B5EF4-FFF2-40B4-BE49-F238E27FC236}">
                <a16:creationId xmlns:a16="http://schemas.microsoft.com/office/drawing/2014/main" id="{AD74256B-DFE2-3982-2767-C15D0428A638}"/>
              </a:ext>
            </a:extLst>
          </p:cNvPr>
          <p:cNvSpPr>
            <a:spLocks noGrp="1"/>
          </p:cNvSpPr>
          <p:nvPr>
            <p:ph type="sldNum" sz="quarter" idx="5"/>
          </p:nvPr>
        </p:nvSpPr>
        <p:spPr/>
        <p:txBody>
          <a:bodyPr/>
          <a:lstStyle/>
          <a:p>
            <a:fld id="{B0C32C59-1409-2640-866F-4A1083575A35}" type="slidenum">
              <a:rPr lang="en-US" smtClean="0"/>
              <a:t>8</a:t>
            </a:fld>
            <a:endParaRPr lang="en-US"/>
          </a:p>
        </p:txBody>
      </p:sp>
    </p:spTree>
    <p:extLst>
      <p:ext uri="{BB962C8B-B14F-4D97-AF65-F5344CB8AC3E}">
        <p14:creationId xmlns:p14="http://schemas.microsoft.com/office/powerpoint/2010/main" val="2663424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A920D-7C4D-D40B-CAA9-81D9E9D7B7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9003F7-CBD0-4DA8-6D80-B951991FB4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F13B09-EFB2-7A68-F5B2-9BDAA69A41D1}"/>
              </a:ext>
            </a:extLst>
          </p:cNvPr>
          <p:cNvSpPr>
            <a:spLocks noGrp="1"/>
          </p:cNvSpPr>
          <p:nvPr>
            <p:ph type="body" idx="1"/>
          </p:nvPr>
        </p:nvSpPr>
        <p:spPr/>
        <p:txBody>
          <a:bodyPr/>
          <a:lstStyle/>
          <a:p>
            <a:r>
              <a:rPr lang="en-US" dirty="0"/>
              <a:t>Embodied cognition argues that intelligence is deeply rooted in the body’s interactions with the world.</a:t>
            </a:r>
          </a:p>
          <a:p>
            <a:r>
              <a:rPr lang="en-US" dirty="0"/>
              <a:t>Supporters point to evidence that concepts often originate in sensorimotor experience and depend on bodily constraints.</a:t>
            </a:r>
          </a:p>
          <a:p>
            <a:r>
              <a:rPr lang="en-US" dirty="0"/>
              <a:t>Under this view, perception, action, and environmental engagement are not optional accessories but foundational to meaning and thought.</a:t>
            </a:r>
          </a:p>
          <a:p>
            <a:r>
              <a:rPr lang="en-US" dirty="0"/>
              <a:t>LLMs challenge this perspective by performing well without bodies, but their failures may reveal the limits of disembodied cognition.</a:t>
            </a:r>
          </a:p>
          <a:p>
            <a:endParaRPr lang="en-US" dirty="0"/>
          </a:p>
          <a:p>
            <a:r>
              <a:rPr lang="en-US" dirty="0"/>
              <a:t>Computationalism takes a sharply different stance, claiming that cognition is defined by information processing, not by the medium implementing it.</a:t>
            </a:r>
          </a:p>
          <a:p>
            <a:r>
              <a:rPr lang="en-US" dirty="0"/>
              <a:t>If thought is computational, then any system capable of the right functional organization—including digital systems—could in principle be intelligent.</a:t>
            </a:r>
          </a:p>
          <a:p>
            <a:r>
              <a:rPr lang="en-US" dirty="0"/>
              <a:t>This view supports the possibility of fully disembodied artificial intelligence.</a:t>
            </a:r>
          </a:p>
          <a:p>
            <a:r>
              <a:rPr lang="en-US" dirty="0"/>
              <a:t>Its critics argue that it struggles to explain how abstract computations acquire meaning without grounding in real experience.</a:t>
            </a:r>
          </a:p>
          <a:p>
            <a:endParaRPr lang="en-US" dirty="0"/>
          </a:p>
          <a:p>
            <a:r>
              <a:rPr lang="en-US" dirty="0"/>
              <a:t>The middle position attempts to reconcile these perspectives by suggesting that embodiment is necessary for some forms of intelligence but not others.</a:t>
            </a:r>
          </a:p>
          <a:p>
            <a:r>
              <a:rPr lang="en-US" dirty="0"/>
              <a:t>For example, language manipulation or symbolic reasoning might be partially disembodied, while social cognition or physical reasoning might require bodily grounding.</a:t>
            </a:r>
          </a:p>
          <a:p>
            <a:r>
              <a:rPr lang="en-US" dirty="0"/>
              <a:t>This approach helps explain why LLMs show impressive linguistic abilities yet struggle with tasks requiring real-world understanding.</a:t>
            </a:r>
          </a:p>
          <a:p>
            <a:r>
              <a:rPr lang="en-US" dirty="0"/>
              <a:t>The main challenge is identifying which aspects of intelligence depend on embodiment and why those dependencies exist.</a:t>
            </a:r>
          </a:p>
        </p:txBody>
      </p:sp>
      <p:sp>
        <p:nvSpPr>
          <p:cNvPr id="4" name="Slide Number Placeholder 3">
            <a:extLst>
              <a:ext uri="{FF2B5EF4-FFF2-40B4-BE49-F238E27FC236}">
                <a16:creationId xmlns:a16="http://schemas.microsoft.com/office/drawing/2014/main" id="{590A45FC-AAE8-A2A6-9A3B-613D0161B184}"/>
              </a:ext>
            </a:extLst>
          </p:cNvPr>
          <p:cNvSpPr>
            <a:spLocks noGrp="1"/>
          </p:cNvSpPr>
          <p:nvPr>
            <p:ph type="sldNum" sz="quarter" idx="5"/>
          </p:nvPr>
        </p:nvSpPr>
        <p:spPr/>
        <p:txBody>
          <a:bodyPr/>
          <a:lstStyle/>
          <a:p>
            <a:fld id="{B0C32C59-1409-2640-866F-4A1083575A35}" type="slidenum">
              <a:rPr lang="en-US" smtClean="0"/>
              <a:t>9</a:t>
            </a:fld>
            <a:endParaRPr lang="en-US"/>
          </a:p>
        </p:txBody>
      </p:sp>
    </p:spTree>
    <p:extLst>
      <p:ext uri="{BB962C8B-B14F-4D97-AF65-F5344CB8AC3E}">
        <p14:creationId xmlns:p14="http://schemas.microsoft.com/office/powerpoint/2010/main" val="24653565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F44058-0E7D-93CB-B44E-2D3711A049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F75588-25CA-51B7-DF98-BB0010F550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DF1297-415F-78A7-751E-4ECBAB1866C1}"/>
              </a:ext>
            </a:extLst>
          </p:cNvPr>
          <p:cNvSpPr>
            <a:spLocks noGrp="1"/>
          </p:cNvSpPr>
          <p:nvPr>
            <p:ph type="body" idx="1"/>
          </p:nvPr>
        </p:nvSpPr>
        <p:spPr/>
        <p:txBody>
          <a:bodyPr/>
          <a:lstStyle/>
          <a:p>
            <a:r>
              <a:rPr lang="en-US" dirty="0"/>
              <a:t>This question asks whether intelligent behavior is sufficient evidence for intelligence, or whether we need more than outward appearance.</a:t>
            </a:r>
          </a:p>
          <a:p>
            <a:r>
              <a:rPr lang="en-US" dirty="0"/>
              <a:t>It forces us to examine what we rely on when judging the intelligence of humans, animals, or machines.</a:t>
            </a:r>
          </a:p>
          <a:p>
            <a:r>
              <a:rPr lang="en-US" dirty="0"/>
              <a:t>The Turing Test traditionally centers on behavior, but modern AI systems complicate how persuasive behavioral evidence can be.</a:t>
            </a:r>
          </a:p>
          <a:p>
            <a:r>
              <a:rPr lang="en-US" dirty="0"/>
              <a:t>This question encourages us to think about both the power and limits of behavioral criteria for intelligence.</a:t>
            </a:r>
          </a:p>
          <a:p>
            <a:endParaRPr lang="en-US" dirty="0"/>
          </a:p>
          <a:p>
            <a:r>
              <a:rPr lang="en-US" dirty="0"/>
              <a:t>The first </a:t>
            </a:r>
            <a:r>
              <a:rPr lang="en-US" dirty="0" err="1"/>
              <a:t>subquestion</a:t>
            </a:r>
            <a:r>
              <a:rPr lang="en-US" dirty="0"/>
              <a:t> brings in the classic idea that if something behaves intelligently, we should treat it as intelligent.</a:t>
            </a:r>
          </a:p>
          <a:p>
            <a:r>
              <a:rPr lang="en-US" dirty="0"/>
              <a:t>The Turing Test example highlights a behavioral benchmark that avoids questions about internal states.</a:t>
            </a:r>
          </a:p>
          <a:p>
            <a:r>
              <a:rPr lang="en-US" dirty="0"/>
              <a:t>Some argue that behavior is all we can ever observe, so it should be our standard.</a:t>
            </a:r>
          </a:p>
          <a:p>
            <a:r>
              <a:rPr lang="en-US" dirty="0"/>
              <a:t>Others point out that sophisticated imitation may mask deep differences between genuine cognition and surface-level mimicry.</a:t>
            </a:r>
          </a:p>
          <a:p>
            <a:endParaRPr lang="en-US" dirty="0"/>
          </a:p>
          <a:p>
            <a:r>
              <a:rPr lang="en-US" dirty="0"/>
              <a:t>The second </a:t>
            </a:r>
            <a:r>
              <a:rPr lang="en-US" dirty="0" err="1"/>
              <a:t>subquestion</a:t>
            </a:r>
            <a:r>
              <a:rPr lang="en-US" dirty="0"/>
              <a:t> raises the issue that intelligent-looking behavior can arise from processes that are not truly cognitive.</a:t>
            </a:r>
          </a:p>
          <a:p>
            <a:r>
              <a:rPr lang="en-US" dirty="0"/>
              <a:t>The example of a person who guesses correctly emphasizes that correctness alone does not imply understanding.</a:t>
            </a:r>
          </a:p>
          <a:p>
            <a:r>
              <a:rPr lang="en-US" dirty="0"/>
              <a:t>Many AI models show similarly misleading successes by exploiting statistical shortcuts.</a:t>
            </a:r>
          </a:p>
          <a:p>
            <a:r>
              <a:rPr lang="en-US" dirty="0"/>
              <a:t>This distinction helps us appreciate why not all competent behavior is equal.</a:t>
            </a:r>
          </a:p>
          <a:p>
            <a:endParaRPr lang="en-US" dirty="0"/>
          </a:p>
          <a:p>
            <a:r>
              <a:rPr lang="en-US" dirty="0"/>
              <a:t>The final </a:t>
            </a:r>
            <a:r>
              <a:rPr lang="en-US" dirty="0" err="1"/>
              <a:t>subquestion</a:t>
            </a:r>
            <a:r>
              <a:rPr lang="en-US" dirty="0"/>
              <a:t> focuses on the risk of being deceived by fluent or confident output.</a:t>
            </a:r>
          </a:p>
          <a:p>
            <a:r>
              <a:rPr lang="en-US" dirty="0"/>
              <a:t>LLMs, for instance, often produce plausible-sounding answers that are factually incorrect or conceptually shallow.</a:t>
            </a:r>
          </a:p>
          <a:p>
            <a:r>
              <a:rPr lang="en-US" dirty="0"/>
              <a:t>These systems highlight how easily humans anthropomorphize and over-ascribe intelligence to competent-seeming behavior.</a:t>
            </a:r>
          </a:p>
          <a:p>
            <a:r>
              <a:rPr lang="en-US" dirty="0"/>
              <a:t>Emphasizing this risk helps us stay skeptical when evaluating AI performance in later lectures.</a:t>
            </a:r>
          </a:p>
        </p:txBody>
      </p:sp>
      <p:sp>
        <p:nvSpPr>
          <p:cNvPr id="4" name="Slide Number Placeholder 3">
            <a:extLst>
              <a:ext uri="{FF2B5EF4-FFF2-40B4-BE49-F238E27FC236}">
                <a16:creationId xmlns:a16="http://schemas.microsoft.com/office/drawing/2014/main" id="{A70DF292-34F5-1497-C008-5F4CC7CEB713}"/>
              </a:ext>
            </a:extLst>
          </p:cNvPr>
          <p:cNvSpPr>
            <a:spLocks noGrp="1"/>
          </p:cNvSpPr>
          <p:nvPr>
            <p:ph type="sldNum" sz="quarter" idx="5"/>
          </p:nvPr>
        </p:nvSpPr>
        <p:spPr/>
        <p:txBody>
          <a:bodyPr/>
          <a:lstStyle/>
          <a:p>
            <a:fld id="{B0C32C59-1409-2640-866F-4A1083575A35}" type="slidenum">
              <a:rPr lang="en-US" smtClean="0"/>
              <a:t>10</a:t>
            </a:fld>
            <a:endParaRPr lang="en-US"/>
          </a:p>
        </p:txBody>
      </p:sp>
    </p:spTree>
    <p:extLst>
      <p:ext uri="{BB962C8B-B14F-4D97-AF65-F5344CB8AC3E}">
        <p14:creationId xmlns:p14="http://schemas.microsoft.com/office/powerpoint/2010/main" val="33814172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49361-2C87-A0BC-97E3-E714E9E0E2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8A9365-700D-7864-6E42-3DC2C119B3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4FDFFB-A5CE-CAC3-560E-8BAE02C7CC6B}"/>
              </a:ext>
            </a:extLst>
          </p:cNvPr>
          <p:cNvSpPr>
            <a:spLocks noGrp="1"/>
          </p:cNvSpPr>
          <p:nvPr>
            <p:ph type="body" idx="1"/>
          </p:nvPr>
        </p:nvSpPr>
        <p:spPr/>
        <p:txBody>
          <a:bodyPr/>
          <a:lstStyle/>
          <a:p>
            <a:r>
              <a:rPr lang="en-US" dirty="0"/>
              <a:t>The behavioral criterion defines intelligence purely in terms of observable performance.</a:t>
            </a:r>
          </a:p>
          <a:p>
            <a:r>
              <a:rPr lang="en-US" dirty="0"/>
              <a:t>Supporters argue that internal states are inaccessible, so judging intelligence by behavior is the most objective approach.</a:t>
            </a:r>
          </a:p>
          <a:p>
            <a:r>
              <a:rPr lang="en-US" dirty="0"/>
              <a:t>This perspective aligns with the Turing Test and with some traditions in psychology that focus on measurable output.</a:t>
            </a:r>
          </a:p>
          <a:p>
            <a:r>
              <a:rPr lang="en-US" dirty="0"/>
              <a:t>Its weakness is that deceptive, imitative, or superficial behavior may mislead us about a system’s underlying capacities.</a:t>
            </a:r>
          </a:p>
          <a:p>
            <a:endParaRPr lang="en-US" dirty="0"/>
          </a:p>
          <a:p>
            <a:r>
              <a:rPr lang="en-US" dirty="0"/>
              <a:t>The representational view holds that intelligence requires internal states that encode meaning or structure.</a:t>
            </a:r>
          </a:p>
          <a:p>
            <a:r>
              <a:rPr lang="en-US" dirty="0"/>
              <a:t>This approach argues that behavior alone cannot tell us whether a system understands or merely simulates understanding.</a:t>
            </a:r>
          </a:p>
          <a:p>
            <a:r>
              <a:rPr lang="en-US" dirty="0"/>
              <a:t>It resonates with everyday intuitions: we assume that thinking involves having concepts, beliefs, and internal models of the world.</a:t>
            </a:r>
          </a:p>
          <a:p>
            <a:r>
              <a:rPr lang="en-US" dirty="0"/>
              <a:t>Critiques of AI systems often come from this perspective, treating representation as a prerequisite for genuine cognition.</a:t>
            </a:r>
          </a:p>
          <a:p>
            <a:endParaRPr lang="en-US" dirty="0"/>
          </a:p>
          <a:p>
            <a:r>
              <a:rPr lang="en-US" dirty="0"/>
              <a:t>But the representational view is not without challenges, even though it is intuitively appealing.</a:t>
            </a:r>
          </a:p>
          <a:p>
            <a:r>
              <a:rPr lang="en-US" dirty="0"/>
              <a:t>One issue is that “representation” itself is a slippery concept: it can refer to symbols, patterns, neural activations, or abstract structures.</a:t>
            </a:r>
          </a:p>
          <a:p>
            <a:r>
              <a:rPr lang="en-US" dirty="0"/>
              <a:t>Another problem is that internal representations are difficult to observe directly, making it hard to test claims about whether they exist in humans or machines.</a:t>
            </a:r>
          </a:p>
          <a:p>
            <a:r>
              <a:rPr lang="en-US" dirty="0"/>
              <a:t>Finally, some argue that insisting on representation as the hallmark of intelligence may smuggle in assumptions drawn from human cognition that need not apply to artificial systems.</a:t>
            </a:r>
          </a:p>
          <a:p>
            <a:endParaRPr lang="en-US" dirty="0"/>
          </a:p>
          <a:p>
            <a:r>
              <a:rPr lang="en-US" dirty="0"/>
              <a:t>The pragmatic view takes a middle ground, treating behavior as important evidence but not the final word.</a:t>
            </a:r>
          </a:p>
          <a:p>
            <a:r>
              <a:rPr lang="en-US" dirty="0"/>
              <a:t>From this standpoint, intelligent output suggests cognitive competence but must be interpreted alongside mechanism and context.</a:t>
            </a:r>
          </a:p>
          <a:p>
            <a:r>
              <a:rPr lang="en-US" dirty="0"/>
              <a:t>This position helps explain why LLMs appear smart in some contexts but fail in others—they exhibit intelligence-like behavior without all of its supporting architecture.</a:t>
            </a:r>
          </a:p>
          <a:p>
            <a:r>
              <a:rPr lang="en-US" dirty="0"/>
              <a:t>The advantage of this view is that it preserves the usefulness of behavioral tests while acknowledging their limitations.</a:t>
            </a:r>
          </a:p>
        </p:txBody>
      </p:sp>
      <p:sp>
        <p:nvSpPr>
          <p:cNvPr id="4" name="Slide Number Placeholder 3">
            <a:extLst>
              <a:ext uri="{FF2B5EF4-FFF2-40B4-BE49-F238E27FC236}">
                <a16:creationId xmlns:a16="http://schemas.microsoft.com/office/drawing/2014/main" id="{1FACB218-FC12-7C35-8693-DBDDAE74DFC5}"/>
              </a:ext>
            </a:extLst>
          </p:cNvPr>
          <p:cNvSpPr>
            <a:spLocks noGrp="1"/>
          </p:cNvSpPr>
          <p:nvPr>
            <p:ph type="sldNum" sz="quarter" idx="5"/>
          </p:nvPr>
        </p:nvSpPr>
        <p:spPr/>
        <p:txBody>
          <a:bodyPr/>
          <a:lstStyle/>
          <a:p>
            <a:fld id="{B0C32C59-1409-2640-866F-4A1083575A35}" type="slidenum">
              <a:rPr lang="en-US" smtClean="0"/>
              <a:t>11</a:t>
            </a:fld>
            <a:endParaRPr lang="en-US"/>
          </a:p>
        </p:txBody>
      </p:sp>
    </p:spTree>
    <p:extLst>
      <p:ext uri="{BB962C8B-B14F-4D97-AF65-F5344CB8AC3E}">
        <p14:creationId xmlns:p14="http://schemas.microsoft.com/office/powerpoint/2010/main" val="19893851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E0F209-D80C-1166-E187-311F3925CE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648381-2324-8495-EF3F-49D73BD18F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5AA67E-FD61-412A-34F0-0A8226FF7DAC}"/>
              </a:ext>
            </a:extLst>
          </p:cNvPr>
          <p:cNvSpPr>
            <a:spLocks noGrp="1"/>
          </p:cNvSpPr>
          <p:nvPr>
            <p:ph type="body" idx="1"/>
          </p:nvPr>
        </p:nvSpPr>
        <p:spPr/>
        <p:txBody>
          <a:bodyPr/>
          <a:lstStyle/>
          <a:p>
            <a:r>
              <a:rPr lang="en-US" dirty="0"/>
              <a:t>This question asks us to wrestle with the difference between generating correct output and genuinely understanding something.</a:t>
            </a:r>
          </a:p>
          <a:p>
            <a:r>
              <a:rPr lang="en-US" dirty="0"/>
              <a:t>AI systems, especially LLMs, produce fluent and coherent language that often looks like understanding to human observers.</a:t>
            </a:r>
          </a:p>
          <a:p>
            <a:r>
              <a:rPr lang="en-US" dirty="0"/>
              <a:t>But whether this competence reflects real comprehension or sophisticated pattern recognition remains deeply contested.</a:t>
            </a:r>
          </a:p>
          <a:p>
            <a:r>
              <a:rPr lang="en-US" dirty="0"/>
              <a:t>This question frames the central tension between surface-level performance and deeper cognitive processes.</a:t>
            </a:r>
          </a:p>
          <a:p>
            <a:endParaRPr lang="en-US" dirty="0"/>
          </a:p>
          <a:p>
            <a:r>
              <a:rPr lang="en-US" dirty="0"/>
              <a:t>The first </a:t>
            </a:r>
            <a:r>
              <a:rPr lang="en-US" dirty="0" err="1"/>
              <a:t>subquestion</a:t>
            </a:r>
            <a:r>
              <a:rPr lang="en-US" dirty="0"/>
              <a:t> highlights the increasingly common claim that prediction might itself count as understanding.</a:t>
            </a:r>
          </a:p>
          <a:p>
            <a:r>
              <a:rPr lang="en-US" dirty="0"/>
              <a:t>The example of an LLM predicting the next word challenges us to consider whether successful anticipation reflects conceptual knowledge.</a:t>
            </a:r>
          </a:p>
          <a:p>
            <a:r>
              <a:rPr lang="en-US" dirty="0"/>
              <a:t>If prediction is central to human cognition, as some theories suggest, perhaps machines that predict well do understand to some degree.</a:t>
            </a:r>
          </a:p>
          <a:p>
            <a:r>
              <a:rPr lang="en-US" dirty="0"/>
              <a:t>On the other hand, prediction might produce the appearance of understanding without replicating the underlying mental processes.</a:t>
            </a:r>
          </a:p>
          <a:p>
            <a:endParaRPr lang="en-US" dirty="0"/>
          </a:p>
          <a:p>
            <a:r>
              <a:rPr lang="en-US" dirty="0"/>
              <a:t>The second </a:t>
            </a:r>
            <a:r>
              <a:rPr lang="en-US" dirty="0" err="1"/>
              <a:t>subquestion</a:t>
            </a:r>
            <a:r>
              <a:rPr lang="en-US" dirty="0"/>
              <a:t> raises the grounding problem: does meaning require sensory or embodied experience?</a:t>
            </a:r>
          </a:p>
          <a:p>
            <a:r>
              <a:rPr lang="en-US" dirty="0"/>
              <a:t>The “robot that has never seen red” example forces us to consider whether concepts can form without perceptual anchoring.</a:t>
            </a:r>
          </a:p>
          <a:p>
            <a:r>
              <a:rPr lang="en-US" dirty="0"/>
              <a:t>Grounding theorists argue that without embodiment, systems cannot attach meaning to symbols or words.</a:t>
            </a:r>
          </a:p>
          <a:p>
            <a:r>
              <a:rPr lang="en-US" dirty="0"/>
              <a:t>This concern becomes especially pressing as AI systems scale without any sensory access to the world.</a:t>
            </a:r>
          </a:p>
          <a:p>
            <a:endParaRPr lang="en-US" dirty="0"/>
          </a:p>
          <a:p>
            <a:r>
              <a:rPr lang="en-US" dirty="0"/>
              <a:t>The final </a:t>
            </a:r>
            <a:r>
              <a:rPr lang="en-US" dirty="0" err="1"/>
              <a:t>subquestion</a:t>
            </a:r>
            <a:r>
              <a:rPr lang="en-US" dirty="0"/>
              <a:t> focuses on the distinction between possessing concepts and merely reproducing statistical patterns.</a:t>
            </a:r>
          </a:p>
          <a:p>
            <a:r>
              <a:rPr lang="en-US" dirty="0"/>
              <a:t>If a model clusters birds together because of distributional patterns in text, is that equivalent to having the concept of “bird”?</a:t>
            </a:r>
          </a:p>
          <a:p>
            <a:r>
              <a:rPr lang="en-US" dirty="0"/>
              <a:t>Some argue that conceptual structure emerges from relational patterns in data, while others believe true concepts require more than correlations.</a:t>
            </a:r>
          </a:p>
          <a:p>
            <a:r>
              <a:rPr lang="en-US" dirty="0"/>
              <a:t>This tension reveals why understanding is one of the most philosophically charged questions in AI.</a:t>
            </a:r>
          </a:p>
        </p:txBody>
      </p:sp>
      <p:sp>
        <p:nvSpPr>
          <p:cNvPr id="4" name="Slide Number Placeholder 3">
            <a:extLst>
              <a:ext uri="{FF2B5EF4-FFF2-40B4-BE49-F238E27FC236}">
                <a16:creationId xmlns:a16="http://schemas.microsoft.com/office/drawing/2014/main" id="{114ADB82-3B9A-AA4A-342C-84C55A71C779}"/>
              </a:ext>
            </a:extLst>
          </p:cNvPr>
          <p:cNvSpPr>
            <a:spLocks noGrp="1"/>
          </p:cNvSpPr>
          <p:nvPr>
            <p:ph type="sldNum" sz="quarter" idx="5"/>
          </p:nvPr>
        </p:nvSpPr>
        <p:spPr/>
        <p:txBody>
          <a:bodyPr/>
          <a:lstStyle/>
          <a:p>
            <a:fld id="{B0C32C59-1409-2640-866F-4A1083575A35}" type="slidenum">
              <a:rPr lang="en-US" smtClean="0"/>
              <a:t>12</a:t>
            </a:fld>
            <a:endParaRPr lang="en-US"/>
          </a:p>
        </p:txBody>
      </p:sp>
    </p:spTree>
    <p:extLst>
      <p:ext uri="{BB962C8B-B14F-4D97-AF65-F5344CB8AC3E}">
        <p14:creationId xmlns:p14="http://schemas.microsoft.com/office/powerpoint/2010/main" val="42719317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F33F7B-7006-AF11-76B7-B8504DF92C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822E0D-C001-A517-6317-177DC4A167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1AB881-D4A9-695A-4469-5EB5847C7194}"/>
              </a:ext>
            </a:extLst>
          </p:cNvPr>
          <p:cNvSpPr>
            <a:spLocks noGrp="1"/>
          </p:cNvSpPr>
          <p:nvPr>
            <p:ph type="body" idx="1"/>
          </p:nvPr>
        </p:nvSpPr>
        <p:spPr/>
        <p:txBody>
          <a:bodyPr/>
          <a:lstStyle/>
          <a:p>
            <a:r>
              <a:rPr lang="en-US" dirty="0"/>
              <a:t>Symbolic semantics argues that understanding involves manipulating structured internal symbols that carry explicit meaning.</a:t>
            </a:r>
          </a:p>
          <a:p>
            <a:r>
              <a:rPr lang="en-US" dirty="0"/>
              <a:t>According to this view, cognition requires representations that encode concepts, rules, and relationships in a systematic way.</a:t>
            </a:r>
          </a:p>
          <a:p>
            <a:r>
              <a:rPr lang="en-US" dirty="0"/>
              <a:t>Supporters claim that without such symbol structures, systems cannot genuinely reason or understand, no matter how fluent their output appears.</a:t>
            </a:r>
          </a:p>
          <a:p>
            <a:r>
              <a:rPr lang="en-US" dirty="0"/>
              <a:t>The challenge is explaining how these symbols acquire meaning and determining whether any artificial systems truly possess them.</a:t>
            </a:r>
          </a:p>
          <a:p>
            <a:endParaRPr lang="en-US" dirty="0"/>
          </a:p>
          <a:p>
            <a:r>
              <a:rPr lang="en-US" dirty="0"/>
              <a:t>Distributed representation proposes that understanding emerges from patterns across many simple units rather than explicit symbols.</a:t>
            </a:r>
          </a:p>
          <a:p>
            <a:r>
              <a:rPr lang="en-US" dirty="0"/>
              <a:t>Here, relational structure and similarity patterns encode conceptual information implicitly.</a:t>
            </a:r>
          </a:p>
          <a:p>
            <a:r>
              <a:rPr lang="en-US" dirty="0"/>
              <a:t>Supporters argue that these representations can capture subtle gradients and flexible associations that symbolic systems struggle with.</a:t>
            </a:r>
          </a:p>
          <a:p>
            <a:r>
              <a:rPr lang="en-US" dirty="0"/>
              <a:t>Critics question whether distributed patterns, however rich, are sufficient to ground genuine conceptual understanding.</a:t>
            </a:r>
          </a:p>
          <a:p>
            <a:endParaRPr lang="en-US" dirty="0"/>
          </a:p>
          <a:p>
            <a:r>
              <a:rPr lang="en-US" dirty="0"/>
              <a:t>Grounded meaning emphasizes that true understanding requires perceptual or embodied experience.</a:t>
            </a:r>
          </a:p>
          <a:p>
            <a:r>
              <a:rPr lang="en-US" dirty="0"/>
              <a:t>From this standpoint, concepts are anchored in sensorimotor interactions with the world, and purely textual systems cannot fully grasp what words refer to.</a:t>
            </a:r>
          </a:p>
          <a:p>
            <a:r>
              <a:rPr lang="en-US" dirty="0"/>
              <a:t>Evidence from human development supports this view: early concepts depend heavily on perception and action.</a:t>
            </a:r>
          </a:p>
          <a:p>
            <a:r>
              <a:rPr lang="en-US" dirty="0"/>
              <a:t>The difficulty is deciding whether advances in multimodal AI or simulated environments might eventually approximate grounding in meaningful ways.</a:t>
            </a:r>
          </a:p>
        </p:txBody>
      </p:sp>
      <p:sp>
        <p:nvSpPr>
          <p:cNvPr id="4" name="Slide Number Placeholder 3">
            <a:extLst>
              <a:ext uri="{FF2B5EF4-FFF2-40B4-BE49-F238E27FC236}">
                <a16:creationId xmlns:a16="http://schemas.microsoft.com/office/drawing/2014/main" id="{3F852064-85BC-9BAE-5BBA-40DA8D193C8E}"/>
              </a:ext>
            </a:extLst>
          </p:cNvPr>
          <p:cNvSpPr>
            <a:spLocks noGrp="1"/>
          </p:cNvSpPr>
          <p:nvPr>
            <p:ph type="sldNum" sz="quarter" idx="5"/>
          </p:nvPr>
        </p:nvSpPr>
        <p:spPr/>
        <p:txBody>
          <a:bodyPr/>
          <a:lstStyle/>
          <a:p>
            <a:fld id="{B0C32C59-1409-2640-866F-4A1083575A35}" type="slidenum">
              <a:rPr lang="en-US" smtClean="0"/>
              <a:t>13</a:t>
            </a:fld>
            <a:endParaRPr lang="en-US"/>
          </a:p>
        </p:txBody>
      </p:sp>
    </p:spTree>
    <p:extLst>
      <p:ext uri="{BB962C8B-B14F-4D97-AF65-F5344CB8AC3E}">
        <p14:creationId xmlns:p14="http://schemas.microsoft.com/office/powerpoint/2010/main" val="13272153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41832E-52D4-7D0F-E90F-5BEFD8D64F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794C6F-2A20-130D-7736-F65B58DACE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479504-11AC-5F18-7521-B2EB4B69B796}"/>
              </a:ext>
            </a:extLst>
          </p:cNvPr>
          <p:cNvSpPr>
            <a:spLocks noGrp="1"/>
          </p:cNvSpPr>
          <p:nvPr>
            <p:ph type="body" idx="1"/>
          </p:nvPr>
        </p:nvSpPr>
        <p:spPr/>
        <p:txBody>
          <a:bodyPr/>
          <a:lstStyle/>
          <a:p>
            <a:r>
              <a:rPr lang="en-US" dirty="0"/>
              <a:t>This question explores the increasingly influential idea that the brain is fundamentally a prediction engine.</a:t>
            </a:r>
          </a:p>
          <a:p>
            <a:r>
              <a:rPr lang="en-US" dirty="0"/>
              <a:t>Predictive processing theories suggest that perception, action, and cognition all revolve around anticipating incoming information.</a:t>
            </a:r>
          </a:p>
          <a:p>
            <a:r>
              <a:rPr lang="en-US" dirty="0"/>
              <a:t>If this view is correct, then intelligence might be understood primarily as the ability to generate and refine predictions.</a:t>
            </a:r>
          </a:p>
          <a:p>
            <a:r>
              <a:rPr lang="en-US" dirty="0"/>
              <a:t>This framing becomes particularly relevant when we compare human cognition to modern predictive AI systems.</a:t>
            </a:r>
          </a:p>
          <a:p>
            <a:endParaRPr lang="en-US" dirty="0"/>
          </a:p>
          <a:p>
            <a:r>
              <a:rPr lang="en-US" dirty="0"/>
              <a:t>The first </a:t>
            </a:r>
            <a:r>
              <a:rPr lang="en-US" dirty="0" err="1"/>
              <a:t>subquestion</a:t>
            </a:r>
            <a:r>
              <a:rPr lang="en-US" dirty="0"/>
              <a:t> asks whether prediction could be the central mechanism behind thought.</a:t>
            </a:r>
          </a:p>
          <a:p>
            <a:r>
              <a:rPr lang="en-US" dirty="0"/>
              <a:t>The example of the brain “guessing what comes next” reflects a view that reduces perception to controlled hallucination constrained by sensory input.</a:t>
            </a:r>
          </a:p>
          <a:p>
            <a:r>
              <a:rPr lang="en-US" dirty="0"/>
              <a:t>Supporters argue that this perspective unifies many cognitive functions under a single framework.</a:t>
            </a:r>
          </a:p>
          <a:p>
            <a:r>
              <a:rPr lang="en-US" dirty="0"/>
              <a:t>Critics worry that it oversimplifies the diversity of mental processes and ignores capacities that seem less predictive in nature.</a:t>
            </a:r>
          </a:p>
          <a:p>
            <a:endParaRPr lang="en-US" dirty="0"/>
          </a:p>
          <a:p>
            <a:r>
              <a:rPr lang="en-US" dirty="0"/>
              <a:t>The second </a:t>
            </a:r>
            <a:r>
              <a:rPr lang="en-US" dirty="0" err="1"/>
              <a:t>subquestion</a:t>
            </a:r>
            <a:r>
              <a:rPr lang="en-US" dirty="0"/>
              <a:t> considers whether generative models are enough for genuine understanding.</a:t>
            </a:r>
          </a:p>
          <a:p>
            <a:r>
              <a:rPr lang="en-US" dirty="0"/>
              <a:t>The thought experiment of a system generating plausible explanations raises the issue of whether surface coherence equals comprehension.</a:t>
            </a:r>
          </a:p>
          <a:p>
            <a:r>
              <a:rPr lang="en-US" dirty="0"/>
              <a:t>Some researchers argue that generating appropriate output requires deep internal models, while others think generative behavior can arise without real conceptual structure.</a:t>
            </a:r>
          </a:p>
          <a:p>
            <a:r>
              <a:rPr lang="en-US" dirty="0"/>
              <a:t>This tension maps directly onto debates about whether predictive AI systems “understand” anything at all.</a:t>
            </a:r>
          </a:p>
          <a:p>
            <a:endParaRPr lang="en-US" dirty="0"/>
          </a:p>
          <a:p>
            <a:r>
              <a:rPr lang="en-US" dirty="0"/>
              <a:t>The final </a:t>
            </a:r>
            <a:r>
              <a:rPr lang="en-US" dirty="0" err="1"/>
              <a:t>subquestion</a:t>
            </a:r>
            <a:r>
              <a:rPr lang="en-US" dirty="0"/>
              <a:t> brings LLMs into the discussion as real-world test cases.</a:t>
            </a:r>
          </a:p>
          <a:p>
            <a:r>
              <a:rPr lang="en-US" dirty="0"/>
              <a:t>LLMs excel at prediction yet falter on tasks involving grounding, common sense, or goal-directed reasoning.</a:t>
            </a:r>
          </a:p>
          <a:p>
            <a:r>
              <a:rPr lang="en-US" dirty="0"/>
              <a:t>These strengths and weaknesses complicate strong predictive-processing claims by showing what prediction can and cannot achieve.</a:t>
            </a:r>
          </a:p>
          <a:p>
            <a:r>
              <a:rPr lang="en-US" dirty="0"/>
              <a:t>Comparing humans and LLMs helps us see both the power and the limits of prediction-based theories of intelligence.</a:t>
            </a:r>
          </a:p>
        </p:txBody>
      </p:sp>
      <p:sp>
        <p:nvSpPr>
          <p:cNvPr id="4" name="Slide Number Placeholder 3">
            <a:extLst>
              <a:ext uri="{FF2B5EF4-FFF2-40B4-BE49-F238E27FC236}">
                <a16:creationId xmlns:a16="http://schemas.microsoft.com/office/drawing/2014/main" id="{FC1198B5-E826-D04B-C2AE-63DDC9FCA9A0}"/>
              </a:ext>
            </a:extLst>
          </p:cNvPr>
          <p:cNvSpPr>
            <a:spLocks noGrp="1"/>
          </p:cNvSpPr>
          <p:nvPr>
            <p:ph type="sldNum" sz="quarter" idx="5"/>
          </p:nvPr>
        </p:nvSpPr>
        <p:spPr/>
        <p:txBody>
          <a:bodyPr/>
          <a:lstStyle/>
          <a:p>
            <a:fld id="{B0C32C59-1409-2640-866F-4A1083575A35}" type="slidenum">
              <a:rPr lang="en-US" smtClean="0"/>
              <a:t>14</a:t>
            </a:fld>
            <a:endParaRPr lang="en-US"/>
          </a:p>
        </p:txBody>
      </p:sp>
    </p:spTree>
    <p:extLst>
      <p:ext uri="{BB962C8B-B14F-4D97-AF65-F5344CB8AC3E}">
        <p14:creationId xmlns:p14="http://schemas.microsoft.com/office/powerpoint/2010/main" val="779685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3CE18C-C625-3D6D-F008-1BBB255674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0C6E46-945F-D270-0FDF-30B36C0042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A4AC3F-B0E2-38DB-D375-646498E9669B}"/>
              </a:ext>
            </a:extLst>
          </p:cNvPr>
          <p:cNvSpPr>
            <a:spLocks noGrp="1"/>
          </p:cNvSpPr>
          <p:nvPr>
            <p:ph type="body" idx="1"/>
          </p:nvPr>
        </p:nvSpPr>
        <p:spPr/>
        <p:txBody>
          <a:bodyPr/>
          <a:lstStyle/>
          <a:p>
            <a:r>
              <a:rPr lang="en-US" dirty="0"/>
              <a:t>Predictive processing proposes that the brain is fundamentally a prediction machine, constantly anticipating sensory input and adjusting its models.</a:t>
            </a:r>
          </a:p>
          <a:p>
            <a:r>
              <a:rPr lang="en-US" dirty="0"/>
              <a:t>Supporters argue that this framework unifies perception, action, and thought under a single mechanism.</a:t>
            </a:r>
          </a:p>
          <a:p>
            <a:r>
              <a:rPr lang="en-US" dirty="0"/>
              <a:t>From this perspective, intelligence emerges from minimizing prediction errors through increasingly refined internal models.</a:t>
            </a:r>
          </a:p>
          <a:p>
            <a:r>
              <a:rPr lang="en-US" dirty="0"/>
              <a:t>The appeal of this view lies in its elegance and its ability to connect many cognitive phenomena across different domains.</a:t>
            </a:r>
          </a:p>
          <a:p>
            <a:endParaRPr lang="en-US" dirty="0"/>
          </a:p>
          <a:p>
            <a:r>
              <a:rPr lang="en-US" dirty="0"/>
              <a:t>The second answer type agrees that prediction plays an important role but argues it is not the whole story.</a:t>
            </a:r>
          </a:p>
          <a:p>
            <a:r>
              <a:rPr lang="en-US" dirty="0"/>
              <a:t>Many cognitive tasks—such as planning, abstract reasoning, or goal-directed behavior—seem to require mechanisms beyond prediction alone.</a:t>
            </a:r>
          </a:p>
          <a:p>
            <a:r>
              <a:rPr lang="en-US" dirty="0"/>
              <a:t>This perspective suggests that prediction may be a necessary component of intelligence without being sufficient to explain it.</a:t>
            </a:r>
          </a:p>
          <a:p>
            <a:r>
              <a:rPr lang="en-US" dirty="0"/>
              <a:t>It also helps explain why humans achieve kinds of understanding, inference, and flexible problem-solving that predictive models struggle with.</a:t>
            </a:r>
          </a:p>
          <a:p>
            <a:endParaRPr lang="en-US" dirty="0"/>
          </a:p>
          <a:p>
            <a:r>
              <a:rPr lang="en-US" dirty="0"/>
              <a:t>The third answer type uses LLMs as a real-world illustration of prediction-only systems.</a:t>
            </a:r>
          </a:p>
          <a:p>
            <a:r>
              <a:rPr lang="en-US" dirty="0"/>
              <a:t>LLMs excel at next-token prediction, producing fluent language and sometimes surprising insights using nothing but statistical inference.</a:t>
            </a:r>
          </a:p>
          <a:p>
            <a:r>
              <a:rPr lang="en-US" dirty="0"/>
              <a:t>At the same time, their well-known weaknesses—lack of grounding, inconsistent reasoning, and limited problem-solving—highlight the constraints of prediction without embodiment or goals.</a:t>
            </a:r>
          </a:p>
          <a:p>
            <a:r>
              <a:rPr lang="en-US" dirty="0"/>
              <a:t>These models therefore provide a concrete case that both supports and challenges strong predictive-processing theories of human cognition.</a:t>
            </a:r>
          </a:p>
        </p:txBody>
      </p:sp>
      <p:sp>
        <p:nvSpPr>
          <p:cNvPr id="4" name="Slide Number Placeholder 3">
            <a:extLst>
              <a:ext uri="{FF2B5EF4-FFF2-40B4-BE49-F238E27FC236}">
                <a16:creationId xmlns:a16="http://schemas.microsoft.com/office/drawing/2014/main" id="{93C01BB5-CE7D-512C-EB3E-94511A36A7B7}"/>
              </a:ext>
            </a:extLst>
          </p:cNvPr>
          <p:cNvSpPr>
            <a:spLocks noGrp="1"/>
          </p:cNvSpPr>
          <p:nvPr>
            <p:ph type="sldNum" sz="quarter" idx="5"/>
          </p:nvPr>
        </p:nvSpPr>
        <p:spPr/>
        <p:txBody>
          <a:bodyPr/>
          <a:lstStyle/>
          <a:p>
            <a:fld id="{B0C32C59-1409-2640-866F-4A1083575A35}" type="slidenum">
              <a:rPr lang="en-US" smtClean="0"/>
              <a:t>15</a:t>
            </a:fld>
            <a:endParaRPr lang="en-US"/>
          </a:p>
        </p:txBody>
      </p:sp>
    </p:spTree>
    <p:extLst>
      <p:ext uri="{BB962C8B-B14F-4D97-AF65-F5344CB8AC3E}">
        <p14:creationId xmlns:p14="http://schemas.microsoft.com/office/powerpoint/2010/main" val="6431312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9F40E8-29F0-059C-CD4F-4F9E657B16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ED2D0F-6EA0-BB70-A79F-E33987C759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9E9F78-6905-4B51-F32D-5637BD850DF7}"/>
              </a:ext>
            </a:extLst>
          </p:cNvPr>
          <p:cNvSpPr>
            <a:spLocks noGrp="1"/>
          </p:cNvSpPr>
          <p:nvPr>
            <p:ph type="body" idx="1"/>
          </p:nvPr>
        </p:nvSpPr>
        <p:spPr/>
        <p:txBody>
          <a:bodyPr/>
          <a:lstStyle/>
          <a:p>
            <a:r>
              <a:rPr lang="en-US" dirty="0"/>
              <a:t>This question pushes us to examine what distinguishes reasoning from other forms of problem-solving.</a:t>
            </a:r>
          </a:p>
          <a:p>
            <a:r>
              <a:rPr lang="en-US" dirty="0"/>
              <a:t>In cognitive science, reasoning is often contrasted with habits, pattern recognition, or intuitive judgment.</a:t>
            </a:r>
          </a:p>
          <a:p>
            <a:r>
              <a:rPr lang="en-US" dirty="0"/>
              <a:t>AI systems blur these boundaries by demonstrating high-level performance without clear evidence of symbolic or conceptual structure.</a:t>
            </a:r>
          </a:p>
          <a:p>
            <a:r>
              <a:rPr lang="en-US" dirty="0"/>
              <a:t>This question invites us to reflect on what reasoning means, how we recognize it, and whether AI systems possess it.</a:t>
            </a:r>
          </a:p>
          <a:p>
            <a:endParaRPr lang="en-US" dirty="0"/>
          </a:p>
          <a:p>
            <a:r>
              <a:rPr lang="en-US" dirty="0"/>
              <a:t>The first </a:t>
            </a:r>
            <a:r>
              <a:rPr lang="en-US" dirty="0" err="1"/>
              <a:t>subquestion</a:t>
            </a:r>
            <a:r>
              <a:rPr lang="en-US" dirty="0"/>
              <a:t> asks whether pattern learning might be enough for reasoning.</a:t>
            </a:r>
          </a:p>
          <a:p>
            <a:r>
              <a:rPr lang="en-US" dirty="0"/>
              <a:t>The example of a neural network solving logic puzzles highlights the ambiguity—correct answers might result from deep inference or from statistical shortcuts.</a:t>
            </a:r>
          </a:p>
          <a:p>
            <a:r>
              <a:rPr lang="en-US" dirty="0"/>
              <a:t>Connectionist models suggest that reasoning can emerge from distributed patterns rather than explicit symbol manipulation.</a:t>
            </a:r>
          </a:p>
          <a:p>
            <a:r>
              <a:rPr lang="en-US" dirty="0"/>
              <a:t>Skeptics argue that without systematic, compositional structure, such systems lack true reasoning capacity.</a:t>
            </a:r>
          </a:p>
          <a:p>
            <a:endParaRPr lang="en-US" dirty="0"/>
          </a:p>
          <a:p>
            <a:r>
              <a:rPr lang="en-US" dirty="0"/>
              <a:t>The second </a:t>
            </a:r>
            <a:r>
              <a:rPr lang="en-US" dirty="0" err="1"/>
              <a:t>subquestion</a:t>
            </a:r>
            <a:r>
              <a:rPr lang="en-US" dirty="0"/>
              <a:t> considers whether rules require symbolic representation.</a:t>
            </a:r>
          </a:p>
          <a:p>
            <a:r>
              <a:rPr lang="en-US" dirty="0"/>
              <a:t>The recipe-following example shows that rule-based behavior can occur without explicit understanding or symbolic reasoning.</a:t>
            </a:r>
          </a:p>
          <a:p>
            <a:r>
              <a:rPr lang="en-US" dirty="0"/>
              <a:t>Symbolic theorists argue that genuine rules must be represented and manipulated as discrete structures.</a:t>
            </a:r>
          </a:p>
          <a:p>
            <a:r>
              <a:rPr lang="en-US" dirty="0"/>
              <a:t>This debate challenges us to ask whether rule-following behavior is evidence of rule representation or merely of learned routines.</a:t>
            </a:r>
          </a:p>
          <a:p>
            <a:endParaRPr lang="en-US" dirty="0"/>
          </a:p>
          <a:p>
            <a:r>
              <a:rPr lang="en-US" dirty="0"/>
              <a:t>The final </a:t>
            </a:r>
            <a:r>
              <a:rPr lang="en-US" dirty="0" err="1"/>
              <a:t>subquestion</a:t>
            </a:r>
            <a:r>
              <a:rPr lang="en-US" dirty="0"/>
              <a:t> applies these issues directly to LLMs.</a:t>
            </a:r>
          </a:p>
          <a:p>
            <a:r>
              <a:rPr lang="en-US" dirty="0"/>
              <a:t>When LLMs produce coherent explanations or step-by-step reasoning, they appear to be engaging in genuine inference.</a:t>
            </a:r>
          </a:p>
          <a:p>
            <a:r>
              <a:rPr lang="en-US" dirty="0"/>
              <a:t>However, these explanations may be post-hoc reinterpretations generated from statistical patterns rather than actual reasoning processes.</a:t>
            </a:r>
          </a:p>
          <a:p>
            <a:r>
              <a:rPr lang="en-US" dirty="0"/>
              <a:t>This ambiguity makes LLMs a compelling test case for defining what reasoning really is.</a:t>
            </a:r>
          </a:p>
        </p:txBody>
      </p:sp>
      <p:sp>
        <p:nvSpPr>
          <p:cNvPr id="4" name="Slide Number Placeholder 3">
            <a:extLst>
              <a:ext uri="{FF2B5EF4-FFF2-40B4-BE49-F238E27FC236}">
                <a16:creationId xmlns:a16="http://schemas.microsoft.com/office/drawing/2014/main" id="{DD699E12-F4EC-F97C-3545-683CB55636F7}"/>
              </a:ext>
            </a:extLst>
          </p:cNvPr>
          <p:cNvSpPr>
            <a:spLocks noGrp="1"/>
          </p:cNvSpPr>
          <p:nvPr>
            <p:ph type="sldNum" sz="quarter" idx="5"/>
          </p:nvPr>
        </p:nvSpPr>
        <p:spPr/>
        <p:txBody>
          <a:bodyPr/>
          <a:lstStyle/>
          <a:p>
            <a:fld id="{B0C32C59-1409-2640-866F-4A1083575A35}" type="slidenum">
              <a:rPr lang="en-US" smtClean="0"/>
              <a:t>16</a:t>
            </a:fld>
            <a:endParaRPr lang="en-US"/>
          </a:p>
        </p:txBody>
      </p:sp>
    </p:spTree>
    <p:extLst>
      <p:ext uri="{BB962C8B-B14F-4D97-AF65-F5344CB8AC3E}">
        <p14:creationId xmlns:p14="http://schemas.microsoft.com/office/powerpoint/2010/main" val="39368268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3FFDD8-E055-FE94-4470-7BDF039A8A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2D8D6B-E055-9E47-D47B-2AA223E8E0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BD0E37-B961-C108-4D9B-AF39FAD0AE73}"/>
              </a:ext>
            </a:extLst>
          </p:cNvPr>
          <p:cNvSpPr>
            <a:spLocks noGrp="1"/>
          </p:cNvSpPr>
          <p:nvPr>
            <p:ph type="body" idx="1"/>
          </p:nvPr>
        </p:nvSpPr>
        <p:spPr/>
        <p:txBody>
          <a:bodyPr/>
          <a:lstStyle/>
          <a:p>
            <a:r>
              <a:rPr lang="en-US" dirty="0"/>
              <a:t>Symbolic reasoning defines inference as the manipulation of explicit rules or structured representations.</a:t>
            </a:r>
          </a:p>
          <a:p>
            <a:r>
              <a:rPr lang="en-US" dirty="0"/>
              <a:t>This approach aligns with classical cognitive science and traditional AI, where reasoning resembles logical deduction.</a:t>
            </a:r>
          </a:p>
          <a:p>
            <a:r>
              <a:rPr lang="en-US" dirty="0"/>
              <a:t>Supporters argue that true reasoning requires systematicity, compositionality, and the ability to handle abstract relationships.</a:t>
            </a:r>
          </a:p>
          <a:p>
            <a:r>
              <a:rPr lang="en-US" dirty="0"/>
              <a:t>Critics note that humans often reason informally, inconsistently, or with limited access to explicit rules, raising doubts about how central symbolic processes really are.</a:t>
            </a:r>
          </a:p>
          <a:p>
            <a:endParaRPr lang="en-US" dirty="0"/>
          </a:p>
          <a:p>
            <a:r>
              <a:rPr lang="en-US" dirty="0"/>
              <a:t>Statistical reasoning proposes that inference can emerge from large numbers of learned associations without explicit symbolic rules.</a:t>
            </a:r>
          </a:p>
          <a:p>
            <a:r>
              <a:rPr lang="en-US" dirty="0"/>
              <a:t>From this perspective, reasoning is a form of sophisticated pattern completion based on experience.</a:t>
            </a:r>
          </a:p>
          <a:p>
            <a:r>
              <a:rPr lang="en-US" dirty="0"/>
              <a:t>Connectionist models and modern neural networks illustrate how surprisingly rich inference can arise from distributed representations.</a:t>
            </a:r>
          </a:p>
          <a:p>
            <a:r>
              <a:rPr lang="en-US" dirty="0"/>
              <a:t>The challenge is that such systems may struggle with systematic generalization, making their reasoning brittle in unfamiliar contexts.</a:t>
            </a:r>
          </a:p>
          <a:p>
            <a:endParaRPr lang="en-US" dirty="0"/>
          </a:p>
          <a:p>
            <a:r>
              <a:rPr lang="en-US" dirty="0"/>
              <a:t>Hybrid or dual-process views argue that humans rely on both intuitive, heuristic reasoning and more deliberate, rule-based thinking.</a:t>
            </a:r>
          </a:p>
          <a:p>
            <a:r>
              <a:rPr lang="en-US" dirty="0"/>
              <a:t>In this framework, fast, pattern-driven processes handle everyday reasoning, while slower, reflective processes manage more structured tasks.</a:t>
            </a:r>
          </a:p>
          <a:p>
            <a:r>
              <a:rPr lang="en-US" dirty="0"/>
              <a:t>This helps explain why people can reason flexibly but also fall into predictable cognitive biases.</a:t>
            </a:r>
          </a:p>
          <a:p>
            <a:r>
              <a:rPr lang="en-US" dirty="0"/>
              <a:t>The hybrid view is appealing because it captures the complexity of human reasoning, but it also leaves open how to identify these processes in AI systems.</a:t>
            </a:r>
          </a:p>
          <a:p>
            <a:endParaRPr lang="en-US" dirty="0"/>
          </a:p>
          <a:p>
            <a:r>
              <a:rPr lang="en-US" dirty="0"/>
              <a:t>A key debate is whether AI systems, especially LLMs, fit into any of these categories cleanly.</a:t>
            </a:r>
          </a:p>
          <a:p>
            <a:r>
              <a:rPr lang="en-US" dirty="0"/>
              <a:t>LLMs exhibit behavior that sometimes looks symbolic, sometimes statistical, and sometimes like a hybrid—even though they are implemented purely as pattern learners.</a:t>
            </a:r>
          </a:p>
          <a:p>
            <a:r>
              <a:rPr lang="en-US" dirty="0"/>
              <a:t>This ambiguity raises questions about whether reasoning is a single well-defined mechanism or a family of loosely related strategies.</a:t>
            </a:r>
          </a:p>
          <a:p>
            <a:r>
              <a:rPr lang="en-US" dirty="0"/>
              <a:t>Evaluating AI therefore forces us to reconsider what counts as reasoning and how we should recognize it when we see it.</a:t>
            </a:r>
          </a:p>
        </p:txBody>
      </p:sp>
      <p:sp>
        <p:nvSpPr>
          <p:cNvPr id="4" name="Slide Number Placeholder 3">
            <a:extLst>
              <a:ext uri="{FF2B5EF4-FFF2-40B4-BE49-F238E27FC236}">
                <a16:creationId xmlns:a16="http://schemas.microsoft.com/office/drawing/2014/main" id="{6AD9E37F-75C9-9630-B4A4-8C97DF32344B}"/>
              </a:ext>
            </a:extLst>
          </p:cNvPr>
          <p:cNvSpPr>
            <a:spLocks noGrp="1"/>
          </p:cNvSpPr>
          <p:nvPr>
            <p:ph type="sldNum" sz="quarter" idx="5"/>
          </p:nvPr>
        </p:nvSpPr>
        <p:spPr/>
        <p:txBody>
          <a:bodyPr/>
          <a:lstStyle/>
          <a:p>
            <a:fld id="{B0C32C59-1409-2640-866F-4A1083575A35}" type="slidenum">
              <a:rPr lang="en-US" smtClean="0"/>
              <a:t>17</a:t>
            </a:fld>
            <a:endParaRPr lang="en-US"/>
          </a:p>
        </p:txBody>
      </p:sp>
    </p:spTree>
    <p:extLst>
      <p:ext uri="{BB962C8B-B14F-4D97-AF65-F5344CB8AC3E}">
        <p14:creationId xmlns:p14="http://schemas.microsoft.com/office/powerpoint/2010/main" val="18642405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12ACD8-261A-D29F-8D18-C518411103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923C28-B007-910D-E045-002C282BC1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46E378-125A-86E5-1E3D-1D9BD795ADFF}"/>
              </a:ext>
            </a:extLst>
          </p:cNvPr>
          <p:cNvSpPr>
            <a:spLocks noGrp="1"/>
          </p:cNvSpPr>
          <p:nvPr>
            <p:ph type="body" idx="1"/>
          </p:nvPr>
        </p:nvSpPr>
        <p:spPr/>
        <p:txBody>
          <a:bodyPr/>
          <a:lstStyle/>
          <a:p>
            <a:r>
              <a:rPr lang="en-US" dirty="0"/>
              <a:t>This question pushes us to consider whether intelligence depends on having goals, motivations, or emotional systems.</a:t>
            </a:r>
          </a:p>
          <a:p>
            <a:r>
              <a:rPr lang="en-US" dirty="0"/>
              <a:t>Humans constantly rely on desires, fears, and preferences to guide decision-making, but artificial systems often operate without any internal drives.</a:t>
            </a:r>
          </a:p>
          <a:p>
            <a:r>
              <a:rPr lang="en-US" dirty="0"/>
              <a:t>This gap highlights a deep uncertainty about whether goal-directedness is a requirement for intelligence or merely one way intelligence can be organized.</a:t>
            </a:r>
          </a:p>
          <a:p>
            <a:r>
              <a:rPr lang="en-US" dirty="0"/>
              <a:t>AI systems give us concrete cases to test these philosophical positions.</a:t>
            </a:r>
          </a:p>
          <a:p>
            <a:endParaRPr lang="en-US" dirty="0"/>
          </a:p>
          <a:p>
            <a:r>
              <a:rPr lang="en-US" dirty="0"/>
              <a:t>The first </a:t>
            </a:r>
            <a:r>
              <a:rPr lang="en-US" dirty="0" err="1"/>
              <a:t>subquestion</a:t>
            </a:r>
            <a:r>
              <a:rPr lang="en-US" dirty="0"/>
              <a:t> asks whether intelligence truly requires pursuing goals.</a:t>
            </a:r>
          </a:p>
          <a:p>
            <a:r>
              <a:rPr lang="en-US" dirty="0"/>
              <a:t>The calculator example challenges the idea that goal pursuit is essential by presenting a tool that performs tasks effectively without any internal motivation.</a:t>
            </a:r>
          </a:p>
          <a:p>
            <a:r>
              <a:rPr lang="en-US" dirty="0"/>
              <a:t>Supporters of a functional view might argue that goal-like behavior is enough to count, even if the system lacks genuine desires.</a:t>
            </a:r>
          </a:p>
          <a:p>
            <a:r>
              <a:rPr lang="en-US" dirty="0"/>
              <a:t>Critics argue that without goals, a system cannot prioritize, plan, or act autonomously, which limits its claim to intelligence.</a:t>
            </a:r>
          </a:p>
          <a:p>
            <a:endParaRPr lang="en-US" dirty="0"/>
          </a:p>
          <a:p>
            <a:r>
              <a:rPr lang="en-US" dirty="0"/>
              <a:t>The second </a:t>
            </a:r>
            <a:r>
              <a:rPr lang="en-US" dirty="0" err="1"/>
              <a:t>subquestion</a:t>
            </a:r>
            <a:r>
              <a:rPr lang="en-US" dirty="0"/>
              <a:t> raises the role of emotion in cognition.</a:t>
            </a:r>
          </a:p>
          <a:p>
            <a:r>
              <a:rPr lang="en-US" dirty="0"/>
              <a:t>Emotion shapes human attention, memory, decision-making, and learning, and the example of a person with no emotions highlights how much would be missing.</a:t>
            </a:r>
          </a:p>
          <a:p>
            <a:r>
              <a:rPr lang="en-US" dirty="0"/>
              <a:t>Developmental and affective scientists argue that emotion is not separate from cognition but an integral part of it.</a:t>
            </a:r>
          </a:p>
          <a:p>
            <a:r>
              <a:rPr lang="en-US" dirty="0"/>
              <a:t>The challenge is determining whether emotion is necessary for all forms of intelligence or just for human-like forms.</a:t>
            </a:r>
          </a:p>
          <a:p>
            <a:endParaRPr lang="en-US" dirty="0"/>
          </a:p>
          <a:p>
            <a:r>
              <a:rPr lang="en-US" dirty="0"/>
              <a:t>The final </a:t>
            </a:r>
            <a:r>
              <a:rPr lang="en-US" dirty="0" err="1"/>
              <a:t>subquestion</a:t>
            </a:r>
            <a:r>
              <a:rPr lang="en-US" dirty="0"/>
              <a:t> brings these issues directly into the context of AI, especially LLMs.</a:t>
            </a:r>
          </a:p>
          <a:p>
            <a:r>
              <a:rPr lang="en-US" dirty="0"/>
              <a:t>LLMs can produce intelligent-seeming output while lacking preferences, goals, or emotional systems that structure human cognition.</a:t>
            </a:r>
          </a:p>
          <a:p>
            <a:r>
              <a:rPr lang="en-US" dirty="0"/>
              <a:t>Their goal-less nature helps explain some characteristic failures, such as confabulation, inconsistency, or lack of prioritization.</a:t>
            </a:r>
          </a:p>
          <a:p>
            <a:r>
              <a:rPr lang="en-US" dirty="0"/>
              <a:t>This raises questions about whether intelligence without goals is fundamentally limited or simply different from biological intelligence.</a:t>
            </a:r>
          </a:p>
        </p:txBody>
      </p:sp>
      <p:sp>
        <p:nvSpPr>
          <p:cNvPr id="4" name="Slide Number Placeholder 3">
            <a:extLst>
              <a:ext uri="{FF2B5EF4-FFF2-40B4-BE49-F238E27FC236}">
                <a16:creationId xmlns:a16="http://schemas.microsoft.com/office/drawing/2014/main" id="{5A210871-E827-5026-BA4B-9636EB0D1314}"/>
              </a:ext>
            </a:extLst>
          </p:cNvPr>
          <p:cNvSpPr>
            <a:spLocks noGrp="1"/>
          </p:cNvSpPr>
          <p:nvPr>
            <p:ph type="sldNum" sz="quarter" idx="5"/>
          </p:nvPr>
        </p:nvSpPr>
        <p:spPr/>
        <p:txBody>
          <a:bodyPr/>
          <a:lstStyle/>
          <a:p>
            <a:fld id="{B0C32C59-1409-2640-866F-4A1083575A35}" type="slidenum">
              <a:rPr lang="en-US" smtClean="0"/>
              <a:t>18</a:t>
            </a:fld>
            <a:endParaRPr lang="en-US"/>
          </a:p>
        </p:txBody>
      </p:sp>
    </p:spTree>
    <p:extLst>
      <p:ext uri="{BB962C8B-B14F-4D97-AF65-F5344CB8AC3E}">
        <p14:creationId xmlns:p14="http://schemas.microsoft.com/office/powerpoint/2010/main" val="10196262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ACB8EF-4E29-53C7-AEA3-4A4A3087CF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215B77-A91C-17F0-4094-BABB8567B5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5CB724-E8D5-986C-341B-87135EF2D56F}"/>
              </a:ext>
            </a:extLst>
          </p:cNvPr>
          <p:cNvSpPr>
            <a:spLocks noGrp="1"/>
          </p:cNvSpPr>
          <p:nvPr>
            <p:ph type="body" idx="1"/>
          </p:nvPr>
        </p:nvSpPr>
        <p:spPr/>
        <p:txBody>
          <a:bodyPr/>
          <a:lstStyle/>
          <a:p>
            <a:r>
              <a:rPr lang="en-US" dirty="0"/>
              <a:t>The functionalist view argues that intelligence does not require intrinsic goals or emotions.</a:t>
            </a:r>
          </a:p>
          <a:p>
            <a:r>
              <a:rPr lang="en-US" dirty="0"/>
              <a:t>Under this perspective, intelligence is defined by the ability to solve problems or generate appropriate outputs, regardless of internal motivation.</a:t>
            </a:r>
          </a:p>
          <a:p>
            <a:r>
              <a:rPr lang="en-US" dirty="0"/>
              <a:t>Supporters point out that many artificial systems act intelligently even without desires or preferences.</a:t>
            </a:r>
          </a:p>
          <a:p>
            <a:r>
              <a:rPr lang="en-US" dirty="0"/>
              <a:t>Critics argue that such systems lack autonomy, prioritization, and self-directed action, which may limit their claim to genuine intelligence.</a:t>
            </a:r>
          </a:p>
          <a:p>
            <a:endParaRPr lang="en-US" dirty="0"/>
          </a:p>
          <a:p>
            <a:r>
              <a:rPr lang="en-US" dirty="0"/>
              <a:t>The </a:t>
            </a:r>
            <a:r>
              <a:rPr lang="en-US" dirty="0" err="1"/>
              <a:t>enactivist</a:t>
            </a:r>
            <a:r>
              <a:rPr lang="en-US" dirty="0"/>
              <a:t> view takes a very different position, proposing that cognition emerges from active engagement with the environment.</a:t>
            </a:r>
          </a:p>
          <a:p>
            <a:r>
              <a:rPr lang="en-US" dirty="0"/>
              <a:t>Here, intelligence is inseparable from goal-directed behavior, because goals shape what the system attends to and how it acts.</a:t>
            </a:r>
          </a:p>
          <a:p>
            <a:r>
              <a:rPr lang="en-US" dirty="0"/>
              <a:t>This perspective sees emotion, motivation, and action as deeply intertwined with intelligent behavior.</a:t>
            </a:r>
          </a:p>
          <a:p>
            <a:r>
              <a:rPr lang="en-US" dirty="0"/>
              <a:t>AI systems challenge this view by performing impressive tasks without any self-generated goals, raising questions about whether they are truly intelligent or simply sophisticated tools.</a:t>
            </a:r>
          </a:p>
          <a:p>
            <a:endParaRPr lang="en-US" dirty="0"/>
          </a:p>
          <a:p>
            <a:r>
              <a:rPr lang="en-US" dirty="0"/>
              <a:t>The affective view emphasizes that emotion plays a fundamental role in structuring cognition.</a:t>
            </a:r>
          </a:p>
          <a:p>
            <a:r>
              <a:rPr lang="en-US" dirty="0"/>
              <a:t>Emotion helps humans decide what matters, guides learning, and shapes memory consolidation, making it integral—not optional—to intelligent functioning.</a:t>
            </a:r>
          </a:p>
          <a:p>
            <a:r>
              <a:rPr lang="en-US" dirty="0"/>
              <a:t>From this standpoint, systems without emotion may lack key components of flexible, adaptive intelligence.</a:t>
            </a:r>
          </a:p>
          <a:p>
            <a:r>
              <a:rPr lang="en-US" dirty="0"/>
              <a:t>It remains unclear whether artificial systems could simulate some aspects of emotion functionally or whether emotion requires a biological substrate.</a:t>
            </a:r>
          </a:p>
        </p:txBody>
      </p:sp>
      <p:sp>
        <p:nvSpPr>
          <p:cNvPr id="4" name="Slide Number Placeholder 3">
            <a:extLst>
              <a:ext uri="{FF2B5EF4-FFF2-40B4-BE49-F238E27FC236}">
                <a16:creationId xmlns:a16="http://schemas.microsoft.com/office/drawing/2014/main" id="{1464D75A-7AC3-0163-DF6D-36807F4F9906}"/>
              </a:ext>
            </a:extLst>
          </p:cNvPr>
          <p:cNvSpPr>
            <a:spLocks noGrp="1"/>
          </p:cNvSpPr>
          <p:nvPr>
            <p:ph type="sldNum" sz="quarter" idx="5"/>
          </p:nvPr>
        </p:nvSpPr>
        <p:spPr/>
        <p:txBody>
          <a:bodyPr/>
          <a:lstStyle/>
          <a:p>
            <a:fld id="{B0C32C59-1409-2640-866F-4A1083575A35}" type="slidenum">
              <a:rPr lang="en-US" smtClean="0"/>
              <a:t>19</a:t>
            </a:fld>
            <a:endParaRPr lang="en-US"/>
          </a:p>
        </p:txBody>
      </p:sp>
    </p:spTree>
    <p:extLst>
      <p:ext uri="{BB962C8B-B14F-4D97-AF65-F5344CB8AC3E}">
        <p14:creationId xmlns:p14="http://schemas.microsoft.com/office/powerpoint/2010/main" val="12995374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8FE9A4-9B45-4FF3-7B2D-8AEE49E3F9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CD9721-A9FE-446E-EBE4-4F53887136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0B0DE2-C3A8-532F-43CB-F76AF4CD9B51}"/>
              </a:ext>
            </a:extLst>
          </p:cNvPr>
          <p:cNvSpPr>
            <a:spLocks noGrp="1"/>
          </p:cNvSpPr>
          <p:nvPr>
            <p:ph type="body" idx="1"/>
          </p:nvPr>
        </p:nvSpPr>
        <p:spPr/>
        <p:txBody>
          <a:bodyPr/>
          <a:lstStyle/>
          <a:p>
            <a:r>
              <a:rPr lang="en-US" dirty="0"/>
              <a:t>This question examines the idea of general intelligence—an ability that extends across many domains rather than being restricted to narrow tasks.</a:t>
            </a:r>
          </a:p>
          <a:p>
            <a:r>
              <a:rPr lang="en-US" dirty="0"/>
              <a:t>Humans exhibit remarkable versatility, learning new skills, applying old knowledge to new contexts, and adapting to unpredictable situations.</a:t>
            </a:r>
          </a:p>
          <a:p>
            <a:r>
              <a:rPr lang="en-US" dirty="0"/>
              <a:t>Artificial systems, by contrast, often excel in highly specific areas but struggle outside their training regimes.</a:t>
            </a:r>
          </a:p>
          <a:p>
            <a:r>
              <a:rPr lang="en-US" dirty="0"/>
              <a:t>This question invites us to consider what it would mean for an AI to approximate the broad, flexible intelligence seen in humans.</a:t>
            </a:r>
          </a:p>
          <a:p>
            <a:endParaRPr lang="en-US" dirty="0"/>
          </a:p>
          <a:p>
            <a:r>
              <a:rPr lang="en-US" dirty="0"/>
              <a:t>The first </a:t>
            </a:r>
            <a:r>
              <a:rPr lang="en-US" dirty="0" err="1"/>
              <a:t>subquestion</a:t>
            </a:r>
            <a:r>
              <a:rPr lang="en-US" dirty="0"/>
              <a:t> raises the challenge of defining what “general” really entails.</a:t>
            </a:r>
          </a:p>
          <a:p>
            <a:r>
              <a:rPr lang="en-US" dirty="0"/>
              <a:t>The example of a human handling a wide range of unrelated tasks highlights that general intelligence involves flexible transfer across domains.</a:t>
            </a:r>
          </a:p>
          <a:p>
            <a:r>
              <a:rPr lang="en-US" dirty="0"/>
              <a:t>Supporters of general intelligence argue that a single or coordinated set of cognitive resources enables this capacity.</a:t>
            </a:r>
          </a:p>
          <a:p>
            <a:r>
              <a:rPr lang="en-US" dirty="0"/>
              <a:t>Critics argue that “generality” is a vague concept that may not correspond to a single mechanism.</a:t>
            </a:r>
          </a:p>
          <a:p>
            <a:endParaRPr lang="en-US" dirty="0"/>
          </a:p>
          <a:p>
            <a:r>
              <a:rPr lang="en-US" dirty="0"/>
              <a:t>The second </a:t>
            </a:r>
            <a:r>
              <a:rPr lang="en-US" dirty="0" err="1"/>
              <a:t>subquestion</a:t>
            </a:r>
            <a:r>
              <a:rPr lang="en-US" dirty="0"/>
              <a:t> brings the conversation into the realm of AI capability.</a:t>
            </a:r>
          </a:p>
          <a:p>
            <a:r>
              <a:rPr lang="en-US" dirty="0"/>
              <a:t>The contrast between an LLM’s impressive performance in one area and its failure in another reveals how brittle many models remain.</a:t>
            </a:r>
          </a:p>
          <a:p>
            <a:r>
              <a:rPr lang="en-US" dirty="0"/>
              <a:t>Even extremely large systems often struggle with commonsense reasoning, spatial reasoning, or tasks requiring grounded understanding.</a:t>
            </a:r>
          </a:p>
          <a:p>
            <a:r>
              <a:rPr lang="en-US" dirty="0"/>
              <a:t>These failures raise doubts about whether current AI systems possess anything resembling general intelligence, even if they appear versatile on the surface.</a:t>
            </a:r>
          </a:p>
          <a:p>
            <a:endParaRPr lang="en-US" dirty="0"/>
          </a:p>
          <a:p>
            <a:r>
              <a:rPr lang="en-US" dirty="0"/>
              <a:t>The final </a:t>
            </a:r>
            <a:r>
              <a:rPr lang="en-US" dirty="0" err="1"/>
              <a:t>subquestion</a:t>
            </a:r>
            <a:r>
              <a:rPr lang="en-US" dirty="0"/>
              <a:t> questions whether general intelligence is something we can measure directly.</a:t>
            </a:r>
          </a:p>
          <a:p>
            <a:r>
              <a:rPr lang="en-US" dirty="0"/>
              <a:t>IQ tests have long been used to quantify general ability, but they may capture only a subset of what makes intelligence broad and adaptable.</a:t>
            </a:r>
          </a:p>
          <a:p>
            <a:r>
              <a:rPr lang="en-US" dirty="0"/>
              <a:t>Some argue that general intelligence is more of a descriptive summary than a fundamental cognitive property.</a:t>
            </a:r>
          </a:p>
          <a:p>
            <a:r>
              <a:rPr lang="en-US" dirty="0"/>
              <a:t>This ambiguity becomes central when deciding whether advanced AI systems should be said to have, or even approach, general intelligence.</a:t>
            </a:r>
          </a:p>
        </p:txBody>
      </p:sp>
      <p:sp>
        <p:nvSpPr>
          <p:cNvPr id="4" name="Slide Number Placeholder 3">
            <a:extLst>
              <a:ext uri="{FF2B5EF4-FFF2-40B4-BE49-F238E27FC236}">
                <a16:creationId xmlns:a16="http://schemas.microsoft.com/office/drawing/2014/main" id="{1EC616BB-1E09-F967-94A9-3DE805D79BEE}"/>
              </a:ext>
            </a:extLst>
          </p:cNvPr>
          <p:cNvSpPr>
            <a:spLocks noGrp="1"/>
          </p:cNvSpPr>
          <p:nvPr>
            <p:ph type="sldNum" sz="quarter" idx="5"/>
          </p:nvPr>
        </p:nvSpPr>
        <p:spPr/>
        <p:txBody>
          <a:bodyPr/>
          <a:lstStyle/>
          <a:p>
            <a:fld id="{B0C32C59-1409-2640-866F-4A1083575A35}" type="slidenum">
              <a:rPr lang="en-US" smtClean="0"/>
              <a:t>20</a:t>
            </a:fld>
            <a:endParaRPr lang="en-US"/>
          </a:p>
        </p:txBody>
      </p:sp>
    </p:spTree>
    <p:extLst>
      <p:ext uri="{BB962C8B-B14F-4D97-AF65-F5344CB8AC3E}">
        <p14:creationId xmlns:p14="http://schemas.microsoft.com/office/powerpoint/2010/main" val="144866218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2205CD-0A40-1918-ACF5-F25219BDF9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F47A63-BDD5-9B25-2EA8-9EECE8C236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04D184-C7E5-B3DE-98C0-3D75EDE70AF0}"/>
              </a:ext>
            </a:extLst>
          </p:cNvPr>
          <p:cNvSpPr>
            <a:spLocks noGrp="1"/>
          </p:cNvSpPr>
          <p:nvPr>
            <p:ph type="body" idx="1"/>
          </p:nvPr>
        </p:nvSpPr>
        <p:spPr/>
        <p:txBody>
          <a:bodyPr/>
          <a:lstStyle/>
          <a:p>
            <a:r>
              <a:rPr lang="en-US" dirty="0"/>
              <a:t>Cognitive generality refers to the ability to transfer knowledge flexibly across different domains.</a:t>
            </a:r>
          </a:p>
          <a:p>
            <a:r>
              <a:rPr lang="en-US" dirty="0"/>
              <a:t>This view emphasizes skills such as abstract reasoning, analogy-making, and adapting prior knowledge to unfamiliar situations.</a:t>
            </a:r>
          </a:p>
          <a:p>
            <a:r>
              <a:rPr lang="en-US" dirty="0"/>
              <a:t>Humans exemplify this capacity, effortlessly shifting between very different kinds of tasks.</a:t>
            </a:r>
          </a:p>
          <a:p>
            <a:r>
              <a:rPr lang="en-US" dirty="0"/>
              <a:t>AI systems often fall short here, as they can excel within narrow training domains yet remain brittle outside them.</a:t>
            </a:r>
          </a:p>
          <a:p>
            <a:endParaRPr lang="en-US" dirty="0"/>
          </a:p>
          <a:p>
            <a:r>
              <a:rPr lang="en-US" dirty="0"/>
              <a:t>Computational generality defines intelligence in terms of the range of problems a system can solve in principle.</a:t>
            </a:r>
          </a:p>
          <a:p>
            <a:r>
              <a:rPr lang="en-US" dirty="0"/>
              <a:t>In this view, a sufficiently powerful architecture might achieve general intelligence simply by being capable of representing and computing solutions to diverse tasks.</a:t>
            </a:r>
          </a:p>
          <a:p>
            <a:r>
              <a:rPr lang="en-US" dirty="0"/>
              <a:t>Supporters argue that scaling and architectural improvements could lead AI systems toward this form of generality.</a:t>
            </a:r>
          </a:p>
          <a:p>
            <a:r>
              <a:rPr lang="en-US" dirty="0"/>
              <a:t>Skeptics note that theoretical capacity does not guarantee real-world performance or grounded understanding.</a:t>
            </a:r>
          </a:p>
          <a:p>
            <a:endParaRPr lang="en-US" dirty="0"/>
          </a:p>
          <a:p>
            <a:r>
              <a:rPr lang="en-US" dirty="0"/>
              <a:t>Ecological generality focuses on functioning adaptively within rich, unpredictable real-world environments.</a:t>
            </a:r>
          </a:p>
          <a:p>
            <a:r>
              <a:rPr lang="en-US" dirty="0"/>
              <a:t>This view stresses embodiment, perception, social cues, goals, and the ability to respond flexibly to changing circumstances.</a:t>
            </a:r>
          </a:p>
          <a:p>
            <a:r>
              <a:rPr lang="en-US" dirty="0"/>
              <a:t>From this perspective, general intelligence requires interacting with a world full of uncertainty and nuance.</a:t>
            </a:r>
          </a:p>
          <a:p>
            <a:r>
              <a:rPr lang="en-US" dirty="0"/>
              <a:t>Current AI systems, especially disembodied models like LLMs, lack many of the prerequisites for this form of generality, even if they perform well on abstract tasks.</a:t>
            </a:r>
          </a:p>
        </p:txBody>
      </p:sp>
      <p:sp>
        <p:nvSpPr>
          <p:cNvPr id="4" name="Slide Number Placeholder 3">
            <a:extLst>
              <a:ext uri="{FF2B5EF4-FFF2-40B4-BE49-F238E27FC236}">
                <a16:creationId xmlns:a16="http://schemas.microsoft.com/office/drawing/2014/main" id="{5F92D93C-BE08-1FA1-DEEA-F8DA91602C25}"/>
              </a:ext>
            </a:extLst>
          </p:cNvPr>
          <p:cNvSpPr>
            <a:spLocks noGrp="1"/>
          </p:cNvSpPr>
          <p:nvPr>
            <p:ph type="sldNum" sz="quarter" idx="5"/>
          </p:nvPr>
        </p:nvSpPr>
        <p:spPr/>
        <p:txBody>
          <a:bodyPr/>
          <a:lstStyle/>
          <a:p>
            <a:fld id="{B0C32C59-1409-2640-866F-4A1083575A35}" type="slidenum">
              <a:rPr lang="en-US" smtClean="0"/>
              <a:t>21</a:t>
            </a:fld>
            <a:endParaRPr lang="en-US"/>
          </a:p>
        </p:txBody>
      </p:sp>
    </p:spTree>
    <p:extLst>
      <p:ext uri="{BB962C8B-B14F-4D97-AF65-F5344CB8AC3E}">
        <p14:creationId xmlns:p14="http://schemas.microsoft.com/office/powerpoint/2010/main" val="344366181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B475B6-C857-E1DA-9DA3-3C723BC498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D649F0-5389-EB88-6163-39641DE3BC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F3E854-BAC2-46AE-7814-7113DF08F7E4}"/>
              </a:ext>
            </a:extLst>
          </p:cNvPr>
          <p:cNvSpPr>
            <a:spLocks noGrp="1"/>
          </p:cNvSpPr>
          <p:nvPr>
            <p:ph type="body" idx="1"/>
          </p:nvPr>
        </p:nvSpPr>
        <p:spPr/>
        <p:txBody>
          <a:bodyPr/>
          <a:lstStyle/>
          <a:p>
            <a:r>
              <a:rPr lang="en-US" dirty="0"/>
              <a:t>This question brings us full circle by asking what artificial intelligence—especially modern systems like LLMs—can teach us about our own minds.</a:t>
            </a:r>
          </a:p>
          <a:p>
            <a:r>
              <a:rPr lang="en-US" dirty="0"/>
              <a:t>AI models succeed brilliantly in some areas and fail surprisingly in others, revealing contrasts that highlight what human cognition does differently.</a:t>
            </a:r>
          </a:p>
          <a:p>
            <a:r>
              <a:rPr lang="en-US" dirty="0"/>
              <a:t>Observing these differences and similarities deepens our understanding of what makes human intelligence unique.</a:t>
            </a:r>
          </a:p>
          <a:p>
            <a:r>
              <a:rPr lang="en-US" dirty="0"/>
              <a:t>This question plants the idea that AI is not just a technology but also a scientific probe into the nature of cognition.</a:t>
            </a:r>
          </a:p>
          <a:p>
            <a:endParaRPr lang="en-US" dirty="0"/>
          </a:p>
          <a:p>
            <a:r>
              <a:rPr lang="en-US" dirty="0"/>
              <a:t>The first </a:t>
            </a:r>
            <a:r>
              <a:rPr lang="en-US" dirty="0" err="1"/>
              <a:t>subquestion</a:t>
            </a:r>
            <a:r>
              <a:rPr lang="en-US" dirty="0"/>
              <a:t> asks us to think about which human abilities are easiest or hardest for AI to replicate.</a:t>
            </a:r>
          </a:p>
          <a:p>
            <a:r>
              <a:rPr lang="en-US" dirty="0"/>
              <a:t>The contrast between producing sophisticated essays and struggling with simple spatial or physical tasks demonstrates that linguistic fluency does not imply broad cognitive competence.</a:t>
            </a:r>
          </a:p>
          <a:p>
            <a:r>
              <a:rPr lang="en-US" dirty="0"/>
              <a:t>These asymmetries highlight how much of human intelligence depends on grounding, embodiment, and intuitive physics.</a:t>
            </a:r>
          </a:p>
          <a:p>
            <a:r>
              <a:rPr lang="en-US" dirty="0"/>
              <a:t>Reflecting on where AI succeeds and fails reveals which aspects of human cognition are computationally straightforward and which are not.</a:t>
            </a:r>
          </a:p>
          <a:p>
            <a:endParaRPr lang="en-US" dirty="0"/>
          </a:p>
          <a:p>
            <a:r>
              <a:rPr lang="en-US" dirty="0"/>
              <a:t>The second </a:t>
            </a:r>
            <a:r>
              <a:rPr lang="en-US" dirty="0" err="1"/>
              <a:t>subquestion</a:t>
            </a:r>
            <a:r>
              <a:rPr lang="en-US" dirty="0"/>
              <a:t> encourages us to see AI failures as scientific data.</a:t>
            </a:r>
          </a:p>
          <a:p>
            <a:r>
              <a:rPr lang="en-US" dirty="0"/>
              <a:t>If AI models stumble on tasks that humans, even very young children, perform effortlessly, this may indicate gaps in our cognitive theories.</a:t>
            </a:r>
          </a:p>
          <a:p>
            <a:r>
              <a:rPr lang="en-US" dirty="0"/>
              <a:t>Perhaps some cognitive abilities rely on developmental processes, embodied experience, or innate biases that AI lacks.</a:t>
            </a:r>
          </a:p>
          <a:p>
            <a:r>
              <a:rPr lang="en-US" dirty="0"/>
              <a:t>Thinking this way helps us appreciate how AI systems can test, refine, or challenge existing theories of mind.</a:t>
            </a:r>
          </a:p>
          <a:p>
            <a:endParaRPr lang="en-US" dirty="0"/>
          </a:p>
          <a:p>
            <a:r>
              <a:rPr lang="en-US" dirty="0"/>
              <a:t>The final </a:t>
            </a:r>
            <a:r>
              <a:rPr lang="en-US" dirty="0" err="1"/>
              <a:t>subquestion</a:t>
            </a:r>
            <a:r>
              <a:rPr lang="en-US" dirty="0"/>
              <a:t> pushes us to reconsider foundational concepts like “understanding,” “reasoning,” or “knowledge.”</a:t>
            </a:r>
          </a:p>
          <a:p>
            <a:r>
              <a:rPr lang="en-US" dirty="0"/>
              <a:t>If AI can generate convincing explanations without grounded comprehension, this forces us to clarify what these terms mean in both humans and machines.</a:t>
            </a:r>
          </a:p>
          <a:p>
            <a:r>
              <a:rPr lang="en-US" dirty="0"/>
              <a:t>AI achievements blur some distinctions we once thought were obvious, while their failures sharpen others.</a:t>
            </a:r>
          </a:p>
          <a:p>
            <a:r>
              <a:rPr lang="en-US" dirty="0"/>
              <a:t>Engaging with these questions helps us see AI as a tool for re-examining and refining the core concepts of cognitive science.</a:t>
            </a:r>
          </a:p>
        </p:txBody>
      </p:sp>
      <p:sp>
        <p:nvSpPr>
          <p:cNvPr id="4" name="Slide Number Placeholder 3">
            <a:extLst>
              <a:ext uri="{FF2B5EF4-FFF2-40B4-BE49-F238E27FC236}">
                <a16:creationId xmlns:a16="http://schemas.microsoft.com/office/drawing/2014/main" id="{44A9761E-AD7A-5D02-0138-C2C21143ECFB}"/>
              </a:ext>
            </a:extLst>
          </p:cNvPr>
          <p:cNvSpPr>
            <a:spLocks noGrp="1"/>
          </p:cNvSpPr>
          <p:nvPr>
            <p:ph type="sldNum" sz="quarter" idx="5"/>
          </p:nvPr>
        </p:nvSpPr>
        <p:spPr/>
        <p:txBody>
          <a:bodyPr/>
          <a:lstStyle/>
          <a:p>
            <a:fld id="{B0C32C59-1409-2640-866F-4A1083575A35}" type="slidenum">
              <a:rPr lang="en-US" smtClean="0"/>
              <a:t>22</a:t>
            </a:fld>
            <a:endParaRPr lang="en-US"/>
          </a:p>
        </p:txBody>
      </p:sp>
    </p:spTree>
    <p:extLst>
      <p:ext uri="{BB962C8B-B14F-4D97-AF65-F5344CB8AC3E}">
        <p14:creationId xmlns:p14="http://schemas.microsoft.com/office/powerpoint/2010/main" val="54576890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65DC44-B7F3-C827-CD55-2A087F5388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09E3EF-2498-9776-CEC9-E5C2B4A9D4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8AA80E-B21F-C7A4-B084-D663E24B46C4}"/>
              </a:ext>
            </a:extLst>
          </p:cNvPr>
          <p:cNvSpPr>
            <a:spLocks noGrp="1"/>
          </p:cNvSpPr>
          <p:nvPr>
            <p:ph type="body" idx="1"/>
          </p:nvPr>
        </p:nvSpPr>
        <p:spPr/>
        <p:txBody>
          <a:bodyPr/>
          <a:lstStyle/>
          <a:p>
            <a:r>
              <a:rPr lang="en-US" dirty="0"/>
              <a:t>AI systems offer powerful evidence for the role of statistical learning in cognition.</a:t>
            </a:r>
          </a:p>
          <a:p>
            <a:r>
              <a:rPr lang="en-US" dirty="0"/>
              <a:t>Their impressive abilities in language, pattern recognition, and generative tasks demonstrate how far prediction alone can go.</a:t>
            </a:r>
          </a:p>
          <a:p>
            <a:r>
              <a:rPr lang="en-US" dirty="0"/>
              <a:t>This supports cognitive theories that emphasize distributed representations and learning from exposure rather than explicit rules.</a:t>
            </a:r>
          </a:p>
          <a:p>
            <a:r>
              <a:rPr lang="en-US" dirty="0"/>
              <a:t>At the same time, these systems help clarify which aspects of cognition might rely heavily on statistical information and which likely do not.</a:t>
            </a:r>
          </a:p>
          <a:p>
            <a:endParaRPr lang="en-US" dirty="0"/>
          </a:p>
          <a:p>
            <a:r>
              <a:rPr lang="en-US" dirty="0"/>
              <a:t>AI failures also reveal gaps in our scientific understanding of the mind.</a:t>
            </a:r>
          </a:p>
          <a:p>
            <a:r>
              <a:rPr lang="en-US" dirty="0"/>
              <a:t>When models struggle with tasks that humans find trivial—such as object permanence, intuitive physics, or pragmatic inference—it suggests our theories may be incomplete.</a:t>
            </a:r>
          </a:p>
          <a:p>
            <a:r>
              <a:rPr lang="en-US" dirty="0"/>
              <a:t>These failures highlight the importance of grounding, developmental constraints, embodiment, and social reasoning.</a:t>
            </a:r>
          </a:p>
          <a:p>
            <a:r>
              <a:rPr lang="en-US" dirty="0"/>
              <a:t>Seeing where AI falls short helps refine hypotheses about the mechanisms underlying human cognition.</a:t>
            </a:r>
          </a:p>
          <a:p>
            <a:endParaRPr lang="en-US" dirty="0"/>
          </a:p>
          <a:p>
            <a:r>
              <a:rPr lang="en-US" dirty="0"/>
              <a:t>Finally, AI pushes us to rethink what concepts like “reasoning,” “understanding,” or “knowledge” really mean.</a:t>
            </a:r>
          </a:p>
          <a:p>
            <a:r>
              <a:rPr lang="en-US" dirty="0"/>
              <a:t>If systems can convincingly explain ideas without genuine comprehension, our traditional definitions may be too narrow, too broad, or simply outdated.</a:t>
            </a:r>
          </a:p>
          <a:p>
            <a:r>
              <a:rPr lang="en-US" dirty="0"/>
              <a:t>This tension forces cognitive scientists to clarify what counts as mental representation, what counts as explanation, and what criteria we use to attribute cognitive states.</a:t>
            </a:r>
          </a:p>
          <a:p>
            <a:r>
              <a:rPr lang="en-US" dirty="0"/>
              <a:t>In this way, AI becomes not just a target for comparison, but a catalyst for deep conceptual analysis in cognitive science.</a:t>
            </a:r>
          </a:p>
        </p:txBody>
      </p:sp>
      <p:sp>
        <p:nvSpPr>
          <p:cNvPr id="4" name="Slide Number Placeholder 3">
            <a:extLst>
              <a:ext uri="{FF2B5EF4-FFF2-40B4-BE49-F238E27FC236}">
                <a16:creationId xmlns:a16="http://schemas.microsoft.com/office/drawing/2014/main" id="{2E84132B-5088-EC57-7201-5A0CD4817233}"/>
              </a:ext>
            </a:extLst>
          </p:cNvPr>
          <p:cNvSpPr>
            <a:spLocks noGrp="1"/>
          </p:cNvSpPr>
          <p:nvPr>
            <p:ph type="sldNum" sz="quarter" idx="5"/>
          </p:nvPr>
        </p:nvSpPr>
        <p:spPr/>
        <p:txBody>
          <a:bodyPr/>
          <a:lstStyle/>
          <a:p>
            <a:fld id="{B0C32C59-1409-2640-866F-4A1083575A35}" type="slidenum">
              <a:rPr lang="en-US" smtClean="0"/>
              <a:t>23</a:t>
            </a:fld>
            <a:endParaRPr lang="en-US"/>
          </a:p>
        </p:txBody>
      </p:sp>
    </p:spTree>
    <p:extLst>
      <p:ext uri="{BB962C8B-B14F-4D97-AF65-F5344CB8AC3E}">
        <p14:creationId xmlns:p14="http://schemas.microsoft.com/office/powerpoint/2010/main" val="417574775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896746-ADCA-1845-41D6-714B9E97CD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299C70-38E1-ACBF-0C9D-76B9044935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B8E988-0428-55B4-24CF-0E4404365C87}"/>
              </a:ext>
            </a:extLst>
          </p:cNvPr>
          <p:cNvSpPr>
            <a:spLocks noGrp="1"/>
          </p:cNvSpPr>
          <p:nvPr>
            <p:ph type="body" idx="1"/>
          </p:nvPr>
        </p:nvSpPr>
        <p:spPr/>
        <p:txBody>
          <a:bodyPr/>
          <a:lstStyle/>
          <a:p>
            <a:r>
              <a:rPr lang="en-US" dirty="0"/>
              <a:t>Today we explored ten foundational questions about intelligence, each of which exposes a tension in how we think about minds.</a:t>
            </a:r>
          </a:p>
          <a:p>
            <a:r>
              <a:rPr lang="en-US" dirty="0"/>
              <a:t>We saw that intelligence can be framed behaviorally, representationally, computationally, ecologically, or developmentally, and each framing emphasizes different capacities.</a:t>
            </a:r>
          </a:p>
          <a:p>
            <a:r>
              <a:rPr lang="en-US" dirty="0"/>
              <a:t>Artificial systems like LLMs blur some of these distinctions while sharpening others, challenging us to think more carefully about what counts as understanding or reasoning.</a:t>
            </a:r>
          </a:p>
          <a:p>
            <a:r>
              <a:rPr lang="en-US" dirty="0"/>
              <a:t>Rather than closing the debate, modern AI expands it, forcing us to clarify concepts that once seemed obvious.</a:t>
            </a:r>
          </a:p>
          <a:p>
            <a:endParaRPr lang="en-US" dirty="0"/>
          </a:p>
          <a:p>
            <a:r>
              <a:rPr lang="en-US" dirty="0"/>
              <a:t>We also saw that many intuitive answers do not hold up under scrutiny.</a:t>
            </a:r>
          </a:p>
          <a:p>
            <a:r>
              <a:rPr lang="en-US" dirty="0"/>
              <a:t>Behavior alone may not be a reliable indicator of intelligence, and internal representations are difficult to define precisely.</a:t>
            </a:r>
          </a:p>
          <a:p>
            <a:r>
              <a:rPr lang="en-US" dirty="0"/>
              <a:t>Prediction explains some components of cognition but not others, and goal-directedness and embodiment create deep divergences between humans and machines.</a:t>
            </a:r>
          </a:p>
          <a:p>
            <a:r>
              <a:rPr lang="en-US" dirty="0"/>
              <a:t>AI therefore functions not just as technology but as a conceptual test that probes the boundaries of our theories.</a:t>
            </a:r>
          </a:p>
          <a:p>
            <a:endParaRPr lang="en-US" dirty="0"/>
          </a:p>
          <a:p>
            <a:r>
              <a:rPr lang="en-US" dirty="0"/>
              <a:t>The questions raised today point toward a central theme that will guide the rest of the week: intelligence is not a single thing.</a:t>
            </a:r>
          </a:p>
          <a:p>
            <a:r>
              <a:rPr lang="en-US" dirty="0"/>
              <a:t>Different theories explain different aspects, and both humans and artificial systems exhibit patchy profiles of strengths and weaknesses.</a:t>
            </a:r>
          </a:p>
          <a:p>
            <a:r>
              <a:rPr lang="en-US" dirty="0"/>
              <a:t>Understanding these differences requires examining learning mechanisms, developmental constraints, and cognitive architectures.</a:t>
            </a:r>
          </a:p>
          <a:p>
            <a:r>
              <a:rPr lang="en-US" dirty="0"/>
              <a:t>This is where cognitive science provides the frameworks we need to make sense of AI’s capabilities and limitations.</a:t>
            </a:r>
          </a:p>
          <a:p>
            <a:endParaRPr lang="en-US" dirty="0"/>
          </a:p>
          <a:p>
            <a:r>
              <a:rPr lang="en-US" dirty="0"/>
              <a:t>In our next lecture, we will turn away from philosophical framing and toward the scientific mechanisms that allow systems—biological and artificial—to learn.</a:t>
            </a:r>
          </a:p>
          <a:p>
            <a:r>
              <a:rPr lang="en-US" dirty="0"/>
              <a:t>We will compare reinforcement learning, statistical learning, predictive models, and developmental constraints, showing how these theories illuminate both human cognition and AI.</a:t>
            </a:r>
          </a:p>
          <a:p>
            <a:r>
              <a:rPr lang="en-US" dirty="0"/>
              <a:t>Lecture 2 will give us the conceptual tools to move from “What is intelligence?” to “How do learning systems actually work?”</a:t>
            </a:r>
          </a:p>
          <a:p>
            <a:r>
              <a:rPr lang="en-US" dirty="0"/>
              <a:t>This transition sets the stage for understanding large language models not as magic, but as specific kinds of learning machines shaped by their training and architecture.</a:t>
            </a:r>
          </a:p>
        </p:txBody>
      </p:sp>
      <p:sp>
        <p:nvSpPr>
          <p:cNvPr id="4" name="Slide Number Placeholder 3">
            <a:extLst>
              <a:ext uri="{FF2B5EF4-FFF2-40B4-BE49-F238E27FC236}">
                <a16:creationId xmlns:a16="http://schemas.microsoft.com/office/drawing/2014/main" id="{C391E515-6AF1-749D-2021-9B746953F4F3}"/>
              </a:ext>
            </a:extLst>
          </p:cNvPr>
          <p:cNvSpPr>
            <a:spLocks noGrp="1"/>
          </p:cNvSpPr>
          <p:nvPr>
            <p:ph type="sldNum" sz="quarter" idx="5"/>
          </p:nvPr>
        </p:nvSpPr>
        <p:spPr/>
        <p:txBody>
          <a:bodyPr/>
          <a:lstStyle/>
          <a:p>
            <a:fld id="{B0C32C59-1409-2640-866F-4A1083575A35}" type="slidenum">
              <a:rPr lang="en-US" smtClean="0"/>
              <a:t>24</a:t>
            </a:fld>
            <a:endParaRPr lang="en-US"/>
          </a:p>
        </p:txBody>
      </p:sp>
    </p:spTree>
    <p:extLst>
      <p:ext uri="{BB962C8B-B14F-4D97-AF65-F5344CB8AC3E}">
        <p14:creationId xmlns:p14="http://schemas.microsoft.com/office/powerpoint/2010/main" val="404671994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34809-F69F-0D48-97F8-9CF76A5308DF}"/>
              </a:ext>
            </a:extLst>
          </p:cNvPr>
          <p:cNvSpPr>
            <a:spLocks noGrp="1"/>
          </p:cNvSpPr>
          <p:nvPr>
            <p:ph type="ctrTitle" hasCustomPrompt="1"/>
          </p:nvPr>
        </p:nvSpPr>
        <p:spPr>
          <a:xfrm>
            <a:off x="471340" y="1122363"/>
            <a:ext cx="5785769" cy="2387600"/>
          </a:xfrm>
        </p:spPr>
        <p:txBody>
          <a:bodyPr anchor="b">
            <a:normAutofit/>
          </a:bodyPr>
          <a:lstStyle>
            <a:lvl1pPr algn="l">
              <a:defRPr sz="4000">
                <a:solidFill>
                  <a:schemeClr val="bg1"/>
                </a:solidFill>
              </a:defRPr>
            </a:lvl1pPr>
          </a:lstStyle>
          <a:p>
            <a:r>
              <a:rPr lang="en-US" sz="4000" b="1" dirty="0">
                <a:solidFill>
                  <a:schemeClr val="bg1"/>
                </a:solidFill>
                <a:latin typeface="Georgia" charset="0"/>
                <a:ea typeface="Georgia" charset="0"/>
                <a:cs typeface="Georgia" charset="0"/>
              </a:rPr>
              <a:t>Title Here:</a:t>
            </a:r>
            <a:br>
              <a:rPr lang="en-US" sz="4000" b="1" dirty="0">
                <a:solidFill>
                  <a:schemeClr val="bg1"/>
                </a:solidFill>
                <a:latin typeface="Georgia" charset="0"/>
                <a:ea typeface="Georgia" charset="0"/>
                <a:cs typeface="Georgia" charset="0"/>
              </a:rPr>
            </a:br>
            <a:r>
              <a:rPr lang="en-US" sz="4000" b="1" dirty="0">
                <a:solidFill>
                  <a:schemeClr val="bg1"/>
                </a:solidFill>
                <a:latin typeface="Georgia" charset="0"/>
                <a:ea typeface="Georgia" charset="0"/>
                <a:cs typeface="Georgia" charset="0"/>
              </a:rPr>
              <a:t>Tell Your</a:t>
            </a:r>
            <a:br>
              <a:rPr lang="en-US" sz="4000" b="1" dirty="0">
                <a:solidFill>
                  <a:schemeClr val="bg1"/>
                </a:solidFill>
                <a:latin typeface="Georgia" charset="0"/>
                <a:ea typeface="Georgia" charset="0"/>
                <a:cs typeface="Georgia" charset="0"/>
              </a:rPr>
            </a:br>
            <a:r>
              <a:rPr lang="en-US" sz="4000" b="1" dirty="0">
                <a:solidFill>
                  <a:schemeClr val="bg1"/>
                </a:solidFill>
                <a:latin typeface="Georgia" charset="0"/>
                <a:ea typeface="Georgia" charset="0"/>
                <a:cs typeface="Georgia" charset="0"/>
              </a:rPr>
              <a:t>Illinois Story</a:t>
            </a:r>
            <a:endParaRPr lang="en-US" dirty="0"/>
          </a:p>
        </p:txBody>
      </p:sp>
      <p:sp>
        <p:nvSpPr>
          <p:cNvPr id="3" name="Subtitle 2">
            <a:extLst>
              <a:ext uri="{FF2B5EF4-FFF2-40B4-BE49-F238E27FC236}">
                <a16:creationId xmlns:a16="http://schemas.microsoft.com/office/drawing/2014/main" id="{C5FA99F5-1DAB-644E-87BD-7B2BE337DBBB}"/>
              </a:ext>
            </a:extLst>
          </p:cNvPr>
          <p:cNvSpPr>
            <a:spLocks noGrp="1"/>
          </p:cNvSpPr>
          <p:nvPr>
            <p:ph type="subTitle" idx="1" hasCustomPrompt="1"/>
          </p:nvPr>
        </p:nvSpPr>
        <p:spPr>
          <a:xfrm>
            <a:off x="471340" y="3602038"/>
            <a:ext cx="5785769" cy="1655762"/>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Name:</a:t>
            </a:r>
          </a:p>
        </p:txBody>
      </p:sp>
      <p:sp>
        <p:nvSpPr>
          <p:cNvPr id="6" name="Slide Number Placeholder 5">
            <a:extLst>
              <a:ext uri="{FF2B5EF4-FFF2-40B4-BE49-F238E27FC236}">
                <a16:creationId xmlns:a16="http://schemas.microsoft.com/office/drawing/2014/main" id="{1D5E86B4-4E28-5743-B958-4D04BD329DC7}"/>
              </a:ext>
            </a:extLst>
          </p:cNvPr>
          <p:cNvSpPr>
            <a:spLocks noGrp="1"/>
          </p:cNvSpPr>
          <p:nvPr>
            <p:ph type="sldNum" sz="quarter" idx="12"/>
          </p:nvPr>
        </p:nvSpPr>
        <p:spPr/>
        <p:txBody>
          <a:bodyPr/>
          <a:lstStyle/>
          <a:p>
            <a:fld id="{47306C45-97B4-7545-8562-07255BCE2FE0}" type="slidenum">
              <a:rPr lang="en-US" smtClean="0"/>
              <a:t>‹#›</a:t>
            </a:fld>
            <a:endParaRPr lang="en-US"/>
          </a:p>
        </p:txBody>
      </p:sp>
      <p:pic>
        <p:nvPicPr>
          <p:cNvPr id="5" name="Picture 4">
            <a:extLst>
              <a:ext uri="{FF2B5EF4-FFF2-40B4-BE49-F238E27FC236}">
                <a16:creationId xmlns:a16="http://schemas.microsoft.com/office/drawing/2014/main" id="{96A9BA8F-BF67-344F-9BFA-A8262A79BC82}"/>
              </a:ext>
            </a:extLst>
          </p:cNvPr>
          <p:cNvPicPr>
            <a:picLocks noChangeAspect="1"/>
          </p:cNvPicPr>
          <p:nvPr userDrawn="1"/>
        </p:nvPicPr>
        <p:blipFill>
          <a:blip r:embed="rId3"/>
          <a:stretch>
            <a:fillRect/>
          </a:stretch>
        </p:blipFill>
        <p:spPr>
          <a:xfrm>
            <a:off x="4537075" y="5718264"/>
            <a:ext cx="3117850" cy="807948"/>
          </a:xfrm>
          <a:prstGeom prst="rect">
            <a:avLst/>
          </a:prstGeom>
        </p:spPr>
      </p:pic>
    </p:spTree>
    <p:extLst>
      <p:ext uri="{BB962C8B-B14F-4D97-AF65-F5344CB8AC3E}">
        <p14:creationId xmlns:p14="http://schemas.microsoft.com/office/powerpoint/2010/main" val="6783208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815B210D-E74D-9F46-BBEB-61CE8DBFBD6C}"/>
              </a:ext>
            </a:extLst>
          </p:cNvPr>
          <p:cNvSpPr>
            <a:spLocks noGrp="1"/>
          </p:cNvSpPr>
          <p:nvPr>
            <p:ph type="sldNum" sz="quarter" idx="12"/>
          </p:nvPr>
        </p:nvSpPr>
        <p:spPr>
          <a:xfrm>
            <a:off x="9117874" y="6095093"/>
            <a:ext cx="2743200" cy="365125"/>
          </a:xfrm>
        </p:spPr>
        <p:txBody>
          <a:bodyPr/>
          <a:lstStyle/>
          <a:p>
            <a:fld id="{47306C45-97B4-7545-8562-07255BCE2FE0}" type="slidenum">
              <a:rPr lang="en-US" smtClean="0"/>
              <a:t>‹#›</a:t>
            </a:fld>
            <a:endParaRPr lang="en-US"/>
          </a:p>
        </p:txBody>
      </p:sp>
    </p:spTree>
    <p:extLst>
      <p:ext uri="{BB962C8B-B14F-4D97-AF65-F5344CB8AC3E}">
        <p14:creationId xmlns:p14="http://schemas.microsoft.com/office/powerpoint/2010/main" val="1487265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C4261-61FB-7142-9417-2F78D3797632}"/>
              </a:ext>
            </a:extLst>
          </p:cNvPr>
          <p:cNvSpPr>
            <a:spLocks noGrp="1"/>
          </p:cNvSpPr>
          <p:nvPr>
            <p:ph type="title" hasCustomPrompt="1"/>
          </p:nvPr>
        </p:nvSpPr>
        <p:spPr>
          <a:xfrm>
            <a:off x="378823" y="365125"/>
            <a:ext cx="9614263" cy="1325563"/>
          </a:xfrm>
        </p:spPr>
        <p:txBody>
          <a:bodyPr/>
          <a:lstStyle>
            <a:lvl1pPr algn="ctr">
              <a:defRPr b="1" i="0">
                <a:solidFill>
                  <a:srgbClr val="E84A27"/>
                </a:solidFill>
                <a:latin typeface="Georgia" panose="02040502050405020303" pitchFamily="18" charset="0"/>
              </a:defRPr>
            </a:lvl1pPr>
          </a:lstStyle>
          <a:p>
            <a:r>
              <a:rPr lang="en-US" dirty="0"/>
              <a:t>Hello.</a:t>
            </a:r>
          </a:p>
        </p:txBody>
      </p:sp>
      <p:sp>
        <p:nvSpPr>
          <p:cNvPr id="3" name="Content Placeholder 2">
            <a:extLst>
              <a:ext uri="{FF2B5EF4-FFF2-40B4-BE49-F238E27FC236}">
                <a16:creationId xmlns:a16="http://schemas.microsoft.com/office/drawing/2014/main" id="{AB412F32-5110-BE43-86BA-CB778EC424F5}"/>
              </a:ext>
            </a:extLst>
          </p:cNvPr>
          <p:cNvSpPr>
            <a:spLocks noGrp="1"/>
          </p:cNvSpPr>
          <p:nvPr>
            <p:ph idx="1"/>
          </p:nvPr>
        </p:nvSpPr>
        <p:spPr>
          <a:xfrm>
            <a:off x="378823" y="1690688"/>
            <a:ext cx="9614263" cy="3625895"/>
          </a:xfrm>
        </p:spPr>
        <p:txBody>
          <a:bodyPr/>
          <a:lstStyle>
            <a:lvl1pPr>
              <a:defRPr>
                <a:solidFill>
                  <a:srgbClr val="13294B"/>
                </a:solidFill>
              </a:defRPr>
            </a:lvl1pPr>
            <a:lvl2pPr>
              <a:defRPr>
                <a:solidFill>
                  <a:srgbClr val="13294B"/>
                </a:solidFill>
              </a:defRPr>
            </a:lvl2pPr>
            <a:lvl3pPr>
              <a:defRPr>
                <a:solidFill>
                  <a:srgbClr val="13294B"/>
                </a:solidFill>
              </a:defRPr>
            </a:lvl3pPr>
            <a:lvl4pPr>
              <a:defRPr>
                <a:solidFill>
                  <a:srgbClr val="13294B"/>
                </a:solidFill>
              </a:defRPr>
            </a:lvl4pPr>
            <a:lvl5pPr>
              <a:defRPr>
                <a:solidFill>
                  <a:srgbClr val="13294B"/>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4696323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A26ADA6-32C7-6D47-94AB-D149FA9C199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67FDBC8-5F1C-654A-9325-61F4244133F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C771FB5C-A5C2-4C44-A9DF-4F6A196EC0F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306C45-97B4-7545-8562-07255BCE2FE0}" type="slidenum">
              <a:rPr lang="en-US" smtClean="0"/>
              <a:t>‹#›</a:t>
            </a:fld>
            <a:endParaRPr lang="en-US"/>
          </a:p>
        </p:txBody>
      </p:sp>
    </p:spTree>
    <p:extLst>
      <p:ext uri="{BB962C8B-B14F-4D97-AF65-F5344CB8AC3E}">
        <p14:creationId xmlns:p14="http://schemas.microsoft.com/office/powerpoint/2010/main" val="1008080449"/>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Lst>
  <p:txStyles>
    <p:titleStyle>
      <a:lvl1pPr algn="l" defTabSz="914400" rtl="0" eaLnBrk="1" latinLnBrk="0" hangingPunct="1">
        <a:lnSpc>
          <a:spcPct val="90000"/>
        </a:lnSpc>
        <a:spcBef>
          <a:spcPct val="0"/>
        </a:spcBef>
        <a:buNone/>
        <a:defRPr sz="4400" b="1" i="0" kern="1200">
          <a:solidFill>
            <a:srgbClr val="E84A27"/>
          </a:solidFill>
          <a:latin typeface="Georgia" panose="02040502050405020303"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3294B"/>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3294B"/>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3294B"/>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3294B"/>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3294B"/>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E552E"/>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83CDB9E-798C-A842-B031-6BFA04385C39}"/>
              </a:ext>
            </a:extLst>
          </p:cNvPr>
          <p:cNvSpPr>
            <a:spLocks noGrp="1"/>
          </p:cNvSpPr>
          <p:nvPr>
            <p:ph type="ctrTitle"/>
          </p:nvPr>
        </p:nvSpPr>
        <p:spPr>
          <a:xfrm>
            <a:off x="3699571" y="773546"/>
            <a:ext cx="5935859" cy="2720253"/>
          </a:xfrm>
        </p:spPr>
        <p:txBody>
          <a:bodyPr>
            <a:normAutofit fontScale="90000"/>
          </a:bodyPr>
          <a:lstStyle/>
          <a:p>
            <a:pPr algn="ctr"/>
            <a:r>
              <a:rPr lang="en-US" sz="10000" dirty="0">
                <a:latin typeface="Calibri"/>
                <a:cs typeface="Calibri"/>
              </a:rPr>
              <a:t>BCOG 100</a:t>
            </a:r>
            <a:endParaRPr lang="en-US" sz="10000" dirty="0">
              <a:latin typeface="Calibri" panose="020F0502020204030204" pitchFamily="34" charset="0"/>
              <a:cs typeface="Calibri" panose="020F0502020204030204" pitchFamily="34" charset="0"/>
            </a:endParaRPr>
          </a:p>
        </p:txBody>
      </p:sp>
      <p:sp>
        <p:nvSpPr>
          <p:cNvPr id="7" name="Subtitle 6">
            <a:extLst>
              <a:ext uri="{FF2B5EF4-FFF2-40B4-BE49-F238E27FC236}">
                <a16:creationId xmlns:a16="http://schemas.microsoft.com/office/drawing/2014/main" id="{C2F9A5BC-DE40-064D-98AE-B1AA2F274302}"/>
              </a:ext>
            </a:extLst>
          </p:cNvPr>
          <p:cNvSpPr>
            <a:spLocks noGrp="1"/>
          </p:cNvSpPr>
          <p:nvPr>
            <p:ph type="subTitle" idx="4294967295"/>
          </p:nvPr>
        </p:nvSpPr>
        <p:spPr>
          <a:xfrm>
            <a:off x="3017406" y="3472201"/>
            <a:ext cx="8283862" cy="1655762"/>
          </a:xfrm>
        </p:spPr>
        <p:txBody>
          <a:bodyPr vert="horz" lIns="91440" tIns="45720" rIns="91440" bIns="45720" rtlCol="0" anchor="t">
            <a:normAutofit/>
          </a:bodyPr>
          <a:lstStyle/>
          <a:p>
            <a:pPr marL="0" indent="0" algn="ctr">
              <a:buNone/>
            </a:pPr>
            <a:r>
              <a:rPr lang="en-US" dirty="0">
                <a:latin typeface="Calibri"/>
                <a:cs typeface="Calibri"/>
              </a:rPr>
              <a:t>Artificial Intelligence</a:t>
            </a:r>
          </a:p>
          <a:p>
            <a:pPr marL="0" indent="0" algn="ctr">
              <a:buNone/>
            </a:pPr>
            <a:r>
              <a:rPr lang="en-US" dirty="0">
                <a:latin typeface="Calibri"/>
                <a:cs typeface="Calibri"/>
              </a:rPr>
              <a:t>Lecture 1: Ten Questions About AI</a:t>
            </a:r>
          </a:p>
        </p:txBody>
      </p:sp>
      <p:sp>
        <p:nvSpPr>
          <p:cNvPr id="2" name="Oval 1">
            <a:extLst>
              <a:ext uri="{FF2B5EF4-FFF2-40B4-BE49-F238E27FC236}">
                <a16:creationId xmlns:a16="http://schemas.microsoft.com/office/drawing/2014/main" id="{C87BCB3F-D51B-11CA-8A5C-B653C02DD655}"/>
              </a:ext>
            </a:extLst>
          </p:cNvPr>
          <p:cNvSpPr/>
          <p:nvPr/>
        </p:nvSpPr>
        <p:spPr>
          <a:xfrm>
            <a:off x="443346" y="1263072"/>
            <a:ext cx="912090" cy="912090"/>
          </a:xfrm>
          <a:prstGeom prst="ellips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a:extLst>
              <a:ext uri="{FF2B5EF4-FFF2-40B4-BE49-F238E27FC236}">
                <a16:creationId xmlns:a16="http://schemas.microsoft.com/office/drawing/2014/main" id="{F96C562F-8F13-2516-D9AF-45E75A96A3C5}"/>
              </a:ext>
            </a:extLst>
          </p:cNvPr>
          <p:cNvSpPr/>
          <p:nvPr/>
        </p:nvSpPr>
        <p:spPr>
          <a:xfrm>
            <a:off x="1505528" y="3248890"/>
            <a:ext cx="912090" cy="912090"/>
          </a:xfrm>
          <a:prstGeom prst="ellips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E2052EBC-2E12-F996-BB1F-41F23E64F1BE}"/>
              </a:ext>
            </a:extLst>
          </p:cNvPr>
          <p:cNvSpPr/>
          <p:nvPr/>
        </p:nvSpPr>
        <p:spPr>
          <a:xfrm>
            <a:off x="443345" y="3318162"/>
            <a:ext cx="912090" cy="912090"/>
          </a:xfrm>
          <a:prstGeom prst="ellips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8A4D7291-4D5A-9593-1D85-950EBFC1FF07}"/>
              </a:ext>
            </a:extLst>
          </p:cNvPr>
          <p:cNvSpPr/>
          <p:nvPr/>
        </p:nvSpPr>
        <p:spPr>
          <a:xfrm>
            <a:off x="443346" y="5246253"/>
            <a:ext cx="912090" cy="912090"/>
          </a:xfrm>
          <a:prstGeom prst="ellips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02E91675-03DF-90EE-942D-06C70F754DEE}"/>
              </a:ext>
            </a:extLst>
          </p:cNvPr>
          <p:cNvCxnSpPr/>
          <p:nvPr/>
        </p:nvCxnSpPr>
        <p:spPr>
          <a:xfrm>
            <a:off x="867642" y="2172278"/>
            <a:ext cx="1052944" cy="1110673"/>
          </a:xfrm>
          <a:prstGeom prst="straightConnector1">
            <a:avLst/>
          </a:prstGeom>
          <a:ln>
            <a:solidFill>
              <a:schemeClr val="bg1"/>
            </a:solidFill>
            <a:tailEnd type="triangle"/>
          </a:ln>
        </p:spPr>
        <p:style>
          <a:lnRef idx="3">
            <a:schemeClr val="dk1"/>
          </a:lnRef>
          <a:fillRef idx="0">
            <a:schemeClr val="dk1"/>
          </a:fillRef>
          <a:effectRef idx="2">
            <a:schemeClr val="dk1"/>
          </a:effectRef>
          <a:fontRef idx="minor">
            <a:schemeClr val="tx1"/>
          </a:fontRef>
        </p:style>
      </p:cxnSp>
      <p:cxnSp>
        <p:nvCxnSpPr>
          <p:cNvPr id="10" name="Straight Arrow Connector 9">
            <a:extLst>
              <a:ext uri="{FF2B5EF4-FFF2-40B4-BE49-F238E27FC236}">
                <a16:creationId xmlns:a16="http://schemas.microsoft.com/office/drawing/2014/main" id="{42D74029-D6FE-2938-F6DF-602FCD9AA658}"/>
              </a:ext>
            </a:extLst>
          </p:cNvPr>
          <p:cNvCxnSpPr>
            <a:cxnSpLocks/>
          </p:cNvCxnSpPr>
          <p:nvPr/>
        </p:nvCxnSpPr>
        <p:spPr>
          <a:xfrm>
            <a:off x="879187" y="2172278"/>
            <a:ext cx="25400" cy="1179945"/>
          </a:xfrm>
          <a:prstGeom prst="straightConnector1">
            <a:avLst/>
          </a:prstGeom>
          <a:ln>
            <a:solidFill>
              <a:schemeClr val="bg1"/>
            </a:solidFill>
            <a:tailEnd type="triangle"/>
          </a:ln>
        </p:spPr>
        <p:style>
          <a:lnRef idx="3">
            <a:schemeClr val="dk1"/>
          </a:lnRef>
          <a:fillRef idx="0">
            <a:schemeClr val="dk1"/>
          </a:fillRef>
          <a:effectRef idx="2">
            <a:schemeClr val="dk1"/>
          </a:effectRef>
          <a:fontRef idx="minor">
            <a:schemeClr val="tx1"/>
          </a:fontRef>
        </p:style>
      </p:cxnSp>
      <p:sp>
        <p:nvSpPr>
          <p:cNvPr id="11" name="Oval 10">
            <a:extLst>
              <a:ext uri="{FF2B5EF4-FFF2-40B4-BE49-F238E27FC236}">
                <a16:creationId xmlns:a16="http://schemas.microsoft.com/office/drawing/2014/main" id="{7831A33E-2612-45D1-F1F0-57371C01F8AB}"/>
              </a:ext>
            </a:extLst>
          </p:cNvPr>
          <p:cNvSpPr/>
          <p:nvPr/>
        </p:nvSpPr>
        <p:spPr>
          <a:xfrm>
            <a:off x="1505528" y="5246253"/>
            <a:ext cx="912090" cy="912090"/>
          </a:xfrm>
          <a:prstGeom prst="ellips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E565D7F4-2920-5911-7086-757F822A07E3}"/>
              </a:ext>
            </a:extLst>
          </p:cNvPr>
          <p:cNvSpPr/>
          <p:nvPr/>
        </p:nvSpPr>
        <p:spPr>
          <a:xfrm>
            <a:off x="2694709" y="5246252"/>
            <a:ext cx="912090" cy="912090"/>
          </a:xfrm>
          <a:prstGeom prst="ellips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Arrow Connector 12">
            <a:extLst>
              <a:ext uri="{FF2B5EF4-FFF2-40B4-BE49-F238E27FC236}">
                <a16:creationId xmlns:a16="http://schemas.microsoft.com/office/drawing/2014/main" id="{4FE6F4CE-E239-70EB-26D3-C8CB8E270185}"/>
              </a:ext>
            </a:extLst>
          </p:cNvPr>
          <p:cNvCxnSpPr>
            <a:cxnSpLocks/>
          </p:cNvCxnSpPr>
          <p:nvPr/>
        </p:nvCxnSpPr>
        <p:spPr>
          <a:xfrm>
            <a:off x="1941369" y="4169641"/>
            <a:ext cx="1168399" cy="1087582"/>
          </a:xfrm>
          <a:prstGeom prst="straightConnector1">
            <a:avLst/>
          </a:prstGeom>
          <a:ln>
            <a:solidFill>
              <a:schemeClr val="bg1"/>
            </a:solidFill>
            <a:tailEnd type="triangle"/>
          </a:ln>
        </p:spPr>
        <p:style>
          <a:lnRef idx="3">
            <a:schemeClr val="dk1"/>
          </a:lnRef>
          <a:fillRef idx="0">
            <a:schemeClr val="dk1"/>
          </a:fillRef>
          <a:effectRef idx="2">
            <a:schemeClr val="dk1"/>
          </a:effectRef>
          <a:fontRef idx="minor">
            <a:schemeClr val="tx1"/>
          </a:fontRef>
        </p:style>
      </p:cxnSp>
      <p:cxnSp>
        <p:nvCxnSpPr>
          <p:cNvPr id="14" name="Straight Arrow Connector 13">
            <a:extLst>
              <a:ext uri="{FF2B5EF4-FFF2-40B4-BE49-F238E27FC236}">
                <a16:creationId xmlns:a16="http://schemas.microsoft.com/office/drawing/2014/main" id="{E0727C65-F6C0-78C9-A469-40AAD8018B82}"/>
              </a:ext>
            </a:extLst>
          </p:cNvPr>
          <p:cNvCxnSpPr>
            <a:cxnSpLocks/>
          </p:cNvCxnSpPr>
          <p:nvPr/>
        </p:nvCxnSpPr>
        <p:spPr>
          <a:xfrm flipH="1">
            <a:off x="1955223" y="4158096"/>
            <a:ext cx="9238" cy="1087581"/>
          </a:xfrm>
          <a:prstGeom prst="straightConnector1">
            <a:avLst/>
          </a:prstGeom>
          <a:ln>
            <a:solidFill>
              <a:schemeClr val="bg1"/>
            </a:solidFill>
            <a:tailEnd type="triangle"/>
          </a:ln>
        </p:spPr>
        <p:style>
          <a:lnRef idx="3">
            <a:schemeClr val="dk1"/>
          </a:lnRef>
          <a:fillRef idx="0">
            <a:schemeClr val="dk1"/>
          </a:fillRef>
          <a:effectRef idx="2">
            <a:schemeClr val="dk1"/>
          </a:effectRef>
          <a:fontRef idx="minor">
            <a:schemeClr val="tx1"/>
          </a:fontRef>
        </p:style>
      </p:cxnSp>
      <p:cxnSp>
        <p:nvCxnSpPr>
          <p:cNvPr id="15" name="Straight Arrow Connector 14">
            <a:extLst>
              <a:ext uri="{FF2B5EF4-FFF2-40B4-BE49-F238E27FC236}">
                <a16:creationId xmlns:a16="http://schemas.microsoft.com/office/drawing/2014/main" id="{4A7C2072-1E04-8B83-DAA8-B48C97536A6F}"/>
              </a:ext>
            </a:extLst>
          </p:cNvPr>
          <p:cNvCxnSpPr>
            <a:cxnSpLocks/>
          </p:cNvCxnSpPr>
          <p:nvPr/>
        </p:nvCxnSpPr>
        <p:spPr>
          <a:xfrm>
            <a:off x="890732" y="4227368"/>
            <a:ext cx="13855" cy="1018310"/>
          </a:xfrm>
          <a:prstGeom prst="straightConnector1">
            <a:avLst/>
          </a:prstGeom>
          <a:ln>
            <a:solidFill>
              <a:schemeClr val="bg1"/>
            </a:solidFill>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6725838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13F075-C1DF-AC88-0DD8-A89B4781699C}"/>
            </a:ext>
          </a:extLst>
        </p:cNvPr>
        <p:cNvGrpSpPr/>
        <p:nvPr/>
      </p:nvGrpSpPr>
      <p:grpSpPr>
        <a:xfrm>
          <a:off x="0" y="0"/>
          <a:ext cx="0" cy="0"/>
          <a:chOff x="0" y="0"/>
          <a:chExt cx="0" cy="0"/>
        </a:xfrm>
      </p:grpSpPr>
      <p:sp>
        <p:nvSpPr>
          <p:cNvPr id="4" name="Title 6">
            <a:extLst>
              <a:ext uri="{FF2B5EF4-FFF2-40B4-BE49-F238E27FC236}">
                <a16:creationId xmlns:a16="http://schemas.microsoft.com/office/drawing/2014/main" id="{0BAA788D-E262-7949-69A7-856E6391ECEF}"/>
              </a:ext>
            </a:extLst>
          </p:cNvPr>
          <p:cNvSpPr txBox="1">
            <a:spLocks/>
          </p:cNvSpPr>
          <p:nvPr/>
        </p:nvSpPr>
        <p:spPr>
          <a:xfrm>
            <a:off x="0" y="0"/>
            <a:ext cx="11482251" cy="73516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b="1" i="0" kern="1200">
                <a:solidFill>
                  <a:srgbClr val="E84A27"/>
                </a:solidFill>
                <a:latin typeface="Georgia" panose="02040502050405020303" pitchFamily="18" charset="0"/>
                <a:ea typeface="+mj-ea"/>
                <a:cs typeface="+mj-cs"/>
              </a:defRPr>
            </a:lvl1pPr>
          </a:lstStyle>
          <a:p>
            <a:r>
              <a:rPr lang="en-US" dirty="0">
                <a:latin typeface="Calibri"/>
                <a:cs typeface="Calibri"/>
              </a:rPr>
              <a:t>Reading Check 14-1</a:t>
            </a:r>
            <a:endParaRPr lang="en-US" dirty="0"/>
          </a:p>
        </p:txBody>
      </p:sp>
      <p:sp>
        <p:nvSpPr>
          <p:cNvPr id="6" name="TextBox 5">
            <a:extLst>
              <a:ext uri="{FF2B5EF4-FFF2-40B4-BE49-F238E27FC236}">
                <a16:creationId xmlns:a16="http://schemas.microsoft.com/office/drawing/2014/main" id="{0DD3FEC5-40B7-76F4-82CF-0FE91306DF19}"/>
              </a:ext>
            </a:extLst>
          </p:cNvPr>
          <p:cNvSpPr txBox="1"/>
          <p:nvPr/>
        </p:nvSpPr>
        <p:spPr>
          <a:xfrm>
            <a:off x="2133600" y="2108289"/>
            <a:ext cx="3924921" cy="584775"/>
          </a:xfrm>
          <a:prstGeom prst="rect">
            <a:avLst/>
          </a:prstGeom>
          <a:noFill/>
        </p:spPr>
        <p:txBody>
          <a:bodyPr wrap="none" rtlCol="0">
            <a:spAutoFit/>
          </a:bodyPr>
          <a:lstStyle/>
          <a:p>
            <a:r>
              <a:rPr lang="en-US" sz="3200" b="1" dirty="0"/>
              <a:t>Password</a:t>
            </a:r>
            <a:r>
              <a:rPr lang="en-US" sz="3200" dirty="0"/>
              <a:t>: intelligence</a:t>
            </a:r>
          </a:p>
        </p:txBody>
      </p:sp>
      <p:sp>
        <p:nvSpPr>
          <p:cNvPr id="7" name="TextBox 6">
            <a:extLst>
              <a:ext uri="{FF2B5EF4-FFF2-40B4-BE49-F238E27FC236}">
                <a16:creationId xmlns:a16="http://schemas.microsoft.com/office/drawing/2014/main" id="{4D710E31-B441-5EA5-2BE3-822727D44A27}"/>
              </a:ext>
            </a:extLst>
          </p:cNvPr>
          <p:cNvSpPr txBox="1"/>
          <p:nvPr/>
        </p:nvSpPr>
        <p:spPr>
          <a:xfrm>
            <a:off x="2046514" y="3429000"/>
            <a:ext cx="9435737" cy="584775"/>
          </a:xfrm>
          <a:prstGeom prst="rect">
            <a:avLst/>
          </a:prstGeom>
          <a:noFill/>
        </p:spPr>
        <p:txBody>
          <a:bodyPr wrap="square" rtlCol="0">
            <a:spAutoFit/>
          </a:bodyPr>
          <a:lstStyle/>
          <a:p>
            <a:r>
              <a:rPr lang="en-US" sz="3200" b="1" dirty="0"/>
              <a:t>Question</a:t>
            </a:r>
            <a:r>
              <a:rPr lang="en-US" sz="3200" dirty="0"/>
              <a:t>: What is Intelligence?</a:t>
            </a:r>
          </a:p>
        </p:txBody>
      </p:sp>
    </p:spTree>
    <p:extLst>
      <p:ext uri="{BB962C8B-B14F-4D97-AF65-F5344CB8AC3E}">
        <p14:creationId xmlns:p14="http://schemas.microsoft.com/office/powerpoint/2010/main" val="11777591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6">
            <a:extLst>
              <a:ext uri="{FF2B5EF4-FFF2-40B4-BE49-F238E27FC236}">
                <a16:creationId xmlns:a16="http://schemas.microsoft.com/office/drawing/2014/main" id="{4B2CA281-11FA-A27B-CD7A-9F443FAEA403}"/>
              </a:ext>
            </a:extLst>
          </p:cNvPr>
          <p:cNvSpPr txBox="1">
            <a:spLocks/>
          </p:cNvSpPr>
          <p:nvPr/>
        </p:nvSpPr>
        <p:spPr>
          <a:xfrm>
            <a:off x="0" y="0"/>
            <a:ext cx="11482251" cy="73516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b="1" i="0" kern="1200">
                <a:solidFill>
                  <a:srgbClr val="E84A27"/>
                </a:solidFill>
                <a:latin typeface="Georgia" panose="02040502050405020303" pitchFamily="18" charset="0"/>
                <a:ea typeface="+mj-ea"/>
                <a:cs typeface="+mj-cs"/>
              </a:defRPr>
            </a:lvl1pPr>
          </a:lstStyle>
          <a:p>
            <a:r>
              <a:rPr lang="en-US" dirty="0">
                <a:latin typeface="Calibri"/>
                <a:cs typeface="Calibri"/>
              </a:rPr>
              <a:t>Questions About Artificial Intelligence</a:t>
            </a:r>
            <a:endParaRPr lang="en-US" dirty="0"/>
          </a:p>
        </p:txBody>
      </p:sp>
      <p:sp>
        <p:nvSpPr>
          <p:cNvPr id="2" name="TextBox 1">
            <a:extLst>
              <a:ext uri="{FF2B5EF4-FFF2-40B4-BE49-F238E27FC236}">
                <a16:creationId xmlns:a16="http://schemas.microsoft.com/office/drawing/2014/main" id="{E6A92D8F-BC67-D36F-DFAC-BB3167810E94}"/>
              </a:ext>
            </a:extLst>
          </p:cNvPr>
          <p:cNvSpPr txBox="1"/>
          <p:nvPr/>
        </p:nvSpPr>
        <p:spPr>
          <a:xfrm>
            <a:off x="5070764" y="1597729"/>
            <a:ext cx="6887319" cy="2800767"/>
          </a:xfrm>
          <a:prstGeom prst="rect">
            <a:avLst/>
          </a:prstGeom>
          <a:noFill/>
        </p:spPr>
        <p:txBody>
          <a:bodyPr wrap="square" rtlCol="0">
            <a:spAutoFit/>
          </a:bodyPr>
          <a:lstStyle/>
          <a:p>
            <a:r>
              <a:rPr lang="en-US" sz="3200" b="1" dirty="0"/>
              <a:t>Recap &amp; Overview</a:t>
            </a:r>
          </a:p>
          <a:p>
            <a:endParaRPr lang="en-US" sz="1200" b="1" dirty="0"/>
          </a:p>
          <a:p>
            <a:r>
              <a:rPr lang="en-US" sz="3200" b="1" dirty="0"/>
              <a:t>Last Time</a:t>
            </a:r>
            <a:r>
              <a:rPr lang="en-US" sz="2800" dirty="0"/>
              <a:t>:</a:t>
            </a:r>
          </a:p>
          <a:p>
            <a:r>
              <a:rPr lang="en-US" sz="2800" dirty="0"/>
              <a:t>Nature vs. Nurture</a:t>
            </a:r>
          </a:p>
          <a:p>
            <a:endParaRPr lang="en-US" sz="1200" b="1" dirty="0"/>
          </a:p>
          <a:p>
            <a:r>
              <a:rPr lang="en-US" sz="3200" b="1" dirty="0"/>
              <a:t>Today</a:t>
            </a:r>
            <a:r>
              <a:rPr lang="en-US" sz="3200" dirty="0"/>
              <a:t>:</a:t>
            </a:r>
          </a:p>
          <a:p>
            <a:r>
              <a:rPr lang="en-US" sz="2800" dirty="0"/>
              <a:t>AI and the relationship to human cognition</a:t>
            </a:r>
          </a:p>
        </p:txBody>
      </p:sp>
      <p:pic>
        <p:nvPicPr>
          <p:cNvPr id="3" name="Picture 2">
            <a:extLst>
              <a:ext uri="{FF2B5EF4-FFF2-40B4-BE49-F238E27FC236}">
                <a16:creationId xmlns:a16="http://schemas.microsoft.com/office/drawing/2014/main" id="{6169B6E8-01DF-05CA-E3A3-8017F5D7D357}"/>
              </a:ext>
            </a:extLst>
          </p:cNvPr>
          <p:cNvPicPr>
            <a:picLocks noChangeAspect="1"/>
          </p:cNvPicPr>
          <p:nvPr/>
        </p:nvPicPr>
        <p:blipFill>
          <a:blip r:embed="rId3"/>
          <a:stretch>
            <a:fillRect/>
          </a:stretch>
        </p:blipFill>
        <p:spPr>
          <a:xfrm>
            <a:off x="233917" y="1100470"/>
            <a:ext cx="4471971" cy="4657060"/>
          </a:xfrm>
          <a:prstGeom prst="rect">
            <a:avLst/>
          </a:prstGeom>
        </p:spPr>
      </p:pic>
      <p:sp>
        <p:nvSpPr>
          <p:cNvPr id="5" name="Rectangle 4">
            <a:extLst>
              <a:ext uri="{FF2B5EF4-FFF2-40B4-BE49-F238E27FC236}">
                <a16:creationId xmlns:a16="http://schemas.microsoft.com/office/drawing/2014/main" id="{B38D7FC7-C88F-F310-4ED7-B5A7FE7EFD50}"/>
              </a:ext>
            </a:extLst>
          </p:cNvPr>
          <p:cNvSpPr/>
          <p:nvPr/>
        </p:nvSpPr>
        <p:spPr>
          <a:xfrm>
            <a:off x="103774" y="1100470"/>
            <a:ext cx="4732256" cy="1168924"/>
          </a:xfrm>
          <a:prstGeom prst="rect">
            <a:avLst/>
          </a:prstGeom>
          <a:solidFill>
            <a:srgbClr val="FF552E">
              <a:alpha val="0"/>
            </a:srgbClr>
          </a:solidFill>
          <a:ln w="63500">
            <a:solidFill>
              <a:srgbClr val="FF552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060012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FA507-9BE1-E798-3269-41AB355081FC}"/>
            </a:ext>
          </a:extLst>
        </p:cNvPr>
        <p:cNvGrpSpPr/>
        <p:nvPr/>
      </p:nvGrpSpPr>
      <p:grpSpPr>
        <a:xfrm>
          <a:off x="0" y="0"/>
          <a:ext cx="0" cy="0"/>
          <a:chOff x="0" y="0"/>
          <a:chExt cx="0" cy="0"/>
        </a:xfrm>
      </p:grpSpPr>
      <p:sp>
        <p:nvSpPr>
          <p:cNvPr id="4" name="Title 6">
            <a:extLst>
              <a:ext uri="{FF2B5EF4-FFF2-40B4-BE49-F238E27FC236}">
                <a16:creationId xmlns:a16="http://schemas.microsoft.com/office/drawing/2014/main" id="{BBAD7BA7-13A9-FA82-2A27-65762FD170E9}"/>
              </a:ext>
            </a:extLst>
          </p:cNvPr>
          <p:cNvSpPr txBox="1">
            <a:spLocks/>
          </p:cNvSpPr>
          <p:nvPr/>
        </p:nvSpPr>
        <p:spPr>
          <a:xfrm>
            <a:off x="0" y="0"/>
            <a:ext cx="11482251" cy="73516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b="1" i="0" kern="1200">
                <a:solidFill>
                  <a:srgbClr val="E84A27"/>
                </a:solidFill>
                <a:latin typeface="Georgia" panose="02040502050405020303" pitchFamily="18" charset="0"/>
                <a:ea typeface="+mj-ea"/>
                <a:cs typeface="+mj-cs"/>
              </a:defRPr>
            </a:lvl1pPr>
          </a:lstStyle>
          <a:p>
            <a:r>
              <a:rPr lang="en-US" dirty="0">
                <a:latin typeface="Calibri"/>
                <a:cs typeface="Calibri"/>
              </a:rPr>
              <a:t>Questions About Artificial Intelligence</a:t>
            </a:r>
            <a:endParaRPr lang="en-US" dirty="0"/>
          </a:p>
        </p:txBody>
      </p:sp>
      <p:sp>
        <p:nvSpPr>
          <p:cNvPr id="2" name="TextBox 1" descr="FIG. 1. Lateral views of the brains of a number of extant vertebrate species (the brains are not drawn to the same scale). While there is tremendous variation in both overall brain size (see Fig. 2) and the size of most brain divisions, most vertebrates possess brains that can be divided into the same number of divisions. aob, accessory olfactory bulb (cross-hatched); cb, cerebellum (stippled); ch, cerebral hemispheres (cross-hatched); m, medulla oblongata; ob, olfactory bulb (cross-hatched); ot, optic tectum (black); and p, pituitary gland. Modified from Braun and Northcutt (1999).">
            <a:extLst>
              <a:ext uri="{FF2B5EF4-FFF2-40B4-BE49-F238E27FC236}">
                <a16:creationId xmlns:a16="http://schemas.microsoft.com/office/drawing/2014/main" id="{8E4FC8A3-506C-0AD3-AE99-6D9024A8323E}"/>
              </a:ext>
            </a:extLst>
          </p:cNvPr>
          <p:cNvSpPr txBox="1"/>
          <p:nvPr/>
        </p:nvSpPr>
        <p:spPr>
          <a:xfrm>
            <a:off x="1302129" y="1737360"/>
            <a:ext cx="9587742" cy="646331"/>
          </a:xfrm>
          <a:prstGeom prst="rect">
            <a:avLst/>
          </a:prstGeom>
          <a:noFill/>
        </p:spPr>
        <p:txBody>
          <a:bodyPr wrap="square" rtlCol="0">
            <a:spAutoFit/>
          </a:bodyPr>
          <a:lstStyle/>
          <a:p>
            <a:pPr marL="742950" indent="-742950">
              <a:buAutoNum type="arabicPeriod"/>
            </a:pPr>
            <a:r>
              <a:rPr lang="en-US" sz="3600" b="1" dirty="0"/>
              <a:t>What do we actually mean by “intelligence”?</a:t>
            </a:r>
          </a:p>
        </p:txBody>
      </p:sp>
      <p:graphicFrame>
        <p:nvGraphicFramePr>
          <p:cNvPr id="5" name="Table 4">
            <a:extLst>
              <a:ext uri="{FF2B5EF4-FFF2-40B4-BE49-F238E27FC236}">
                <a16:creationId xmlns:a16="http://schemas.microsoft.com/office/drawing/2014/main" id="{97BCF691-E13D-5DAA-6165-85B843A58166}"/>
              </a:ext>
            </a:extLst>
          </p:cNvPr>
          <p:cNvGraphicFramePr>
            <a:graphicFrameLocks noGrp="1"/>
          </p:cNvGraphicFramePr>
          <p:nvPr>
            <p:extLst>
              <p:ext uri="{D42A27DB-BD31-4B8C-83A1-F6EECF244321}">
                <p14:modId xmlns:p14="http://schemas.microsoft.com/office/powerpoint/2010/main" val="3349325866"/>
              </p:ext>
            </p:extLst>
          </p:nvPr>
        </p:nvGraphicFramePr>
        <p:xfrm>
          <a:off x="0" y="2992582"/>
          <a:ext cx="12192000" cy="3865418"/>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82696027"/>
                    </a:ext>
                  </a:extLst>
                </a:gridCol>
                <a:gridCol w="6096000">
                  <a:extLst>
                    <a:ext uri="{9D8B030D-6E8A-4147-A177-3AD203B41FA5}">
                      <a16:colId xmlns:a16="http://schemas.microsoft.com/office/drawing/2014/main" val="683544289"/>
                    </a:ext>
                  </a:extLst>
                </a:gridCol>
              </a:tblGrid>
              <a:tr h="631847">
                <a:tc>
                  <a:txBody>
                    <a:bodyPr/>
                    <a:lstStyle/>
                    <a:p>
                      <a:pPr>
                        <a:buNone/>
                      </a:pPr>
                      <a:r>
                        <a:rPr lang="en-US" sz="2800" b="1" dirty="0"/>
                        <a:t>Sub question</a:t>
                      </a:r>
                      <a:endParaRPr lang="en-US" sz="2800" dirty="0"/>
                    </a:p>
                  </a:txBody>
                  <a:tcPr anchor="ctr"/>
                </a:tc>
                <a:tc>
                  <a:txBody>
                    <a:bodyPr/>
                    <a:lstStyle/>
                    <a:p>
                      <a:pPr>
                        <a:buNone/>
                      </a:pPr>
                      <a:r>
                        <a:rPr lang="en-US" sz="2800" b="1" dirty="0"/>
                        <a:t>Example / Thought Experiment</a:t>
                      </a:r>
                      <a:endParaRPr lang="en-US" sz="2800" dirty="0"/>
                    </a:p>
                  </a:txBody>
                  <a:tcPr anchor="ctr"/>
                </a:tc>
                <a:extLst>
                  <a:ext uri="{0D108BD9-81ED-4DB2-BD59-A6C34878D82A}">
                    <a16:rowId xmlns:a16="http://schemas.microsoft.com/office/drawing/2014/main" val="249767879"/>
                  </a:ext>
                </a:extLst>
              </a:tr>
              <a:tr h="1077857">
                <a:tc>
                  <a:txBody>
                    <a:bodyPr/>
                    <a:lstStyle/>
                    <a:p>
                      <a:pPr>
                        <a:buNone/>
                      </a:pPr>
                      <a:r>
                        <a:rPr lang="en-US" sz="2400"/>
                        <a:t>Is intelligence something a system has or something it does?</a:t>
                      </a:r>
                    </a:p>
                  </a:txBody>
                  <a:tcPr anchor="ctr"/>
                </a:tc>
                <a:tc>
                  <a:txBody>
                    <a:bodyPr/>
                    <a:lstStyle/>
                    <a:p>
                      <a:pPr>
                        <a:buNone/>
                      </a:pPr>
                      <a:r>
                        <a:rPr lang="en-US" sz="2400"/>
                        <a:t>Is a thermostat “intelligent” because it keeps a room at a stable temperature?</a:t>
                      </a:r>
                    </a:p>
                  </a:txBody>
                  <a:tcPr anchor="ctr"/>
                </a:tc>
                <a:extLst>
                  <a:ext uri="{0D108BD9-81ED-4DB2-BD59-A6C34878D82A}">
                    <a16:rowId xmlns:a16="http://schemas.microsoft.com/office/drawing/2014/main" val="3717605317"/>
                  </a:ext>
                </a:extLst>
              </a:tr>
              <a:tr h="1077857">
                <a:tc>
                  <a:txBody>
                    <a:bodyPr/>
                    <a:lstStyle/>
                    <a:p>
                      <a:pPr>
                        <a:buNone/>
                      </a:pPr>
                      <a:r>
                        <a:rPr lang="en-US" sz="2400"/>
                        <a:t>Is intelligence defined by behavior, representation, or understanding?</a:t>
                      </a:r>
                    </a:p>
                  </a:txBody>
                  <a:tcPr anchor="ctr"/>
                </a:tc>
                <a:tc>
                  <a:txBody>
                    <a:bodyPr/>
                    <a:lstStyle/>
                    <a:p>
                      <a:pPr>
                        <a:buNone/>
                      </a:pPr>
                      <a:r>
                        <a:rPr lang="en-US" sz="2400"/>
                        <a:t>Does a parrot that repeats phrases actually </a:t>
                      </a:r>
                      <a:r>
                        <a:rPr lang="en-US" sz="2400" i="1"/>
                        <a:t>understand</a:t>
                      </a:r>
                      <a:r>
                        <a:rPr lang="en-US" sz="2400"/>
                        <a:t> what it says?</a:t>
                      </a:r>
                    </a:p>
                  </a:txBody>
                  <a:tcPr anchor="ctr"/>
                </a:tc>
                <a:extLst>
                  <a:ext uri="{0D108BD9-81ED-4DB2-BD59-A6C34878D82A}">
                    <a16:rowId xmlns:a16="http://schemas.microsoft.com/office/drawing/2014/main" val="3816116787"/>
                  </a:ext>
                </a:extLst>
              </a:tr>
              <a:tr h="1077857">
                <a:tc>
                  <a:txBody>
                    <a:bodyPr/>
                    <a:lstStyle/>
                    <a:p>
                      <a:pPr>
                        <a:buNone/>
                      </a:pPr>
                      <a:r>
                        <a:rPr lang="en-US" sz="2400"/>
                        <a:t>What distinguishes intelligence from clever performance?</a:t>
                      </a:r>
                    </a:p>
                  </a:txBody>
                  <a:tcPr anchor="ctr"/>
                </a:tc>
                <a:tc>
                  <a:txBody>
                    <a:bodyPr/>
                    <a:lstStyle/>
                    <a:p>
                      <a:pPr>
                        <a:buNone/>
                      </a:pPr>
                      <a:r>
                        <a:rPr lang="en-US" sz="2400" dirty="0"/>
                        <a:t>Could a chatbot ace a test without comprehending any of the questions?</a:t>
                      </a:r>
                    </a:p>
                  </a:txBody>
                  <a:tcPr anchor="ctr"/>
                </a:tc>
                <a:extLst>
                  <a:ext uri="{0D108BD9-81ED-4DB2-BD59-A6C34878D82A}">
                    <a16:rowId xmlns:a16="http://schemas.microsoft.com/office/drawing/2014/main" val="534286632"/>
                  </a:ext>
                </a:extLst>
              </a:tr>
            </a:tbl>
          </a:graphicData>
        </a:graphic>
      </p:graphicFrame>
    </p:spTree>
    <p:extLst>
      <p:ext uri="{BB962C8B-B14F-4D97-AF65-F5344CB8AC3E}">
        <p14:creationId xmlns:p14="http://schemas.microsoft.com/office/powerpoint/2010/main" val="1623406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3E1AC1-CFDF-0DCF-5AE5-35A7224994C8}"/>
            </a:ext>
          </a:extLst>
        </p:cNvPr>
        <p:cNvGrpSpPr/>
        <p:nvPr/>
      </p:nvGrpSpPr>
      <p:grpSpPr>
        <a:xfrm>
          <a:off x="0" y="0"/>
          <a:ext cx="0" cy="0"/>
          <a:chOff x="0" y="0"/>
          <a:chExt cx="0" cy="0"/>
        </a:xfrm>
      </p:grpSpPr>
      <p:sp>
        <p:nvSpPr>
          <p:cNvPr id="4" name="Title 6">
            <a:extLst>
              <a:ext uri="{FF2B5EF4-FFF2-40B4-BE49-F238E27FC236}">
                <a16:creationId xmlns:a16="http://schemas.microsoft.com/office/drawing/2014/main" id="{A7953028-C075-FB5C-115B-FD0BBE793C86}"/>
              </a:ext>
            </a:extLst>
          </p:cNvPr>
          <p:cNvSpPr txBox="1">
            <a:spLocks/>
          </p:cNvSpPr>
          <p:nvPr/>
        </p:nvSpPr>
        <p:spPr>
          <a:xfrm>
            <a:off x="0" y="0"/>
            <a:ext cx="11482251" cy="73516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b="1" i="0" kern="1200">
                <a:solidFill>
                  <a:srgbClr val="E84A27"/>
                </a:solidFill>
                <a:latin typeface="Georgia" panose="02040502050405020303" pitchFamily="18" charset="0"/>
                <a:ea typeface="+mj-ea"/>
                <a:cs typeface="+mj-cs"/>
              </a:defRPr>
            </a:lvl1pPr>
          </a:lstStyle>
          <a:p>
            <a:r>
              <a:rPr lang="en-US" dirty="0">
                <a:latin typeface="Calibri"/>
                <a:cs typeface="Calibri"/>
              </a:rPr>
              <a:t>Questions About Artificial Intelligence</a:t>
            </a:r>
            <a:endParaRPr lang="en-US" dirty="0"/>
          </a:p>
        </p:txBody>
      </p:sp>
      <p:sp>
        <p:nvSpPr>
          <p:cNvPr id="6" name="TextBox 5" descr="FIG. 1. Lateral views of the brains of a number of extant vertebrate species (the brains are not drawn to the same scale). While there is tremendous variation in both overall brain size (see Fig. 2) and the size of most brain divisions, most vertebrates possess brains that can be divided into the same number of divisions. aob, accessory olfactory bulb (cross-hatched); cb, cerebellum (stippled); ch, cerebral hemispheres (cross-hatched); m, medulla oblongata; ob, olfactory bulb (cross-hatched); ot, optic tectum (black); and p, pituitary gland. Modified from Braun and Northcutt (1999).">
            <a:extLst>
              <a:ext uri="{FF2B5EF4-FFF2-40B4-BE49-F238E27FC236}">
                <a16:creationId xmlns:a16="http://schemas.microsoft.com/office/drawing/2014/main" id="{5ACBF663-12AA-AFF9-9E6A-DC4318AEC7F0}"/>
              </a:ext>
            </a:extLst>
          </p:cNvPr>
          <p:cNvSpPr txBox="1"/>
          <p:nvPr/>
        </p:nvSpPr>
        <p:spPr>
          <a:xfrm>
            <a:off x="1302129" y="1737360"/>
            <a:ext cx="9587742" cy="646331"/>
          </a:xfrm>
          <a:prstGeom prst="rect">
            <a:avLst/>
          </a:prstGeom>
          <a:noFill/>
        </p:spPr>
        <p:txBody>
          <a:bodyPr wrap="square" rtlCol="0">
            <a:spAutoFit/>
          </a:bodyPr>
          <a:lstStyle/>
          <a:p>
            <a:pPr marL="742950" indent="-742950">
              <a:buAutoNum type="arabicPeriod"/>
            </a:pPr>
            <a:r>
              <a:rPr lang="en-US" sz="3600" b="1" dirty="0"/>
              <a:t>What do we actually mean by “intelligence”?</a:t>
            </a:r>
          </a:p>
        </p:txBody>
      </p:sp>
      <p:graphicFrame>
        <p:nvGraphicFramePr>
          <p:cNvPr id="7" name="Table 6">
            <a:extLst>
              <a:ext uri="{FF2B5EF4-FFF2-40B4-BE49-F238E27FC236}">
                <a16:creationId xmlns:a16="http://schemas.microsoft.com/office/drawing/2014/main" id="{34459947-10F2-9515-8882-E41A3D70B6EB}"/>
              </a:ext>
            </a:extLst>
          </p:cNvPr>
          <p:cNvGraphicFramePr>
            <a:graphicFrameLocks noGrp="1"/>
          </p:cNvGraphicFramePr>
          <p:nvPr>
            <p:extLst>
              <p:ext uri="{D42A27DB-BD31-4B8C-83A1-F6EECF244321}">
                <p14:modId xmlns:p14="http://schemas.microsoft.com/office/powerpoint/2010/main" val="1228063513"/>
              </p:ext>
            </p:extLst>
          </p:nvPr>
        </p:nvGraphicFramePr>
        <p:xfrm>
          <a:off x="0" y="2992582"/>
          <a:ext cx="12192000" cy="409041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82696027"/>
                    </a:ext>
                  </a:extLst>
                </a:gridCol>
                <a:gridCol w="6096000">
                  <a:extLst>
                    <a:ext uri="{9D8B030D-6E8A-4147-A177-3AD203B41FA5}">
                      <a16:colId xmlns:a16="http://schemas.microsoft.com/office/drawing/2014/main" val="683544289"/>
                    </a:ext>
                  </a:extLst>
                </a:gridCol>
              </a:tblGrid>
              <a:tr h="668625">
                <a:tc>
                  <a:txBody>
                    <a:bodyPr/>
                    <a:lstStyle/>
                    <a:p>
                      <a:pPr>
                        <a:buNone/>
                      </a:pPr>
                      <a:r>
                        <a:rPr lang="en-US" sz="2800" b="1" dirty="0"/>
                        <a:t>Answers</a:t>
                      </a:r>
                      <a:endParaRPr lang="en-US" sz="2800" dirty="0"/>
                    </a:p>
                  </a:txBody>
                  <a:tcPr anchor="ctr"/>
                </a:tc>
                <a:tc>
                  <a:txBody>
                    <a:bodyPr/>
                    <a:lstStyle/>
                    <a:p>
                      <a:pPr>
                        <a:buNone/>
                      </a:pPr>
                      <a:r>
                        <a:rPr lang="en-US" sz="2800" b="1" dirty="0"/>
                        <a:t>Description</a:t>
                      </a:r>
                      <a:endParaRPr lang="en-US" sz="2800" dirty="0"/>
                    </a:p>
                  </a:txBody>
                  <a:tcPr anchor="ctr"/>
                </a:tc>
                <a:extLst>
                  <a:ext uri="{0D108BD9-81ED-4DB2-BD59-A6C34878D82A}">
                    <a16:rowId xmlns:a16="http://schemas.microsoft.com/office/drawing/2014/main" val="249767879"/>
                  </a:ext>
                </a:extLst>
              </a:tr>
              <a:tr h="1140595">
                <a:tc>
                  <a:txBody>
                    <a:bodyPr/>
                    <a:lstStyle/>
                    <a:p>
                      <a:pPr>
                        <a:buNone/>
                      </a:pPr>
                      <a:r>
                        <a:rPr lang="en-US" sz="2800" dirty="0"/>
                        <a:t>Functionalism</a:t>
                      </a:r>
                      <a:endParaRPr lang="en-US" sz="2600" dirty="0"/>
                    </a:p>
                  </a:txBody>
                  <a:tcPr anchor="ctr"/>
                </a:tc>
                <a:tc>
                  <a:txBody>
                    <a:bodyPr/>
                    <a:lstStyle/>
                    <a:p>
                      <a:r>
                        <a:rPr lang="en-US" sz="2800" dirty="0"/>
                        <a:t>Intelligence as What Intelligence Does</a:t>
                      </a:r>
                    </a:p>
                  </a:txBody>
                  <a:tcPr anchor="ctr"/>
                </a:tc>
                <a:extLst>
                  <a:ext uri="{0D108BD9-81ED-4DB2-BD59-A6C34878D82A}">
                    <a16:rowId xmlns:a16="http://schemas.microsoft.com/office/drawing/2014/main" val="3717605317"/>
                  </a:ext>
                </a:extLst>
              </a:tr>
              <a:tr h="1140595">
                <a:tc>
                  <a:txBody>
                    <a:bodyPr/>
                    <a:lstStyle/>
                    <a:p>
                      <a:pPr>
                        <a:buNone/>
                      </a:pPr>
                      <a:r>
                        <a:rPr lang="en-US" sz="2800" dirty="0"/>
                        <a:t>Representational View </a:t>
                      </a:r>
                      <a:endParaRPr lang="en-US" sz="2600" dirty="0"/>
                    </a:p>
                  </a:txBody>
                  <a:tcPr anchor="ctr"/>
                </a:tc>
                <a:tc>
                  <a:txBody>
                    <a:bodyPr/>
                    <a:lstStyle/>
                    <a:p>
                      <a:pPr>
                        <a:buNone/>
                      </a:pPr>
                      <a:r>
                        <a:rPr lang="en-US" sz="2800" dirty="0"/>
                        <a:t>Intelligence Involves Internal Representations</a:t>
                      </a:r>
                      <a:endParaRPr lang="en-US" sz="2600" dirty="0"/>
                    </a:p>
                  </a:txBody>
                  <a:tcPr anchor="ctr"/>
                </a:tc>
                <a:extLst>
                  <a:ext uri="{0D108BD9-81ED-4DB2-BD59-A6C34878D82A}">
                    <a16:rowId xmlns:a16="http://schemas.microsoft.com/office/drawing/2014/main" val="3816116787"/>
                  </a:ext>
                </a:extLst>
              </a:tr>
              <a:tr h="1140595">
                <a:tc>
                  <a:txBody>
                    <a:bodyPr/>
                    <a:lstStyle/>
                    <a:p>
                      <a:pPr>
                        <a:buNone/>
                      </a:pPr>
                      <a:r>
                        <a:rPr lang="en-US" sz="2800" dirty="0"/>
                        <a:t>Ecological/Adaptive View </a:t>
                      </a:r>
                      <a:endParaRPr lang="en-US" sz="2600" dirty="0"/>
                    </a:p>
                  </a:txBody>
                  <a:tcPr anchor="ctr"/>
                </a:tc>
                <a:tc>
                  <a:txBody>
                    <a:bodyPr/>
                    <a:lstStyle/>
                    <a:p>
                      <a:r>
                        <a:rPr lang="en-US" sz="2800" dirty="0"/>
                        <a:t>Intelligence Is Successful Adaptation</a:t>
                      </a:r>
                    </a:p>
                  </a:txBody>
                  <a:tcPr anchor="ctr"/>
                </a:tc>
                <a:extLst>
                  <a:ext uri="{0D108BD9-81ED-4DB2-BD59-A6C34878D82A}">
                    <a16:rowId xmlns:a16="http://schemas.microsoft.com/office/drawing/2014/main" val="534286632"/>
                  </a:ext>
                </a:extLst>
              </a:tr>
            </a:tbl>
          </a:graphicData>
        </a:graphic>
      </p:graphicFrame>
    </p:spTree>
    <p:extLst>
      <p:ext uri="{BB962C8B-B14F-4D97-AF65-F5344CB8AC3E}">
        <p14:creationId xmlns:p14="http://schemas.microsoft.com/office/powerpoint/2010/main" val="33026929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92863-7321-A540-8069-D3EC8C72898C}"/>
            </a:ext>
          </a:extLst>
        </p:cNvPr>
        <p:cNvGrpSpPr/>
        <p:nvPr/>
      </p:nvGrpSpPr>
      <p:grpSpPr>
        <a:xfrm>
          <a:off x="0" y="0"/>
          <a:ext cx="0" cy="0"/>
          <a:chOff x="0" y="0"/>
          <a:chExt cx="0" cy="0"/>
        </a:xfrm>
      </p:grpSpPr>
      <p:sp>
        <p:nvSpPr>
          <p:cNvPr id="4" name="Title 6">
            <a:extLst>
              <a:ext uri="{FF2B5EF4-FFF2-40B4-BE49-F238E27FC236}">
                <a16:creationId xmlns:a16="http://schemas.microsoft.com/office/drawing/2014/main" id="{D42B62E8-EDA1-B683-608F-62F45B37B668}"/>
              </a:ext>
            </a:extLst>
          </p:cNvPr>
          <p:cNvSpPr txBox="1">
            <a:spLocks/>
          </p:cNvSpPr>
          <p:nvPr/>
        </p:nvSpPr>
        <p:spPr>
          <a:xfrm>
            <a:off x="0" y="0"/>
            <a:ext cx="11482251" cy="73516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b="1" i="0" kern="1200">
                <a:solidFill>
                  <a:srgbClr val="E84A27"/>
                </a:solidFill>
                <a:latin typeface="Georgia" panose="02040502050405020303" pitchFamily="18" charset="0"/>
                <a:ea typeface="+mj-ea"/>
                <a:cs typeface="+mj-cs"/>
              </a:defRPr>
            </a:lvl1pPr>
          </a:lstStyle>
          <a:p>
            <a:r>
              <a:rPr lang="en-US" dirty="0">
                <a:latin typeface="Calibri"/>
                <a:cs typeface="Calibri"/>
              </a:rPr>
              <a:t>Questions About Artificial Intelligence</a:t>
            </a:r>
            <a:endParaRPr lang="en-US" dirty="0"/>
          </a:p>
        </p:txBody>
      </p:sp>
      <p:sp>
        <p:nvSpPr>
          <p:cNvPr id="2" name="TextBox 1" descr="FIG. 1. Lateral views of the brains of a number of extant vertebrate species (the brains are not drawn to the same scale). While there is tremendous variation in both overall brain size (see Fig. 2) and the size of most brain divisions, most vertebrates possess brains that can be divided into the same number of divisions. aob, accessory olfactory bulb (cross-hatched); cb, cerebellum (stippled); ch, cerebral hemispheres (cross-hatched); m, medulla oblongata; ob, olfactory bulb (cross-hatched); ot, optic tectum (black); and p, pituitary gland. Modified from Braun and Northcutt (1999).">
            <a:extLst>
              <a:ext uri="{FF2B5EF4-FFF2-40B4-BE49-F238E27FC236}">
                <a16:creationId xmlns:a16="http://schemas.microsoft.com/office/drawing/2014/main" id="{44E2AED5-8AF1-73B7-A33B-4FD437BD64FC}"/>
              </a:ext>
            </a:extLst>
          </p:cNvPr>
          <p:cNvSpPr txBox="1"/>
          <p:nvPr/>
        </p:nvSpPr>
        <p:spPr>
          <a:xfrm>
            <a:off x="1856509" y="1737360"/>
            <a:ext cx="8478981" cy="646331"/>
          </a:xfrm>
          <a:prstGeom prst="rect">
            <a:avLst/>
          </a:prstGeom>
          <a:noFill/>
        </p:spPr>
        <p:txBody>
          <a:bodyPr wrap="square" rtlCol="0">
            <a:spAutoFit/>
          </a:bodyPr>
          <a:lstStyle/>
          <a:p>
            <a:r>
              <a:rPr lang="en-US" sz="3600" b="1" dirty="0"/>
              <a:t>2. Is intelligence one thing or many things?</a:t>
            </a:r>
          </a:p>
        </p:txBody>
      </p:sp>
      <p:graphicFrame>
        <p:nvGraphicFramePr>
          <p:cNvPr id="5" name="Table 4">
            <a:extLst>
              <a:ext uri="{FF2B5EF4-FFF2-40B4-BE49-F238E27FC236}">
                <a16:creationId xmlns:a16="http://schemas.microsoft.com/office/drawing/2014/main" id="{B8621C1B-AFF6-F4F3-2C53-044F14EF3C0F}"/>
              </a:ext>
            </a:extLst>
          </p:cNvPr>
          <p:cNvGraphicFramePr>
            <a:graphicFrameLocks noGrp="1"/>
          </p:cNvGraphicFramePr>
          <p:nvPr>
            <p:extLst>
              <p:ext uri="{D42A27DB-BD31-4B8C-83A1-F6EECF244321}">
                <p14:modId xmlns:p14="http://schemas.microsoft.com/office/powerpoint/2010/main" val="3821874520"/>
              </p:ext>
            </p:extLst>
          </p:nvPr>
        </p:nvGraphicFramePr>
        <p:xfrm>
          <a:off x="0" y="2992582"/>
          <a:ext cx="12192000" cy="3865418"/>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82696027"/>
                    </a:ext>
                  </a:extLst>
                </a:gridCol>
                <a:gridCol w="6096000">
                  <a:extLst>
                    <a:ext uri="{9D8B030D-6E8A-4147-A177-3AD203B41FA5}">
                      <a16:colId xmlns:a16="http://schemas.microsoft.com/office/drawing/2014/main" val="683544289"/>
                    </a:ext>
                  </a:extLst>
                </a:gridCol>
              </a:tblGrid>
              <a:tr h="631847">
                <a:tc>
                  <a:txBody>
                    <a:bodyPr/>
                    <a:lstStyle/>
                    <a:p>
                      <a:pPr>
                        <a:buNone/>
                      </a:pPr>
                      <a:r>
                        <a:rPr lang="en-US" sz="2800" b="1" dirty="0"/>
                        <a:t>Sub question</a:t>
                      </a:r>
                      <a:endParaRPr lang="en-US" sz="2800" dirty="0"/>
                    </a:p>
                  </a:txBody>
                  <a:tcPr anchor="ctr"/>
                </a:tc>
                <a:tc>
                  <a:txBody>
                    <a:bodyPr/>
                    <a:lstStyle/>
                    <a:p>
                      <a:pPr>
                        <a:buNone/>
                      </a:pPr>
                      <a:r>
                        <a:rPr lang="en-US" sz="2800" b="1" dirty="0"/>
                        <a:t>Example / Thought Experiment</a:t>
                      </a:r>
                      <a:endParaRPr lang="en-US" sz="2800" dirty="0"/>
                    </a:p>
                  </a:txBody>
                  <a:tcPr anchor="ctr"/>
                </a:tc>
                <a:extLst>
                  <a:ext uri="{0D108BD9-81ED-4DB2-BD59-A6C34878D82A}">
                    <a16:rowId xmlns:a16="http://schemas.microsoft.com/office/drawing/2014/main" val="249767879"/>
                  </a:ext>
                </a:extLst>
              </a:tr>
              <a:tr h="1077857">
                <a:tc>
                  <a:txBody>
                    <a:bodyPr/>
                    <a:lstStyle/>
                    <a:p>
                      <a:pPr>
                        <a:buNone/>
                      </a:pPr>
                      <a:r>
                        <a:rPr lang="en-US" sz="2600" dirty="0"/>
                        <a:t>Is there a single general ability behind all cognitive skills?</a:t>
                      </a:r>
                    </a:p>
                  </a:txBody>
                  <a:tcPr anchor="ctr"/>
                </a:tc>
                <a:tc>
                  <a:txBody>
                    <a:bodyPr/>
                    <a:lstStyle/>
                    <a:p>
                      <a:pPr>
                        <a:buNone/>
                      </a:pPr>
                      <a:r>
                        <a:rPr lang="en-US" sz="2600" dirty="0"/>
                        <a:t>Why do people who excel in math often also score well on verbal exams?</a:t>
                      </a:r>
                    </a:p>
                  </a:txBody>
                  <a:tcPr anchor="ctr"/>
                </a:tc>
                <a:extLst>
                  <a:ext uri="{0D108BD9-81ED-4DB2-BD59-A6C34878D82A}">
                    <a16:rowId xmlns:a16="http://schemas.microsoft.com/office/drawing/2014/main" val="3717605317"/>
                  </a:ext>
                </a:extLst>
              </a:tr>
              <a:tr h="1077857">
                <a:tc>
                  <a:txBody>
                    <a:bodyPr/>
                    <a:lstStyle/>
                    <a:p>
                      <a:pPr>
                        <a:buNone/>
                      </a:pPr>
                      <a:r>
                        <a:rPr lang="en-US" sz="2600" dirty="0"/>
                        <a:t>Are verbal, spatial, social, and creative abilities separable?</a:t>
                      </a:r>
                    </a:p>
                  </a:txBody>
                  <a:tcPr anchor="ctr"/>
                </a:tc>
                <a:tc>
                  <a:txBody>
                    <a:bodyPr/>
                    <a:lstStyle/>
                    <a:p>
                      <a:pPr>
                        <a:buNone/>
                      </a:pPr>
                      <a:r>
                        <a:rPr lang="en-US" sz="2600" dirty="0"/>
                        <a:t>How can someone be a chess genius but struggle with basic social reasoning?</a:t>
                      </a:r>
                    </a:p>
                  </a:txBody>
                  <a:tcPr anchor="ctr"/>
                </a:tc>
                <a:extLst>
                  <a:ext uri="{0D108BD9-81ED-4DB2-BD59-A6C34878D82A}">
                    <a16:rowId xmlns:a16="http://schemas.microsoft.com/office/drawing/2014/main" val="3816116787"/>
                  </a:ext>
                </a:extLst>
              </a:tr>
              <a:tr h="1077857">
                <a:tc>
                  <a:txBody>
                    <a:bodyPr/>
                    <a:lstStyle/>
                    <a:p>
                      <a:pPr>
                        <a:buNone/>
                      </a:pPr>
                      <a:r>
                        <a:rPr lang="en-US" sz="2600" dirty="0"/>
                        <a:t>Do AI systems challenge our assumptions about general vs. specialized intelligence?</a:t>
                      </a:r>
                    </a:p>
                  </a:txBody>
                  <a:tcPr anchor="ctr"/>
                </a:tc>
                <a:tc>
                  <a:txBody>
                    <a:bodyPr/>
                    <a:lstStyle/>
                    <a:p>
                      <a:pPr>
                        <a:buNone/>
                      </a:pPr>
                      <a:r>
                        <a:rPr lang="en-US" sz="2600" dirty="0"/>
                        <a:t>Why can AlphaGo defeat world champions but cannot recognize a cat?</a:t>
                      </a:r>
                    </a:p>
                  </a:txBody>
                  <a:tcPr anchor="ctr"/>
                </a:tc>
                <a:extLst>
                  <a:ext uri="{0D108BD9-81ED-4DB2-BD59-A6C34878D82A}">
                    <a16:rowId xmlns:a16="http://schemas.microsoft.com/office/drawing/2014/main" val="534286632"/>
                  </a:ext>
                </a:extLst>
              </a:tr>
            </a:tbl>
          </a:graphicData>
        </a:graphic>
      </p:graphicFrame>
    </p:spTree>
    <p:extLst>
      <p:ext uri="{BB962C8B-B14F-4D97-AF65-F5344CB8AC3E}">
        <p14:creationId xmlns:p14="http://schemas.microsoft.com/office/powerpoint/2010/main" val="4001420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C8063D-7398-1309-F56E-1B98D19DB9B5}"/>
            </a:ext>
          </a:extLst>
        </p:cNvPr>
        <p:cNvGrpSpPr/>
        <p:nvPr/>
      </p:nvGrpSpPr>
      <p:grpSpPr>
        <a:xfrm>
          <a:off x="0" y="0"/>
          <a:ext cx="0" cy="0"/>
          <a:chOff x="0" y="0"/>
          <a:chExt cx="0" cy="0"/>
        </a:xfrm>
      </p:grpSpPr>
      <p:sp>
        <p:nvSpPr>
          <p:cNvPr id="4" name="Title 6">
            <a:extLst>
              <a:ext uri="{FF2B5EF4-FFF2-40B4-BE49-F238E27FC236}">
                <a16:creationId xmlns:a16="http://schemas.microsoft.com/office/drawing/2014/main" id="{E22742D9-892B-37A6-287F-1C16793D2DDB}"/>
              </a:ext>
            </a:extLst>
          </p:cNvPr>
          <p:cNvSpPr txBox="1">
            <a:spLocks/>
          </p:cNvSpPr>
          <p:nvPr/>
        </p:nvSpPr>
        <p:spPr>
          <a:xfrm>
            <a:off x="0" y="0"/>
            <a:ext cx="11482251" cy="73516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b="1" i="0" kern="1200">
                <a:solidFill>
                  <a:srgbClr val="E84A27"/>
                </a:solidFill>
                <a:latin typeface="Georgia" panose="02040502050405020303" pitchFamily="18" charset="0"/>
                <a:ea typeface="+mj-ea"/>
                <a:cs typeface="+mj-cs"/>
              </a:defRPr>
            </a:lvl1pPr>
          </a:lstStyle>
          <a:p>
            <a:r>
              <a:rPr lang="en-US" dirty="0">
                <a:latin typeface="Calibri"/>
                <a:cs typeface="Calibri"/>
              </a:rPr>
              <a:t>Questions About Artificial Intelligence</a:t>
            </a:r>
            <a:endParaRPr lang="en-US" dirty="0"/>
          </a:p>
        </p:txBody>
      </p:sp>
      <p:sp>
        <p:nvSpPr>
          <p:cNvPr id="2" name="TextBox 1" descr="FIG. 1. Lateral views of the brains of a number of extant vertebrate species (the brains are not drawn to the same scale). While there is tremendous variation in both overall brain size (see Fig. 2) and the size of most brain divisions, most vertebrates possess brains that can be divided into the same number of divisions. aob, accessory olfactory bulb (cross-hatched); cb, cerebellum (stippled); ch, cerebral hemispheres (cross-hatched); m, medulla oblongata; ob, olfactory bulb (cross-hatched); ot, optic tectum (black); and p, pituitary gland. Modified from Braun and Northcutt (1999).">
            <a:extLst>
              <a:ext uri="{FF2B5EF4-FFF2-40B4-BE49-F238E27FC236}">
                <a16:creationId xmlns:a16="http://schemas.microsoft.com/office/drawing/2014/main" id="{AC20039E-F9E5-30C2-6C8F-F1B821FA00F4}"/>
              </a:ext>
            </a:extLst>
          </p:cNvPr>
          <p:cNvSpPr txBox="1"/>
          <p:nvPr/>
        </p:nvSpPr>
        <p:spPr>
          <a:xfrm>
            <a:off x="1856509" y="1737360"/>
            <a:ext cx="8478981" cy="646331"/>
          </a:xfrm>
          <a:prstGeom prst="rect">
            <a:avLst/>
          </a:prstGeom>
          <a:noFill/>
        </p:spPr>
        <p:txBody>
          <a:bodyPr wrap="square" rtlCol="0">
            <a:spAutoFit/>
          </a:bodyPr>
          <a:lstStyle/>
          <a:p>
            <a:r>
              <a:rPr lang="en-US" sz="3600" b="1" dirty="0"/>
              <a:t>2. Is intelligence one thing or many things?</a:t>
            </a:r>
          </a:p>
        </p:txBody>
      </p:sp>
      <p:graphicFrame>
        <p:nvGraphicFramePr>
          <p:cNvPr id="5" name="Table 4">
            <a:extLst>
              <a:ext uri="{FF2B5EF4-FFF2-40B4-BE49-F238E27FC236}">
                <a16:creationId xmlns:a16="http://schemas.microsoft.com/office/drawing/2014/main" id="{FCA219DF-E111-481C-CA23-43D3C3034A11}"/>
              </a:ext>
            </a:extLst>
          </p:cNvPr>
          <p:cNvGraphicFramePr>
            <a:graphicFrameLocks noGrp="1"/>
          </p:cNvGraphicFramePr>
          <p:nvPr>
            <p:extLst>
              <p:ext uri="{D42A27DB-BD31-4B8C-83A1-F6EECF244321}">
                <p14:modId xmlns:p14="http://schemas.microsoft.com/office/powerpoint/2010/main" val="2200769453"/>
              </p:ext>
            </p:extLst>
          </p:nvPr>
        </p:nvGraphicFramePr>
        <p:xfrm>
          <a:off x="0" y="2992582"/>
          <a:ext cx="12192000" cy="3865418"/>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82696027"/>
                    </a:ext>
                  </a:extLst>
                </a:gridCol>
                <a:gridCol w="6096000">
                  <a:extLst>
                    <a:ext uri="{9D8B030D-6E8A-4147-A177-3AD203B41FA5}">
                      <a16:colId xmlns:a16="http://schemas.microsoft.com/office/drawing/2014/main" val="683544289"/>
                    </a:ext>
                  </a:extLst>
                </a:gridCol>
              </a:tblGrid>
              <a:tr h="631847">
                <a:tc>
                  <a:txBody>
                    <a:bodyPr/>
                    <a:lstStyle/>
                    <a:p>
                      <a:pPr>
                        <a:buNone/>
                      </a:pPr>
                      <a:r>
                        <a:rPr lang="en-US" sz="2800" b="1" dirty="0"/>
                        <a:t>Answers</a:t>
                      </a:r>
                      <a:endParaRPr lang="en-US" sz="2800" dirty="0"/>
                    </a:p>
                  </a:txBody>
                  <a:tcPr anchor="ctr"/>
                </a:tc>
                <a:tc>
                  <a:txBody>
                    <a:bodyPr/>
                    <a:lstStyle/>
                    <a:p>
                      <a:pPr>
                        <a:buNone/>
                      </a:pPr>
                      <a:r>
                        <a:rPr lang="en-US" sz="2800" b="1" dirty="0"/>
                        <a:t>Description</a:t>
                      </a:r>
                      <a:endParaRPr lang="en-US" sz="2800" dirty="0"/>
                    </a:p>
                  </a:txBody>
                  <a:tcPr anchor="ctr"/>
                </a:tc>
                <a:extLst>
                  <a:ext uri="{0D108BD9-81ED-4DB2-BD59-A6C34878D82A}">
                    <a16:rowId xmlns:a16="http://schemas.microsoft.com/office/drawing/2014/main" val="249767879"/>
                  </a:ext>
                </a:extLst>
              </a:tr>
              <a:tr h="1077857">
                <a:tc>
                  <a:txBody>
                    <a:bodyPr/>
                    <a:lstStyle/>
                    <a:p>
                      <a:pPr>
                        <a:buNone/>
                      </a:pPr>
                      <a:r>
                        <a:rPr lang="en-US" sz="2800"/>
                        <a:t>General Intelligence (g)</a:t>
                      </a:r>
                    </a:p>
                  </a:txBody>
                  <a:tcPr anchor="ctr"/>
                </a:tc>
                <a:tc>
                  <a:txBody>
                    <a:bodyPr/>
                    <a:lstStyle/>
                    <a:p>
                      <a:pPr>
                        <a:buNone/>
                      </a:pPr>
                      <a:r>
                        <a:rPr lang="en-US" sz="2800"/>
                        <a:t>A single underlying capacity driving many cognitive skills</a:t>
                      </a:r>
                    </a:p>
                  </a:txBody>
                  <a:tcPr anchor="ctr"/>
                </a:tc>
                <a:extLst>
                  <a:ext uri="{0D108BD9-81ED-4DB2-BD59-A6C34878D82A}">
                    <a16:rowId xmlns:a16="http://schemas.microsoft.com/office/drawing/2014/main" val="3717605317"/>
                  </a:ext>
                </a:extLst>
              </a:tr>
              <a:tr h="1077857">
                <a:tc>
                  <a:txBody>
                    <a:bodyPr/>
                    <a:lstStyle/>
                    <a:p>
                      <a:pPr>
                        <a:buNone/>
                      </a:pPr>
                      <a:r>
                        <a:rPr lang="en-US" sz="2800"/>
                        <a:t>Multiple Intelligences</a:t>
                      </a:r>
                    </a:p>
                  </a:txBody>
                  <a:tcPr anchor="ctr"/>
                </a:tc>
                <a:tc>
                  <a:txBody>
                    <a:bodyPr/>
                    <a:lstStyle/>
                    <a:p>
                      <a:pPr>
                        <a:buNone/>
                      </a:pPr>
                      <a:r>
                        <a:rPr lang="en-US" sz="2800"/>
                        <a:t>Distinct abilities that vary independently across people</a:t>
                      </a:r>
                    </a:p>
                  </a:txBody>
                  <a:tcPr anchor="ctr"/>
                </a:tc>
                <a:extLst>
                  <a:ext uri="{0D108BD9-81ED-4DB2-BD59-A6C34878D82A}">
                    <a16:rowId xmlns:a16="http://schemas.microsoft.com/office/drawing/2014/main" val="3816116787"/>
                  </a:ext>
                </a:extLst>
              </a:tr>
              <a:tr h="1077857">
                <a:tc>
                  <a:txBody>
                    <a:bodyPr/>
                    <a:lstStyle/>
                    <a:p>
                      <a:pPr>
                        <a:buNone/>
                      </a:pPr>
                      <a:r>
                        <a:rPr lang="en-US" sz="2800"/>
                        <a:t>Hybrid Models</a:t>
                      </a:r>
                    </a:p>
                  </a:txBody>
                  <a:tcPr anchor="ctr"/>
                </a:tc>
                <a:tc>
                  <a:txBody>
                    <a:bodyPr/>
                    <a:lstStyle/>
                    <a:p>
                      <a:pPr>
                        <a:buNone/>
                      </a:pPr>
                      <a:r>
                        <a:rPr lang="en-US" sz="2800" dirty="0"/>
                        <a:t>A combination of general ability plus domain-specific skills</a:t>
                      </a:r>
                    </a:p>
                  </a:txBody>
                  <a:tcPr anchor="ctr"/>
                </a:tc>
                <a:extLst>
                  <a:ext uri="{0D108BD9-81ED-4DB2-BD59-A6C34878D82A}">
                    <a16:rowId xmlns:a16="http://schemas.microsoft.com/office/drawing/2014/main" val="534286632"/>
                  </a:ext>
                </a:extLst>
              </a:tr>
            </a:tbl>
          </a:graphicData>
        </a:graphic>
      </p:graphicFrame>
    </p:spTree>
    <p:extLst>
      <p:ext uri="{BB962C8B-B14F-4D97-AF65-F5344CB8AC3E}">
        <p14:creationId xmlns:p14="http://schemas.microsoft.com/office/powerpoint/2010/main" val="38651777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1917D1-5A98-94C7-A553-77BA6A878058}"/>
            </a:ext>
          </a:extLst>
        </p:cNvPr>
        <p:cNvGrpSpPr/>
        <p:nvPr/>
      </p:nvGrpSpPr>
      <p:grpSpPr>
        <a:xfrm>
          <a:off x="0" y="0"/>
          <a:ext cx="0" cy="0"/>
          <a:chOff x="0" y="0"/>
          <a:chExt cx="0" cy="0"/>
        </a:xfrm>
      </p:grpSpPr>
      <p:sp>
        <p:nvSpPr>
          <p:cNvPr id="4" name="Title 6">
            <a:extLst>
              <a:ext uri="{FF2B5EF4-FFF2-40B4-BE49-F238E27FC236}">
                <a16:creationId xmlns:a16="http://schemas.microsoft.com/office/drawing/2014/main" id="{40876DD7-23EC-FD99-99C1-27E57EDBEA66}"/>
              </a:ext>
            </a:extLst>
          </p:cNvPr>
          <p:cNvSpPr txBox="1">
            <a:spLocks/>
          </p:cNvSpPr>
          <p:nvPr/>
        </p:nvSpPr>
        <p:spPr>
          <a:xfrm>
            <a:off x="0" y="0"/>
            <a:ext cx="11482251" cy="73516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b="1" i="0" kern="1200">
                <a:solidFill>
                  <a:srgbClr val="E84A27"/>
                </a:solidFill>
                <a:latin typeface="Georgia" panose="02040502050405020303" pitchFamily="18" charset="0"/>
                <a:ea typeface="+mj-ea"/>
                <a:cs typeface="+mj-cs"/>
              </a:defRPr>
            </a:lvl1pPr>
          </a:lstStyle>
          <a:p>
            <a:r>
              <a:rPr lang="en-US" dirty="0">
                <a:latin typeface="Calibri"/>
                <a:cs typeface="Calibri"/>
              </a:rPr>
              <a:t>Questions About Artificial Intelligence</a:t>
            </a:r>
            <a:endParaRPr lang="en-US" dirty="0"/>
          </a:p>
        </p:txBody>
      </p:sp>
      <p:sp>
        <p:nvSpPr>
          <p:cNvPr id="2" name="TextBox 1" descr="FIG. 1. Lateral views of the brains of a number of extant vertebrate species (the brains are not drawn to the same scale). While there is tremendous variation in both overall brain size (see Fig. 2) and the size of most brain divisions, most vertebrates possess brains that can be divided into the same number of divisions. aob, accessory olfactory bulb (cross-hatched); cb, cerebellum (stippled); ch, cerebral hemispheres (cross-hatched); m, medulla oblongata; ob, olfactory bulb (cross-hatched); ot, optic tectum (black); and p, pituitary gland. Modified from Braun and Northcutt (1999).">
            <a:extLst>
              <a:ext uri="{FF2B5EF4-FFF2-40B4-BE49-F238E27FC236}">
                <a16:creationId xmlns:a16="http://schemas.microsoft.com/office/drawing/2014/main" id="{7213BECA-9CA7-A6F2-2BCC-0261D94B4E6A}"/>
              </a:ext>
            </a:extLst>
          </p:cNvPr>
          <p:cNvSpPr txBox="1"/>
          <p:nvPr/>
        </p:nvSpPr>
        <p:spPr>
          <a:xfrm>
            <a:off x="789709" y="1540706"/>
            <a:ext cx="10612582" cy="646331"/>
          </a:xfrm>
          <a:prstGeom prst="rect">
            <a:avLst/>
          </a:prstGeom>
          <a:noFill/>
        </p:spPr>
        <p:txBody>
          <a:bodyPr wrap="square" rtlCol="0">
            <a:spAutoFit/>
          </a:bodyPr>
          <a:lstStyle/>
          <a:p>
            <a:r>
              <a:rPr lang="en-US" sz="3600" b="1" dirty="0"/>
              <a:t>3. Is intelligence tied to the body, or separable from it?</a:t>
            </a:r>
          </a:p>
        </p:txBody>
      </p:sp>
      <p:graphicFrame>
        <p:nvGraphicFramePr>
          <p:cNvPr id="5" name="Table 4">
            <a:extLst>
              <a:ext uri="{FF2B5EF4-FFF2-40B4-BE49-F238E27FC236}">
                <a16:creationId xmlns:a16="http://schemas.microsoft.com/office/drawing/2014/main" id="{D0AE89ED-A765-613D-7A25-7B9F0033DB5B}"/>
              </a:ext>
            </a:extLst>
          </p:cNvPr>
          <p:cNvGraphicFramePr>
            <a:graphicFrameLocks noGrp="1"/>
          </p:cNvGraphicFramePr>
          <p:nvPr>
            <p:extLst>
              <p:ext uri="{D42A27DB-BD31-4B8C-83A1-F6EECF244321}">
                <p14:modId xmlns:p14="http://schemas.microsoft.com/office/powerpoint/2010/main" val="3964035476"/>
              </p:ext>
            </p:extLst>
          </p:nvPr>
        </p:nvGraphicFramePr>
        <p:xfrm>
          <a:off x="0" y="2992582"/>
          <a:ext cx="12192000" cy="3865418"/>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82696027"/>
                    </a:ext>
                  </a:extLst>
                </a:gridCol>
                <a:gridCol w="6096000">
                  <a:extLst>
                    <a:ext uri="{9D8B030D-6E8A-4147-A177-3AD203B41FA5}">
                      <a16:colId xmlns:a16="http://schemas.microsoft.com/office/drawing/2014/main" val="683544289"/>
                    </a:ext>
                  </a:extLst>
                </a:gridCol>
              </a:tblGrid>
              <a:tr h="631847">
                <a:tc>
                  <a:txBody>
                    <a:bodyPr/>
                    <a:lstStyle/>
                    <a:p>
                      <a:pPr>
                        <a:buNone/>
                      </a:pPr>
                      <a:r>
                        <a:rPr lang="en-US" sz="2800" b="1" dirty="0" err="1"/>
                        <a:t>Subquestion</a:t>
                      </a:r>
                      <a:endParaRPr lang="en-US" sz="2800" dirty="0"/>
                    </a:p>
                  </a:txBody>
                  <a:tcPr anchor="ctr"/>
                </a:tc>
                <a:tc>
                  <a:txBody>
                    <a:bodyPr/>
                    <a:lstStyle/>
                    <a:p>
                      <a:pPr>
                        <a:buNone/>
                      </a:pPr>
                      <a:r>
                        <a:rPr lang="en-US" sz="2800" b="1" dirty="0"/>
                        <a:t>Example</a:t>
                      </a:r>
                      <a:endParaRPr lang="en-US" sz="2800" dirty="0"/>
                    </a:p>
                  </a:txBody>
                  <a:tcPr anchor="ctr"/>
                </a:tc>
                <a:extLst>
                  <a:ext uri="{0D108BD9-81ED-4DB2-BD59-A6C34878D82A}">
                    <a16:rowId xmlns:a16="http://schemas.microsoft.com/office/drawing/2014/main" val="249767879"/>
                  </a:ext>
                </a:extLst>
              </a:tr>
              <a:tr h="1077857">
                <a:tc>
                  <a:txBody>
                    <a:bodyPr/>
                    <a:lstStyle/>
                    <a:p>
                      <a:pPr>
                        <a:buNone/>
                      </a:pPr>
                      <a:r>
                        <a:rPr lang="en-US" sz="2800"/>
                        <a:t>Could genuine intelligence exist without perception or action?</a:t>
                      </a:r>
                    </a:p>
                  </a:txBody>
                  <a:tcPr anchor="ctr"/>
                </a:tc>
                <a:tc>
                  <a:txBody>
                    <a:bodyPr/>
                    <a:lstStyle/>
                    <a:p>
                      <a:pPr>
                        <a:buNone/>
                      </a:pPr>
                      <a:r>
                        <a:rPr lang="en-US" sz="2800"/>
                        <a:t>Could a brain in a vat—or a purely text-trained model—be fully intelligent?</a:t>
                      </a:r>
                    </a:p>
                  </a:txBody>
                  <a:tcPr anchor="ctr"/>
                </a:tc>
                <a:extLst>
                  <a:ext uri="{0D108BD9-81ED-4DB2-BD59-A6C34878D82A}">
                    <a16:rowId xmlns:a16="http://schemas.microsoft.com/office/drawing/2014/main" val="3717605317"/>
                  </a:ext>
                </a:extLst>
              </a:tr>
              <a:tr h="1077857">
                <a:tc>
                  <a:txBody>
                    <a:bodyPr/>
                    <a:lstStyle/>
                    <a:p>
                      <a:pPr>
                        <a:buNone/>
                      </a:pPr>
                      <a:r>
                        <a:rPr lang="en-US" sz="2800"/>
                        <a:t>Does embodiment give rise to meaning and understanding?</a:t>
                      </a:r>
                    </a:p>
                  </a:txBody>
                  <a:tcPr anchor="ctr"/>
                </a:tc>
                <a:tc>
                  <a:txBody>
                    <a:bodyPr/>
                    <a:lstStyle/>
                    <a:p>
                      <a:pPr>
                        <a:buNone/>
                      </a:pPr>
                      <a:r>
                        <a:rPr lang="en-US" sz="2800"/>
                        <a:t>How would a robot without touch, sight, or movement learn the concept “soft”?</a:t>
                      </a:r>
                    </a:p>
                  </a:txBody>
                  <a:tcPr anchor="ctr"/>
                </a:tc>
                <a:extLst>
                  <a:ext uri="{0D108BD9-81ED-4DB2-BD59-A6C34878D82A}">
                    <a16:rowId xmlns:a16="http://schemas.microsoft.com/office/drawing/2014/main" val="3816116787"/>
                  </a:ext>
                </a:extLst>
              </a:tr>
              <a:tr h="1077857">
                <a:tc>
                  <a:txBody>
                    <a:bodyPr/>
                    <a:lstStyle/>
                    <a:p>
                      <a:pPr>
                        <a:buNone/>
                      </a:pPr>
                      <a:r>
                        <a:rPr lang="en-US" sz="2800"/>
                        <a:t>Do LLMs challenge or reinforce embodied views?</a:t>
                      </a:r>
                    </a:p>
                  </a:txBody>
                  <a:tcPr anchor="ctr"/>
                </a:tc>
                <a:tc>
                  <a:txBody>
                    <a:bodyPr/>
                    <a:lstStyle/>
                    <a:p>
                      <a:pPr>
                        <a:buNone/>
                      </a:pPr>
                      <a:r>
                        <a:rPr lang="en-US" sz="2800" dirty="0"/>
                        <a:t>Why can an LLM describe walking despite never having moved?</a:t>
                      </a:r>
                    </a:p>
                  </a:txBody>
                  <a:tcPr anchor="ctr"/>
                </a:tc>
                <a:extLst>
                  <a:ext uri="{0D108BD9-81ED-4DB2-BD59-A6C34878D82A}">
                    <a16:rowId xmlns:a16="http://schemas.microsoft.com/office/drawing/2014/main" val="534286632"/>
                  </a:ext>
                </a:extLst>
              </a:tr>
            </a:tbl>
          </a:graphicData>
        </a:graphic>
      </p:graphicFrame>
    </p:spTree>
    <p:extLst>
      <p:ext uri="{BB962C8B-B14F-4D97-AF65-F5344CB8AC3E}">
        <p14:creationId xmlns:p14="http://schemas.microsoft.com/office/powerpoint/2010/main" val="418534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95AEA3-C338-CFAE-E785-EB566DEF8ABA}"/>
            </a:ext>
          </a:extLst>
        </p:cNvPr>
        <p:cNvGrpSpPr/>
        <p:nvPr/>
      </p:nvGrpSpPr>
      <p:grpSpPr>
        <a:xfrm>
          <a:off x="0" y="0"/>
          <a:ext cx="0" cy="0"/>
          <a:chOff x="0" y="0"/>
          <a:chExt cx="0" cy="0"/>
        </a:xfrm>
      </p:grpSpPr>
      <p:sp>
        <p:nvSpPr>
          <p:cNvPr id="4" name="Title 6">
            <a:extLst>
              <a:ext uri="{FF2B5EF4-FFF2-40B4-BE49-F238E27FC236}">
                <a16:creationId xmlns:a16="http://schemas.microsoft.com/office/drawing/2014/main" id="{55EF1CCA-C597-F061-D4B3-80789B6FD7B0}"/>
              </a:ext>
            </a:extLst>
          </p:cNvPr>
          <p:cNvSpPr txBox="1">
            <a:spLocks/>
          </p:cNvSpPr>
          <p:nvPr/>
        </p:nvSpPr>
        <p:spPr>
          <a:xfrm>
            <a:off x="0" y="0"/>
            <a:ext cx="11482251" cy="73516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b="1" i="0" kern="1200">
                <a:solidFill>
                  <a:srgbClr val="E84A27"/>
                </a:solidFill>
                <a:latin typeface="Georgia" panose="02040502050405020303" pitchFamily="18" charset="0"/>
                <a:ea typeface="+mj-ea"/>
                <a:cs typeface="+mj-cs"/>
              </a:defRPr>
            </a:lvl1pPr>
          </a:lstStyle>
          <a:p>
            <a:r>
              <a:rPr lang="en-US" dirty="0">
                <a:latin typeface="Calibri"/>
                <a:cs typeface="Calibri"/>
              </a:rPr>
              <a:t>Questions About Artificial Intelligence</a:t>
            </a:r>
            <a:endParaRPr lang="en-US" dirty="0"/>
          </a:p>
        </p:txBody>
      </p:sp>
      <p:graphicFrame>
        <p:nvGraphicFramePr>
          <p:cNvPr id="5" name="Table 4">
            <a:extLst>
              <a:ext uri="{FF2B5EF4-FFF2-40B4-BE49-F238E27FC236}">
                <a16:creationId xmlns:a16="http://schemas.microsoft.com/office/drawing/2014/main" id="{0DF7D8B6-9CB5-6F85-97FB-27DF20FB690C}"/>
              </a:ext>
            </a:extLst>
          </p:cNvPr>
          <p:cNvGraphicFramePr>
            <a:graphicFrameLocks noGrp="1"/>
          </p:cNvGraphicFramePr>
          <p:nvPr>
            <p:extLst>
              <p:ext uri="{D42A27DB-BD31-4B8C-83A1-F6EECF244321}">
                <p14:modId xmlns:p14="http://schemas.microsoft.com/office/powerpoint/2010/main" val="2642251219"/>
              </p:ext>
            </p:extLst>
          </p:nvPr>
        </p:nvGraphicFramePr>
        <p:xfrm>
          <a:off x="0" y="2992582"/>
          <a:ext cx="12192000" cy="3865418"/>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82696027"/>
                    </a:ext>
                  </a:extLst>
                </a:gridCol>
                <a:gridCol w="6096000">
                  <a:extLst>
                    <a:ext uri="{9D8B030D-6E8A-4147-A177-3AD203B41FA5}">
                      <a16:colId xmlns:a16="http://schemas.microsoft.com/office/drawing/2014/main" val="683544289"/>
                    </a:ext>
                  </a:extLst>
                </a:gridCol>
              </a:tblGrid>
              <a:tr h="631847">
                <a:tc>
                  <a:txBody>
                    <a:bodyPr/>
                    <a:lstStyle/>
                    <a:p>
                      <a:pPr>
                        <a:buNone/>
                      </a:pPr>
                      <a:r>
                        <a:rPr lang="en-US" sz="2800" b="1" dirty="0"/>
                        <a:t>Answers</a:t>
                      </a:r>
                      <a:endParaRPr lang="en-US" sz="2800" dirty="0"/>
                    </a:p>
                  </a:txBody>
                  <a:tcPr anchor="ctr"/>
                </a:tc>
                <a:tc>
                  <a:txBody>
                    <a:bodyPr/>
                    <a:lstStyle/>
                    <a:p>
                      <a:pPr>
                        <a:buNone/>
                      </a:pPr>
                      <a:r>
                        <a:rPr lang="en-US" sz="2800" b="1" dirty="0"/>
                        <a:t>Description</a:t>
                      </a:r>
                      <a:endParaRPr lang="en-US" sz="2800" dirty="0"/>
                    </a:p>
                  </a:txBody>
                  <a:tcPr anchor="ctr"/>
                </a:tc>
                <a:extLst>
                  <a:ext uri="{0D108BD9-81ED-4DB2-BD59-A6C34878D82A}">
                    <a16:rowId xmlns:a16="http://schemas.microsoft.com/office/drawing/2014/main" val="249767879"/>
                  </a:ext>
                </a:extLst>
              </a:tr>
              <a:tr h="1077857">
                <a:tc>
                  <a:txBody>
                    <a:bodyPr/>
                    <a:lstStyle/>
                    <a:p>
                      <a:pPr>
                        <a:buNone/>
                      </a:pPr>
                      <a:r>
                        <a:rPr lang="en-US" sz="2800"/>
                        <a:t>Embodied Cognition</a:t>
                      </a:r>
                    </a:p>
                  </a:txBody>
                  <a:tcPr anchor="ctr"/>
                </a:tc>
                <a:tc>
                  <a:txBody>
                    <a:bodyPr/>
                    <a:lstStyle/>
                    <a:p>
                      <a:pPr>
                        <a:buNone/>
                      </a:pPr>
                      <a:r>
                        <a:rPr lang="en-US" sz="2800" dirty="0"/>
                        <a:t>Intelligence arises through perception, action, and interaction with the world</a:t>
                      </a:r>
                    </a:p>
                  </a:txBody>
                  <a:tcPr anchor="ctr"/>
                </a:tc>
                <a:extLst>
                  <a:ext uri="{0D108BD9-81ED-4DB2-BD59-A6C34878D82A}">
                    <a16:rowId xmlns:a16="http://schemas.microsoft.com/office/drawing/2014/main" val="3717605317"/>
                  </a:ext>
                </a:extLst>
              </a:tr>
              <a:tr h="1077857">
                <a:tc>
                  <a:txBody>
                    <a:bodyPr/>
                    <a:lstStyle/>
                    <a:p>
                      <a:pPr>
                        <a:buNone/>
                      </a:pPr>
                      <a:r>
                        <a:rPr lang="en-US" sz="2800"/>
                        <a:t>Computationalism</a:t>
                      </a:r>
                    </a:p>
                  </a:txBody>
                  <a:tcPr anchor="ctr"/>
                </a:tc>
                <a:tc>
                  <a:txBody>
                    <a:bodyPr/>
                    <a:lstStyle/>
                    <a:p>
                      <a:pPr>
                        <a:buNone/>
                      </a:pPr>
                      <a:r>
                        <a:rPr lang="en-US" sz="2800"/>
                        <a:t>Intelligence is substrate-independent and can exist without a body</a:t>
                      </a:r>
                    </a:p>
                  </a:txBody>
                  <a:tcPr anchor="ctr"/>
                </a:tc>
                <a:extLst>
                  <a:ext uri="{0D108BD9-81ED-4DB2-BD59-A6C34878D82A}">
                    <a16:rowId xmlns:a16="http://schemas.microsoft.com/office/drawing/2014/main" val="3816116787"/>
                  </a:ext>
                </a:extLst>
              </a:tr>
              <a:tr h="1077857">
                <a:tc>
                  <a:txBody>
                    <a:bodyPr/>
                    <a:lstStyle/>
                    <a:p>
                      <a:pPr>
                        <a:buNone/>
                      </a:pPr>
                      <a:r>
                        <a:rPr lang="en-US" sz="2800"/>
                        <a:t>Middle Position</a:t>
                      </a:r>
                    </a:p>
                  </a:txBody>
                  <a:tcPr anchor="ctr"/>
                </a:tc>
                <a:tc>
                  <a:txBody>
                    <a:bodyPr/>
                    <a:lstStyle/>
                    <a:p>
                      <a:pPr>
                        <a:buNone/>
                      </a:pPr>
                      <a:r>
                        <a:rPr lang="en-US" sz="2800" dirty="0"/>
                        <a:t>Some cognitive capacities require embodiment, others do not</a:t>
                      </a:r>
                    </a:p>
                  </a:txBody>
                  <a:tcPr anchor="ctr"/>
                </a:tc>
                <a:extLst>
                  <a:ext uri="{0D108BD9-81ED-4DB2-BD59-A6C34878D82A}">
                    <a16:rowId xmlns:a16="http://schemas.microsoft.com/office/drawing/2014/main" val="534286632"/>
                  </a:ext>
                </a:extLst>
              </a:tr>
            </a:tbl>
          </a:graphicData>
        </a:graphic>
      </p:graphicFrame>
      <p:sp>
        <p:nvSpPr>
          <p:cNvPr id="8" name="TextBox 7" descr="FIG. 1. Lateral views of the brains of a number of extant vertebrate species (the brains are not drawn to the same scale). While there is tremendous variation in both overall brain size (see Fig. 2) and the size of most brain divisions, most vertebrates possess brains that can be divided into the same number of divisions. aob, accessory olfactory bulb (cross-hatched); cb, cerebellum (stippled); ch, cerebral hemispheres (cross-hatched); m, medulla oblongata; ob, olfactory bulb (cross-hatched); ot, optic tectum (black); and p, pituitary gland. Modified from Braun and Northcutt (1999).">
            <a:extLst>
              <a:ext uri="{FF2B5EF4-FFF2-40B4-BE49-F238E27FC236}">
                <a16:creationId xmlns:a16="http://schemas.microsoft.com/office/drawing/2014/main" id="{935D485A-BA07-5B50-E040-0EB56BD6BF5A}"/>
              </a:ext>
            </a:extLst>
          </p:cNvPr>
          <p:cNvSpPr txBox="1"/>
          <p:nvPr/>
        </p:nvSpPr>
        <p:spPr>
          <a:xfrm>
            <a:off x="789709" y="1540706"/>
            <a:ext cx="10612582" cy="646331"/>
          </a:xfrm>
          <a:prstGeom prst="rect">
            <a:avLst/>
          </a:prstGeom>
          <a:noFill/>
        </p:spPr>
        <p:txBody>
          <a:bodyPr wrap="square" rtlCol="0">
            <a:spAutoFit/>
          </a:bodyPr>
          <a:lstStyle/>
          <a:p>
            <a:r>
              <a:rPr lang="en-US" sz="3600" b="1" dirty="0"/>
              <a:t>3. Is intelligence tied to the body, or separable from it?</a:t>
            </a:r>
          </a:p>
        </p:txBody>
      </p:sp>
    </p:spTree>
    <p:extLst>
      <p:ext uri="{BB962C8B-B14F-4D97-AF65-F5344CB8AC3E}">
        <p14:creationId xmlns:p14="http://schemas.microsoft.com/office/powerpoint/2010/main" val="18329437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04C706-E15C-8AEF-2823-6CCEFDE354DA}"/>
            </a:ext>
          </a:extLst>
        </p:cNvPr>
        <p:cNvGrpSpPr/>
        <p:nvPr/>
      </p:nvGrpSpPr>
      <p:grpSpPr>
        <a:xfrm>
          <a:off x="0" y="0"/>
          <a:ext cx="0" cy="0"/>
          <a:chOff x="0" y="0"/>
          <a:chExt cx="0" cy="0"/>
        </a:xfrm>
      </p:grpSpPr>
      <p:sp>
        <p:nvSpPr>
          <p:cNvPr id="4" name="Title 6">
            <a:extLst>
              <a:ext uri="{FF2B5EF4-FFF2-40B4-BE49-F238E27FC236}">
                <a16:creationId xmlns:a16="http://schemas.microsoft.com/office/drawing/2014/main" id="{92021C02-1ED6-25D7-D668-2F002EC816C3}"/>
              </a:ext>
            </a:extLst>
          </p:cNvPr>
          <p:cNvSpPr txBox="1">
            <a:spLocks/>
          </p:cNvSpPr>
          <p:nvPr/>
        </p:nvSpPr>
        <p:spPr>
          <a:xfrm>
            <a:off x="0" y="0"/>
            <a:ext cx="11482251" cy="73516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b="1" i="0" kern="1200">
                <a:solidFill>
                  <a:srgbClr val="E84A27"/>
                </a:solidFill>
                <a:latin typeface="Georgia" panose="02040502050405020303" pitchFamily="18" charset="0"/>
                <a:ea typeface="+mj-ea"/>
                <a:cs typeface="+mj-cs"/>
              </a:defRPr>
            </a:lvl1pPr>
          </a:lstStyle>
          <a:p>
            <a:r>
              <a:rPr lang="en-US" dirty="0">
                <a:latin typeface="Calibri"/>
                <a:cs typeface="Calibri"/>
              </a:rPr>
              <a:t>Questions About Artificial Intelligence</a:t>
            </a:r>
            <a:endParaRPr lang="en-US" dirty="0"/>
          </a:p>
        </p:txBody>
      </p:sp>
      <p:sp>
        <p:nvSpPr>
          <p:cNvPr id="2" name="TextBox 1" descr="FIG. 1. Lateral views of the brains of a number of extant vertebrate species (the brains are not drawn to the same scale). While there is tremendous variation in both overall brain size (see Fig. 2) and the size of most brain divisions, most vertebrates possess brains that can be divided into the same number of divisions. aob, accessory olfactory bulb (cross-hatched); cb, cerebellum (stippled); ch, cerebral hemispheres (cross-hatched); m, medulla oblongata; ob, olfactory bulb (cross-hatched); ot, optic tectum (black); and p, pituitary gland. Modified from Braun and Northcutt (1999).">
            <a:extLst>
              <a:ext uri="{FF2B5EF4-FFF2-40B4-BE49-F238E27FC236}">
                <a16:creationId xmlns:a16="http://schemas.microsoft.com/office/drawing/2014/main" id="{4B91BA0D-8FF0-0938-AE51-DE67ED188894}"/>
              </a:ext>
            </a:extLst>
          </p:cNvPr>
          <p:cNvSpPr txBox="1"/>
          <p:nvPr/>
        </p:nvSpPr>
        <p:spPr>
          <a:xfrm>
            <a:off x="1336963" y="1540706"/>
            <a:ext cx="9518073" cy="646331"/>
          </a:xfrm>
          <a:prstGeom prst="rect">
            <a:avLst/>
          </a:prstGeom>
          <a:noFill/>
        </p:spPr>
        <p:txBody>
          <a:bodyPr wrap="square" rtlCol="0">
            <a:spAutoFit/>
          </a:bodyPr>
          <a:lstStyle/>
          <a:p>
            <a:r>
              <a:rPr lang="en-US" sz="3600" b="1" dirty="0"/>
              <a:t>4. Can behavior alone demonstrate intelligence?</a:t>
            </a:r>
          </a:p>
        </p:txBody>
      </p:sp>
      <p:graphicFrame>
        <p:nvGraphicFramePr>
          <p:cNvPr id="5" name="Table 4">
            <a:extLst>
              <a:ext uri="{FF2B5EF4-FFF2-40B4-BE49-F238E27FC236}">
                <a16:creationId xmlns:a16="http://schemas.microsoft.com/office/drawing/2014/main" id="{8FBD40F9-FA6D-56A5-6D38-0591499D2A4C}"/>
              </a:ext>
            </a:extLst>
          </p:cNvPr>
          <p:cNvGraphicFramePr>
            <a:graphicFrameLocks noGrp="1"/>
          </p:cNvGraphicFramePr>
          <p:nvPr>
            <p:extLst>
              <p:ext uri="{D42A27DB-BD31-4B8C-83A1-F6EECF244321}">
                <p14:modId xmlns:p14="http://schemas.microsoft.com/office/powerpoint/2010/main" val="2081618326"/>
              </p:ext>
            </p:extLst>
          </p:nvPr>
        </p:nvGraphicFramePr>
        <p:xfrm>
          <a:off x="0" y="2992582"/>
          <a:ext cx="12192000" cy="3865418"/>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82696027"/>
                    </a:ext>
                  </a:extLst>
                </a:gridCol>
                <a:gridCol w="6096000">
                  <a:extLst>
                    <a:ext uri="{9D8B030D-6E8A-4147-A177-3AD203B41FA5}">
                      <a16:colId xmlns:a16="http://schemas.microsoft.com/office/drawing/2014/main" val="683544289"/>
                    </a:ext>
                  </a:extLst>
                </a:gridCol>
              </a:tblGrid>
              <a:tr h="631847">
                <a:tc>
                  <a:txBody>
                    <a:bodyPr/>
                    <a:lstStyle/>
                    <a:p>
                      <a:pPr>
                        <a:buNone/>
                      </a:pPr>
                      <a:r>
                        <a:rPr lang="en-US" sz="2800" b="1" dirty="0" err="1"/>
                        <a:t>Subquestion</a:t>
                      </a:r>
                      <a:endParaRPr lang="en-US" sz="2800" dirty="0"/>
                    </a:p>
                  </a:txBody>
                  <a:tcPr anchor="ctr"/>
                </a:tc>
                <a:tc>
                  <a:txBody>
                    <a:bodyPr/>
                    <a:lstStyle/>
                    <a:p>
                      <a:pPr>
                        <a:buNone/>
                      </a:pPr>
                      <a:r>
                        <a:rPr lang="en-US" sz="2800" b="1" dirty="0"/>
                        <a:t>Example</a:t>
                      </a:r>
                      <a:endParaRPr lang="en-US" sz="2800" dirty="0"/>
                    </a:p>
                  </a:txBody>
                  <a:tcPr anchor="ctr"/>
                </a:tc>
                <a:extLst>
                  <a:ext uri="{0D108BD9-81ED-4DB2-BD59-A6C34878D82A}">
                    <a16:rowId xmlns:a16="http://schemas.microsoft.com/office/drawing/2014/main" val="249767879"/>
                  </a:ext>
                </a:extLst>
              </a:tr>
              <a:tr h="1077857">
                <a:tc>
                  <a:txBody>
                    <a:bodyPr/>
                    <a:lstStyle/>
                    <a:p>
                      <a:pPr>
                        <a:buNone/>
                      </a:pPr>
                      <a:r>
                        <a:rPr lang="en-US" sz="2800"/>
                        <a:t>If something behaves intelligently, should we call it intelligent?</a:t>
                      </a:r>
                    </a:p>
                  </a:txBody>
                  <a:tcPr anchor="ctr"/>
                </a:tc>
                <a:tc>
                  <a:txBody>
                    <a:bodyPr/>
                    <a:lstStyle/>
                    <a:p>
                      <a:pPr>
                        <a:buNone/>
                      </a:pPr>
                      <a:r>
                        <a:rPr lang="en-US" sz="2800"/>
                        <a:t>If a robot passes the Turing Test, does that mean it truly thinks?</a:t>
                      </a:r>
                    </a:p>
                  </a:txBody>
                  <a:tcPr anchor="ctr"/>
                </a:tc>
                <a:extLst>
                  <a:ext uri="{0D108BD9-81ED-4DB2-BD59-A6C34878D82A}">
                    <a16:rowId xmlns:a16="http://schemas.microsoft.com/office/drawing/2014/main" val="3717605317"/>
                  </a:ext>
                </a:extLst>
              </a:tr>
              <a:tr h="1077857">
                <a:tc>
                  <a:txBody>
                    <a:bodyPr/>
                    <a:lstStyle/>
                    <a:p>
                      <a:pPr>
                        <a:buNone/>
                      </a:pPr>
                      <a:r>
                        <a:rPr lang="en-US" sz="2800"/>
                        <a:t>What kinds of behavior would </a:t>
                      </a:r>
                      <a:r>
                        <a:rPr lang="en-US" sz="2800" i="1"/>
                        <a:t>not</a:t>
                      </a:r>
                      <a:r>
                        <a:rPr lang="en-US" sz="2800"/>
                        <a:t> be enough?</a:t>
                      </a:r>
                    </a:p>
                  </a:txBody>
                  <a:tcPr anchor="ctr"/>
                </a:tc>
                <a:tc>
                  <a:txBody>
                    <a:bodyPr/>
                    <a:lstStyle/>
                    <a:p>
                      <a:pPr>
                        <a:buNone/>
                      </a:pPr>
                      <a:r>
                        <a:rPr lang="en-US" sz="2800" dirty="0"/>
                        <a:t>If a person guesses right answers by luck, is that “intelligent behavior”?</a:t>
                      </a:r>
                    </a:p>
                  </a:txBody>
                  <a:tcPr anchor="ctr"/>
                </a:tc>
                <a:extLst>
                  <a:ext uri="{0D108BD9-81ED-4DB2-BD59-A6C34878D82A}">
                    <a16:rowId xmlns:a16="http://schemas.microsoft.com/office/drawing/2014/main" val="3816116787"/>
                  </a:ext>
                </a:extLst>
              </a:tr>
              <a:tr h="1077857">
                <a:tc>
                  <a:txBody>
                    <a:bodyPr/>
                    <a:lstStyle/>
                    <a:p>
                      <a:pPr>
                        <a:buNone/>
                      </a:pPr>
                      <a:r>
                        <a:rPr lang="en-US" sz="2800"/>
                        <a:t>How do we avoid being fooled by fluent performance?</a:t>
                      </a:r>
                    </a:p>
                  </a:txBody>
                  <a:tcPr anchor="ctr"/>
                </a:tc>
                <a:tc>
                  <a:txBody>
                    <a:bodyPr/>
                    <a:lstStyle/>
                    <a:p>
                      <a:pPr>
                        <a:buNone/>
                      </a:pPr>
                      <a:r>
                        <a:rPr lang="en-US" sz="2800" dirty="0"/>
                        <a:t>How do we judge an LLM that answers questions confidently but incorrectly?</a:t>
                      </a:r>
                    </a:p>
                  </a:txBody>
                  <a:tcPr anchor="ctr"/>
                </a:tc>
                <a:extLst>
                  <a:ext uri="{0D108BD9-81ED-4DB2-BD59-A6C34878D82A}">
                    <a16:rowId xmlns:a16="http://schemas.microsoft.com/office/drawing/2014/main" val="534286632"/>
                  </a:ext>
                </a:extLst>
              </a:tr>
            </a:tbl>
          </a:graphicData>
        </a:graphic>
      </p:graphicFrame>
    </p:spTree>
    <p:extLst>
      <p:ext uri="{BB962C8B-B14F-4D97-AF65-F5344CB8AC3E}">
        <p14:creationId xmlns:p14="http://schemas.microsoft.com/office/powerpoint/2010/main" val="1235854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5BAF1F-8EFA-84BE-9924-563C0C74C67B}"/>
            </a:ext>
          </a:extLst>
        </p:cNvPr>
        <p:cNvGrpSpPr/>
        <p:nvPr/>
      </p:nvGrpSpPr>
      <p:grpSpPr>
        <a:xfrm>
          <a:off x="0" y="0"/>
          <a:ext cx="0" cy="0"/>
          <a:chOff x="0" y="0"/>
          <a:chExt cx="0" cy="0"/>
        </a:xfrm>
      </p:grpSpPr>
      <p:sp>
        <p:nvSpPr>
          <p:cNvPr id="4" name="Title 6">
            <a:extLst>
              <a:ext uri="{FF2B5EF4-FFF2-40B4-BE49-F238E27FC236}">
                <a16:creationId xmlns:a16="http://schemas.microsoft.com/office/drawing/2014/main" id="{12556572-35C0-91F1-B081-30678B336B69}"/>
              </a:ext>
            </a:extLst>
          </p:cNvPr>
          <p:cNvSpPr txBox="1">
            <a:spLocks/>
          </p:cNvSpPr>
          <p:nvPr/>
        </p:nvSpPr>
        <p:spPr>
          <a:xfrm>
            <a:off x="0" y="0"/>
            <a:ext cx="11482251" cy="73516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b="1" i="0" kern="1200">
                <a:solidFill>
                  <a:srgbClr val="E84A27"/>
                </a:solidFill>
                <a:latin typeface="Georgia" panose="02040502050405020303" pitchFamily="18" charset="0"/>
                <a:ea typeface="+mj-ea"/>
                <a:cs typeface="+mj-cs"/>
              </a:defRPr>
            </a:lvl1pPr>
          </a:lstStyle>
          <a:p>
            <a:r>
              <a:rPr lang="en-US" dirty="0">
                <a:latin typeface="Calibri"/>
                <a:cs typeface="Calibri"/>
              </a:rPr>
              <a:t>Questions About Artificial Intelligence</a:t>
            </a:r>
            <a:endParaRPr lang="en-US" dirty="0"/>
          </a:p>
        </p:txBody>
      </p:sp>
      <p:graphicFrame>
        <p:nvGraphicFramePr>
          <p:cNvPr id="5" name="Table 4">
            <a:extLst>
              <a:ext uri="{FF2B5EF4-FFF2-40B4-BE49-F238E27FC236}">
                <a16:creationId xmlns:a16="http://schemas.microsoft.com/office/drawing/2014/main" id="{3E7BDD28-DB44-A7FC-B8B2-744FFB8BE8B8}"/>
              </a:ext>
            </a:extLst>
          </p:cNvPr>
          <p:cNvGraphicFramePr>
            <a:graphicFrameLocks noGrp="1"/>
          </p:cNvGraphicFramePr>
          <p:nvPr>
            <p:extLst>
              <p:ext uri="{D42A27DB-BD31-4B8C-83A1-F6EECF244321}">
                <p14:modId xmlns:p14="http://schemas.microsoft.com/office/powerpoint/2010/main" val="606241388"/>
              </p:ext>
            </p:extLst>
          </p:nvPr>
        </p:nvGraphicFramePr>
        <p:xfrm>
          <a:off x="0" y="2992582"/>
          <a:ext cx="12192000" cy="3865418"/>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82696027"/>
                    </a:ext>
                  </a:extLst>
                </a:gridCol>
                <a:gridCol w="6096000">
                  <a:extLst>
                    <a:ext uri="{9D8B030D-6E8A-4147-A177-3AD203B41FA5}">
                      <a16:colId xmlns:a16="http://schemas.microsoft.com/office/drawing/2014/main" val="683544289"/>
                    </a:ext>
                  </a:extLst>
                </a:gridCol>
              </a:tblGrid>
              <a:tr h="631847">
                <a:tc>
                  <a:txBody>
                    <a:bodyPr/>
                    <a:lstStyle/>
                    <a:p>
                      <a:pPr>
                        <a:buNone/>
                      </a:pPr>
                      <a:r>
                        <a:rPr lang="en-US" sz="2800" b="1" dirty="0"/>
                        <a:t>Answers</a:t>
                      </a:r>
                      <a:endParaRPr lang="en-US" sz="2800" dirty="0"/>
                    </a:p>
                  </a:txBody>
                  <a:tcPr anchor="ctr"/>
                </a:tc>
                <a:tc>
                  <a:txBody>
                    <a:bodyPr/>
                    <a:lstStyle/>
                    <a:p>
                      <a:pPr>
                        <a:buNone/>
                      </a:pPr>
                      <a:r>
                        <a:rPr lang="en-US" sz="2800" b="1" dirty="0"/>
                        <a:t>Description</a:t>
                      </a:r>
                      <a:endParaRPr lang="en-US" sz="2800" dirty="0"/>
                    </a:p>
                  </a:txBody>
                  <a:tcPr anchor="ctr"/>
                </a:tc>
                <a:extLst>
                  <a:ext uri="{0D108BD9-81ED-4DB2-BD59-A6C34878D82A}">
                    <a16:rowId xmlns:a16="http://schemas.microsoft.com/office/drawing/2014/main" val="249767879"/>
                  </a:ext>
                </a:extLst>
              </a:tr>
              <a:tr h="1077857">
                <a:tc>
                  <a:txBody>
                    <a:bodyPr/>
                    <a:lstStyle/>
                    <a:p>
                      <a:pPr>
                        <a:buNone/>
                      </a:pPr>
                      <a:r>
                        <a:rPr lang="en-US" sz="2800"/>
                        <a:t>Behavioral Criteria</a:t>
                      </a:r>
                    </a:p>
                  </a:txBody>
                  <a:tcPr anchor="ctr"/>
                </a:tc>
                <a:tc>
                  <a:txBody>
                    <a:bodyPr/>
                    <a:lstStyle/>
                    <a:p>
                      <a:pPr>
                        <a:buNone/>
                      </a:pPr>
                      <a:r>
                        <a:rPr lang="en-US" sz="2800"/>
                        <a:t>Intelligence is defined by observable performance alone</a:t>
                      </a:r>
                    </a:p>
                  </a:txBody>
                  <a:tcPr anchor="ctr"/>
                </a:tc>
                <a:extLst>
                  <a:ext uri="{0D108BD9-81ED-4DB2-BD59-A6C34878D82A}">
                    <a16:rowId xmlns:a16="http://schemas.microsoft.com/office/drawing/2014/main" val="3717605317"/>
                  </a:ext>
                </a:extLst>
              </a:tr>
              <a:tr h="1077857">
                <a:tc>
                  <a:txBody>
                    <a:bodyPr/>
                    <a:lstStyle/>
                    <a:p>
                      <a:pPr>
                        <a:buNone/>
                      </a:pPr>
                      <a:r>
                        <a:rPr lang="en-US" sz="2800"/>
                        <a:t>Representational View</a:t>
                      </a:r>
                    </a:p>
                  </a:txBody>
                  <a:tcPr anchor="ctr"/>
                </a:tc>
                <a:tc>
                  <a:txBody>
                    <a:bodyPr/>
                    <a:lstStyle/>
                    <a:p>
                      <a:pPr>
                        <a:buNone/>
                      </a:pPr>
                      <a:r>
                        <a:rPr lang="en-US" sz="2800"/>
                        <a:t>Intelligence requires meaningful internal states, not just outputs</a:t>
                      </a:r>
                    </a:p>
                  </a:txBody>
                  <a:tcPr anchor="ctr"/>
                </a:tc>
                <a:extLst>
                  <a:ext uri="{0D108BD9-81ED-4DB2-BD59-A6C34878D82A}">
                    <a16:rowId xmlns:a16="http://schemas.microsoft.com/office/drawing/2014/main" val="3816116787"/>
                  </a:ext>
                </a:extLst>
              </a:tr>
              <a:tr h="1077857">
                <a:tc>
                  <a:txBody>
                    <a:bodyPr/>
                    <a:lstStyle/>
                    <a:p>
                      <a:pPr>
                        <a:buNone/>
                      </a:pPr>
                      <a:r>
                        <a:rPr lang="en-US" sz="2800"/>
                        <a:t>Pragmatic View</a:t>
                      </a:r>
                    </a:p>
                  </a:txBody>
                  <a:tcPr anchor="ctr"/>
                </a:tc>
                <a:tc>
                  <a:txBody>
                    <a:bodyPr/>
                    <a:lstStyle/>
                    <a:p>
                      <a:pPr>
                        <a:buNone/>
                      </a:pPr>
                      <a:r>
                        <a:rPr lang="en-US" sz="2800" dirty="0"/>
                        <a:t>Behavior is evidence of intelligence but not sufficient on its own</a:t>
                      </a:r>
                    </a:p>
                  </a:txBody>
                  <a:tcPr anchor="ctr"/>
                </a:tc>
                <a:extLst>
                  <a:ext uri="{0D108BD9-81ED-4DB2-BD59-A6C34878D82A}">
                    <a16:rowId xmlns:a16="http://schemas.microsoft.com/office/drawing/2014/main" val="534286632"/>
                  </a:ext>
                </a:extLst>
              </a:tr>
            </a:tbl>
          </a:graphicData>
        </a:graphic>
      </p:graphicFrame>
      <p:sp>
        <p:nvSpPr>
          <p:cNvPr id="2" name="TextBox 1" descr="FIG. 1. Lateral views of the brains of a number of extant vertebrate species (the brains are not drawn to the same scale). While there is tremendous variation in both overall brain size (see Fig. 2) and the size of most brain divisions, most vertebrates possess brains that can be divided into the same number of divisions. aob, accessory olfactory bulb (cross-hatched); cb, cerebellum (stippled); ch, cerebral hemispheres (cross-hatched); m, medulla oblongata; ob, olfactory bulb (cross-hatched); ot, optic tectum (black); and p, pituitary gland. Modified from Braun and Northcutt (1999).">
            <a:extLst>
              <a:ext uri="{FF2B5EF4-FFF2-40B4-BE49-F238E27FC236}">
                <a16:creationId xmlns:a16="http://schemas.microsoft.com/office/drawing/2014/main" id="{877D2DEC-0D51-58F2-B982-FC2A3B231560}"/>
              </a:ext>
            </a:extLst>
          </p:cNvPr>
          <p:cNvSpPr txBox="1"/>
          <p:nvPr/>
        </p:nvSpPr>
        <p:spPr>
          <a:xfrm>
            <a:off x="1336963" y="1540706"/>
            <a:ext cx="9518073" cy="646331"/>
          </a:xfrm>
          <a:prstGeom prst="rect">
            <a:avLst/>
          </a:prstGeom>
          <a:noFill/>
        </p:spPr>
        <p:txBody>
          <a:bodyPr wrap="square" rtlCol="0">
            <a:spAutoFit/>
          </a:bodyPr>
          <a:lstStyle/>
          <a:p>
            <a:r>
              <a:rPr lang="en-US" sz="3600" b="1" dirty="0"/>
              <a:t>4. Can behavior alone demonstrate intelligence?</a:t>
            </a:r>
          </a:p>
        </p:txBody>
      </p:sp>
    </p:spTree>
    <p:extLst>
      <p:ext uri="{BB962C8B-B14F-4D97-AF65-F5344CB8AC3E}">
        <p14:creationId xmlns:p14="http://schemas.microsoft.com/office/powerpoint/2010/main" val="21252961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56FC0A-309C-AACB-B402-B7DE575E28FA}"/>
            </a:ext>
          </a:extLst>
        </p:cNvPr>
        <p:cNvGrpSpPr/>
        <p:nvPr/>
      </p:nvGrpSpPr>
      <p:grpSpPr>
        <a:xfrm>
          <a:off x="0" y="0"/>
          <a:ext cx="0" cy="0"/>
          <a:chOff x="0" y="0"/>
          <a:chExt cx="0" cy="0"/>
        </a:xfrm>
      </p:grpSpPr>
      <p:sp>
        <p:nvSpPr>
          <p:cNvPr id="4" name="Title 6">
            <a:extLst>
              <a:ext uri="{FF2B5EF4-FFF2-40B4-BE49-F238E27FC236}">
                <a16:creationId xmlns:a16="http://schemas.microsoft.com/office/drawing/2014/main" id="{61FC9E7C-F644-F72F-6088-E810B7F18290}"/>
              </a:ext>
            </a:extLst>
          </p:cNvPr>
          <p:cNvSpPr txBox="1">
            <a:spLocks/>
          </p:cNvSpPr>
          <p:nvPr/>
        </p:nvSpPr>
        <p:spPr>
          <a:xfrm>
            <a:off x="0" y="0"/>
            <a:ext cx="11482251" cy="73516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b="1" i="0" kern="1200">
                <a:solidFill>
                  <a:srgbClr val="E84A27"/>
                </a:solidFill>
                <a:latin typeface="Georgia" panose="02040502050405020303" pitchFamily="18" charset="0"/>
                <a:ea typeface="+mj-ea"/>
                <a:cs typeface="+mj-cs"/>
              </a:defRPr>
            </a:lvl1pPr>
          </a:lstStyle>
          <a:p>
            <a:r>
              <a:rPr lang="en-US" dirty="0">
                <a:latin typeface="Calibri"/>
                <a:cs typeface="Calibri"/>
              </a:rPr>
              <a:t>Questions About Artificial Intelligence</a:t>
            </a:r>
            <a:endParaRPr lang="en-US" dirty="0"/>
          </a:p>
        </p:txBody>
      </p:sp>
      <p:sp>
        <p:nvSpPr>
          <p:cNvPr id="2" name="TextBox 1" descr="FIG. 1. Lateral views of the brains of a number of extant vertebrate species (the brains are not drawn to the same scale). While there is tremendous variation in both overall brain size (see Fig. 2) and the size of most brain divisions, most vertebrates possess brains that can be divided into the same number of divisions. aob, accessory olfactory bulb (cross-hatched); cb, cerebellum (stippled); ch, cerebral hemispheres (cross-hatched); m, medulla oblongata; ob, olfactory bulb (cross-hatched); ot, optic tectum (black); and p, pituitary gland. Modified from Braun and Northcutt (1999).">
            <a:extLst>
              <a:ext uri="{FF2B5EF4-FFF2-40B4-BE49-F238E27FC236}">
                <a16:creationId xmlns:a16="http://schemas.microsoft.com/office/drawing/2014/main" id="{64067F84-9F49-89C8-8023-D3C7BD5AB001}"/>
              </a:ext>
            </a:extLst>
          </p:cNvPr>
          <p:cNvSpPr txBox="1"/>
          <p:nvPr/>
        </p:nvSpPr>
        <p:spPr>
          <a:xfrm>
            <a:off x="418408" y="1571484"/>
            <a:ext cx="11355184" cy="584775"/>
          </a:xfrm>
          <a:prstGeom prst="rect">
            <a:avLst/>
          </a:prstGeom>
          <a:noFill/>
        </p:spPr>
        <p:txBody>
          <a:bodyPr wrap="square" rtlCol="0">
            <a:spAutoFit/>
          </a:bodyPr>
          <a:lstStyle/>
          <a:p>
            <a:r>
              <a:rPr lang="en-US" sz="3200" b="1" dirty="0"/>
              <a:t>5. What would it mean for a machine to “understand” something?</a:t>
            </a:r>
          </a:p>
        </p:txBody>
      </p:sp>
      <p:graphicFrame>
        <p:nvGraphicFramePr>
          <p:cNvPr id="5" name="Table 4">
            <a:extLst>
              <a:ext uri="{FF2B5EF4-FFF2-40B4-BE49-F238E27FC236}">
                <a16:creationId xmlns:a16="http://schemas.microsoft.com/office/drawing/2014/main" id="{9B81B5AA-1B20-695C-0328-48B500DD2A39}"/>
              </a:ext>
            </a:extLst>
          </p:cNvPr>
          <p:cNvGraphicFramePr>
            <a:graphicFrameLocks noGrp="1"/>
          </p:cNvGraphicFramePr>
          <p:nvPr>
            <p:extLst>
              <p:ext uri="{D42A27DB-BD31-4B8C-83A1-F6EECF244321}">
                <p14:modId xmlns:p14="http://schemas.microsoft.com/office/powerpoint/2010/main" val="1745030444"/>
              </p:ext>
            </p:extLst>
          </p:nvPr>
        </p:nvGraphicFramePr>
        <p:xfrm>
          <a:off x="0" y="2992582"/>
          <a:ext cx="12192000" cy="3865418"/>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82696027"/>
                    </a:ext>
                  </a:extLst>
                </a:gridCol>
                <a:gridCol w="6096000">
                  <a:extLst>
                    <a:ext uri="{9D8B030D-6E8A-4147-A177-3AD203B41FA5}">
                      <a16:colId xmlns:a16="http://schemas.microsoft.com/office/drawing/2014/main" val="683544289"/>
                    </a:ext>
                  </a:extLst>
                </a:gridCol>
              </a:tblGrid>
              <a:tr h="631847">
                <a:tc>
                  <a:txBody>
                    <a:bodyPr/>
                    <a:lstStyle/>
                    <a:p>
                      <a:pPr>
                        <a:buNone/>
                      </a:pPr>
                      <a:r>
                        <a:rPr lang="en-US" sz="2800" b="1" dirty="0" err="1"/>
                        <a:t>Subquestion</a:t>
                      </a:r>
                      <a:endParaRPr lang="en-US" sz="2800" dirty="0"/>
                    </a:p>
                  </a:txBody>
                  <a:tcPr anchor="ctr"/>
                </a:tc>
                <a:tc>
                  <a:txBody>
                    <a:bodyPr/>
                    <a:lstStyle/>
                    <a:p>
                      <a:pPr>
                        <a:buNone/>
                      </a:pPr>
                      <a:r>
                        <a:rPr lang="en-US" sz="2800" b="1" dirty="0"/>
                        <a:t>Example</a:t>
                      </a:r>
                      <a:endParaRPr lang="en-US" sz="2800" dirty="0"/>
                    </a:p>
                  </a:txBody>
                  <a:tcPr anchor="ctr"/>
                </a:tc>
                <a:extLst>
                  <a:ext uri="{0D108BD9-81ED-4DB2-BD59-A6C34878D82A}">
                    <a16:rowId xmlns:a16="http://schemas.microsoft.com/office/drawing/2014/main" val="249767879"/>
                  </a:ext>
                </a:extLst>
              </a:tr>
              <a:tr h="1077857">
                <a:tc>
                  <a:txBody>
                    <a:bodyPr/>
                    <a:lstStyle/>
                    <a:p>
                      <a:pPr>
                        <a:buNone/>
                      </a:pPr>
                      <a:r>
                        <a:rPr lang="en-US" sz="2800"/>
                        <a:t>Is prediction a form of understanding?</a:t>
                      </a:r>
                    </a:p>
                  </a:txBody>
                  <a:tcPr anchor="ctr"/>
                </a:tc>
                <a:tc>
                  <a:txBody>
                    <a:bodyPr/>
                    <a:lstStyle/>
                    <a:p>
                      <a:pPr>
                        <a:buNone/>
                      </a:pPr>
                      <a:r>
                        <a:rPr lang="en-US" sz="2800" dirty="0"/>
                        <a:t>Chinese Room thought experiment</a:t>
                      </a:r>
                    </a:p>
                  </a:txBody>
                  <a:tcPr anchor="ctr"/>
                </a:tc>
                <a:extLst>
                  <a:ext uri="{0D108BD9-81ED-4DB2-BD59-A6C34878D82A}">
                    <a16:rowId xmlns:a16="http://schemas.microsoft.com/office/drawing/2014/main" val="3717605317"/>
                  </a:ext>
                </a:extLst>
              </a:tr>
              <a:tr h="1077857">
                <a:tc>
                  <a:txBody>
                    <a:bodyPr/>
                    <a:lstStyle/>
                    <a:p>
                      <a:pPr>
                        <a:buNone/>
                      </a:pPr>
                      <a:r>
                        <a:rPr lang="en-US" sz="2800"/>
                        <a:t>Does meaning require grounding in perception or action?</a:t>
                      </a:r>
                    </a:p>
                  </a:txBody>
                  <a:tcPr anchor="ctr"/>
                </a:tc>
                <a:tc>
                  <a:txBody>
                    <a:bodyPr/>
                    <a:lstStyle/>
                    <a:p>
                      <a:pPr>
                        <a:buNone/>
                      </a:pPr>
                      <a:r>
                        <a:rPr lang="en-US" sz="2800"/>
                        <a:t>Could a robot understand “red” without any sensory experience of color?</a:t>
                      </a:r>
                    </a:p>
                  </a:txBody>
                  <a:tcPr anchor="ctr"/>
                </a:tc>
                <a:extLst>
                  <a:ext uri="{0D108BD9-81ED-4DB2-BD59-A6C34878D82A}">
                    <a16:rowId xmlns:a16="http://schemas.microsoft.com/office/drawing/2014/main" val="3816116787"/>
                  </a:ext>
                </a:extLst>
              </a:tr>
              <a:tr h="1077857">
                <a:tc>
                  <a:txBody>
                    <a:bodyPr/>
                    <a:lstStyle/>
                    <a:p>
                      <a:pPr>
                        <a:buNone/>
                      </a:pPr>
                      <a:r>
                        <a:rPr lang="en-US" sz="2800"/>
                        <a:t>Could a machine have concepts, or only correlations?</a:t>
                      </a:r>
                    </a:p>
                  </a:txBody>
                  <a:tcPr anchor="ctr"/>
                </a:tc>
                <a:tc>
                  <a:txBody>
                    <a:bodyPr/>
                    <a:lstStyle/>
                    <a:p>
                      <a:pPr>
                        <a:buNone/>
                      </a:pPr>
                      <a:r>
                        <a:rPr lang="en-US" sz="2800" dirty="0"/>
                        <a:t>If a model groups birds together, does it </a:t>
                      </a:r>
                      <a:r>
                        <a:rPr lang="en-US" sz="2800" i="1" dirty="0"/>
                        <a:t>have</a:t>
                      </a:r>
                      <a:r>
                        <a:rPr lang="en-US" sz="2800" dirty="0"/>
                        <a:t> a concept of “bird”?</a:t>
                      </a:r>
                    </a:p>
                  </a:txBody>
                  <a:tcPr anchor="ctr"/>
                </a:tc>
                <a:extLst>
                  <a:ext uri="{0D108BD9-81ED-4DB2-BD59-A6C34878D82A}">
                    <a16:rowId xmlns:a16="http://schemas.microsoft.com/office/drawing/2014/main" val="534286632"/>
                  </a:ext>
                </a:extLst>
              </a:tr>
            </a:tbl>
          </a:graphicData>
        </a:graphic>
      </p:graphicFrame>
    </p:spTree>
    <p:extLst>
      <p:ext uri="{BB962C8B-B14F-4D97-AF65-F5344CB8AC3E}">
        <p14:creationId xmlns:p14="http://schemas.microsoft.com/office/powerpoint/2010/main" val="1846365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B0DB39-F879-E56D-8615-2C7B5E478871}"/>
            </a:ext>
          </a:extLst>
        </p:cNvPr>
        <p:cNvGrpSpPr/>
        <p:nvPr/>
      </p:nvGrpSpPr>
      <p:grpSpPr>
        <a:xfrm>
          <a:off x="0" y="0"/>
          <a:ext cx="0" cy="0"/>
          <a:chOff x="0" y="0"/>
          <a:chExt cx="0" cy="0"/>
        </a:xfrm>
      </p:grpSpPr>
      <p:sp>
        <p:nvSpPr>
          <p:cNvPr id="4" name="Title 6">
            <a:extLst>
              <a:ext uri="{FF2B5EF4-FFF2-40B4-BE49-F238E27FC236}">
                <a16:creationId xmlns:a16="http://schemas.microsoft.com/office/drawing/2014/main" id="{6C1AFB95-8A3F-AABE-049A-49FC8D389379}"/>
              </a:ext>
            </a:extLst>
          </p:cNvPr>
          <p:cNvSpPr txBox="1">
            <a:spLocks/>
          </p:cNvSpPr>
          <p:nvPr/>
        </p:nvSpPr>
        <p:spPr>
          <a:xfrm>
            <a:off x="0" y="0"/>
            <a:ext cx="11482251" cy="73516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b="1" i="0" kern="1200">
                <a:solidFill>
                  <a:srgbClr val="E84A27"/>
                </a:solidFill>
                <a:latin typeface="Georgia" panose="02040502050405020303" pitchFamily="18" charset="0"/>
                <a:ea typeface="+mj-ea"/>
                <a:cs typeface="+mj-cs"/>
              </a:defRPr>
            </a:lvl1pPr>
          </a:lstStyle>
          <a:p>
            <a:r>
              <a:rPr lang="en-US" dirty="0">
                <a:latin typeface="Calibri"/>
                <a:cs typeface="Calibri"/>
              </a:rPr>
              <a:t>Questions About Artificial Intelligence</a:t>
            </a:r>
            <a:endParaRPr lang="en-US" dirty="0"/>
          </a:p>
        </p:txBody>
      </p:sp>
      <p:graphicFrame>
        <p:nvGraphicFramePr>
          <p:cNvPr id="5" name="Table 4">
            <a:extLst>
              <a:ext uri="{FF2B5EF4-FFF2-40B4-BE49-F238E27FC236}">
                <a16:creationId xmlns:a16="http://schemas.microsoft.com/office/drawing/2014/main" id="{95B92289-5F05-DBD2-78E3-3253CEE3F09B}"/>
              </a:ext>
            </a:extLst>
          </p:cNvPr>
          <p:cNvGraphicFramePr>
            <a:graphicFrameLocks noGrp="1"/>
          </p:cNvGraphicFramePr>
          <p:nvPr>
            <p:extLst>
              <p:ext uri="{D42A27DB-BD31-4B8C-83A1-F6EECF244321}">
                <p14:modId xmlns:p14="http://schemas.microsoft.com/office/powerpoint/2010/main" val="3596226282"/>
              </p:ext>
            </p:extLst>
          </p:nvPr>
        </p:nvGraphicFramePr>
        <p:xfrm>
          <a:off x="0" y="2992582"/>
          <a:ext cx="12192000" cy="3865418"/>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82696027"/>
                    </a:ext>
                  </a:extLst>
                </a:gridCol>
                <a:gridCol w="6096000">
                  <a:extLst>
                    <a:ext uri="{9D8B030D-6E8A-4147-A177-3AD203B41FA5}">
                      <a16:colId xmlns:a16="http://schemas.microsoft.com/office/drawing/2014/main" val="683544289"/>
                    </a:ext>
                  </a:extLst>
                </a:gridCol>
              </a:tblGrid>
              <a:tr h="631847">
                <a:tc>
                  <a:txBody>
                    <a:bodyPr/>
                    <a:lstStyle/>
                    <a:p>
                      <a:pPr>
                        <a:buNone/>
                      </a:pPr>
                      <a:r>
                        <a:rPr lang="en-US" sz="2800" b="1" dirty="0"/>
                        <a:t>Answers</a:t>
                      </a:r>
                      <a:endParaRPr lang="en-US" sz="2800" dirty="0"/>
                    </a:p>
                  </a:txBody>
                  <a:tcPr anchor="ctr"/>
                </a:tc>
                <a:tc>
                  <a:txBody>
                    <a:bodyPr/>
                    <a:lstStyle/>
                    <a:p>
                      <a:pPr>
                        <a:buNone/>
                      </a:pPr>
                      <a:r>
                        <a:rPr lang="en-US" sz="2800" b="1" dirty="0"/>
                        <a:t>Description</a:t>
                      </a:r>
                      <a:endParaRPr lang="en-US" sz="2800" dirty="0"/>
                    </a:p>
                  </a:txBody>
                  <a:tcPr anchor="ctr"/>
                </a:tc>
                <a:extLst>
                  <a:ext uri="{0D108BD9-81ED-4DB2-BD59-A6C34878D82A}">
                    <a16:rowId xmlns:a16="http://schemas.microsoft.com/office/drawing/2014/main" val="249767879"/>
                  </a:ext>
                </a:extLst>
              </a:tr>
              <a:tr h="1077857">
                <a:tc>
                  <a:txBody>
                    <a:bodyPr/>
                    <a:lstStyle/>
                    <a:p>
                      <a:pPr>
                        <a:buNone/>
                      </a:pPr>
                      <a:r>
                        <a:rPr lang="en-US" sz="2800"/>
                        <a:t>Symbolic Semantics</a:t>
                      </a:r>
                    </a:p>
                  </a:txBody>
                  <a:tcPr anchor="ctr"/>
                </a:tc>
                <a:tc>
                  <a:txBody>
                    <a:bodyPr/>
                    <a:lstStyle/>
                    <a:p>
                      <a:pPr>
                        <a:buNone/>
                      </a:pPr>
                      <a:r>
                        <a:rPr lang="en-US" sz="2800"/>
                        <a:t>Understanding requires meaningful, structured internal symbols</a:t>
                      </a:r>
                    </a:p>
                  </a:txBody>
                  <a:tcPr anchor="ctr"/>
                </a:tc>
                <a:extLst>
                  <a:ext uri="{0D108BD9-81ED-4DB2-BD59-A6C34878D82A}">
                    <a16:rowId xmlns:a16="http://schemas.microsoft.com/office/drawing/2014/main" val="3717605317"/>
                  </a:ext>
                </a:extLst>
              </a:tr>
              <a:tr h="1077857">
                <a:tc>
                  <a:txBody>
                    <a:bodyPr/>
                    <a:lstStyle/>
                    <a:p>
                      <a:pPr>
                        <a:buNone/>
                      </a:pPr>
                      <a:r>
                        <a:rPr lang="en-US" sz="2800"/>
                        <a:t>Distributed Representation</a:t>
                      </a:r>
                    </a:p>
                  </a:txBody>
                  <a:tcPr anchor="ctr"/>
                </a:tc>
                <a:tc>
                  <a:txBody>
                    <a:bodyPr/>
                    <a:lstStyle/>
                    <a:p>
                      <a:pPr>
                        <a:buNone/>
                      </a:pPr>
                      <a:r>
                        <a:rPr lang="en-US" sz="2800"/>
                        <a:t>Understanding emerges from high-dimensional relational patterns</a:t>
                      </a:r>
                    </a:p>
                  </a:txBody>
                  <a:tcPr anchor="ctr"/>
                </a:tc>
                <a:extLst>
                  <a:ext uri="{0D108BD9-81ED-4DB2-BD59-A6C34878D82A}">
                    <a16:rowId xmlns:a16="http://schemas.microsoft.com/office/drawing/2014/main" val="3816116787"/>
                  </a:ext>
                </a:extLst>
              </a:tr>
              <a:tr h="1077857">
                <a:tc>
                  <a:txBody>
                    <a:bodyPr/>
                    <a:lstStyle/>
                    <a:p>
                      <a:pPr>
                        <a:buNone/>
                      </a:pPr>
                      <a:r>
                        <a:rPr lang="en-US" sz="2800"/>
                        <a:t>Grounded Meaning</a:t>
                      </a:r>
                    </a:p>
                  </a:txBody>
                  <a:tcPr anchor="ctr"/>
                </a:tc>
                <a:tc>
                  <a:txBody>
                    <a:bodyPr/>
                    <a:lstStyle/>
                    <a:p>
                      <a:pPr>
                        <a:buNone/>
                      </a:pPr>
                      <a:r>
                        <a:rPr lang="en-US" sz="2800" dirty="0"/>
                        <a:t>Understanding depends on perceptual or embodied experience</a:t>
                      </a:r>
                    </a:p>
                  </a:txBody>
                  <a:tcPr anchor="ctr"/>
                </a:tc>
                <a:extLst>
                  <a:ext uri="{0D108BD9-81ED-4DB2-BD59-A6C34878D82A}">
                    <a16:rowId xmlns:a16="http://schemas.microsoft.com/office/drawing/2014/main" val="534286632"/>
                  </a:ext>
                </a:extLst>
              </a:tr>
            </a:tbl>
          </a:graphicData>
        </a:graphic>
      </p:graphicFrame>
      <p:sp>
        <p:nvSpPr>
          <p:cNvPr id="3" name="TextBox 2" descr="FIG. 1. Lateral views of the brains of a number of extant vertebrate species (the brains are not drawn to the same scale). While there is tremendous variation in both overall brain size (see Fig. 2) and the size of most brain divisions, most vertebrates possess brains that can be divided into the same number of divisions. aob, accessory olfactory bulb (cross-hatched); cb, cerebellum (stippled); ch, cerebral hemispheres (cross-hatched); m, medulla oblongata; ob, olfactory bulb (cross-hatched); ot, optic tectum (black); and p, pituitary gland. Modified from Braun and Northcutt (1999).">
            <a:extLst>
              <a:ext uri="{FF2B5EF4-FFF2-40B4-BE49-F238E27FC236}">
                <a16:creationId xmlns:a16="http://schemas.microsoft.com/office/drawing/2014/main" id="{A61CD943-51B3-010C-D6B1-49056531A93A}"/>
              </a:ext>
            </a:extLst>
          </p:cNvPr>
          <p:cNvSpPr txBox="1"/>
          <p:nvPr/>
        </p:nvSpPr>
        <p:spPr>
          <a:xfrm>
            <a:off x="418408" y="1571484"/>
            <a:ext cx="11355184" cy="584775"/>
          </a:xfrm>
          <a:prstGeom prst="rect">
            <a:avLst/>
          </a:prstGeom>
          <a:noFill/>
        </p:spPr>
        <p:txBody>
          <a:bodyPr wrap="square" rtlCol="0">
            <a:spAutoFit/>
          </a:bodyPr>
          <a:lstStyle/>
          <a:p>
            <a:r>
              <a:rPr lang="en-US" sz="3200" b="1" dirty="0"/>
              <a:t>5. What would it mean for a machine to “understand” something?</a:t>
            </a:r>
          </a:p>
        </p:txBody>
      </p:sp>
    </p:spTree>
    <p:extLst>
      <p:ext uri="{BB962C8B-B14F-4D97-AF65-F5344CB8AC3E}">
        <p14:creationId xmlns:p14="http://schemas.microsoft.com/office/powerpoint/2010/main" val="28913008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A8D215-058C-E1A2-4840-BAB56675308E}"/>
            </a:ext>
          </a:extLst>
        </p:cNvPr>
        <p:cNvGrpSpPr/>
        <p:nvPr/>
      </p:nvGrpSpPr>
      <p:grpSpPr>
        <a:xfrm>
          <a:off x="0" y="0"/>
          <a:ext cx="0" cy="0"/>
          <a:chOff x="0" y="0"/>
          <a:chExt cx="0" cy="0"/>
        </a:xfrm>
      </p:grpSpPr>
      <p:sp>
        <p:nvSpPr>
          <p:cNvPr id="4" name="Title 6">
            <a:extLst>
              <a:ext uri="{FF2B5EF4-FFF2-40B4-BE49-F238E27FC236}">
                <a16:creationId xmlns:a16="http://schemas.microsoft.com/office/drawing/2014/main" id="{8C982743-460D-FD5E-8B6C-6D813BAC1043}"/>
              </a:ext>
            </a:extLst>
          </p:cNvPr>
          <p:cNvSpPr txBox="1">
            <a:spLocks/>
          </p:cNvSpPr>
          <p:nvPr/>
        </p:nvSpPr>
        <p:spPr>
          <a:xfrm>
            <a:off x="0" y="0"/>
            <a:ext cx="11482251" cy="73516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b="1" i="0" kern="1200">
                <a:solidFill>
                  <a:srgbClr val="E84A27"/>
                </a:solidFill>
                <a:latin typeface="Georgia" panose="02040502050405020303" pitchFamily="18" charset="0"/>
                <a:ea typeface="+mj-ea"/>
                <a:cs typeface="+mj-cs"/>
              </a:defRPr>
            </a:lvl1pPr>
          </a:lstStyle>
          <a:p>
            <a:r>
              <a:rPr lang="en-US" dirty="0">
                <a:latin typeface="Calibri"/>
                <a:cs typeface="Calibri"/>
              </a:rPr>
              <a:t>Questions About Artificial Intelligence</a:t>
            </a:r>
            <a:endParaRPr lang="en-US" dirty="0"/>
          </a:p>
        </p:txBody>
      </p:sp>
      <p:sp>
        <p:nvSpPr>
          <p:cNvPr id="2" name="TextBox 1" descr="FIG. 1. Lateral views of the brains of a number of extant vertebrate species (the brains are not drawn to the same scale). While there is tremendous variation in both overall brain size (see Fig. 2) and the size of most brain divisions, most vertebrates possess brains that can be divided into the same number of divisions. aob, accessory olfactory bulb (cross-hatched); cb, cerebellum (stippled); ch, cerebral hemispheres (cross-hatched); m, medulla oblongata; ob, olfactory bulb (cross-hatched); ot, optic tectum (black); and p, pituitary gland. Modified from Braun and Northcutt (1999).">
            <a:extLst>
              <a:ext uri="{FF2B5EF4-FFF2-40B4-BE49-F238E27FC236}">
                <a16:creationId xmlns:a16="http://schemas.microsoft.com/office/drawing/2014/main" id="{DC93C974-3606-F2DC-FABF-F4B6312F96CD}"/>
              </a:ext>
            </a:extLst>
          </p:cNvPr>
          <p:cNvSpPr txBox="1"/>
          <p:nvPr/>
        </p:nvSpPr>
        <p:spPr>
          <a:xfrm>
            <a:off x="1001684" y="1556095"/>
            <a:ext cx="10188632" cy="615553"/>
          </a:xfrm>
          <a:prstGeom prst="rect">
            <a:avLst/>
          </a:prstGeom>
          <a:noFill/>
        </p:spPr>
        <p:txBody>
          <a:bodyPr wrap="square" rtlCol="0">
            <a:spAutoFit/>
          </a:bodyPr>
          <a:lstStyle/>
          <a:p>
            <a:r>
              <a:rPr lang="en-US" sz="3400" b="1" dirty="0"/>
              <a:t>6. Are humans just very advanced prediction machines?</a:t>
            </a:r>
          </a:p>
        </p:txBody>
      </p:sp>
      <p:graphicFrame>
        <p:nvGraphicFramePr>
          <p:cNvPr id="5" name="Table 4">
            <a:extLst>
              <a:ext uri="{FF2B5EF4-FFF2-40B4-BE49-F238E27FC236}">
                <a16:creationId xmlns:a16="http://schemas.microsoft.com/office/drawing/2014/main" id="{7E5E1386-FBE0-2F2E-D431-80B79C730A6E}"/>
              </a:ext>
            </a:extLst>
          </p:cNvPr>
          <p:cNvGraphicFramePr>
            <a:graphicFrameLocks noGrp="1"/>
          </p:cNvGraphicFramePr>
          <p:nvPr>
            <p:extLst>
              <p:ext uri="{D42A27DB-BD31-4B8C-83A1-F6EECF244321}">
                <p14:modId xmlns:p14="http://schemas.microsoft.com/office/powerpoint/2010/main" val="2918612812"/>
              </p:ext>
            </p:extLst>
          </p:nvPr>
        </p:nvGraphicFramePr>
        <p:xfrm>
          <a:off x="0" y="2992581"/>
          <a:ext cx="12192000" cy="3865418"/>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82696027"/>
                    </a:ext>
                  </a:extLst>
                </a:gridCol>
                <a:gridCol w="6096000">
                  <a:extLst>
                    <a:ext uri="{9D8B030D-6E8A-4147-A177-3AD203B41FA5}">
                      <a16:colId xmlns:a16="http://schemas.microsoft.com/office/drawing/2014/main" val="683544289"/>
                    </a:ext>
                  </a:extLst>
                </a:gridCol>
              </a:tblGrid>
              <a:tr h="631847">
                <a:tc>
                  <a:txBody>
                    <a:bodyPr/>
                    <a:lstStyle/>
                    <a:p>
                      <a:pPr>
                        <a:buNone/>
                      </a:pPr>
                      <a:r>
                        <a:rPr lang="en-US" sz="2800" b="1" dirty="0" err="1"/>
                        <a:t>Subquestion</a:t>
                      </a:r>
                      <a:endParaRPr lang="en-US" sz="2800" dirty="0"/>
                    </a:p>
                  </a:txBody>
                  <a:tcPr anchor="ctr"/>
                </a:tc>
                <a:tc>
                  <a:txBody>
                    <a:bodyPr/>
                    <a:lstStyle/>
                    <a:p>
                      <a:pPr>
                        <a:buNone/>
                      </a:pPr>
                      <a:r>
                        <a:rPr lang="en-US" sz="2800" b="1" dirty="0"/>
                        <a:t>Example</a:t>
                      </a:r>
                      <a:endParaRPr lang="en-US" sz="2800" dirty="0"/>
                    </a:p>
                  </a:txBody>
                  <a:tcPr anchor="ctr"/>
                </a:tc>
                <a:extLst>
                  <a:ext uri="{0D108BD9-81ED-4DB2-BD59-A6C34878D82A}">
                    <a16:rowId xmlns:a16="http://schemas.microsoft.com/office/drawing/2014/main" val="249767879"/>
                  </a:ext>
                </a:extLst>
              </a:tr>
              <a:tr h="1077857">
                <a:tc>
                  <a:txBody>
                    <a:bodyPr/>
                    <a:lstStyle/>
                    <a:p>
                      <a:pPr>
                        <a:buNone/>
                      </a:pPr>
                      <a:r>
                        <a:rPr lang="en-US" sz="2400"/>
                        <a:t>Does predictive processing explain most of cognition?</a:t>
                      </a:r>
                      <a:endParaRPr lang="en-US" sz="2400" dirty="0"/>
                    </a:p>
                  </a:txBody>
                  <a:tcPr anchor="ctr"/>
                </a:tc>
                <a:tc>
                  <a:txBody>
                    <a:bodyPr/>
                    <a:lstStyle/>
                    <a:p>
                      <a:pPr>
                        <a:buNone/>
                      </a:pPr>
                      <a:r>
                        <a:rPr lang="en-US" sz="2400"/>
                        <a:t>If your brain is always guessing what comes next, is that the core of thinking?</a:t>
                      </a:r>
                    </a:p>
                  </a:txBody>
                  <a:tcPr anchor="ctr"/>
                </a:tc>
                <a:extLst>
                  <a:ext uri="{0D108BD9-81ED-4DB2-BD59-A6C34878D82A}">
                    <a16:rowId xmlns:a16="http://schemas.microsoft.com/office/drawing/2014/main" val="3717605317"/>
                  </a:ext>
                </a:extLst>
              </a:tr>
              <a:tr h="1077857">
                <a:tc>
                  <a:txBody>
                    <a:bodyPr/>
                    <a:lstStyle/>
                    <a:p>
                      <a:pPr>
                        <a:buNone/>
                      </a:pPr>
                      <a:r>
                        <a:rPr lang="en-US" sz="2400"/>
                        <a:t>Are generative models sufficient for understanding?</a:t>
                      </a:r>
                      <a:endParaRPr lang="en-US" sz="2400" dirty="0"/>
                    </a:p>
                  </a:txBody>
                  <a:tcPr anchor="ctr"/>
                </a:tc>
                <a:tc>
                  <a:txBody>
                    <a:bodyPr/>
                    <a:lstStyle/>
                    <a:p>
                      <a:pPr>
                        <a:buNone/>
                      </a:pPr>
                      <a:r>
                        <a:rPr lang="en-US" sz="2400"/>
                        <a:t>If a system can generate plausible explanations, does that mean it </a:t>
                      </a:r>
                      <a:r>
                        <a:rPr lang="en-US" sz="2400" i="1"/>
                        <a:t>understands</a:t>
                      </a:r>
                      <a:r>
                        <a:rPr lang="en-US" sz="2400"/>
                        <a:t> them?</a:t>
                      </a:r>
                      <a:endParaRPr lang="en-US" sz="2400" dirty="0"/>
                    </a:p>
                  </a:txBody>
                  <a:tcPr anchor="ctr"/>
                </a:tc>
                <a:extLst>
                  <a:ext uri="{0D108BD9-81ED-4DB2-BD59-A6C34878D82A}">
                    <a16:rowId xmlns:a16="http://schemas.microsoft.com/office/drawing/2014/main" val="3816116787"/>
                  </a:ext>
                </a:extLst>
              </a:tr>
              <a:tr h="1077857">
                <a:tc>
                  <a:txBody>
                    <a:bodyPr/>
                    <a:lstStyle/>
                    <a:p>
                      <a:pPr>
                        <a:buNone/>
                      </a:pPr>
                      <a:r>
                        <a:rPr lang="en-US" sz="2400"/>
                        <a:t>Do LLMs support or undermine the “brains are predictors” theory?</a:t>
                      </a:r>
                    </a:p>
                  </a:txBody>
                  <a:tcPr anchor="ctr"/>
                </a:tc>
                <a:tc>
                  <a:txBody>
                    <a:bodyPr/>
                    <a:lstStyle/>
                    <a:p>
                      <a:pPr>
                        <a:buNone/>
                      </a:pPr>
                      <a:r>
                        <a:rPr lang="en-US" sz="2400" dirty="0"/>
                        <a:t>Why do LLMs excel at prediction yet fail at tasks humans find easy?</a:t>
                      </a:r>
                    </a:p>
                  </a:txBody>
                  <a:tcPr anchor="ctr"/>
                </a:tc>
                <a:extLst>
                  <a:ext uri="{0D108BD9-81ED-4DB2-BD59-A6C34878D82A}">
                    <a16:rowId xmlns:a16="http://schemas.microsoft.com/office/drawing/2014/main" val="534286632"/>
                  </a:ext>
                </a:extLst>
              </a:tr>
            </a:tbl>
          </a:graphicData>
        </a:graphic>
      </p:graphicFrame>
    </p:spTree>
    <p:extLst>
      <p:ext uri="{BB962C8B-B14F-4D97-AF65-F5344CB8AC3E}">
        <p14:creationId xmlns:p14="http://schemas.microsoft.com/office/powerpoint/2010/main" val="3368465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E3E708-6FB3-A3AD-E458-7E249C2EE195}"/>
            </a:ext>
          </a:extLst>
        </p:cNvPr>
        <p:cNvGrpSpPr/>
        <p:nvPr/>
      </p:nvGrpSpPr>
      <p:grpSpPr>
        <a:xfrm>
          <a:off x="0" y="0"/>
          <a:ext cx="0" cy="0"/>
          <a:chOff x="0" y="0"/>
          <a:chExt cx="0" cy="0"/>
        </a:xfrm>
      </p:grpSpPr>
      <p:sp>
        <p:nvSpPr>
          <p:cNvPr id="4" name="Title 6">
            <a:extLst>
              <a:ext uri="{FF2B5EF4-FFF2-40B4-BE49-F238E27FC236}">
                <a16:creationId xmlns:a16="http://schemas.microsoft.com/office/drawing/2014/main" id="{DF5C5430-9D5B-4EF0-5223-22C17912F638}"/>
              </a:ext>
            </a:extLst>
          </p:cNvPr>
          <p:cNvSpPr txBox="1">
            <a:spLocks/>
          </p:cNvSpPr>
          <p:nvPr/>
        </p:nvSpPr>
        <p:spPr>
          <a:xfrm>
            <a:off x="0" y="0"/>
            <a:ext cx="11482251" cy="73516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b="1" i="0" kern="1200">
                <a:solidFill>
                  <a:srgbClr val="E84A27"/>
                </a:solidFill>
                <a:latin typeface="Georgia" panose="02040502050405020303" pitchFamily="18" charset="0"/>
                <a:ea typeface="+mj-ea"/>
                <a:cs typeface="+mj-cs"/>
              </a:defRPr>
            </a:lvl1pPr>
          </a:lstStyle>
          <a:p>
            <a:r>
              <a:rPr lang="en-US" dirty="0">
                <a:latin typeface="Calibri"/>
                <a:cs typeface="Calibri"/>
              </a:rPr>
              <a:t>Questions About Artificial Intelligence</a:t>
            </a:r>
            <a:endParaRPr lang="en-US" dirty="0"/>
          </a:p>
        </p:txBody>
      </p:sp>
      <p:graphicFrame>
        <p:nvGraphicFramePr>
          <p:cNvPr id="5" name="Table 4">
            <a:extLst>
              <a:ext uri="{FF2B5EF4-FFF2-40B4-BE49-F238E27FC236}">
                <a16:creationId xmlns:a16="http://schemas.microsoft.com/office/drawing/2014/main" id="{396B041F-623F-8AC4-5090-CC459E62184E}"/>
              </a:ext>
            </a:extLst>
          </p:cNvPr>
          <p:cNvGraphicFramePr>
            <a:graphicFrameLocks noGrp="1"/>
          </p:cNvGraphicFramePr>
          <p:nvPr>
            <p:extLst>
              <p:ext uri="{D42A27DB-BD31-4B8C-83A1-F6EECF244321}">
                <p14:modId xmlns:p14="http://schemas.microsoft.com/office/powerpoint/2010/main" val="1135340038"/>
              </p:ext>
            </p:extLst>
          </p:nvPr>
        </p:nvGraphicFramePr>
        <p:xfrm>
          <a:off x="0" y="2992582"/>
          <a:ext cx="12192000" cy="3865418"/>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82696027"/>
                    </a:ext>
                  </a:extLst>
                </a:gridCol>
                <a:gridCol w="6096000">
                  <a:extLst>
                    <a:ext uri="{9D8B030D-6E8A-4147-A177-3AD203B41FA5}">
                      <a16:colId xmlns:a16="http://schemas.microsoft.com/office/drawing/2014/main" val="683544289"/>
                    </a:ext>
                  </a:extLst>
                </a:gridCol>
              </a:tblGrid>
              <a:tr h="631847">
                <a:tc>
                  <a:txBody>
                    <a:bodyPr/>
                    <a:lstStyle/>
                    <a:p>
                      <a:pPr>
                        <a:buNone/>
                      </a:pPr>
                      <a:r>
                        <a:rPr lang="en-US" sz="2800" b="1" dirty="0"/>
                        <a:t>Answers</a:t>
                      </a:r>
                      <a:endParaRPr lang="en-US" sz="2800" dirty="0"/>
                    </a:p>
                  </a:txBody>
                  <a:tcPr anchor="ctr"/>
                </a:tc>
                <a:tc>
                  <a:txBody>
                    <a:bodyPr/>
                    <a:lstStyle/>
                    <a:p>
                      <a:pPr>
                        <a:buNone/>
                      </a:pPr>
                      <a:r>
                        <a:rPr lang="en-US" sz="2800" b="1" dirty="0"/>
                        <a:t>Description</a:t>
                      </a:r>
                      <a:endParaRPr lang="en-US" sz="2800" dirty="0"/>
                    </a:p>
                  </a:txBody>
                  <a:tcPr anchor="ctr"/>
                </a:tc>
                <a:extLst>
                  <a:ext uri="{0D108BD9-81ED-4DB2-BD59-A6C34878D82A}">
                    <a16:rowId xmlns:a16="http://schemas.microsoft.com/office/drawing/2014/main" val="249767879"/>
                  </a:ext>
                </a:extLst>
              </a:tr>
              <a:tr h="1077857">
                <a:tc>
                  <a:txBody>
                    <a:bodyPr/>
                    <a:lstStyle/>
                    <a:p>
                      <a:pPr>
                        <a:buNone/>
                      </a:pPr>
                      <a:r>
                        <a:rPr lang="en-US" sz="2800"/>
                        <a:t>Predictive Processing</a:t>
                      </a:r>
                    </a:p>
                  </a:txBody>
                  <a:tcPr anchor="ctr"/>
                </a:tc>
                <a:tc>
                  <a:txBody>
                    <a:bodyPr/>
                    <a:lstStyle/>
                    <a:p>
                      <a:pPr>
                        <a:buNone/>
                      </a:pPr>
                      <a:r>
                        <a:rPr lang="en-US" sz="2800"/>
                        <a:t>Cognition arises from hierarchical prediction and error correction</a:t>
                      </a:r>
                    </a:p>
                  </a:txBody>
                  <a:tcPr anchor="ctr"/>
                </a:tc>
                <a:extLst>
                  <a:ext uri="{0D108BD9-81ED-4DB2-BD59-A6C34878D82A}">
                    <a16:rowId xmlns:a16="http://schemas.microsoft.com/office/drawing/2014/main" val="3717605317"/>
                  </a:ext>
                </a:extLst>
              </a:tr>
              <a:tr h="1077857">
                <a:tc>
                  <a:txBody>
                    <a:bodyPr/>
                    <a:lstStyle/>
                    <a:p>
                      <a:pPr>
                        <a:buNone/>
                      </a:pPr>
                      <a:r>
                        <a:rPr lang="en-US" sz="2800"/>
                        <a:t>Prediction as Necessary but Not Sufficient</a:t>
                      </a:r>
                    </a:p>
                  </a:txBody>
                  <a:tcPr anchor="ctr"/>
                </a:tc>
                <a:tc>
                  <a:txBody>
                    <a:bodyPr/>
                    <a:lstStyle/>
                    <a:p>
                      <a:pPr>
                        <a:buNone/>
                      </a:pPr>
                      <a:r>
                        <a:rPr lang="en-US" sz="2800"/>
                        <a:t>Prediction is central, but understanding requires more mechanisms</a:t>
                      </a:r>
                    </a:p>
                  </a:txBody>
                  <a:tcPr anchor="ctr"/>
                </a:tc>
                <a:extLst>
                  <a:ext uri="{0D108BD9-81ED-4DB2-BD59-A6C34878D82A}">
                    <a16:rowId xmlns:a16="http://schemas.microsoft.com/office/drawing/2014/main" val="3816116787"/>
                  </a:ext>
                </a:extLst>
              </a:tr>
              <a:tr h="1077857">
                <a:tc>
                  <a:txBody>
                    <a:bodyPr/>
                    <a:lstStyle/>
                    <a:p>
                      <a:pPr>
                        <a:buNone/>
                      </a:pPr>
                      <a:r>
                        <a:rPr lang="en-US" sz="2800"/>
                        <a:t>AI Comparison — LLMs as Pure Predictors</a:t>
                      </a:r>
                    </a:p>
                  </a:txBody>
                  <a:tcPr anchor="ctr"/>
                </a:tc>
                <a:tc>
                  <a:txBody>
                    <a:bodyPr/>
                    <a:lstStyle/>
                    <a:p>
                      <a:pPr>
                        <a:buNone/>
                      </a:pPr>
                      <a:r>
                        <a:rPr lang="en-US" sz="2800" dirty="0"/>
                        <a:t>LLMs show the power and limits of prediction-only intelligence</a:t>
                      </a:r>
                    </a:p>
                  </a:txBody>
                  <a:tcPr anchor="ctr"/>
                </a:tc>
                <a:extLst>
                  <a:ext uri="{0D108BD9-81ED-4DB2-BD59-A6C34878D82A}">
                    <a16:rowId xmlns:a16="http://schemas.microsoft.com/office/drawing/2014/main" val="534286632"/>
                  </a:ext>
                </a:extLst>
              </a:tr>
            </a:tbl>
          </a:graphicData>
        </a:graphic>
      </p:graphicFrame>
      <p:sp>
        <p:nvSpPr>
          <p:cNvPr id="2" name="TextBox 1" descr="FIG. 1. Lateral views of the brains of a number of extant vertebrate species (the brains are not drawn to the same scale). While there is tremendous variation in both overall brain size (see Fig. 2) and the size of most brain divisions, most vertebrates possess brains that can be divided into the same number of divisions. aob, accessory olfactory bulb (cross-hatched); cb, cerebellum (stippled); ch, cerebral hemispheres (cross-hatched); m, medulla oblongata; ob, olfactory bulb (cross-hatched); ot, optic tectum (black); and p, pituitary gland. Modified from Braun and Northcutt (1999).">
            <a:extLst>
              <a:ext uri="{FF2B5EF4-FFF2-40B4-BE49-F238E27FC236}">
                <a16:creationId xmlns:a16="http://schemas.microsoft.com/office/drawing/2014/main" id="{E0248BFB-5AD9-CADF-E9B5-07A04D93186E}"/>
              </a:ext>
            </a:extLst>
          </p:cNvPr>
          <p:cNvSpPr txBox="1"/>
          <p:nvPr/>
        </p:nvSpPr>
        <p:spPr>
          <a:xfrm>
            <a:off x="1001684" y="1556095"/>
            <a:ext cx="10188632" cy="615553"/>
          </a:xfrm>
          <a:prstGeom prst="rect">
            <a:avLst/>
          </a:prstGeom>
          <a:noFill/>
        </p:spPr>
        <p:txBody>
          <a:bodyPr wrap="square" rtlCol="0">
            <a:spAutoFit/>
          </a:bodyPr>
          <a:lstStyle/>
          <a:p>
            <a:r>
              <a:rPr lang="en-US" sz="3400" b="1" dirty="0"/>
              <a:t>6. Are humans just very advanced prediction machines?</a:t>
            </a:r>
          </a:p>
        </p:txBody>
      </p:sp>
    </p:spTree>
    <p:extLst>
      <p:ext uri="{BB962C8B-B14F-4D97-AF65-F5344CB8AC3E}">
        <p14:creationId xmlns:p14="http://schemas.microsoft.com/office/powerpoint/2010/main" val="30063339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4FA1A1-1B25-077A-9C04-7FBD651B4BBF}"/>
            </a:ext>
          </a:extLst>
        </p:cNvPr>
        <p:cNvGrpSpPr/>
        <p:nvPr/>
      </p:nvGrpSpPr>
      <p:grpSpPr>
        <a:xfrm>
          <a:off x="0" y="0"/>
          <a:ext cx="0" cy="0"/>
          <a:chOff x="0" y="0"/>
          <a:chExt cx="0" cy="0"/>
        </a:xfrm>
      </p:grpSpPr>
      <p:sp>
        <p:nvSpPr>
          <p:cNvPr id="4" name="Title 6">
            <a:extLst>
              <a:ext uri="{FF2B5EF4-FFF2-40B4-BE49-F238E27FC236}">
                <a16:creationId xmlns:a16="http://schemas.microsoft.com/office/drawing/2014/main" id="{65219BDB-5035-4A42-6D2F-5A514B6A3FC6}"/>
              </a:ext>
            </a:extLst>
          </p:cNvPr>
          <p:cNvSpPr txBox="1">
            <a:spLocks/>
          </p:cNvSpPr>
          <p:nvPr/>
        </p:nvSpPr>
        <p:spPr>
          <a:xfrm>
            <a:off x="0" y="0"/>
            <a:ext cx="11482251" cy="73516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b="1" i="0" kern="1200">
                <a:solidFill>
                  <a:srgbClr val="E84A27"/>
                </a:solidFill>
                <a:latin typeface="Georgia" panose="02040502050405020303" pitchFamily="18" charset="0"/>
                <a:ea typeface="+mj-ea"/>
                <a:cs typeface="+mj-cs"/>
              </a:defRPr>
            </a:lvl1pPr>
          </a:lstStyle>
          <a:p>
            <a:r>
              <a:rPr lang="en-US" dirty="0">
                <a:latin typeface="Calibri"/>
                <a:cs typeface="Calibri"/>
              </a:rPr>
              <a:t>Questions About Artificial Intelligence</a:t>
            </a:r>
            <a:endParaRPr lang="en-US" dirty="0"/>
          </a:p>
        </p:txBody>
      </p:sp>
      <p:sp>
        <p:nvSpPr>
          <p:cNvPr id="2" name="TextBox 1" descr="FIG. 1. Lateral views of the brains of a number of extant vertebrate species (the brains are not drawn to the same scale). While there is tremendous variation in both overall brain size (see Fig. 2) and the size of most brain divisions, most vertebrates possess brains that can be divided into the same number of divisions. aob, accessory olfactory bulb (cross-hatched); cb, cerebellum (stippled); ch, cerebral hemispheres (cross-hatched); m, medulla oblongata; ob, olfactory bulb (cross-hatched); ot, optic tectum (black); and p, pituitary gland. Modified from Braun and Northcutt (1999).">
            <a:extLst>
              <a:ext uri="{FF2B5EF4-FFF2-40B4-BE49-F238E27FC236}">
                <a16:creationId xmlns:a16="http://schemas.microsoft.com/office/drawing/2014/main" id="{F8F68C48-D7C1-3EF4-76B5-135BE5654EE5}"/>
              </a:ext>
            </a:extLst>
          </p:cNvPr>
          <p:cNvSpPr txBox="1"/>
          <p:nvPr/>
        </p:nvSpPr>
        <p:spPr>
          <a:xfrm>
            <a:off x="3005744" y="1540706"/>
            <a:ext cx="6180512" cy="646331"/>
          </a:xfrm>
          <a:prstGeom prst="rect">
            <a:avLst/>
          </a:prstGeom>
          <a:noFill/>
        </p:spPr>
        <p:txBody>
          <a:bodyPr wrap="square" rtlCol="0">
            <a:spAutoFit/>
          </a:bodyPr>
          <a:lstStyle/>
          <a:p>
            <a:r>
              <a:rPr lang="en-US" sz="3600" b="1" dirty="0"/>
              <a:t>7. What counts as “reasoning”?</a:t>
            </a:r>
          </a:p>
        </p:txBody>
      </p:sp>
      <p:graphicFrame>
        <p:nvGraphicFramePr>
          <p:cNvPr id="5" name="Table 4">
            <a:extLst>
              <a:ext uri="{FF2B5EF4-FFF2-40B4-BE49-F238E27FC236}">
                <a16:creationId xmlns:a16="http://schemas.microsoft.com/office/drawing/2014/main" id="{43289E2C-5CD9-46D1-207F-52A6EEC81B3A}"/>
              </a:ext>
            </a:extLst>
          </p:cNvPr>
          <p:cNvGraphicFramePr>
            <a:graphicFrameLocks noGrp="1"/>
          </p:cNvGraphicFramePr>
          <p:nvPr>
            <p:extLst>
              <p:ext uri="{D42A27DB-BD31-4B8C-83A1-F6EECF244321}">
                <p14:modId xmlns:p14="http://schemas.microsoft.com/office/powerpoint/2010/main" val="3742299636"/>
              </p:ext>
            </p:extLst>
          </p:nvPr>
        </p:nvGraphicFramePr>
        <p:xfrm>
          <a:off x="0" y="2992582"/>
          <a:ext cx="12192000" cy="3865418"/>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82696027"/>
                    </a:ext>
                  </a:extLst>
                </a:gridCol>
                <a:gridCol w="6096000">
                  <a:extLst>
                    <a:ext uri="{9D8B030D-6E8A-4147-A177-3AD203B41FA5}">
                      <a16:colId xmlns:a16="http://schemas.microsoft.com/office/drawing/2014/main" val="683544289"/>
                    </a:ext>
                  </a:extLst>
                </a:gridCol>
              </a:tblGrid>
              <a:tr h="631847">
                <a:tc>
                  <a:txBody>
                    <a:bodyPr/>
                    <a:lstStyle/>
                    <a:p>
                      <a:pPr>
                        <a:buNone/>
                      </a:pPr>
                      <a:r>
                        <a:rPr lang="en-US" sz="2800" b="1" dirty="0" err="1"/>
                        <a:t>Subquestion</a:t>
                      </a:r>
                      <a:endParaRPr lang="en-US" sz="2800" dirty="0"/>
                    </a:p>
                  </a:txBody>
                  <a:tcPr anchor="ctr"/>
                </a:tc>
                <a:tc>
                  <a:txBody>
                    <a:bodyPr/>
                    <a:lstStyle/>
                    <a:p>
                      <a:pPr>
                        <a:buNone/>
                      </a:pPr>
                      <a:r>
                        <a:rPr lang="en-US" sz="2800" b="1" dirty="0"/>
                        <a:t>Example</a:t>
                      </a:r>
                      <a:endParaRPr lang="en-US" sz="2800" dirty="0"/>
                    </a:p>
                  </a:txBody>
                  <a:tcPr anchor="ctr"/>
                </a:tc>
                <a:extLst>
                  <a:ext uri="{0D108BD9-81ED-4DB2-BD59-A6C34878D82A}">
                    <a16:rowId xmlns:a16="http://schemas.microsoft.com/office/drawing/2014/main" val="249767879"/>
                  </a:ext>
                </a:extLst>
              </a:tr>
              <a:tr h="1077857">
                <a:tc>
                  <a:txBody>
                    <a:bodyPr/>
                    <a:lstStyle/>
                    <a:p>
                      <a:pPr>
                        <a:buNone/>
                      </a:pPr>
                      <a:r>
                        <a:rPr lang="en-US" sz="2400"/>
                        <a:t>Can reasoning emerge from pattern learning alone?</a:t>
                      </a:r>
                    </a:p>
                  </a:txBody>
                  <a:tcPr anchor="ctr"/>
                </a:tc>
                <a:tc>
                  <a:txBody>
                    <a:bodyPr/>
                    <a:lstStyle/>
                    <a:p>
                      <a:pPr>
                        <a:buNone/>
                      </a:pPr>
                      <a:r>
                        <a:rPr lang="en-US" sz="2400"/>
                        <a:t>If a neural network solves logic puzzles, is it reasoning or correlating?</a:t>
                      </a:r>
                    </a:p>
                  </a:txBody>
                  <a:tcPr anchor="ctr"/>
                </a:tc>
                <a:extLst>
                  <a:ext uri="{0D108BD9-81ED-4DB2-BD59-A6C34878D82A}">
                    <a16:rowId xmlns:a16="http://schemas.microsoft.com/office/drawing/2014/main" val="3717605317"/>
                  </a:ext>
                </a:extLst>
              </a:tr>
              <a:tr h="1077857">
                <a:tc>
                  <a:txBody>
                    <a:bodyPr/>
                    <a:lstStyle/>
                    <a:p>
                      <a:pPr>
                        <a:buNone/>
                      </a:pPr>
                      <a:r>
                        <a:rPr lang="en-US" sz="2400"/>
                        <a:t>Do rules require symbolic structure?</a:t>
                      </a:r>
                    </a:p>
                  </a:txBody>
                  <a:tcPr anchor="ctr"/>
                </a:tc>
                <a:tc>
                  <a:txBody>
                    <a:bodyPr/>
                    <a:lstStyle/>
                    <a:p>
                      <a:pPr>
                        <a:buNone/>
                      </a:pPr>
                      <a:r>
                        <a:rPr lang="en-US" sz="2400" dirty="0"/>
                        <a:t>Does following a recipe without understanding it count as rule-based behavior?</a:t>
                      </a:r>
                    </a:p>
                  </a:txBody>
                  <a:tcPr anchor="ctr"/>
                </a:tc>
                <a:extLst>
                  <a:ext uri="{0D108BD9-81ED-4DB2-BD59-A6C34878D82A}">
                    <a16:rowId xmlns:a16="http://schemas.microsoft.com/office/drawing/2014/main" val="3816116787"/>
                  </a:ext>
                </a:extLst>
              </a:tr>
              <a:tr h="1077857">
                <a:tc>
                  <a:txBody>
                    <a:bodyPr/>
                    <a:lstStyle/>
                    <a:p>
                      <a:pPr>
                        <a:buNone/>
                      </a:pPr>
                      <a:r>
                        <a:rPr lang="en-US" sz="2400"/>
                        <a:t>Are LLMs reasoning or just simulating reasoning?</a:t>
                      </a:r>
                    </a:p>
                  </a:txBody>
                  <a:tcPr anchor="ctr"/>
                </a:tc>
                <a:tc>
                  <a:txBody>
                    <a:bodyPr/>
                    <a:lstStyle/>
                    <a:p>
                      <a:pPr>
                        <a:buNone/>
                      </a:pPr>
                      <a:r>
                        <a:rPr lang="en-US" sz="2400" dirty="0"/>
                        <a:t>When an LLM explains its answer, is that explanation real reasoning?</a:t>
                      </a:r>
                    </a:p>
                  </a:txBody>
                  <a:tcPr anchor="ctr"/>
                </a:tc>
                <a:extLst>
                  <a:ext uri="{0D108BD9-81ED-4DB2-BD59-A6C34878D82A}">
                    <a16:rowId xmlns:a16="http://schemas.microsoft.com/office/drawing/2014/main" val="534286632"/>
                  </a:ext>
                </a:extLst>
              </a:tr>
            </a:tbl>
          </a:graphicData>
        </a:graphic>
      </p:graphicFrame>
    </p:spTree>
    <p:extLst>
      <p:ext uri="{BB962C8B-B14F-4D97-AF65-F5344CB8AC3E}">
        <p14:creationId xmlns:p14="http://schemas.microsoft.com/office/powerpoint/2010/main" val="32708200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6D4BDB-E4C0-3EE7-AE68-12120B1353A4}"/>
            </a:ext>
          </a:extLst>
        </p:cNvPr>
        <p:cNvGrpSpPr/>
        <p:nvPr/>
      </p:nvGrpSpPr>
      <p:grpSpPr>
        <a:xfrm>
          <a:off x="0" y="0"/>
          <a:ext cx="0" cy="0"/>
          <a:chOff x="0" y="0"/>
          <a:chExt cx="0" cy="0"/>
        </a:xfrm>
      </p:grpSpPr>
      <p:sp>
        <p:nvSpPr>
          <p:cNvPr id="4" name="Title 6">
            <a:extLst>
              <a:ext uri="{FF2B5EF4-FFF2-40B4-BE49-F238E27FC236}">
                <a16:creationId xmlns:a16="http://schemas.microsoft.com/office/drawing/2014/main" id="{B8E6B5B0-D9C0-8CAC-EEEE-723830D420C1}"/>
              </a:ext>
            </a:extLst>
          </p:cNvPr>
          <p:cNvSpPr txBox="1">
            <a:spLocks/>
          </p:cNvSpPr>
          <p:nvPr/>
        </p:nvSpPr>
        <p:spPr>
          <a:xfrm>
            <a:off x="0" y="0"/>
            <a:ext cx="11482251" cy="73516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b="1" i="0" kern="1200">
                <a:solidFill>
                  <a:srgbClr val="E84A27"/>
                </a:solidFill>
                <a:latin typeface="Georgia" panose="02040502050405020303" pitchFamily="18" charset="0"/>
                <a:ea typeface="+mj-ea"/>
                <a:cs typeface="+mj-cs"/>
              </a:defRPr>
            </a:lvl1pPr>
          </a:lstStyle>
          <a:p>
            <a:r>
              <a:rPr lang="en-US" dirty="0">
                <a:latin typeface="Calibri"/>
                <a:cs typeface="Calibri"/>
              </a:rPr>
              <a:t>Questions About Artificial Intelligence</a:t>
            </a:r>
            <a:endParaRPr lang="en-US" dirty="0"/>
          </a:p>
        </p:txBody>
      </p:sp>
      <p:graphicFrame>
        <p:nvGraphicFramePr>
          <p:cNvPr id="5" name="Table 4">
            <a:extLst>
              <a:ext uri="{FF2B5EF4-FFF2-40B4-BE49-F238E27FC236}">
                <a16:creationId xmlns:a16="http://schemas.microsoft.com/office/drawing/2014/main" id="{6ADE5997-D5A0-EDBF-BE92-6A58D471DBBC}"/>
              </a:ext>
            </a:extLst>
          </p:cNvPr>
          <p:cNvGraphicFramePr>
            <a:graphicFrameLocks noGrp="1"/>
          </p:cNvGraphicFramePr>
          <p:nvPr>
            <p:extLst>
              <p:ext uri="{D42A27DB-BD31-4B8C-83A1-F6EECF244321}">
                <p14:modId xmlns:p14="http://schemas.microsoft.com/office/powerpoint/2010/main" val="3167904360"/>
              </p:ext>
            </p:extLst>
          </p:nvPr>
        </p:nvGraphicFramePr>
        <p:xfrm>
          <a:off x="0" y="2992582"/>
          <a:ext cx="12192000" cy="3865418"/>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82696027"/>
                    </a:ext>
                  </a:extLst>
                </a:gridCol>
                <a:gridCol w="6096000">
                  <a:extLst>
                    <a:ext uri="{9D8B030D-6E8A-4147-A177-3AD203B41FA5}">
                      <a16:colId xmlns:a16="http://schemas.microsoft.com/office/drawing/2014/main" val="683544289"/>
                    </a:ext>
                  </a:extLst>
                </a:gridCol>
              </a:tblGrid>
              <a:tr h="631847">
                <a:tc>
                  <a:txBody>
                    <a:bodyPr/>
                    <a:lstStyle/>
                    <a:p>
                      <a:pPr>
                        <a:buNone/>
                      </a:pPr>
                      <a:r>
                        <a:rPr lang="en-US" sz="2800" b="1" dirty="0"/>
                        <a:t>Answers</a:t>
                      </a:r>
                      <a:endParaRPr lang="en-US" sz="2800" dirty="0"/>
                    </a:p>
                  </a:txBody>
                  <a:tcPr anchor="ctr"/>
                </a:tc>
                <a:tc>
                  <a:txBody>
                    <a:bodyPr/>
                    <a:lstStyle/>
                    <a:p>
                      <a:pPr>
                        <a:buNone/>
                      </a:pPr>
                      <a:r>
                        <a:rPr lang="en-US" sz="2800" b="1" dirty="0"/>
                        <a:t>Description</a:t>
                      </a:r>
                      <a:endParaRPr lang="en-US" sz="2800" dirty="0"/>
                    </a:p>
                  </a:txBody>
                  <a:tcPr anchor="ctr"/>
                </a:tc>
                <a:extLst>
                  <a:ext uri="{0D108BD9-81ED-4DB2-BD59-A6C34878D82A}">
                    <a16:rowId xmlns:a16="http://schemas.microsoft.com/office/drawing/2014/main" val="249767879"/>
                  </a:ext>
                </a:extLst>
              </a:tr>
              <a:tr h="1077857">
                <a:tc>
                  <a:txBody>
                    <a:bodyPr/>
                    <a:lstStyle/>
                    <a:p>
                      <a:pPr>
                        <a:buNone/>
                      </a:pPr>
                      <a:r>
                        <a:rPr lang="en-US" sz="2800"/>
                        <a:t>Symbolic Reasoning</a:t>
                      </a:r>
                    </a:p>
                  </a:txBody>
                  <a:tcPr anchor="ctr"/>
                </a:tc>
                <a:tc>
                  <a:txBody>
                    <a:bodyPr/>
                    <a:lstStyle/>
                    <a:p>
                      <a:pPr>
                        <a:buNone/>
                      </a:pPr>
                      <a:r>
                        <a:rPr lang="en-US" sz="2800"/>
                        <a:t>Inference through explicit rules and structured representations</a:t>
                      </a:r>
                    </a:p>
                  </a:txBody>
                  <a:tcPr anchor="ctr"/>
                </a:tc>
                <a:extLst>
                  <a:ext uri="{0D108BD9-81ED-4DB2-BD59-A6C34878D82A}">
                    <a16:rowId xmlns:a16="http://schemas.microsoft.com/office/drawing/2014/main" val="3717605317"/>
                  </a:ext>
                </a:extLst>
              </a:tr>
              <a:tr h="1077857">
                <a:tc>
                  <a:txBody>
                    <a:bodyPr/>
                    <a:lstStyle/>
                    <a:p>
                      <a:pPr>
                        <a:buNone/>
                      </a:pPr>
                      <a:r>
                        <a:rPr lang="en-US" sz="2800"/>
                        <a:t>Statistical Reasoning</a:t>
                      </a:r>
                    </a:p>
                  </a:txBody>
                  <a:tcPr anchor="ctr"/>
                </a:tc>
                <a:tc>
                  <a:txBody>
                    <a:bodyPr/>
                    <a:lstStyle/>
                    <a:p>
                      <a:pPr>
                        <a:buNone/>
                      </a:pPr>
                      <a:r>
                        <a:rPr lang="en-US" sz="2800"/>
                        <a:t>Inference emerging from patterns learned in data</a:t>
                      </a:r>
                    </a:p>
                  </a:txBody>
                  <a:tcPr anchor="ctr"/>
                </a:tc>
                <a:extLst>
                  <a:ext uri="{0D108BD9-81ED-4DB2-BD59-A6C34878D82A}">
                    <a16:rowId xmlns:a16="http://schemas.microsoft.com/office/drawing/2014/main" val="3816116787"/>
                  </a:ext>
                </a:extLst>
              </a:tr>
              <a:tr h="1077857">
                <a:tc>
                  <a:txBody>
                    <a:bodyPr/>
                    <a:lstStyle/>
                    <a:p>
                      <a:pPr>
                        <a:buNone/>
                      </a:pPr>
                      <a:r>
                        <a:rPr lang="en-US" sz="2800"/>
                        <a:t>Hybrid (Dual-Process) View</a:t>
                      </a:r>
                    </a:p>
                  </a:txBody>
                  <a:tcPr anchor="ctr"/>
                </a:tc>
                <a:tc>
                  <a:txBody>
                    <a:bodyPr/>
                    <a:lstStyle/>
                    <a:p>
                      <a:pPr>
                        <a:buNone/>
                      </a:pPr>
                      <a:r>
                        <a:rPr lang="en-US" sz="2800" dirty="0"/>
                        <a:t>Humans use both pattern-based and deliberate rule-based reasoning</a:t>
                      </a:r>
                    </a:p>
                  </a:txBody>
                  <a:tcPr anchor="ctr"/>
                </a:tc>
                <a:extLst>
                  <a:ext uri="{0D108BD9-81ED-4DB2-BD59-A6C34878D82A}">
                    <a16:rowId xmlns:a16="http://schemas.microsoft.com/office/drawing/2014/main" val="534286632"/>
                  </a:ext>
                </a:extLst>
              </a:tr>
            </a:tbl>
          </a:graphicData>
        </a:graphic>
      </p:graphicFrame>
      <p:sp>
        <p:nvSpPr>
          <p:cNvPr id="3" name="TextBox 2" descr="FIG. 1. Lateral views of the brains of a number of extant vertebrate species (the brains are not drawn to the same scale). While there is tremendous variation in both overall brain size (see Fig. 2) and the size of most brain divisions, most vertebrates possess brains that can be divided into the same number of divisions. aob, accessory olfactory bulb (cross-hatched); cb, cerebellum (stippled); ch, cerebral hemispheres (cross-hatched); m, medulla oblongata; ob, olfactory bulb (cross-hatched); ot, optic tectum (black); and p, pituitary gland. Modified from Braun and Northcutt (1999).">
            <a:extLst>
              <a:ext uri="{FF2B5EF4-FFF2-40B4-BE49-F238E27FC236}">
                <a16:creationId xmlns:a16="http://schemas.microsoft.com/office/drawing/2014/main" id="{4113FDDD-1658-A89D-6772-9194F3F486E6}"/>
              </a:ext>
            </a:extLst>
          </p:cNvPr>
          <p:cNvSpPr txBox="1"/>
          <p:nvPr/>
        </p:nvSpPr>
        <p:spPr>
          <a:xfrm>
            <a:off x="3005744" y="1540706"/>
            <a:ext cx="6180512" cy="646331"/>
          </a:xfrm>
          <a:prstGeom prst="rect">
            <a:avLst/>
          </a:prstGeom>
          <a:noFill/>
        </p:spPr>
        <p:txBody>
          <a:bodyPr wrap="square" rtlCol="0">
            <a:spAutoFit/>
          </a:bodyPr>
          <a:lstStyle/>
          <a:p>
            <a:r>
              <a:rPr lang="en-US" sz="3600" b="1" dirty="0"/>
              <a:t>7. What counts as “reasoning”?</a:t>
            </a:r>
          </a:p>
        </p:txBody>
      </p:sp>
    </p:spTree>
    <p:extLst>
      <p:ext uri="{BB962C8B-B14F-4D97-AF65-F5344CB8AC3E}">
        <p14:creationId xmlns:p14="http://schemas.microsoft.com/office/powerpoint/2010/main" val="26453574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642B1D-DAAB-2EC1-93DA-BE1FB6FCA8CA}"/>
            </a:ext>
          </a:extLst>
        </p:cNvPr>
        <p:cNvGrpSpPr/>
        <p:nvPr/>
      </p:nvGrpSpPr>
      <p:grpSpPr>
        <a:xfrm>
          <a:off x="0" y="0"/>
          <a:ext cx="0" cy="0"/>
          <a:chOff x="0" y="0"/>
          <a:chExt cx="0" cy="0"/>
        </a:xfrm>
      </p:grpSpPr>
      <p:sp>
        <p:nvSpPr>
          <p:cNvPr id="4" name="Title 6">
            <a:extLst>
              <a:ext uri="{FF2B5EF4-FFF2-40B4-BE49-F238E27FC236}">
                <a16:creationId xmlns:a16="http://schemas.microsoft.com/office/drawing/2014/main" id="{3D27F845-BD66-A67B-5AC2-61FF7E2BF47F}"/>
              </a:ext>
            </a:extLst>
          </p:cNvPr>
          <p:cNvSpPr txBox="1">
            <a:spLocks/>
          </p:cNvSpPr>
          <p:nvPr/>
        </p:nvSpPr>
        <p:spPr>
          <a:xfrm>
            <a:off x="0" y="0"/>
            <a:ext cx="11482251" cy="73516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b="1" i="0" kern="1200">
                <a:solidFill>
                  <a:srgbClr val="E84A27"/>
                </a:solidFill>
                <a:latin typeface="Georgia" panose="02040502050405020303" pitchFamily="18" charset="0"/>
                <a:ea typeface="+mj-ea"/>
                <a:cs typeface="+mj-cs"/>
              </a:defRPr>
            </a:lvl1pPr>
          </a:lstStyle>
          <a:p>
            <a:r>
              <a:rPr lang="en-US" dirty="0">
                <a:latin typeface="Calibri"/>
                <a:cs typeface="Calibri"/>
              </a:rPr>
              <a:t>Questions About Artificial Intelligence</a:t>
            </a:r>
            <a:endParaRPr lang="en-US" dirty="0"/>
          </a:p>
        </p:txBody>
      </p:sp>
      <p:sp>
        <p:nvSpPr>
          <p:cNvPr id="2" name="TextBox 1" descr="FIG. 1. Lateral views of the brains of a number of extant vertebrate species (the brains are not drawn to the same scale). While there is tremendous variation in both overall brain size (see Fig. 2) and the size of most brain divisions, most vertebrates possess brains that can be divided into the same number of divisions. aob, accessory olfactory bulb (cross-hatched); cb, cerebellum (stippled); ch, cerebral hemispheres (cross-hatched); m, medulla oblongata; ob, olfactory bulb (cross-hatched); ot, optic tectum (black); and p, pituitary gland. Modified from Braun and Northcutt (1999).">
            <a:extLst>
              <a:ext uri="{FF2B5EF4-FFF2-40B4-BE49-F238E27FC236}">
                <a16:creationId xmlns:a16="http://schemas.microsoft.com/office/drawing/2014/main" id="{98574D71-7040-945F-80F4-B45A7FAD27B8}"/>
              </a:ext>
            </a:extLst>
          </p:cNvPr>
          <p:cNvSpPr txBox="1"/>
          <p:nvPr/>
        </p:nvSpPr>
        <p:spPr>
          <a:xfrm>
            <a:off x="354874" y="1540706"/>
            <a:ext cx="11482251" cy="646331"/>
          </a:xfrm>
          <a:prstGeom prst="rect">
            <a:avLst/>
          </a:prstGeom>
          <a:noFill/>
        </p:spPr>
        <p:txBody>
          <a:bodyPr wrap="square" rtlCol="0">
            <a:spAutoFit/>
          </a:bodyPr>
          <a:lstStyle/>
          <a:p>
            <a:r>
              <a:rPr lang="en-US" sz="3600" b="1" dirty="0"/>
              <a:t>8. Does intelligence require goals, motivation, or emotion?</a:t>
            </a:r>
          </a:p>
        </p:txBody>
      </p:sp>
      <p:graphicFrame>
        <p:nvGraphicFramePr>
          <p:cNvPr id="5" name="Table 4">
            <a:extLst>
              <a:ext uri="{FF2B5EF4-FFF2-40B4-BE49-F238E27FC236}">
                <a16:creationId xmlns:a16="http://schemas.microsoft.com/office/drawing/2014/main" id="{0B0A1F2D-310C-08C4-E3A4-8745EC3C6C21}"/>
              </a:ext>
            </a:extLst>
          </p:cNvPr>
          <p:cNvGraphicFramePr>
            <a:graphicFrameLocks noGrp="1"/>
          </p:cNvGraphicFramePr>
          <p:nvPr>
            <p:extLst>
              <p:ext uri="{D42A27DB-BD31-4B8C-83A1-F6EECF244321}">
                <p14:modId xmlns:p14="http://schemas.microsoft.com/office/powerpoint/2010/main" val="3345535359"/>
              </p:ext>
            </p:extLst>
          </p:nvPr>
        </p:nvGraphicFramePr>
        <p:xfrm>
          <a:off x="0" y="2992582"/>
          <a:ext cx="12192000" cy="3865418"/>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82696027"/>
                    </a:ext>
                  </a:extLst>
                </a:gridCol>
                <a:gridCol w="6096000">
                  <a:extLst>
                    <a:ext uri="{9D8B030D-6E8A-4147-A177-3AD203B41FA5}">
                      <a16:colId xmlns:a16="http://schemas.microsoft.com/office/drawing/2014/main" val="683544289"/>
                    </a:ext>
                  </a:extLst>
                </a:gridCol>
              </a:tblGrid>
              <a:tr h="631847">
                <a:tc>
                  <a:txBody>
                    <a:bodyPr/>
                    <a:lstStyle/>
                    <a:p>
                      <a:pPr>
                        <a:buNone/>
                      </a:pPr>
                      <a:r>
                        <a:rPr lang="en-US" sz="2800" b="1" dirty="0" err="1"/>
                        <a:t>Subquestion</a:t>
                      </a:r>
                      <a:endParaRPr lang="en-US" sz="2800" dirty="0"/>
                    </a:p>
                  </a:txBody>
                  <a:tcPr anchor="ctr"/>
                </a:tc>
                <a:tc>
                  <a:txBody>
                    <a:bodyPr/>
                    <a:lstStyle/>
                    <a:p>
                      <a:pPr>
                        <a:buNone/>
                      </a:pPr>
                      <a:r>
                        <a:rPr lang="en-US" sz="2800" b="1" dirty="0"/>
                        <a:t>Example</a:t>
                      </a:r>
                      <a:endParaRPr lang="en-US" sz="2800" dirty="0"/>
                    </a:p>
                  </a:txBody>
                  <a:tcPr anchor="ctr"/>
                </a:tc>
                <a:extLst>
                  <a:ext uri="{0D108BD9-81ED-4DB2-BD59-A6C34878D82A}">
                    <a16:rowId xmlns:a16="http://schemas.microsoft.com/office/drawing/2014/main" val="249767879"/>
                  </a:ext>
                </a:extLst>
              </a:tr>
              <a:tr h="1077857">
                <a:tc>
                  <a:txBody>
                    <a:bodyPr/>
                    <a:lstStyle/>
                    <a:p>
                      <a:pPr>
                        <a:buNone/>
                      </a:pPr>
                      <a:r>
                        <a:rPr lang="en-US" sz="2800" dirty="0"/>
                        <a:t>Can a system be intelligent without pursuing goals?</a:t>
                      </a:r>
                    </a:p>
                  </a:txBody>
                  <a:tcPr anchor="ctr"/>
                </a:tc>
                <a:tc>
                  <a:txBody>
                    <a:bodyPr/>
                    <a:lstStyle/>
                    <a:p>
                      <a:pPr>
                        <a:buNone/>
                      </a:pPr>
                      <a:r>
                        <a:rPr lang="en-US" sz="2800"/>
                        <a:t>If a calculator solves problems but has no goals, is it intelligent?</a:t>
                      </a:r>
                    </a:p>
                  </a:txBody>
                  <a:tcPr anchor="ctr"/>
                </a:tc>
                <a:extLst>
                  <a:ext uri="{0D108BD9-81ED-4DB2-BD59-A6C34878D82A}">
                    <a16:rowId xmlns:a16="http://schemas.microsoft.com/office/drawing/2014/main" val="3717605317"/>
                  </a:ext>
                </a:extLst>
              </a:tr>
              <a:tr h="1077857">
                <a:tc>
                  <a:txBody>
                    <a:bodyPr/>
                    <a:lstStyle/>
                    <a:p>
                      <a:pPr>
                        <a:buNone/>
                      </a:pPr>
                      <a:r>
                        <a:rPr lang="en-US" sz="2800"/>
                        <a:t>Does cognition require emotion to guide learning and behavior?</a:t>
                      </a:r>
                    </a:p>
                  </a:txBody>
                  <a:tcPr anchor="ctr"/>
                </a:tc>
                <a:tc>
                  <a:txBody>
                    <a:bodyPr/>
                    <a:lstStyle/>
                    <a:p>
                      <a:pPr>
                        <a:buNone/>
                      </a:pPr>
                      <a:r>
                        <a:rPr lang="en-US" sz="2800"/>
                        <a:t>How would a person without fear, reward, or curiosity make decisions?</a:t>
                      </a:r>
                    </a:p>
                  </a:txBody>
                  <a:tcPr anchor="ctr"/>
                </a:tc>
                <a:extLst>
                  <a:ext uri="{0D108BD9-81ED-4DB2-BD59-A6C34878D82A}">
                    <a16:rowId xmlns:a16="http://schemas.microsoft.com/office/drawing/2014/main" val="3816116787"/>
                  </a:ext>
                </a:extLst>
              </a:tr>
              <a:tr h="1077857">
                <a:tc>
                  <a:txBody>
                    <a:bodyPr/>
                    <a:lstStyle/>
                    <a:p>
                      <a:pPr>
                        <a:buNone/>
                      </a:pPr>
                      <a:r>
                        <a:rPr lang="en-US" sz="2800"/>
                        <a:t>How different are humans and LLMs in this respect?</a:t>
                      </a:r>
                    </a:p>
                  </a:txBody>
                  <a:tcPr anchor="ctr"/>
                </a:tc>
                <a:tc>
                  <a:txBody>
                    <a:bodyPr/>
                    <a:lstStyle/>
                    <a:p>
                      <a:pPr>
                        <a:buNone/>
                      </a:pPr>
                      <a:r>
                        <a:rPr lang="en-US" sz="2800" dirty="0"/>
                        <a:t>LLMs can answer questions but have no preferences.</a:t>
                      </a:r>
                    </a:p>
                  </a:txBody>
                  <a:tcPr anchor="ctr"/>
                </a:tc>
                <a:extLst>
                  <a:ext uri="{0D108BD9-81ED-4DB2-BD59-A6C34878D82A}">
                    <a16:rowId xmlns:a16="http://schemas.microsoft.com/office/drawing/2014/main" val="534286632"/>
                  </a:ext>
                </a:extLst>
              </a:tr>
            </a:tbl>
          </a:graphicData>
        </a:graphic>
      </p:graphicFrame>
    </p:spTree>
    <p:extLst>
      <p:ext uri="{BB962C8B-B14F-4D97-AF65-F5344CB8AC3E}">
        <p14:creationId xmlns:p14="http://schemas.microsoft.com/office/powerpoint/2010/main" val="1697152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AEC7A8-C5F8-87A2-2935-9C6D31DF8E2E}"/>
            </a:ext>
          </a:extLst>
        </p:cNvPr>
        <p:cNvGrpSpPr/>
        <p:nvPr/>
      </p:nvGrpSpPr>
      <p:grpSpPr>
        <a:xfrm>
          <a:off x="0" y="0"/>
          <a:ext cx="0" cy="0"/>
          <a:chOff x="0" y="0"/>
          <a:chExt cx="0" cy="0"/>
        </a:xfrm>
      </p:grpSpPr>
      <p:sp>
        <p:nvSpPr>
          <p:cNvPr id="4" name="Title 6">
            <a:extLst>
              <a:ext uri="{FF2B5EF4-FFF2-40B4-BE49-F238E27FC236}">
                <a16:creationId xmlns:a16="http://schemas.microsoft.com/office/drawing/2014/main" id="{11C13AB8-1F1E-5E65-F97B-4C07651BA1F4}"/>
              </a:ext>
            </a:extLst>
          </p:cNvPr>
          <p:cNvSpPr txBox="1">
            <a:spLocks/>
          </p:cNvSpPr>
          <p:nvPr/>
        </p:nvSpPr>
        <p:spPr>
          <a:xfrm>
            <a:off x="0" y="0"/>
            <a:ext cx="11482251" cy="73516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b="1" i="0" kern="1200">
                <a:solidFill>
                  <a:srgbClr val="E84A27"/>
                </a:solidFill>
                <a:latin typeface="Georgia" panose="02040502050405020303" pitchFamily="18" charset="0"/>
                <a:ea typeface="+mj-ea"/>
                <a:cs typeface="+mj-cs"/>
              </a:defRPr>
            </a:lvl1pPr>
          </a:lstStyle>
          <a:p>
            <a:r>
              <a:rPr lang="en-US" dirty="0">
                <a:latin typeface="Calibri"/>
                <a:cs typeface="Calibri"/>
              </a:rPr>
              <a:t>Questions About Artificial Intelligence</a:t>
            </a:r>
            <a:endParaRPr lang="en-US" dirty="0"/>
          </a:p>
        </p:txBody>
      </p:sp>
      <p:graphicFrame>
        <p:nvGraphicFramePr>
          <p:cNvPr id="5" name="Table 4">
            <a:extLst>
              <a:ext uri="{FF2B5EF4-FFF2-40B4-BE49-F238E27FC236}">
                <a16:creationId xmlns:a16="http://schemas.microsoft.com/office/drawing/2014/main" id="{FF3DFC87-CDA5-E75E-ED6A-5D1FC0595885}"/>
              </a:ext>
            </a:extLst>
          </p:cNvPr>
          <p:cNvGraphicFramePr>
            <a:graphicFrameLocks noGrp="1"/>
          </p:cNvGraphicFramePr>
          <p:nvPr>
            <p:extLst>
              <p:ext uri="{D42A27DB-BD31-4B8C-83A1-F6EECF244321}">
                <p14:modId xmlns:p14="http://schemas.microsoft.com/office/powerpoint/2010/main" val="1500799699"/>
              </p:ext>
            </p:extLst>
          </p:nvPr>
        </p:nvGraphicFramePr>
        <p:xfrm>
          <a:off x="0" y="2992582"/>
          <a:ext cx="12192000" cy="3865418"/>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82696027"/>
                    </a:ext>
                  </a:extLst>
                </a:gridCol>
                <a:gridCol w="6096000">
                  <a:extLst>
                    <a:ext uri="{9D8B030D-6E8A-4147-A177-3AD203B41FA5}">
                      <a16:colId xmlns:a16="http://schemas.microsoft.com/office/drawing/2014/main" val="683544289"/>
                    </a:ext>
                  </a:extLst>
                </a:gridCol>
              </a:tblGrid>
              <a:tr h="631847">
                <a:tc>
                  <a:txBody>
                    <a:bodyPr/>
                    <a:lstStyle/>
                    <a:p>
                      <a:pPr>
                        <a:buNone/>
                      </a:pPr>
                      <a:r>
                        <a:rPr lang="en-US" sz="2800" b="1" dirty="0"/>
                        <a:t>Answers</a:t>
                      </a:r>
                      <a:endParaRPr lang="en-US" sz="2800" dirty="0"/>
                    </a:p>
                  </a:txBody>
                  <a:tcPr anchor="ctr"/>
                </a:tc>
                <a:tc>
                  <a:txBody>
                    <a:bodyPr/>
                    <a:lstStyle/>
                    <a:p>
                      <a:pPr>
                        <a:buNone/>
                      </a:pPr>
                      <a:r>
                        <a:rPr lang="en-US" sz="2800" b="1" dirty="0"/>
                        <a:t>Description</a:t>
                      </a:r>
                      <a:endParaRPr lang="en-US" sz="2800" dirty="0"/>
                    </a:p>
                  </a:txBody>
                  <a:tcPr anchor="ctr"/>
                </a:tc>
                <a:extLst>
                  <a:ext uri="{0D108BD9-81ED-4DB2-BD59-A6C34878D82A}">
                    <a16:rowId xmlns:a16="http://schemas.microsoft.com/office/drawing/2014/main" val="249767879"/>
                  </a:ext>
                </a:extLst>
              </a:tr>
              <a:tr h="1077857">
                <a:tc>
                  <a:txBody>
                    <a:bodyPr/>
                    <a:lstStyle/>
                    <a:p>
                      <a:pPr>
                        <a:buNone/>
                      </a:pPr>
                      <a:r>
                        <a:rPr lang="en-US" sz="2800"/>
                        <a:t>Functionalist View</a:t>
                      </a:r>
                    </a:p>
                  </a:txBody>
                  <a:tcPr anchor="ctr"/>
                </a:tc>
                <a:tc>
                  <a:txBody>
                    <a:bodyPr/>
                    <a:lstStyle/>
                    <a:p>
                      <a:pPr>
                        <a:buNone/>
                      </a:pPr>
                      <a:r>
                        <a:rPr lang="en-US" sz="2800"/>
                        <a:t>Intelligence can exist without intrinsic goals or emotions</a:t>
                      </a:r>
                    </a:p>
                  </a:txBody>
                  <a:tcPr anchor="ctr"/>
                </a:tc>
                <a:extLst>
                  <a:ext uri="{0D108BD9-81ED-4DB2-BD59-A6C34878D82A}">
                    <a16:rowId xmlns:a16="http://schemas.microsoft.com/office/drawing/2014/main" val="3717605317"/>
                  </a:ext>
                </a:extLst>
              </a:tr>
              <a:tr h="1077857">
                <a:tc>
                  <a:txBody>
                    <a:bodyPr/>
                    <a:lstStyle/>
                    <a:p>
                      <a:pPr>
                        <a:buNone/>
                      </a:pPr>
                      <a:r>
                        <a:rPr lang="en-US" sz="2800"/>
                        <a:t>Enactivist View</a:t>
                      </a:r>
                    </a:p>
                  </a:txBody>
                  <a:tcPr anchor="ctr"/>
                </a:tc>
                <a:tc>
                  <a:txBody>
                    <a:bodyPr/>
                    <a:lstStyle/>
                    <a:p>
                      <a:pPr>
                        <a:buNone/>
                      </a:pPr>
                      <a:r>
                        <a:rPr lang="en-US" sz="2800"/>
                        <a:t>Cognition arises from goal-directed interaction with the world</a:t>
                      </a:r>
                    </a:p>
                  </a:txBody>
                  <a:tcPr anchor="ctr"/>
                </a:tc>
                <a:extLst>
                  <a:ext uri="{0D108BD9-81ED-4DB2-BD59-A6C34878D82A}">
                    <a16:rowId xmlns:a16="http://schemas.microsoft.com/office/drawing/2014/main" val="3816116787"/>
                  </a:ext>
                </a:extLst>
              </a:tr>
              <a:tr h="1077857">
                <a:tc>
                  <a:txBody>
                    <a:bodyPr/>
                    <a:lstStyle/>
                    <a:p>
                      <a:pPr>
                        <a:buNone/>
                      </a:pPr>
                      <a:r>
                        <a:rPr lang="en-US" sz="2800"/>
                        <a:t>Affective View</a:t>
                      </a:r>
                    </a:p>
                  </a:txBody>
                  <a:tcPr anchor="ctr"/>
                </a:tc>
                <a:tc>
                  <a:txBody>
                    <a:bodyPr/>
                    <a:lstStyle/>
                    <a:p>
                      <a:pPr>
                        <a:buNone/>
                      </a:pPr>
                      <a:r>
                        <a:rPr lang="en-US" sz="2800" dirty="0"/>
                        <a:t>Emotion structures cognition and may be necessary for intelligence</a:t>
                      </a:r>
                    </a:p>
                  </a:txBody>
                  <a:tcPr anchor="ctr"/>
                </a:tc>
                <a:extLst>
                  <a:ext uri="{0D108BD9-81ED-4DB2-BD59-A6C34878D82A}">
                    <a16:rowId xmlns:a16="http://schemas.microsoft.com/office/drawing/2014/main" val="534286632"/>
                  </a:ext>
                </a:extLst>
              </a:tr>
            </a:tbl>
          </a:graphicData>
        </a:graphic>
      </p:graphicFrame>
      <p:sp>
        <p:nvSpPr>
          <p:cNvPr id="2" name="TextBox 1" descr="FIG. 1. Lateral views of the brains of a number of extant vertebrate species (the brains are not drawn to the same scale). While there is tremendous variation in both overall brain size (see Fig. 2) and the size of most brain divisions, most vertebrates possess brains that can be divided into the same number of divisions. aob, accessory olfactory bulb (cross-hatched); cb, cerebellum (stippled); ch, cerebral hemispheres (cross-hatched); m, medulla oblongata; ob, olfactory bulb (cross-hatched); ot, optic tectum (black); and p, pituitary gland. Modified from Braun and Northcutt (1999).">
            <a:extLst>
              <a:ext uri="{FF2B5EF4-FFF2-40B4-BE49-F238E27FC236}">
                <a16:creationId xmlns:a16="http://schemas.microsoft.com/office/drawing/2014/main" id="{AE338337-4FC5-7819-B0BD-DB11E0309C5D}"/>
              </a:ext>
            </a:extLst>
          </p:cNvPr>
          <p:cNvSpPr txBox="1"/>
          <p:nvPr/>
        </p:nvSpPr>
        <p:spPr>
          <a:xfrm>
            <a:off x="354874" y="1540706"/>
            <a:ext cx="11482251" cy="646331"/>
          </a:xfrm>
          <a:prstGeom prst="rect">
            <a:avLst/>
          </a:prstGeom>
          <a:noFill/>
        </p:spPr>
        <p:txBody>
          <a:bodyPr wrap="square" rtlCol="0">
            <a:spAutoFit/>
          </a:bodyPr>
          <a:lstStyle/>
          <a:p>
            <a:r>
              <a:rPr lang="en-US" sz="3600" b="1" dirty="0"/>
              <a:t>8. Does intelligence require goals, motivation, or emotion?</a:t>
            </a:r>
          </a:p>
        </p:txBody>
      </p:sp>
    </p:spTree>
    <p:extLst>
      <p:ext uri="{BB962C8B-B14F-4D97-AF65-F5344CB8AC3E}">
        <p14:creationId xmlns:p14="http://schemas.microsoft.com/office/powerpoint/2010/main" val="30050467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EE2728-6A6C-BB87-4BA1-BC21AD1F6A5D}"/>
            </a:ext>
          </a:extLst>
        </p:cNvPr>
        <p:cNvGrpSpPr/>
        <p:nvPr/>
      </p:nvGrpSpPr>
      <p:grpSpPr>
        <a:xfrm>
          <a:off x="0" y="0"/>
          <a:ext cx="0" cy="0"/>
          <a:chOff x="0" y="0"/>
          <a:chExt cx="0" cy="0"/>
        </a:xfrm>
      </p:grpSpPr>
      <p:sp>
        <p:nvSpPr>
          <p:cNvPr id="4" name="Title 6">
            <a:extLst>
              <a:ext uri="{FF2B5EF4-FFF2-40B4-BE49-F238E27FC236}">
                <a16:creationId xmlns:a16="http://schemas.microsoft.com/office/drawing/2014/main" id="{07380CE5-50EC-80C4-AF3F-662CF18AB704}"/>
              </a:ext>
            </a:extLst>
          </p:cNvPr>
          <p:cNvSpPr txBox="1">
            <a:spLocks/>
          </p:cNvSpPr>
          <p:nvPr/>
        </p:nvSpPr>
        <p:spPr>
          <a:xfrm>
            <a:off x="0" y="0"/>
            <a:ext cx="11482251" cy="73516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b="1" i="0" kern="1200">
                <a:solidFill>
                  <a:srgbClr val="E84A27"/>
                </a:solidFill>
                <a:latin typeface="Georgia" panose="02040502050405020303" pitchFamily="18" charset="0"/>
                <a:ea typeface="+mj-ea"/>
                <a:cs typeface="+mj-cs"/>
              </a:defRPr>
            </a:lvl1pPr>
          </a:lstStyle>
          <a:p>
            <a:r>
              <a:rPr lang="en-US" dirty="0">
                <a:latin typeface="Calibri"/>
                <a:cs typeface="Calibri"/>
              </a:rPr>
              <a:t>Questions About Artificial Intelligence</a:t>
            </a:r>
            <a:endParaRPr lang="en-US" dirty="0"/>
          </a:p>
        </p:txBody>
      </p:sp>
      <p:sp>
        <p:nvSpPr>
          <p:cNvPr id="2" name="TextBox 1" descr="FIG. 1. Lateral views of the brains of a number of extant vertebrate species (the brains are not drawn to the same scale). While there is tremendous variation in both overall brain size (see Fig. 2) and the size of most brain divisions, most vertebrates possess brains that can be divided into the same number of divisions. aob, accessory olfactory bulb (cross-hatched); cb, cerebellum (stippled); ch, cerebral hemispheres (cross-hatched); m, medulla oblongata; ob, olfactory bulb (cross-hatched); ot, optic tectum (black); and p, pituitary gland. Modified from Braun and Northcutt (1999).">
            <a:extLst>
              <a:ext uri="{FF2B5EF4-FFF2-40B4-BE49-F238E27FC236}">
                <a16:creationId xmlns:a16="http://schemas.microsoft.com/office/drawing/2014/main" id="{32EFDFE6-2025-10B7-619C-7D3728AFB2B6}"/>
              </a:ext>
            </a:extLst>
          </p:cNvPr>
          <p:cNvSpPr txBox="1"/>
          <p:nvPr/>
        </p:nvSpPr>
        <p:spPr>
          <a:xfrm>
            <a:off x="1003168" y="1540706"/>
            <a:ext cx="10185664" cy="646331"/>
          </a:xfrm>
          <a:prstGeom prst="rect">
            <a:avLst/>
          </a:prstGeom>
          <a:noFill/>
        </p:spPr>
        <p:txBody>
          <a:bodyPr wrap="square" rtlCol="0">
            <a:spAutoFit/>
          </a:bodyPr>
          <a:lstStyle/>
          <a:p>
            <a:r>
              <a:rPr lang="en-US" sz="3600" b="1" dirty="0"/>
              <a:t>9. What is “general intelligence,” and do AIs have it?</a:t>
            </a:r>
          </a:p>
        </p:txBody>
      </p:sp>
      <p:graphicFrame>
        <p:nvGraphicFramePr>
          <p:cNvPr id="5" name="Table 4">
            <a:extLst>
              <a:ext uri="{FF2B5EF4-FFF2-40B4-BE49-F238E27FC236}">
                <a16:creationId xmlns:a16="http://schemas.microsoft.com/office/drawing/2014/main" id="{81D69D6F-C0C4-5402-AB13-BDD785BFB410}"/>
              </a:ext>
            </a:extLst>
          </p:cNvPr>
          <p:cNvGraphicFramePr>
            <a:graphicFrameLocks noGrp="1"/>
          </p:cNvGraphicFramePr>
          <p:nvPr>
            <p:extLst>
              <p:ext uri="{D42A27DB-BD31-4B8C-83A1-F6EECF244321}">
                <p14:modId xmlns:p14="http://schemas.microsoft.com/office/powerpoint/2010/main" val="2614872744"/>
              </p:ext>
            </p:extLst>
          </p:nvPr>
        </p:nvGraphicFramePr>
        <p:xfrm>
          <a:off x="0" y="2992582"/>
          <a:ext cx="12192000" cy="3865418"/>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82696027"/>
                    </a:ext>
                  </a:extLst>
                </a:gridCol>
                <a:gridCol w="6096000">
                  <a:extLst>
                    <a:ext uri="{9D8B030D-6E8A-4147-A177-3AD203B41FA5}">
                      <a16:colId xmlns:a16="http://schemas.microsoft.com/office/drawing/2014/main" val="683544289"/>
                    </a:ext>
                  </a:extLst>
                </a:gridCol>
              </a:tblGrid>
              <a:tr h="631847">
                <a:tc>
                  <a:txBody>
                    <a:bodyPr/>
                    <a:lstStyle/>
                    <a:p>
                      <a:pPr>
                        <a:buNone/>
                      </a:pPr>
                      <a:r>
                        <a:rPr lang="en-US" sz="2800" b="1" dirty="0" err="1"/>
                        <a:t>Subquestion</a:t>
                      </a:r>
                      <a:endParaRPr lang="en-US" sz="2800" dirty="0"/>
                    </a:p>
                  </a:txBody>
                  <a:tcPr anchor="ctr"/>
                </a:tc>
                <a:tc>
                  <a:txBody>
                    <a:bodyPr/>
                    <a:lstStyle/>
                    <a:p>
                      <a:pPr>
                        <a:buNone/>
                      </a:pPr>
                      <a:r>
                        <a:rPr lang="en-US" sz="2800" b="1" dirty="0"/>
                        <a:t>Example</a:t>
                      </a:r>
                      <a:endParaRPr lang="en-US" sz="2800" dirty="0"/>
                    </a:p>
                  </a:txBody>
                  <a:tcPr anchor="ctr"/>
                </a:tc>
                <a:extLst>
                  <a:ext uri="{0D108BD9-81ED-4DB2-BD59-A6C34878D82A}">
                    <a16:rowId xmlns:a16="http://schemas.microsoft.com/office/drawing/2014/main" val="249767879"/>
                  </a:ext>
                </a:extLst>
              </a:tr>
              <a:tr h="1077857">
                <a:tc>
                  <a:txBody>
                    <a:bodyPr/>
                    <a:lstStyle/>
                    <a:p>
                      <a:pPr>
                        <a:buNone/>
                      </a:pPr>
                      <a:r>
                        <a:rPr lang="en-US" sz="2400" dirty="0"/>
                        <a:t>What does “general” actually mean across systems?</a:t>
                      </a:r>
                    </a:p>
                  </a:txBody>
                  <a:tcPr anchor="ctr"/>
                </a:tc>
                <a:tc>
                  <a:txBody>
                    <a:bodyPr/>
                    <a:lstStyle/>
                    <a:p>
                      <a:pPr>
                        <a:buNone/>
                      </a:pPr>
                      <a:r>
                        <a:rPr lang="en-US" sz="2400" dirty="0"/>
                        <a:t>A human can learn chess, cooking, navigate a city, and comfort a friend—what unifies them?</a:t>
                      </a:r>
                    </a:p>
                  </a:txBody>
                  <a:tcPr anchor="ctr"/>
                </a:tc>
                <a:extLst>
                  <a:ext uri="{0D108BD9-81ED-4DB2-BD59-A6C34878D82A}">
                    <a16:rowId xmlns:a16="http://schemas.microsoft.com/office/drawing/2014/main" val="3717605317"/>
                  </a:ext>
                </a:extLst>
              </a:tr>
              <a:tr h="1077857">
                <a:tc>
                  <a:txBody>
                    <a:bodyPr/>
                    <a:lstStyle/>
                    <a:p>
                      <a:pPr>
                        <a:buNone/>
                      </a:pPr>
                      <a:r>
                        <a:rPr lang="en-US" sz="2400"/>
                        <a:t>Can AIs generalize outside their training data?</a:t>
                      </a:r>
                    </a:p>
                  </a:txBody>
                  <a:tcPr anchor="ctr"/>
                </a:tc>
                <a:tc>
                  <a:txBody>
                    <a:bodyPr/>
                    <a:lstStyle/>
                    <a:p>
                      <a:pPr>
                        <a:buNone/>
                      </a:pPr>
                      <a:r>
                        <a:rPr lang="en-US" sz="2400" dirty="0"/>
                        <a:t>Why does an LLM give strong answers in one domain but fail on other simple questions?</a:t>
                      </a:r>
                    </a:p>
                  </a:txBody>
                  <a:tcPr anchor="ctr"/>
                </a:tc>
                <a:extLst>
                  <a:ext uri="{0D108BD9-81ED-4DB2-BD59-A6C34878D82A}">
                    <a16:rowId xmlns:a16="http://schemas.microsoft.com/office/drawing/2014/main" val="3816116787"/>
                  </a:ext>
                </a:extLst>
              </a:tr>
              <a:tr h="1077857">
                <a:tc>
                  <a:txBody>
                    <a:bodyPr/>
                    <a:lstStyle/>
                    <a:p>
                      <a:pPr>
                        <a:buNone/>
                      </a:pPr>
                      <a:r>
                        <a:rPr lang="en-US" sz="2400"/>
                        <a:t>Is general intelligence measurable or just a descriptive label?</a:t>
                      </a:r>
                    </a:p>
                  </a:txBody>
                  <a:tcPr anchor="ctr"/>
                </a:tc>
                <a:tc>
                  <a:txBody>
                    <a:bodyPr/>
                    <a:lstStyle/>
                    <a:p>
                      <a:pPr>
                        <a:buNone/>
                      </a:pPr>
                      <a:r>
                        <a:rPr lang="en-US" sz="2400" dirty="0"/>
                        <a:t>Does an IQ score really capture “generality,” or does it oversimplify complex abilities?</a:t>
                      </a:r>
                    </a:p>
                  </a:txBody>
                  <a:tcPr anchor="ctr"/>
                </a:tc>
                <a:extLst>
                  <a:ext uri="{0D108BD9-81ED-4DB2-BD59-A6C34878D82A}">
                    <a16:rowId xmlns:a16="http://schemas.microsoft.com/office/drawing/2014/main" val="534286632"/>
                  </a:ext>
                </a:extLst>
              </a:tr>
            </a:tbl>
          </a:graphicData>
        </a:graphic>
      </p:graphicFrame>
    </p:spTree>
    <p:extLst>
      <p:ext uri="{BB962C8B-B14F-4D97-AF65-F5344CB8AC3E}">
        <p14:creationId xmlns:p14="http://schemas.microsoft.com/office/powerpoint/2010/main" val="853962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7F42ED-8AB7-8197-BEFC-1C2FAE597AC8}"/>
            </a:ext>
          </a:extLst>
        </p:cNvPr>
        <p:cNvGrpSpPr/>
        <p:nvPr/>
      </p:nvGrpSpPr>
      <p:grpSpPr>
        <a:xfrm>
          <a:off x="0" y="0"/>
          <a:ext cx="0" cy="0"/>
          <a:chOff x="0" y="0"/>
          <a:chExt cx="0" cy="0"/>
        </a:xfrm>
      </p:grpSpPr>
      <p:sp>
        <p:nvSpPr>
          <p:cNvPr id="4" name="Title 6">
            <a:extLst>
              <a:ext uri="{FF2B5EF4-FFF2-40B4-BE49-F238E27FC236}">
                <a16:creationId xmlns:a16="http://schemas.microsoft.com/office/drawing/2014/main" id="{C4186A3C-42AB-5694-0F29-8C9B7242EABE}"/>
              </a:ext>
            </a:extLst>
          </p:cNvPr>
          <p:cNvSpPr txBox="1">
            <a:spLocks/>
          </p:cNvSpPr>
          <p:nvPr/>
        </p:nvSpPr>
        <p:spPr>
          <a:xfrm>
            <a:off x="0" y="0"/>
            <a:ext cx="11482251" cy="73516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b="1" i="0" kern="1200">
                <a:solidFill>
                  <a:srgbClr val="E84A27"/>
                </a:solidFill>
                <a:latin typeface="Georgia" panose="02040502050405020303" pitchFamily="18" charset="0"/>
                <a:ea typeface="+mj-ea"/>
                <a:cs typeface="+mj-cs"/>
              </a:defRPr>
            </a:lvl1pPr>
          </a:lstStyle>
          <a:p>
            <a:r>
              <a:rPr lang="en-US" dirty="0">
                <a:latin typeface="Calibri"/>
                <a:cs typeface="Calibri"/>
              </a:rPr>
              <a:t>Questions About Artificial Intelligence</a:t>
            </a:r>
            <a:endParaRPr lang="en-US" dirty="0"/>
          </a:p>
        </p:txBody>
      </p:sp>
      <p:graphicFrame>
        <p:nvGraphicFramePr>
          <p:cNvPr id="5" name="Table 4">
            <a:extLst>
              <a:ext uri="{FF2B5EF4-FFF2-40B4-BE49-F238E27FC236}">
                <a16:creationId xmlns:a16="http://schemas.microsoft.com/office/drawing/2014/main" id="{F00942AC-D500-EF87-33A2-08B1A8C88E3D}"/>
              </a:ext>
            </a:extLst>
          </p:cNvPr>
          <p:cNvGraphicFramePr>
            <a:graphicFrameLocks noGrp="1"/>
          </p:cNvGraphicFramePr>
          <p:nvPr>
            <p:extLst>
              <p:ext uri="{D42A27DB-BD31-4B8C-83A1-F6EECF244321}">
                <p14:modId xmlns:p14="http://schemas.microsoft.com/office/powerpoint/2010/main" val="4070874138"/>
              </p:ext>
            </p:extLst>
          </p:nvPr>
        </p:nvGraphicFramePr>
        <p:xfrm>
          <a:off x="0" y="2992582"/>
          <a:ext cx="12192000" cy="3865418"/>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82696027"/>
                    </a:ext>
                  </a:extLst>
                </a:gridCol>
                <a:gridCol w="6096000">
                  <a:extLst>
                    <a:ext uri="{9D8B030D-6E8A-4147-A177-3AD203B41FA5}">
                      <a16:colId xmlns:a16="http://schemas.microsoft.com/office/drawing/2014/main" val="683544289"/>
                    </a:ext>
                  </a:extLst>
                </a:gridCol>
              </a:tblGrid>
              <a:tr h="631847">
                <a:tc>
                  <a:txBody>
                    <a:bodyPr/>
                    <a:lstStyle/>
                    <a:p>
                      <a:pPr>
                        <a:buNone/>
                      </a:pPr>
                      <a:r>
                        <a:rPr lang="en-US" sz="2800" b="1" dirty="0"/>
                        <a:t>Answers</a:t>
                      </a:r>
                      <a:endParaRPr lang="en-US" sz="2800" dirty="0"/>
                    </a:p>
                  </a:txBody>
                  <a:tcPr anchor="ctr"/>
                </a:tc>
                <a:tc>
                  <a:txBody>
                    <a:bodyPr/>
                    <a:lstStyle/>
                    <a:p>
                      <a:pPr>
                        <a:buNone/>
                      </a:pPr>
                      <a:r>
                        <a:rPr lang="en-US" sz="2800" b="1" dirty="0"/>
                        <a:t>Description</a:t>
                      </a:r>
                      <a:endParaRPr lang="en-US" sz="2800" dirty="0"/>
                    </a:p>
                  </a:txBody>
                  <a:tcPr anchor="ctr"/>
                </a:tc>
                <a:extLst>
                  <a:ext uri="{0D108BD9-81ED-4DB2-BD59-A6C34878D82A}">
                    <a16:rowId xmlns:a16="http://schemas.microsoft.com/office/drawing/2014/main" val="249767879"/>
                  </a:ext>
                </a:extLst>
              </a:tr>
              <a:tr h="1077857">
                <a:tc>
                  <a:txBody>
                    <a:bodyPr/>
                    <a:lstStyle/>
                    <a:p>
                      <a:pPr>
                        <a:buNone/>
                      </a:pPr>
                      <a:r>
                        <a:rPr lang="en-US" sz="2800"/>
                        <a:t>Cognitive Generality</a:t>
                      </a:r>
                    </a:p>
                  </a:txBody>
                  <a:tcPr anchor="ctr"/>
                </a:tc>
                <a:tc>
                  <a:txBody>
                    <a:bodyPr/>
                    <a:lstStyle/>
                    <a:p>
                      <a:pPr>
                        <a:buNone/>
                      </a:pPr>
                      <a:r>
                        <a:rPr lang="en-US" sz="2800"/>
                        <a:t>Ability to flexibly apply knowledge across diverse tasks and situations</a:t>
                      </a:r>
                    </a:p>
                  </a:txBody>
                  <a:tcPr anchor="ctr"/>
                </a:tc>
                <a:extLst>
                  <a:ext uri="{0D108BD9-81ED-4DB2-BD59-A6C34878D82A}">
                    <a16:rowId xmlns:a16="http://schemas.microsoft.com/office/drawing/2014/main" val="3717605317"/>
                  </a:ext>
                </a:extLst>
              </a:tr>
              <a:tr h="1077857">
                <a:tc>
                  <a:txBody>
                    <a:bodyPr/>
                    <a:lstStyle/>
                    <a:p>
                      <a:pPr>
                        <a:buNone/>
                      </a:pPr>
                      <a:r>
                        <a:rPr lang="en-US" sz="2800"/>
                        <a:t>Computational Generality</a:t>
                      </a:r>
                    </a:p>
                  </a:txBody>
                  <a:tcPr anchor="ctr"/>
                </a:tc>
                <a:tc>
                  <a:txBody>
                    <a:bodyPr/>
                    <a:lstStyle/>
                    <a:p>
                      <a:pPr>
                        <a:buNone/>
                      </a:pPr>
                      <a:r>
                        <a:rPr lang="en-US" sz="2800"/>
                        <a:t>Capacity to solve a broad class of problems given sufficient resources</a:t>
                      </a:r>
                    </a:p>
                  </a:txBody>
                  <a:tcPr anchor="ctr"/>
                </a:tc>
                <a:extLst>
                  <a:ext uri="{0D108BD9-81ED-4DB2-BD59-A6C34878D82A}">
                    <a16:rowId xmlns:a16="http://schemas.microsoft.com/office/drawing/2014/main" val="3816116787"/>
                  </a:ext>
                </a:extLst>
              </a:tr>
              <a:tr h="1077857">
                <a:tc>
                  <a:txBody>
                    <a:bodyPr/>
                    <a:lstStyle/>
                    <a:p>
                      <a:pPr>
                        <a:buNone/>
                      </a:pPr>
                      <a:r>
                        <a:rPr lang="en-US" sz="2800"/>
                        <a:t>Ecological Generality</a:t>
                      </a:r>
                    </a:p>
                  </a:txBody>
                  <a:tcPr anchor="ctr"/>
                </a:tc>
                <a:tc>
                  <a:txBody>
                    <a:bodyPr/>
                    <a:lstStyle/>
                    <a:p>
                      <a:pPr>
                        <a:buNone/>
                      </a:pPr>
                      <a:r>
                        <a:rPr lang="en-US" sz="2800" dirty="0"/>
                        <a:t>Competence in navigating complex, real-world environments</a:t>
                      </a:r>
                    </a:p>
                  </a:txBody>
                  <a:tcPr anchor="ctr"/>
                </a:tc>
                <a:extLst>
                  <a:ext uri="{0D108BD9-81ED-4DB2-BD59-A6C34878D82A}">
                    <a16:rowId xmlns:a16="http://schemas.microsoft.com/office/drawing/2014/main" val="534286632"/>
                  </a:ext>
                </a:extLst>
              </a:tr>
            </a:tbl>
          </a:graphicData>
        </a:graphic>
      </p:graphicFrame>
      <p:sp>
        <p:nvSpPr>
          <p:cNvPr id="3" name="TextBox 2" descr="FIG. 1. Lateral views of the brains of a number of extant vertebrate species (the brains are not drawn to the same scale). While there is tremendous variation in both overall brain size (see Fig. 2) and the size of most brain divisions, most vertebrates possess brains that can be divided into the same number of divisions. aob, accessory olfactory bulb (cross-hatched); cb, cerebellum (stippled); ch, cerebral hemispheres (cross-hatched); m, medulla oblongata; ob, olfactory bulb (cross-hatched); ot, optic tectum (black); and p, pituitary gland. Modified from Braun and Northcutt (1999).">
            <a:extLst>
              <a:ext uri="{FF2B5EF4-FFF2-40B4-BE49-F238E27FC236}">
                <a16:creationId xmlns:a16="http://schemas.microsoft.com/office/drawing/2014/main" id="{3F8A6F72-DD4E-DCB8-D9B0-067955F457A4}"/>
              </a:ext>
            </a:extLst>
          </p:cNvPr>
          <p:cNvSpPr txBox="1"/>
          <p:nvPr/>
        </p:nvSpPr>
        <p:spPr>
          <a:xfrm>
            <a:off x="1003168" y="1540706"/>
            <a:ext cx="10185664" cy="646331"/>
          </a:xfrm>
          <a:prstGeom prst="rect">
            <a:avLst/>
          </a:prstGeom>
          <a:noFill/>
        </p:spPr>
        <p:txBody>
          <a:bodyPr wrap="square" rtlCol="0">
            <a:spAutoFit/>
          </a:bodyPr>
          <a:lstStyle/>
          <a:p>
            <a:r>
              <a:rPr lang="en-US" sz="3600" b="1" dirty="0"/>
              <a:t>9. What is “general intelligence,” and do AIs have it?</a:t>
            </a:r>
          </a:p>
        </p:txBody>
      </p:sp>
    </p:spTree>
    <p:extLst>
      <p:ext uri="{BB962C8B-B14F-4D97-AF65-F5344CB8AC3E}">
        <p14:creationId xmlns:p14="http://schemas.microsoft.com/office/powerpoint/2010/main" val="21118617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F72566-D8E6-165B-E8A1-42C6AEA5502D}"/>
            </a:ext>
          </a:extLst>
        </p:cNvPr>
        <p:cNvGrpSpPr/>
        <p:nvPr/>
      </p:nvGrpSpPr>
      <p:grpSpPr>
        <a:xfrm>
          <a:off x="0" y="0"/>
          <a:ext cx="0" cy="0"/>
          <a:chOff x="0" y="0"/>
          <a:chExt cx="0" cy="0"/>
        </a:xfrm>
      </p:grpSpPr>
      <p:sp>
        <p:nvSpPr>
          <p:cNvPr id="4" name="Title 6">
            <a:extLst>
              <a:ext uri="{FF2B5EF4-FFF2-40B4-BE49-F238E27FC236}">
                <a16:creationId xmlns:a16="http://schemas.microsoft.com/office/drawing/2014/main" id="{81B38CC4-A662-13BA-828F-3298D8A0443D}"/>
              </a:ext>
            </a:extLst>
          </p:cNvPr>
          <p:cNvSpPr txBox="1">
            <a:spLocks/>
          </p:cNvSpPr>
          <p:nvPr/>
        </p:nvSpPr>
        <p:spPr>
          <a:xfrm>
            <a:off x="0" y="0"/>
            <a:ext cx="11482251" cy="73516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b="1" i="0" kern="1200">
                <a:solidFill>
                  <a:srgbClr val="E84A27"/>
                </a:solidFill>
                <a:latin typeface="Georgia" panose="02040502050405020303" pitchFamily="18" charset="0"/>
                <a:ea typeface="+mj-ea"/>
                <a:cs typeface="+mj-cs"/>
              </a:defRPr>
            </a:lvl1pPr>
          </a:lstStyle>
          <a:p>
            <a:r>
              <a:rPr lang="en-US" dirty="0">
                <a:latin typeface="Calibri"/>
                <a:cs typeface="Calibri"/>
              </a:rPr>
              <a:t>Questions About Artificial Intelligence</a:t>
            </a:r>
            <a:endParaRPr lang="en-US" dirty="0"/>
          </a:p>
        </p:txBody>
      </p:sp>
      <p:sp>
        <p:nvSpPr>
          <p:cNvPr id="2" name="TextBox 1" descr="FIG. 1. Lateral views of the brains of a number of extant vertebrate species (the brains are not drawn to the same scale). While there is tremendous variation in both overall brain size (see Fig. 2) and the size of most brain divisions, most vertebrates possess brains that can be divided into the same number of divisions. aob, accessory olfactory bulb (cross-hatched); cb, cerebellum (stippled); ch, cerebral hemispheres (cross-hatched); m, medulla oblongata; ob, olfactory bulb (cross-hatched); ot, optic tectum (black); and p, pituitary gland. Modified from Braun and Northcutt (1999).">
            <a:extLst>
              <a:ext uri="{FF2B5EF4-FFF2-40B4-BE49-F238E27FC236}">
                <a16:creationId xmlns:a16="http://schemas.microsoft.com/office/drawing/2014/main" id="{3E139483-5E4C-1593-D599-7C8A753FDCAE}"/>
              </a:ext>
            </a:extLst>
          </p:cNvPr>
          <p:cNvSpPr txBox="1"/>
          <p:nvPr/>
        </p:nvSpPr>
        <p:spPr>
          <a:xfrm>
            <a:off x="1003168" y="1540706"/>
            <a:ext cx="10185664" cy="646331"/>
          </a:xfrm>
          <a:prstGeom prst="rect">
            <a:avLst/>
          </a:prstGeom>
          <a:noFill/>
        </p:spPr>
        <p:txBody>
          <a:bodyPr wrap="square" rtlCol="0">
            <a:spAutoFit/>
          </a:bodyPr>
          <a:lstStyle/>
          <a:p>
            <a:r>
              <a:rPr lang="en-US" sz="3600" b="1" dirty="0"/>
              <a:t>10. What can AI teach us about human cognition?</a:t>
            </a:r>
          </a:p>
        </p:txBody>
      </p:sp>
      <p:graphicFrame>
        <p:nvGraphicFramePr>
          <p:cNvPr id="5" name="Table 4">
            <a:extLst>
              <a:ext uri="{FF2B5EF4-FFF2-40B4-BE49-F238E27FC236}">
                <a16:creationId xmlns:a16="http://schemas.microsoft.com/office/drawing/2014/main" id="{A58F4EBB-1624-2872-C98C-A911D342C29D}"/>
              </a:ext>
            </a:extLst>
          </p:cNvPr>
          <p:cNvGraphicFramePr>
            <a:graphicFrameLocks noGrp="1"/>
          </p:cNvGraphicFramePr>
          <p:nvPr>
            <p:extLst>
              <p:ext uri="{D42A27DB-BD31-4B8C-83A1-F6EECF244321}">
                <p14:modId xmlns:p14="http://schemas.microsoft.com/office/powerpoint/2010/main" val="3825095830"/>
              </p:ext>
            </p:extLst>
          </p:nvPr>
        </p:nvGraphicFramePr>
        <p:xfrm>
          <a:off x="0" y="2992582"/>
          <a:ext cx="12192000" cy="3865418"/>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82696027"/>
                    </a:ext>
                  </a:extLst>
                </a:gridCol>
                <a:gridCol w="6096000">
                  <a:extLst>
                    <a:ext uri="{9D8B030D-6E8A-4147-A177-3AD203B41FA5}">
                      <a16:colId xmlns:a16="http://schemas.microsoft.com/office/drawing/2014/main" val="683544289"/>
                    </a:ext>
                  </a:extLst>
                </a:gridCol>
              </a:tblGrid>
              <a:tr h="631847">
                <a:tc>
                  <a:txBody>
                    <a:bodyPr/>
                    <a:lstStyle/>
                    <a:p>
                      <a:pPr>
                        <a:buNone/>
                      </a:pPr>
                      <a:r>
                        <a:rPr lang="en-US" sz="2800" b="1" dirty="0" err="1"/>
                        <a:t>Subquestion</a:t>
                      </a:r>
                      <a:endParaRPr lang="en-US" sz="2800" dirty="0"/>
                    </a:p>
                  </a:txBody>
                  <a:tcPr anchor="ctr"/>
                </a:tc>
                <a:tc>
                  <a:txBody>
                    <a:bodyPr/>
                    <a:lstStyle/>
                    <a:p>
                      <a:pPr>
                        <a:buNone/>
                      </a:pPr>
                      <a:r>
                        <a:rPr lang="en-US" sz="2800" b="1" dirty="0"/>
                        <a:t>Example</a:t>
                      </a:r>
                      <a:endParaRPr lang="en-US" sz="2800" dirty="0"/>
                    </a:p>
                  </a:txBody>
                  <a:tcPr anchor="ctr"/>
                </a:tc>
                <a:extLst>
                  <a:ext uri="{0D108BD9-81ED-4DB2-BD59-A6C34878D82A}">
                    <a16:rowId xmlns:a16="http://schemas.microsoft.com/office/drawing/2014/main" val="249767879"/>
                  </a:ext>
                </a:extLst>
              </a:tr>
              <a:tr h="1077857">
                <a:tc>
                  <a:txBody>
                    <a:bodyPr/>
                    <a:lstStyle/>
                    <a:p>
                      <a:pPr>
                        <a:buNone/>
                      </a:pPr>
                      <a:r>
                        <a:rPr lang="en-US" sz="2400" dirty="0"/>
                        <a:t>Which aspects of intelligence are easiest or hardest for AI to replicate?</a:t>
                      </a:r>
                    </a:p>
                  </a:txBody>
                  <a:tcPr anchor="ctr"/>
                </a:tc>
                <a:tc>
                  <a:txBody>
                    <a:bodyPr/>
                    <a:lstStyle/>
                    <a:p>
                      <a:pPr>
                        <a:buNone/>
                      </a:pPr>
                      <a:r>
                        <a:rPr lang="en-US" sz="2400" dirty="0"/>
                        <a:t>Why can an LLM write essays but still fail at basic spatial or object permanence questions?</a:t>
                      </a:r>
                    </a:p>
                  </a:txBody>
                  <a:tcPr anchor="ctr"/>
                </a:tc>
                <a:extLst>
                  <a:ext uri="{0D108BD9-81ED-4DB2-BD59-A6C34878D82A}">
                    <a16:rowId xmlns:a16="http://schemas.microsoft.com/office/drawing/2014/main" val="3717605317"/>
                  </a:ext>
                </a:extLst>
              </a:tr>
              <a:tr h="1077857">
                <a:tc>
                  <a:txBody>
                    <a:bodyPr/>
                    <a:lstStyle/>
                    <a:p>
                      <a:pPr>
                        <a:buNone/>
                      </a:pPr>
                      <a:r>
                        <a:rPr lang="en-US" sz="2400" dirty="0"/>
                        <a:t>Do AI failures reveal gaps in our cognitive theories?</a:t>
                      </a:r>
                    </a:p>
                  </a:txBody>
                  <a:tcPr anchor="ctr"/>
                </a:tc>
                <a:tc>
                  <a:txBody>
                    <a:bodyPr/>
                    <a:lstStyle/>
                    <a:p>
                      <a:pPr>
                        <a:buNone/>
                      </a:pPr>
                      <a:r>
                        <a:rPr lang="en-US" sz="2400" dirty="0"/>
                        <a:t>If an AI struggles with tasks children find easy, what does that mean?</a:t>
                      </a:r>
                    </a:p>
                  </a:txBody>
                  <a:tcPr anchor="ctr"/>
                </a:tc>
                <a:extLst>
                  <a:ext uri="{0D108BD9-81ED-4DB2-BD59-A6C34878D82A}">
                    <a16:rowId xmlns:a16="http://schemas.microsoft.com/office/drawing/2014/main" val="3816116787"/>
                  </a:ext>
                </a:extLst>
              </a:tr>
              <a:tr h="1077857">
                <a:tc>
                  <a:txBody>
                    <a:bodyPr/>
                    <a:lstStyle/>
                    <a:p>
                      <a:pPr>
                        <a:buNone/>
                      </a:pPr>
                      <a:r>
                        <a:rPr lang="en-US" sz="2400"/>
                        <a:t>Does AI force us to rethink what “understanding” or “reasoning” really mean?</a:t>
                      </a:r>
                    </a:p>
                  </a:txBody>
                  <a:tcPr anchor="ctr"/>
                </a:tc>
                <a:tc>
                  <a:txBody>
                    <a:bodyPr/>
                    <a:lstStyle/>
                    <a:p>
                      <a:pPr>
                        <a:buNone/>
                      </a:pPr>
                      <a:r>
                        <a:rPr lang="en-US" sz="2400" dirty="0"/>
                        <a:t>If a system can explain itself, how do we decide whether it </a:t>
                      </a:r>
                      <a:r>
                        <a:rPr lang="en-US" sz="2400" i="1" dirty="0"/>
                        <a:t>actually</a:t>
                      </a:r>
                      <a:r>
                        <a:rPr lang="en-US" sz="2400" dirty="0"/>
                        <a:t> understands them?</a:t>
                      </a:r>
                    </a:p>
                  </a:txBody>
                  <a:tcPr anchor="ctr"/>
                </a:tc>
                <a:extLst>
                  <a:ext uri="{0D108BD9-81ED-4DB2-BD59-A6C34878D82A}">
                    <a16:rowId xmlns:a16="http://schemas.microsoft.com/office/drawing/2014/main" val="534286632"/>
                  </a:ext>
                </a:extLst>
              </a:tr>
            </a:tbl>
          </a:graphicData>
        </a:graphic>
      </p:graphicFrame>
    </p:spTree>
    <p:extLst>
      <p:ext uri="{BB962C8B-B14F-4D97-AF65-F5344CB8AC3E}">
        <p14:creationId xmlns:p14="http://schemas.microsoft.com/office/powerpoint/2010/main" val="1896070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81F57B-88AE-7C4E-80DB-409FA07B59C6}"/>
            </a:ext>
          </a:extLst>
        </p:cNvPr>
        <p:cNvGrpSpPr/>
        <p:nvPr/>
      </p:nvGrpSpPr>
      <p:grpSpPr>
        <a:xfrm>
          <a:off x="0" y="0"/>
          <a:ext cx="0" cy="0"/>
          <a:chOff x="0" y="0"/>
          <a:chExt cx="0" cy="0"/>
        </a:xfrm>
      </p:grpSpPr>
      <p:sp>
        <p:nvSpPr>
          <p:cNvPr id="4" name="Title 6">
            <a:extLst>
              <a:ext uri="{FF2B5EF4-FFF2-40B4-BE49-F238E27FC236}">
                <a16:creationId xmlns:a16="http://schemas.microsoft.com/office/drawing/2014/main" id="{699C707A-A903-6739-F21E-793957C9A3B3}"/>
              </a:ext>
            </a:extLst>
          </p:cNvPr>
          <p:cNvSpPr txBox="1">
            <a:spLocks/>
          </p:cNvSpPr>
          <p:nvPr/>
        </p:nvSpPr>
        <p:spPr>
          <a:xfrm>
            <a:off x="0" y="0"/>
            <a:ext cx="11482251" cy="73516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b="1" i="0" kern="1200">
                <a:solidFill>
                  <a:srgbClr val="E84A27"/>
                </a:solidFill>
                <a:latin typeface="Georgia" panose="02040502050405020303" pitchFamily="18" charset="0"/>
                <a:ea typeface="+mj-ea"/>
                <a:cs typeface="+mj-cs"/>
              </a:defRPr>
            </a:lvl1pPr>
          </a:lstStyle>
          <a:p>
            <a:r>
              <a:rPr lang="en-US" dirty="0">
                <a:latin typeface="Calibri"/>
                <a:cs typeface="Calibri"/>
              </a:rPr>
              <a:t>Questions About Artificial Intelligence</a:t>
            </a:r>
            <a:endParaRPr lang="en-US" dirty="0"/>
          </a:p>
        </p:txBody>
      </p:sp>
      <p:graphicFrame>
        <p:nvGraphicFramePr>
          <p:cNvPr id="5" name="Table 4">
            <a:extLst>
              <a:ext uri="{FF2B5EF4-FFF2-40B4-BE49-F238E27FC236}">
                <a16:creationId xmlns:a16="http://schemas.microsoft.com/office/drawing/2014/main" id="{0BC710B3-E371-ACB4-7A87-8C509B34EAB1}"/>
              </a:ext>
            </a:extLst>
          </p:cNvPr>
          <p:cNvGraphicFramePr>
            <a:graphicFrameLocks noGrp="1"/>
          </p:cNvGraphicFramePr>
          <p:nvPr>
            <p:extLst>
              <p:ext uri="{D42A27DB-BD31-4B8C-83A1-F6EECF244321}">
                <p14:modId xmlns:p14="http://schemas.microsoft.com/office/powerpoint/2010/main" val="1621781009"/>
              </p:ext>
            </p:extLst>
          </p:nvPr>
        </p:nvGraphicFramePr>
        <p:xfrm>
          <a:off x="0" y="2992582"/>
          <a:ext cx="12192000" cy="3865418"/>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82696027"/>
                    </a:ext>
                  </a:extLst>
                </a:gridCol>
                <a:gridCol w="6096000">
                  <a:extLst>
                    <a:ext uri="{9D8B030D-6E8A-4147-A177-3AD203B41FA5}">
                      <a16:colId xmlns:a16="http://schemas.microsoft.com/office/drawing/2014/main" val="683544289"/>
                    </a:ext>
                  </a:extLst>
                </a:gridCol>
              </a:tblGrid>
              <a:tr h="631847">
                <a:tc>
                  <a:txBody>
                    <a:bodyPr/>
                    <a:lstStyle/>
                    <a:p>
                      <a:pPr>
                        <a:buNone/>
                      </a:pPr>
                      <a:r>
                        <a:rPr lang="en-US" sz="2800" b="1" dirty="0"/>
                        <a:t>Answers</a:t>
                      </a:r>
                      <a:endParaRPr lang="en-US" sz="2800" dirty="0"/>
                    </a:p>
                  </a:txBody>
                  <a:tcPr anchor="ctr"/>
                </a:tc>
                <a:tc>
                  <a:txBody>
                    <a:bodyPr/>
                    <a:lstStyle/>
                    <a:p>
                      <a:pPr>
                        <a:buNone/>
                      </a:pPr>
                      <a:r>
                        <a:rPr lang="en-US" sz="2800" b="1" dirty="0"/>
                        <a:t>Description</a:t>
                      </a:r>
                      <a:endParaRPr lang="en-US" sz="2800" dirty="0"/>
                    </a:p>
                  </a:txBody>
                  <a:tcPr anchor="ctr"/>
                </a:tc>
                <a:extLst>
                  <a:ext uri="{0D108BD9-81ED-4DB2-BD59-A6C34878D82A}">
                    <a16:rowId xmlns:a16="http://schemas.microsoft.com/office/drawing/2014/main" val="249767879"/>
                  </a:ext>
                </a:extLst>
              </a:tr>
              <a:tr h="1077857">
                <a:tc>
                  <a:txBody>
                    <a:bodyPr/>
                    <a:lstStyle/>
                    <a:p>
                      <a:pPr>
                        <a:buNone/>
                      </a:pPr>
                      <a:r>
                        <a:rPr lang="en-US" sz="2400"/>
                        <a:t>Statistical Learning Insight</a:t>
                      </a:r>
                    </a:p>
                  </a:txBody>
                  <a:tcPr anchor="ctr"/>
                </a:tc>
                <a:tc>
                  <a:txBody>
                    <a:bodyPr/>
                    <a:lstStyle/>
                    <a:p>
                      <a:pPr>
                        <a:buNone/>
                      </a:pPr>
                      <a:r>
                        <a:rPr lang="en-US" sz="2400"/>
                        <a:t>AI successes highlight the power of prediction and pattern extraction</a:t>
                      </a:r>
                    </a:p>
                  </a:txBody>
                  <a:tcPr anchor="ctr"/>
                </a:tc>
                <a:extLst>
                  <a:ext uri="{0D108BD9-81ED-4DB2-BD59-A6C34878D82A}">
                    <a16:rowId xmlns:a16="http://schemas.microsoft.com/office/drawing/2014/main" val="3717605317"/>
                  </a:ext>
                </a:extLst>
              </a:tr>
              <a:tr h="1077857">
                <a:tc>
                  <a:txBody>
                    <a:bodyPr/>
                    <a:lstStyle/>
                    <a:p>
                      <a:pPr>
                        <a:buNone/>
                      </a:pPr>
                      <a:r>
                        <a:rPr lang="en-US" sz="2400"/>
                        <a:t>Revealing Missing Pieces</a:t>
                      </a:r>
                    </a:p>
                  </a:txBody>
                  <a:tcPr anchor="ctr"/>
                </a:tc>
                <a:tc>
                  <a:txBody>
                    <a:bodyPr/>
                    <a:lstStyle/>
                    <a:p>
                      <a:pPr>
                        <a:buNone/>
                      </a:pPr>
                      <a:r>
                        <a:rPr lang="en-US" sz="2400"/>
                        <a:t>AI failures expose gaps in theories of human cognition</a:t>
                      </a:r>
                    </a:p>
                  </a:txBody>
                  <a:tcPr anchor="ctr"/>
                </a:tc>
                <a:extLst>
                  <a:ext uri="{0D108BD9-81ED-4DB2-BD59-A6C34878D82A}">
                    <a16:rowId xmlns:a16="http://schemas.microsoft.com/office/drawing/2014/main" val="3816116787"/>
                  </a:ext>
                </a:extLst>
              </a:tr>
              <a:tr h="1077857">
                <a:tc>
                  <a:txBody>
                    <a:bodyPr/>
                    <a:lstStyle/>
                    <a:p>
                      <a:pPr>
                        <a:buNone/>
                      </a:pPr>
                      <a:r>
                        <a:rPr lang="en-US" sz="2400"/>
                        <a:t>Conceptual Clarification</a:t>
                      </a:r>
                    </a:p>
                  </a:txBody>
                  <a:tcPr anchor="ctr"/>
                </a:tc>
                <a:tc>
                  <a:txBody>
                    <a:bodyPr/>
                    <a:lstStyle/>
                    <a:p>
                      <a:pPr>
                        <a:buNone/>
                      </a:pPr>
                      <a:r>
                        <a:rPr lang="en-US" sz="2400" dirty="0"/>
                        <a:t>AI forces us to rethink foundational cognitive concepts</a:t>
                      </a:r>
                    </a:p>
                  </a:txBody>
                  <a:tcPr anchor="ctr"/>
                </a:tc>
                <a:extLst>
                  <a:ext uri="{0D108BD9-81ED-4DB2-BD59-A6C34878D82A}">
                    <a16:rowId xmlns:a16="http://schemas.microsoft.com/office/drawing/2014/main" val="534286632"/>
                  </a:ext>
                </a:extLst>
              </a:tr>
            </a:tbl>
          </a:graphicData>
        </a:graphic>
      </p:graphicFrame>
      <p:sp>
        <p:nvSpPr>
          <p:cNvPr id="2" name="TextBox 1" descr="FIG. 1. Lateral views of the brains of a number of extant vertebrate species (the brains are not drawn to the same scale). While there is tremendous variation in both overall brain size (see Fig. 2) and the size of most brain divisions, most vertebrates possess brains that can be divided into the same number of divisions. aob, accessory olfactory bulb (cross-hatched); cb, cerebellum (stippled); ch, cerebral hemispheres (cross-hatched); m, medulla oblongata; ob, olfactory bulb (cross-hatched); ot, optic tectum (black); and p, pituitary gland. Modified from Braun and Northcutt (1999).">
            <a:extLst>
              <a:ext uri="{FF2B5EF4-FFF2-40B4-BE49-F238E27FC236}">
                <a16:creationId xmlns:a16="http://schemas.microsoft.com/office/drawing/2014/main" id="{74EC41AB-695E-64BF-D93C-77A21A95A958}"/>
              </a:ext>
            </a:extLst>
          </p:cNvPr>
          <p:cNvSpPr txBox="1"/>
          <p:nvPr/>
        </p:nvSpPr>
        <p:spPr>
          <a:xfrm>
            <a:off x="1003168" y="1540706"/>
            <a:ext cx="10185664" cy="646331"/>
          </a:xfrm>
          <a:prstGeom prst="rect">
            <a:avLst/>
          </a:prstGeom>
          <a:noFill/>
        </p:spPr>
        <p:txBody>
          <a:bodyPr wrap="square" rtlCol="0">
            <a:spAutoFit/>
          </a:bodyPr>
          <a:lstStyle/>
          <a:p>
            <a:r>
              <a:rPr lang="en-US" sz="3600" b="1" dirty="0"/>
              <a:t>10. What can AI teach us about human cognition?</a:t>
            </a:r>
          </a:p>
        </p:txBody>
      </p:sp>
    </p:spTree>
    <p:extLst>
      <p:ext uri="{BB962C8B-B14F-4D97-AF65-F5344CB8AC3E}">
        <p14:creationId xmlns:p14="http://schemas.microsoft.com/office/powerpoint/2010/main" val="6112327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1ADC82-AE57-FE64-E903-E0C098AA2B92}"/>
            </a:ext>
          </a:extLst>
        </p:cNvPr>
        <p:cNvGrpSpPr/>
        <p:nvPr/>
      </p:nvGrpSpPr>
      <p:grpSpPr>
        <a:xfrm>
          <a:off x="0" y="0"/>
          <a:ext cx="0" cy="0"/>
          <a:chOff x="0" y="0"/>
          <a:chExt cx="0" cy="0"/>
        </a:xfrm>
      </p:grpSpPr>
      <p:sp>
        <p:nvSpPr>
          <p:cNvPr id="4" name="Title 6">
            <a:extLst>
              <a:ext uri="{FF2B5EF4-FFF2-40B4-BE49-F238E27FC236}">
                <a16:creationId xmlns:a16="http://schemas.microsoft.com/office/drawing/2014/main" id="{51341802-23B6-5E2D-259F-0D795AAB6D3F}"/>
              </a:ext>
            </a:extLst>
          </p:cNvPr>
          <p:cNvSpPr txBox="1">
            <a:spLocks/>
          </p:cNvSpPr>
          <p:nvPr/>
        </p:nvSpPr>
        <p:spPr>
          <a:xfrm>
            <a:off x="0" y="0"/>
            <a:ext cx="11482251" cy="73516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b="1" i="0" kern="1200">
                <a:solidFill>
                  <a:srgbClr val="E84A27"/>
                </a:solidFill>
                <a:latin typeface="Georgia" panose="02040502050405020303" pitchFamily="18" charset="0"/>
                <a:ea typeface="+mj-ea"/>
                <a:cs typeface="+mj-cs"/>
              </a:defRPr>
            </a:lvl1pPr>
          </a:lstStyle>
          <a:p>
            <a:r>
              <a:rPr lang="en-US" dirty="0">
                <a:latin typeface="Calibri"/>
                <a:cs typeface="Calibri"/>
              </a:rPr>
              <a:t>The Evolution of Homo Sapiens and Language</a:t>
            </a:r>
            <a:endParaRPr lang="en-US" dirty="0"/>
          </a:p>
        </p:txBody>
      </p:sp>
      <p:sp>
        <p:nvSpPr>
          <p:cNvPr id="2" name="TextBox 1">
            <a:extLst>
              <a:ext uri="{FF2B5EF4-FFF2-40B4-BE49-F238E27FC236}">
                <a16:creationId xmlns:a16="http://schemas.microsoft.com/office/drawing/2014/main" id="{DA618609-ABDD-B3F2-23C7-B28731F0AA5B}"/>
              </a:ext>
            </a:extLst>
          </p:cNvPr>
          <p:cNvSpPr txBox="1"/>
          <p:nvPr/>
        </p:nvSpPr>
        <p:spPr>
          <a:xfrm>
            <a:off x="5344886" y="1228397"/>
            <a:ext cx="6613197" cy="3416320"/>
          </a:xfrm>
          <a:prstGeom prst="rect">
            <a:avLst/>
          </a:prstGeom>
          <a:noFill/>
        </p:spPr>
        <p:txBody>
          <a:bodyPr wrap="square" rtlCol="0">
            <a:spAutoFit/>
          </a:bodyPr>
          <a:lstStyle/>
          <a:p>
            <a:r>
              <a:rPr lang="en-US" sz="3200" b="1" dirty="0"/>
              <a:t>Summary</a:t>
            </a:r>
          </a:p>
          <a:p>
            <a:pPr marL="342900" indent="-342900">
              <a:buFont typeface="Arial" panose="020B0604020202020204" pitchFamily="34" charset="0"/>
              <a:buChar char="•"/>
            </a:pPr>
            <a:r>
              <a:rPr lang="en-US" sz="2400" dirty="0"/>
              <a:t>Language transformed communication and cooperation</a:t>
            </a:r>
          </a:p>
          <a:p>
            <a:pPr marL="342900" indent="-342900">
              <a:buFont typeface="Arial" panose="020B0604020202020204" pitchFamily="34" charset="0"/>
              <a:buChar char="•"/>
            </a:pPr>
            <a:r>
              <a:rPr lang="en-US" sz="2400" dirty="0"/>
              <a:t>It built on primate social and cognitive foundations</a:t>
            </a:r>
          </a:p>
          <a:p>
            <a:endParaRPr lang="en-US" sz="3200" b="1" dirty="0"/>
          </a:p>
          <a:p>
            <a:r>
              <a:rPr lang="en-US" sz="3200" b="1" dirty="0"/>
              <a:t>Next Time</a:t>
            </a:r>
          </a:p>
          <a:p>
            <a:pPr marL="342900" indent="-342900">
              <a:buFont typeface="Arial" panose="020B0604020202020204" pitchFamily="34" charset="0"/>
              <a:buChar char="•"/>
            </a:pPr>
            <a:r>
              <a:rPr lang="en-US" sz="2400" dirty="0"/>
              <a:t>How language actually works in the mind</a:t>
            </a:r>
          </a:p>
        </p:txBody>
      </p:sp>
      <p:pic>
        <p:nvPicPr>
          <p:cNvPr id="3" name="Picture 2">
            <a:extLst>
              <a:ext uri="{FF2B5EF4-FFF2-40B4-BE49-F238E27FC236}">
                <a16:creationId xmlns:a16="http://schemas.microsoft.com/office/drawing/2014/main" id="{62188E2C-BEB6-98A9-AACF-4C95823A17C7}"/>
              </a:ext>
            </a:extLst>
          </p:cNvPr>
          <p:cNvPicPr>
            <a:picLocks noChangeAspect="1"/>
          </p:cNvPicPr>
          <p:nvPr/>
        </p:nvPicPr>
        <p:blipFill>
          <a:blip r:embed="rId3"/>
          <a:stretch>
            <a:fillRect/>
          </a:stretch>
        </p:blipFill>
        <p:spPr>
          <a:xfrm>
            <a:off x="233917" y="1100470"/>
            <a:ext cx="4471971" cy="4657060"/>
          </a:xfrm>
          <a:prstGeom prst="rect">
            <a:avLst/>
          </a:prstGeom>
        </p:spPr>
      </p:pic>
      <p:sp>
        <p:nvSpPr>
          <p:cNvPr id="5" name="Rectangle 4">
            <a:extLst>
              <a:ext uri="{FF2B5EF4-FFF2-40B4-BE49-F238E27FC236}">
                <a16:creationId xmlns:a16="http://schemas.microsoft.com/office/drawing/2014/main" id="{FA5E39B6-F2E6-971D-251E-9AB6E63362D0}"/>
              </a:ext>
            </a:extLst>
          </p:cNvPr>
          <p:cNvSpPr/>
          <p:nvPr/>
        </p:nvSpPr>
        <p:spPr>
          <a:xfrm>
            <a:off x="103774" y="1100470"/>
            <a:ext cx="4732256" cy="1168924"/>
          </a:xfrm>
          <a:prstGeom prst="rect">
            <a:avLst/>
          </a:prstGeom>
          <a:solidFill>
            <a:srgbClr val="FF552E">
              <a:alpha val="0"/>
            </a:srgbClr>
          </a:solidFill>
          <a:ln w="63500">
            <a:solidFill>
              <a:srgbClr val="FF552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30362820"/>
      </p:ext>
    </p:extLst>
  </p:cSld>
  <p:clrMapOvr>
    <a:masterClrMapping/>
  </p:clrMapOvr>
</p:sld>
</file>

<file path=ppt/theme/theme1.xml><?xml version="1.0" encoding="utf-8"?>
<a:theme xmlns:a="http://schemas.openxmlformats.org/drawingml/2006/main" name="Custom Design">
  <a:themeElements>
    <a:clrScheme name="Custom 5">
      <a:dk1>
        <a:srgbClr val="13284B"/>
      </a:dk1>
      <a:lt1>
        <a:srgbClr val="FFFFFF"/>
      </a:lt1>
      <a:dk2>
        <a:srgbClr val="1E3877"/>
      </a:dk2>
      <a:lt2>
        <a:srgbClr val="F8FAFC"/>
      </a:lt2>
      <a:accent1>
        <a:srgbClr val="FF552E"/>
      </a:accent1>
      <a:accent2>
        <a:srgbClr val="1D58A7"/>
      </a:accent2>
      <a:accent3>
        <a:srgbClr val="F5821E"/>
      </a:accent3>
      <a:accent4>
        <a:srgbClr val="009FD3"/>
      </a:accent4>
      <a:accent5>
        <a:srgbClr val="DD3403"/>
      </a:accent5>
      <a:accent6>
        <a:srgbClr val="D2D2D2"/>
      </a:accent6>
      <a:hlink>
        <a:srgbClr val="1D58A7"/>
      </a:hlink>
      <a:folHlink>
        <a:srgbClr val="DD3403"/>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9" id="{EB6B2FBE-53CE-AE45-9D18-D10FBF4063E0}" vid="{7AC8A834-0896-8341-9AC3-2DE1C842C7A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Custom Design</Template>
  <TotalTime>43747</TotalTime>
  <Words>7638</Words>
  <Application>Microsoft Macintosh PowerPoint</Application>
  <PresentationFormat>Widescreen</PresentationFormat>
  <Paragraphs>624</Paragraphs>
  <Slides>24</Slides>
  <Notes>24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Calibri</vt:lpstr>
      <vt:lpstr>Georgia</vt:lpstr>
      <vt:lpstr>Custom Design</vt:lpstr>
      <vt:lpstr>BCOG 100</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Here</dc:title>
  <dc:creator>Willits, Jon Anthony</dc:creator>
  <cp:lastModifiedBy>Willits, Jon Anthony</cp:lastModifiedBy>
  <cp:revision>531</cp:revision>
  <cp:lastPrinted>2025-11-07T13:39:49Z</cp:lastPrinted>
  <dcterms:created xsi:type="dcterms:W3CDTF">2022-08-22T20:35:14Z</dcterms:created>
  <dcterms:modified xsi:type="dcterms:W3CDTF">2025-12-02T14:33:24Z</dcterms:modified>
</cp:coreProperties>
</file>