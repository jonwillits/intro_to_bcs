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last lecture a weight was a number in a rule. In an animal it is a physical arrangement, and something physical has to move when it changes.</a:t>
            </a:r>
          </a:p>
          <a:p/>
          <a:p>
            <a:r>
              <a:t>In Module 3 we said that the strength of a connection was one of the answers to how identical spikes can carry different amounts of information. This lecture is about how that strength actually changes, in real cells — and about what decides whether it changes at all.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boundary first. What follows stops at the synapse and at the cell. Vertebrate brains also have whole structures given over to particular kinds of learning, and where those are, and why an animal ends up with separate ones, is Module 6. But before there were brain systems specialized for kinds of learning, there was learning at individual synapses, and that is the level here.</a:t>
            </a:r>
          </a:p>
          <a:p/>
          <a:p>
            <a:r>
              <a:t>Underneath everything in this lecture there is a single principle: a lasting change that is a function of activity. What varies is where the change is made and what regulates it.</a:t>
            </a:r>
          </a:p>
          <a:p/>
          <a:p>
            <a:r>
              <a:t>A change can be made in three places: the strength of a synapse, how readily a cell fires at all, or whether a connection is there in the first place. And any of those can be regulated three ways: by a signal broadcast from somewhere else, by a fading mark that settles which synapses are still in the running, and by mechanisms that keep the whole arrangement from running away.</a:t>
            </a:r>
          </a:p>
          <a:p/>
          <a:p>
            <a:r>
              <a:t>Those are two lists of three, and every mechanism in this lecture is one entry from each. We will come back to the full grid near the end, once each piece has been on the screen.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connected cells fire together, repeatedly, and the synapse between them becomes stronger — and stays stronger, for hours or longer. That lasting increase is long-term potentiation.</a:t>
            </a:r>
          </a:p>
          <a:p/>
          <a:p>
            <a:r>
              <a:t>Now let the sending cell fire repeatedly while the receiving cell stays quiet. The same synapse weakens instead. That is long-term depression.</a:t>
            </a:r>
          </a:p>
          <a:p/>
          <a:p>
            <a:r>
              <a:t>Both are changes in how much an arriving spike accomplishes. More transmitter is released on the sending side and there are more receptors on the receiving side to catch it — or less of each, in the other direction.</a:t>
            </a:r>
          </a:p>
          <a:p/>
          <a:p>
            <a:r>
              <a:t>The pair matters more than either member. A synapse that could only strengthen would be a one-way ratchet, which is exactly the limitation we found in Hebb's rule in the last lecture: every term positive, every change upward. Long-term depression is what makes a coincidence rule something that can move a weight in both directions, rather than something that can only add.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does a synapse detect that both of its cells were active? One answer is built into a receptor.</a:t>
            </a:r>
          </a:p>
          <a:p/>
          <a:p>
            <a:r>
              <a:t>The NMDA receptor sits on the receiving side and opens only when two conditions hold at once. Transmitter from the sending cell has to be bound to it. And the receiving cell has to be depolarized already, enough to expel a magnesium ion that otherwise sits in the channel and plugs it. Transmitter alone does nothing, because the plug is still there. Depolarization alone does nothing, because nothing is bound. Both together, and the channel opens, calcium enters the receiving cell, and the lasting change is set in motion.</a:t>
            </a:r>
          </a:p>
          <a:p/>
          <a:p>
            <a:r>
              <a:t>That is a truth table built out of chemistry, and the chapter's figure sets the two side by side. In Module 4 we treated AND, OR and NOT as operations a threshold unit computes, with the threshold deciding which. Here is an AND gate made of a protein, a magnesium ion and a voltage.</a:t>
            </a:r>
          </a:p>
          <a:p/>
          <a:p>
            <a:r>
              <a:t>It is also the fourth AND gate in three modules: Module 4's threshold unit, the cnidarian stinging cell in the first lecture of this module, and now a receptor. The name for what it does is coincidence detection, and in this one case the name is not a description of the mechanism from a distance. It is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Overlap is not quite the whole story. What settles the direction of the change is order. If the sending cell fires shortly before the receiving cell, the synapse strengthens. If it fires shortly after, the same synapse weakens. The window where order matters is a few tens of milliseconds wide, and outside it very little happens either way. The whole pattern is called spike-timing-dependent plasticity.</a:t>
            </a:r>
          </a:p>
          <a:p/>
          <a:p>
            <a:r>
              <a:t>That answers an objection that has been sitting under the last lecture since Hebb's rule was written down. A rule that responds to things happening together cannot tell a cause from a coincidence, because both show up as co-occurrence.</a:t>
            </a:r>
          </a:p>
          <a:p/>
          <a:p>
            <a:r>
              <a:t>Except that at the synapse the two do not look alike. A cell that helped fire another cell fired first. A cell that merely happened to be active at the same moment is as likely to have fired just after as just before. So some of the difference between causing something and accompanying it is carried in a few milliseconds of order, and a synapse is sensitive to exactly that.</a:t>
            </a:r>
          </a:p>
          <a:p/>
          <a:p>
            <a:r>
              <a:t>It also keeps a promise from the first lecture, where the rustle before the predator and the carcass after it told us that an association across time has to record which event came first. Here is that record, at a single synapse.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rule that strengthens what is already strong is a positive feedback loop, and Module 3 told us what positive feedback loops do: they run to completion. Left alone, a Hebbian synapse would strengthen, which makes the receiving cell fire more readily, which makes the pairing more reliable, which strengthens the synapse further. Every useful connection would end up saturated, and every cell would end up responding to everything.</a:t>
            </a:r>
          </a:p>
          <a:p/>
          <a:p>
            <a:r>
              <a:t>Two things bound it. The first is long-term depression, which weakens a synapse directly. The second is synaptic competition. What a synapse needs in order to grow is limited, and shared among the synapses onto the same cell, so strengthening some of them weakens others.</a:t>
            </a:r>
          </a:p>
          <a:p/>
          <a:p>
            <a:r>
              <a:t>Competition is not a bookkeeping detail. It is why an input that stops carrying useful signal does not merely fail to gain ground, but loses ground it already held — which is the deprived eye we will see in a few slides.</a:t>
            </a:r>
          </a:p>
          <a:p/>
          <a:p>
            <a:r>
              <a:t>And it is worth stating plainly, because the opposite gets said often: the claim that Hebbian learning has no way to weaken a connection is false. One mechanism weakens a synapse directly, and another weakens it as a consequence of strengthening its neighbors.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*Aplysia* is a sea slug with roughly twenty thousand neurons, many of them large enough to see without a microscope and to record from one at a time. Touch its siphon and it withdraws its gill.</a:t>
            </a:r>
          </a:p>
          <a:p/>
          <a:p>
            <a:r>
              <a:t>That one reflex, in that one animal, carries three kinds of learning from the first lecture's tiers: habituation when the touch is repeated without consequence, sensitization after a shock, and classical conditioning when a touch is paired with a shock. In each case the change has been traced to particular synapses between identified cells.</a:t>
            </a:r>
          </a:p>
          <a:p/>
          <a:p>
            <a:r>
              <a:t>Look closely at sensitization. A shock to the tail makes the animal withdraw more vigorously in response to almost anything afterward. What produces that is not a change inside either of the two cells in the reflex pathway. It is a third cell, which releases serotonin onto the connection between them and thereby changes how much transmitter the sending cell releases.</a:t>
            </a:r>
          </a:p>
          <a:p/>
          <a:p>
            <a:r>
              <a:t>Notice what just happened. A signal arriving from outside the pair changed what the pair does. That is the subject of the next slide, and it was found first in an invertebrate.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Presynaptic activity. Postsynaptic activity. And a third signal, broadcast from elsewhere. Together those are the three-factor rule, and the division of labor among them is the point. The local pair settles which synapses are eligible to change. The third factor settles whether they change at all, and in which direction.</a:t>
            </a:r>
          </a:p>
          <a:p/>
          <a:p>
            <a:r>
              <a:t>That last part deserves care, because the obvious guess is wrong. The third factor is not a volume knob on a change the first two have already decided. In a number of preparations the same pairing of presynaptic and postsynaptic activity produces strengthening or weakening depending on which modulatory receptor is engaged. A modulator can reverse the sign of the change, not merely scale its size.</a:t>
            </a:r>
          </a:p>
          <a:p/>
          <a:p>
            <a:r>
              <a:t>This is the bridge the last lecture needed. A coincidence detector on its own is Hebbian, and a Hebbian rule has no term for how things went. Add a signal that arrives when things went better than expected, and the same coincidence detector becomes a reward learner — with nothing about the coincidence detection itself altered.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third factor can be named. Dopamine is one of the signals that does this job.</a:t>
            </a:r>
          </a:p>
          <a:p/>
          <a:p>
            <a:r>
              <a:t>In Module 4 we gave dopamine wanting and pursuit and held the rest back. Here is the rest. Dopaminergic cells fire above their baseline when an outcome is better than predicted, fall below it when an outcome is worse, and do not change when an outcome arrives exactly as predicted.</a:t>
            </a:r>
          </a:p>
          <a:p/>
          <a:p>
            <a:r>
              <a:t>That is the reward prediction error: the one broadcast number from the last lecture, made physical, and released across a wide stretch of tissue rather than addressed to particular cells. It is also the temporal-difference error of the critic, which is why this finding mattered so much — we will come back to that at the very end.</a:t>
            </a:r>
          </a:p>
          <a:p/>
          <a:p>
            <a:r>
              <a:t>One honest note about the evidence. The recordings that established the dopamine result were made in vertebrates, and largely in primates. So the evidence comes from animals that arrived long after the mechanism did. How far down the tree the arrangement extends is a separate question from whether it works this way in a monkey, and this lecture does not answer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last lecture we needed a fading mark, so that a signal arriving after the fact could find the synapses that had been involved. Something of that kind exists. A synapse that has just been active is left in an altered state that decays over seconds. A neuromodulatory signal arriving inside that window converts the altered state into a lasting change. A signal arriving after the window has closed does not.</a:t>
            </a:r>
          </a:p>
          <a:p/>
          <a:p>
            <a:r>
              <a:t>So an algorithmic proposal, invented to solve a timing problem, has a physical counterpart. It is worth being careful about what that shows and what it does not. It does not show the algorithm is correct. It shows that the thing the algorithm needed is the sort of thing a synapse can be.</a:t>
            </a:r>
          </a:p>
          <a:p/>
          <a:p>
            <a:r>
              <a:t>A single broadcast number is also not the only signal a nervous system can send from elsewhere. Some learning runs on a signal that specifies a different output, item by item — the teacher from the four kinds of learning, the one we said was hardest to arrange. Vertebrates have a structure arranged around exactly that. In the cerebellum, each output cell receives a single climbing fiber from one source, and that fiber's firing is an error signal for that cell in particular. One fiber, one target cell, one instruction.</a:t>
            </a:r>
          </a:p>
          <a:p/>
          <a:p>
            <a:r>
              <a:t>Where the different kinds of learning end up in a vertebrate brain, and what an animal gains by keeping them apart, is Module 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first lecture we said a learner needs a setting somewhere between changing with every experience and changing with none, and probably a schedule that moves the setting across a lifetime. Nervous systems have that schedule, built from the mechanisms we have just seen.</a:t>
            </a:r>
          </a:p>
          <a:p/>
          <a:p>
            <a:r>
              <a:t>Connections are made early in great profusion, far more than will survive. That is synaptogenesis. What follows is pruning, a cutting back in which activity decides which connections last — and the rule doing the deciding is competition, running while the animal is still being built. So early on a nervous system is not merely adjusting weights. It is settling which connections will exist to have weights at all.</a:t>
            </a:r>
          </a:p>
          <a:p/>
          <a:p>
            <a:r>
              <a:t>A critical period is a window during which experience has an outsized and lasting effect on how some piece of nervous system ends up wired. The figure is the chapter's clearest case. The inputs from the two eyes compete for territory in visual cortex. Close one eye early in life and it ends up holding less territory than it had before — lost ground, not merely ground not gained — and it does not recover the difference when the eye is reopened. Do the same to an adult and very little happens.</a:t>
            </a:r>
          </a:p>
          <a:p/>
          <a:p>
            <a:r>
              <a:t>The second case is in every one of us. Human infants can hear distinctions their language does not use, and lose much of that ability across the first year, as the contrasts that actually occur in what they hear come to organize how speech sounds are heard at all. In both cases the closing is an active process, not a running-down, which is why it has a schedule rather than merely a rate.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version of these findings gets overstated often enough that it is worth separating what the evidence supports from what it does not.</a:t>
            </a:r>
          </a:p>
          <a:p/>
          <a:p>
            <a:r>
              <a:t>Supported: early experience has effects on some capacities that are large, specific, and difficult to reverse afterward, and the two cases on the last slide are the clearest of them.</a:t>
            </a:r>
          </a:p>
          <a:p/>
          <a:p>
            <a:r>
              <a:t>Not supported: that development is a series of windows that slam shut, that missing one means a capacity is gone for good, or that extra stimulation during a window produces a better capacity later. That last one is worth noticing, because it is the claim behind a great deal of marketing aimed at parents.</a:t>
            </a:r>
          </a:p>
          <a:p/>
          <a:p>
            <a:r>
              <a:t>Adults learn second languages. Recovery from early deprivation is usually partial, which is neither nothing nor everything. A window that closes changes what later learning has to work with. It does not end learning.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synapse is not the only thing a nervous system can change lastingly, and after being told many times that a weight is what moves, it is worth being told what else does. The answer tidies the lecture rather than complicating it.</a:t>
            </a:r>
          </a:p>
          <a:p/>
          <a:p>
            <a:r>
              <a:t>There are three places a lasting change can be made. The strength of a synapse is the one we have spent most time on. Intrinsic excitability is the second: a cell can change how readily it fires at all, so the same input carries it further, or less far, than before. Whether a connection exists at all is the third, which we just saw settled by competition during development.</a:t>
            </a:r>
          </a:p>
          <a:p/>
          <a:p>
            <a:r>
              <a:t>And there are three regulators. A neuromodulatory signal gates the change and can set its direction. An eligibility trace settles which synapses are still candidates when that signal arrives. And homeostatic plasticity, together with competition, keeps total activity and total synaptic strength within a range.</a:t>
            </a:r>
          </a:p>
          <a:p/>
          <a:p>
            <a:r>
              <a:t>One principle, at several loci, with several regulators. Every mechanism in this lecture has been an instance of it.</a:t>
            </a:r>
          </a:p>
          <a:p/>
          <a:p>
            <a:r>
              <a:t>The frame also dissolves a question a good student asks. It is sometimes said that Hebbian plasticity is the only real learning, and everything else is a modulation of it. On this account that is a disagreement about which word to use, not about what happens. Nobody disputes the pieces. Whether to call gating, traces and excitability changes learning, or the regulation of learning, is a naming question, and naming questions are not findings.</a:t>
            </a:r>
          </a:p>
          <a:p/>
          <a:p>
            <a:r>
              <a:t>One hedge is owed. This is where the evidence currently sits, not a proof that nothing else could hold a lasting change. A minority argument that some of what is stored is held inside cells, in molecules rather than connections, is live, and the reading points to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synapse has now been shown changing, and staying changed. So is that a memory?</a:t>
            </a:r>
          </a:p>
          <a:p/>
          <a:p>
            <a:r>
              <a:t>In one ordinary sense, yes. A persisting change caused by experience is close to what many people mean by the word, and on that reading everything in this lecture is a memory result.</a:t>
            </a:r>
          </a:p>
          <a:p/>
          <a:p>
            <a:r>
              <a:t>But that sense does no work. On it, a piece of metal that has been bent is remembering the force that bent it, and a path worn across a lawn is remembering the people who walked it. A word that covers everything distinguishes nothing.</a:t>
            </a:r>
          </a:p>
          <a:p/>
          <a:p>
            <a:r>
              <a:t>The distinction that does work is about when the use of a stored thing is settled. A disposition is committed at the moment it is laid down: the weight changes, and what the change will do is fixed by the change itself. A record is uncommitted: something is kept without its use being settled, and what it is for is decided later, when it is retrieved. Learning as this module has described it produces dispositions.</a:t>
            </a:r>
          </a:p>
          <a:p/>
          <a:p>
            <a:r>
              <a:t>Two consequences follow. *Encoding, storage and retrieval* is not a deeper way of describing what we have seen; it is a decomposition that only becomes necessary once what is kept is uncommitted. That is why the vocabulary sounds strange applied to habituation — nothing is retrieved when an anemone stops withdrawing. And a weight is a residue. It can say what tends to happen. It can never say what happened. An animal whose learning is entirely dispositional cannot revisit a particular occasion, because no particular occasion was ever kept.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distinction predicts its own hard cases, and the hard cases are the famous ones.</a:t>
            </a:r>
          </a:p>
          <a:p/>
          <a:p>
            <a:r>
              <a:t>In sensory preconditioning, two neutral things are paired with each other first — a bell and a light, with nothing following either — and only afterward is one of them paired with something that matters. The animal then responds to the other one as well, though it has never been paired with anything. At the moment the bell and the light were linked, nothing had determined what that link would be used for.</a:t>
            </a:r>
          </a:p>
          <a:p/>
          <a:p>
            <a:r>
              <a:t>Latent learning is the same shape at a larger scale, and the plot is a schematic of it rather than data. Rats allowed to wander a maze with no food in it appear to learn nothing. Then food is introduced, and they reach it about as efficiently as rats that had been rewarded from the start. What they picked up while wandering was not committed to any use at the time they picked it up.</a:t>
            </a:r>
          </a:p>
          <a:p/>
          <a:p>
            <a:r>
              <a:t>That is where a disposition stops being enough. Something was kept that was not a disposition to act, and it had to be put to work by a process that came later. Records, retrieval, and the animals that keep them are Module 10's, along with the distinction between episodic and semantic memory that will be needed there.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that three-by-three frame is a learning-specific device. The same coincidence detection, the same gating by a signal from elsewhere, and the same competition for something limited also wire a nervous system during development, tune a sensory map to the statistics of what reaches it, and support the memory system we just handed on to Module 10. One set of parts, several architectures, several problems.</a:t>
            </a:r>
          </a:p>
          <a:p/>
          <a:p>
            <a:r>
              <a:t>Module 1 taught multiple realizability: one function, running on many possible implementations. Here is the converse: one implementation, serving many functions.</a:t>
            </a:r>
          </a:p>
          <a:p/>
          <a:p>
            <a:r>
              <a:t>The converse is what makes an inference from a part to a job unsafe, which is the move we named reverse inference in Module 2. Finding that a mechanism is present, or that a structure is active, does not establish which job is being done, when the same mechanism does several.</a:t>
            </a:r>
          </a:p>
          <a:p/>
          <a:p>
            <a:r>
              <a:t>So the overlap is not an embarrassment for the account. A principle stated generally enough to have several loci and several regulators, with nothing in it committed to a particular task, is exactly the kind of thing that gets reused everywhere. It is what two earlier modules would have predicted.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 the module together. Four kinds of learning, and what separates them is not what they change. All four change a weight.</a:t>
            </a:r>
          </a:p>
          <a:p/>
          <a:p>
            <a:r>
              <a:t>What separates them is how much of the world has to reach that weight before it will move, and where an answer is needed, who supplies it. Nothing but the two cells a connection joins. The next input, which the world delivers without being asked. An answer from a source that already holds it. Or one number reporting how things went. Ranked by how hard that signal is to arrange inside an animal, the order runs backward from the one most people expect, and a teacher is the hardest rather than the easiest. And one synapse, given the right third factor, implements all of it.</a:t>
            </a:r>
          </a:p>
          <a:p/>
          <a:p>
            <a:r>
              <a:t>One lesson travels further than the rest, so it is worth saying on its own. Vocabulary about goals and errors earns its place exactly where something in the mechanism plays the part the word names. Hebb's rule holds no goal and registers no miss, so reading design into it is the same mistake we refused to make about the peppered moth in Module 2. Error-driven learning holds an expectation and computes a difference against it, so the same words describe rather than decorate.</a:t>
            </a:r>
          </a:p>
          <a:p/>
          <a:p>
            <a:r>
              <a:t>That is a test, and it applies well outside this course — to a news story about what a gene "wants", to a claim about what an AI system "believes", to anything described in the language of intention.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places the levels strained in this module, now that we have the evidence to see them.</a:t>
            </a:r>
          </a:p>
          <a:p/>
          <a:p>
            <a:r>
              <a:t>First, Marr's levels have no slot for evidence. Blocking, devaluation, renewal and instinctive drift are not computational, algorithmic or implementational claims. They are findings, and findings are what decide between proposals at every level. A scheme that classifies explanations is silent about the things that adjudicate them.</a:t>
            </a:r>
          </a:p>
          <a:p/>
          <a:p>
            <a:r>
              <a:t>Second, the levels were not independently specifiable here. The scheme says we should be able to settle what is computed without settling how it is done. But temporal-difference learning became the accepted account of animal learning in large part because of a finding from below it — the dopamine recordings, behaving exactly as the algorithm's error term said they should. The evidence for the algorithm came from the implementation.</a:t>
            </a:r>
          </a:p>
          <a:p/>
          <a:p>
            <a:r>
              <a:t>Third, what turned up at the implementational level was not a mechanism for learning but a principle, sited in several places and regulated several ways. A description that general does not pick out the function above it, so the mapping between levels is loose downward as well as upward.</a:t>
            </a:r>
          </a:p>
          <a:p/>
          <a:p>
            <a:r>
              <a:t>None of that means the levels fail. They separated *why change at all* from *by what rule* from *in what material*, and that separation is what let us compare the four families. A framework is a tool with a shape, and knowing where it strains is part of knowing how to use it.</a:t>
            </a:r>
          </a:p>
          <a:p/>
          <a:p>
            <a:r>
              <a:t>And the handoff. Everything in this module is general-purpose and undifferentiated: the same rule, the same tissue, wherever there are synapses. A principle general enough to be reused everywhere is, for that reason, specialized for nothing. A system that does everything in one place cannot be very good at any of it, and cannot do two incompatible things at once. So what happens when an animal is large enough to build specialists? That is Module 6 — the question Module 4 asked about circuits, one level up. Three smaller threads wait further on: what a single unit cannot learn, in Module 7; records, in Module 10; and choosing by consulting a model, in Module 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Learning and Plasticity</a:t>
            </a:r>
          </a:p>
          <a:p>
            <a:pPr algn="ctr"/>
            <a:r>
              <a:rPr sz="2000" b="0" i="0">
                <a:solidFill>
                  <a:srgbClr val="FFFFFF"/>
                </a:solidFill>
                <a:latin typeface="Calibri"/>
              </a:rPr>
              <a:t>Lecture 5.3 — What Physically Changes, and What Gates 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where_the_account_stop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One Principle, and Where This Account Stops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Underneath everything in this lecture: </a:t>
            </a:r>
            <a:r>
              <a:rPr sz="2000" b="1" i="0">
                <a:solidFill>
                  <a:srgbClr val="222222"/>
                </a:solidFill>
                <a:latin typeface="Calibri"/>
              </a:rPr>
              <a:t>a lasting change that is a function of activity</a:t>
            </a:r>
            <a:r>
              <a:rPr sz="2000" b="0" i="0">
                <a:solidFill>
                  <a:srgbClr val="222222"/>
                </a:solidFill>
                <a:latin typeface="Calibri"/>
              </a:rPr>
              <a:t>. What varies is where the change is made and what regulates it. The account stops at the synapse and the cell.</a:t>
            </a:r>
          </a:p>
        </p:txBody>
      </p:sp>
      <p:pic>
        <p:nvPicPr>
          <p:cNvPr id="4" name="img0" descr="Three nested regions drawn left to right. The smallest, labeled a synapse, sits inside a larger region labeled a cell; both are drawn in full color and bracketed together as this lecture. To the right, a larger faded region labeled brain structures given over to particular kinds of learning is bracketed separately and labeled Module 6. A line beneath reads: before there were brain systems for learning, there was learning at single synapses."/>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ltp_and_ltd">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Strengthening a Synapse, and Weakening One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Fire together repeatedly and the synapse strengthens, and stays stronger: </a:t>
            </a:r>
            <a:r>
              <a:rPr sz="2000" b="1" i="0">
                <a:solidFill>
                  <a:srgbClr val="222222"/>
                </a:solidFill>
                <a:latin typeface="Calibri"/>
              </a:rPr>
              <a:t>long-term potentiation</a:t>
            </a:r>
            <a:r>
              <a:rPr sz="2000" b="0" i="0">
                <a:solidFill>
                  <a:srgbClr val="222222"/>
                </a:solidFill>
                <a:latin typeface="Calibri"/>
              </a:rPr>
              <a:t>. Sender active while the receiver stays quiet, and it weakens: </a:t>
            </a:r>
            <a:r>
              <a:rPr sz="2000" b="1" i="0">
                <a:solidFill>
                  <a:srgbClr val="222222"/>
                </a:solidFill>
                <a:latin typeface="Calibri"/>
              </a:rPr>
              <a:t>long-term depression</a:t>
            </a:r>
            <a:r>
              <a:rPr sz="2000" b="0" i="0">
                <a:solidFill>
                  <a:srgbClr val="222222"/>
                </a:solidFill>
                <a:latin typeface="Calibri"/>
              </a:rPr>
              <a:t>.</a:t>
            </a:r>
          </a:p>
        </p:txBody>
      </p:sp>
      <p:pic>
        <p:nvPicPr>
          <p:cNvPr id="4" name="img0" descr="Two panels showing the same synapse. In the left panel, labeled long-term potentiation, the sending and receiving cells are both drawn active, and afterward the synapse is drawn larger, with more transmitter released and more receptors on the receiving side. In the right panel, labeled long-term depression, the sending cell is active while the receiving cell is quiet, and afterward the synapse is drawn smaller, with less transmitter and fewer receptors. A line beneath reads: the pair together is what lets a weight move both ways."/>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nmda_and_gat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NMDA Receptor Is an AND Gate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a:t>
            </a:r>
            <a:r>
              <a:rPr sz="2000" b="1" i="0">
                <a:solidFill>
                  <a:srgbClr val="222222"/>
                </a:solidFill>
                <a:latin typeface="Calibri"/>
              </a:rPr>
              <a:t>NMDA receptor</a:t>
            </a:r>
            <a:r>
              <a:rPr sz="2000" b="0" i="0">
                <a:solidFill>
                  <a:srgbClr val="222222"/>
                </a:solidFill>
                <a:latin typeface="Calibri"/>
              </a:rPr>
              <a:t> opens only when transmitter is bound </a:t>
            </a:r>
            <a:r>
              <a:rPr sz="2000" b="0" i="1">
                <a:solidFill>
                  <a:srgbClr val="222222"/>
                </a:solidFill>
                <a:latin typeface="Calibri"/>
              </a:rPr>
              <a:t>and</a:t>
            </a:r>
            <a:r>
              <a:rPr sz="2000" b="0" i="0">
                <a:solidFill>
                  <a:srgbClr val="222222"/>
                </a:solidFill>
                <a:latin typeface="Calibri"/>
              </a:rPr>
              <a:t> the receiving cell is already depolarized. That is </a:t>
            </a:r>
            <a:r>
              <a:rPr sz="2000" b="1" i="0">
                <a:solidFill>
                  <a:srgbClr val="222222"/>
                </a:solidFill>
                <a:latin typeface="Calibri"/>
              </a:rPr>
              <a:t>coincidence detection</a:t>
            </a:r>
            <a:r>
              <a:rPr sz="2000" b="0" i="0">
                <a:solidFill>
                  <a:srgbClr val="222222"/>
                </a:solidFill>
                <a:latin typeface="Calibri"/>
              </a:rPr>
              <a:t>, and here the name is the mechanism.</a:t>
            </a:r>
          </a:p>
        </p:txBody>
      </p:sp>
      <p:pic>
        <p:nvPicPr>
          <p:cNvPr id="4" name="img0" descr="A two-part figure. On the left, a schematic synapse: a sending terminal above releasing transmitter molecules onto a receptor embedded in the membrane of a receiving cell below. The receptor channel is drawn twice, once with a magnesium ion lodged in its pore and labeled blocked, and once with the ion displaced and calcium ions passing through, labeled open. A label beside the first reads transmitter bound, cell not depolarized. A label beside the second reads transmitter bound and cell depolarized. On the right, a four-row truth table with columns headed transmitter bound, cell depolarized, and calcium enters. The first three rows read no, and only the row in which both inputs are yes gives yes in the output column. A caption bar joins the two halves and reads AND."/>
          <p:cNvPicPr>
            <a:picLocks noChangeAspect="1"/>
          </p:cNvPicPr>
          <p:nvPr/>
        </p:nvPicPr>
        <p:blipFill>
          <a:blip r:embed="rId2"/>
          <a:stretch>
            <a:fillRect/>
          </a:stretch>
        </p:blipFill>
        <p:spPr>
          <a:xfrm>
            <a:off x="155448" y="1737360"/>
            <a:ext cx="11889409" cy="482003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timing">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Timing, and Which One Came First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Sender fires just before the receiver: the synapse strengthens. Just after: it weakens. The window is a few tens of milliseconds — </a:t>
            </a:r>
            <a:r>
              <a:rPr sz="2000" b="1" i="0">
                <a:solidFill>
                  <a:srgbClr val="222222"/>
                </a:solidFill>
                <a:latin typeface="Calibri"/>
              </a:rPr>
              <a:t>spike-timing-dependent plasticity</a:t>
            </a:r>
            <a:r>
              <a:rPr sz="2000" b="0" i="0">
                <a:solidFill>
                  <a:srgbClr val="222222"/>
                </a:solidFill>
                <a:latin typeface="Calibri"/>
              </a:rPr>
              <a:t>.</a:t>
            </a:r>
          </a:p>
        </p:txBody>
      </p:sp>
      <p:pic>
        <p:nvPicPr>
          <p:cNvPr id="4" name="img0" descr="A line graph. The horizontal axis is the interval between the sending cell's spike and the receiving cell's spike, running from about minus eighty milliseconds on the left to about plus eighty on the right, with zero marked at the center. The vertical axis is the change in synaptic strength, with zero marked by a horizontal line across the middle. To the right of center, where the sending cell fired first, the curve rises steeply just past zero and then decays back toward the zero line by about forty milliseconds; this lobe is shaded and labeled strengthening. To the left of center, where the sending cell fired second, the curve drops steeply below the line and then returns toward it; this lobe is shaded differently and labeled weakening. Both lobes are flat at zero beyond roughly fifty milliseconds."/>
          <p:cNvPicPr>
            <a:picLocks noChangeAspect="1"/>
          </p:cNvPicPr>
          <p:nvPr/>
        </p:nvPicPr>
        <p:blipFill>
          <a:blip r:embed="rId2"/>
          <a:stretch>
            <a:fillRect/>
          </a:stretch>
        </p:blipFill>
        <p:spPr>
          <a:xfrm>
            <a:off x="914400" y="1737360"/>
            <a:ext cx="10361294" cy="4984623"/>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runaway_and_bound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Coincidence Rule Runs Away, and Biology Bounds It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Strengthening what is already strong is positive feedback. Two things bound it: long-term depression, and </a:t>
            </a:r>
            <a:r>
              <a:rPr sz="2000" b="1" i="0">
                <a:solidFill>
                  <a:srgbClr val="222222"/>
                </a:solidFill>
                <a:latin typeface="Calibri"/>
              </a:rPr>
              <a:t>synaptic competition</a:t>
            </a:r>
            <a:r>
              <a:rPr sz="2000" b="0" i="0">
                <a:solidFill>
                  <a:srgbClr val="222222"/>
                </a:solidFill>
                <a:latin typeface="Calibri"/>
              </a:rPr>
              <a:t> for a limited, shared resource. Hebbian learning </a:t>
            </a:r>
            <a:r>
              <a:rPr sz="2000" b="0" i="1">
                <a:solidFill>
                  <a:srgbClr val="222222"/>
                </a:solidFill>
                <a:latin typeface="Calibri"/>
              </a:rPr>
              <a:t>can</a:t>
            </a:r>
            <a:r>
              <a:rPr sz="2000" b="0" i="0">
                <a:solidFill>
                  <a:srgbClr val="222222"/>
                </a:solidFill>
                <a:latin typeface="Calibri"/>
              </a:rPr>
              <a:t> weaken a connection.</a:t>
            </a:r>
          </a:p>
        </p:txBody>
      </p:sp>
      <p:pic>
        <p:nvPicPr>
          <p:cNvPr id="4" name="img0" descr="A circular loop of three arrows connecting three statements: the synapse strengthens, the receiving cell fires more readily, the pairing becomes more reliable, and back to the synapse strengthens. Two brakes act on the loop. One, labeled long-term depression, weakens a synapse directly. The other, labeled synaptic competition, shows several synapses onto one cell drawing on a single limited pool, so that some growing means others shrink. A note reads: an input that stops carrying signal loses ground it already held."/>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aplysia">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1">
                <a:solidFill>
                  <a:srgbClr val="1F2A44"/>
                </a:solidFill>
                <a:latin typeface="Calibri"/>
              </a:rPr>
              <a:t>Aplysia</a:t>
            </a:r>
            <a:r>
              <a:rPr sz="4200" b="1" i="0">
                <a:solidFill>
                  <a:srgbClr val="1F2A44"/>
                </a:solidFill>
                <a:latin typeface="Calibri"/>
              </a:rPr>
              <a:t>, and a Third Cell</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One reflex in a sea slug carries habituation, sensitization and classical conditioning, each traced to identified synapses. Sensitization comes from a </a:t>
            </a:r>
            <a:r>
              <a:rPr sz="2000" b="1" i="0">
                <a:solidFill>
                  <a:srgbClr val="222222"/>
                </a:solidFill>
                <a:latin typeface="Calibri"/>
              </a:rPr>
              <a:t>third cell</a:t>
            </a:r>
            <a:r>
              <a:rPr sz="2000" b="0" i="0">
                <a:solidFill>
                  <a:srgbClr val="222222"/>
                </a:solidFill>
                <a:latin typeface="Calibri"/>
              </a:rPr>
              <a:t> releasing serotonin onto the pair.</a:t>
            </a:r>
          </a:p>
        </p:txBody>
      </p:sp>
      <p:pic>
        <p:nvPicPr>
          <p:cNvPr id="4" name="img0" descr="A circuit diagram. A sensory cell from the siphon connects to a motor cell that withdraws the gill. A third cell, activated by a shock to the tail, sends a fiber onto the synapse between the sensory and motor cells, labeled releases serotonin. A note beside the synapse reads: changes how much transmitter the sending cell releases. A label beneath the whole reads: neither cell in the pathway changed on its own; a signal from outside the pair did it."/>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three_factor_rul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Three-Factor Rule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Presynaptic activity and postsynaptic activity decide which synapses are eligible. A third signal, broadcast from elsewhere, decides whether they change — and in </a:t>
            </a:r>
            <a:r>
              <a:rPr sz="2000" b="1" i="0">
                <a:solidFill>
                  <a:srgbClr val="222222"/>
                </a:solidFill>
                <a:latin typeface="Calibri"/>
              </a:rPr>
              <a:t>which direction</a:t>
            </a:r>
            <a:r>
              <a:rPr sz="2000" b="0" i="0">
                <a:solidFill>
                  <a:srgbClr val="222222"/>
                </a:solidFill>
                <a:latin typeface="Calibri"/>
              </a:rPr>
              <a:t>.</a:t>
            </a:r>
          </a:p>
        </p:txBody>
      </p:sp>
      <p:pic>
        <p:nvPicPr>
          <p:cNvPr id="4" name="img0" descr="A diagram with two cells drawn left and right, joined by a synapse at the center, and a third fiber descending onto that synapse from above. The sending cell on the left is labeled presynaptic activity and the receiving cell on the right is labeled postsynaptic activity, with arrows from each converging on the synapse and a bracket beneath them labeled together, these make the synapse eligible. The descending fiber is labeled modulatory signal from elsewhere, and a separate arrow from it to the synapse is labeled decides whether the change happens, and in which direction. To the right of the diagram, three small panels show the same synapse after three cases: eligible with a positive modulatory signal, marked strengthened; eligible with a different modulatory signal, marked weakened; and eligible with no signal, marked unchanged."/>
          <p:cNvPicPr>
            <a:picLocks noChangeAspect="1"/>
          </p:cNvPicPr>
          <p:nvPr/>
        </p:nvPicPr>
        <p:blipFill>
          <a:blip r:embed="rId2"/>
          <a:stretch>
            <a:fillRect/>
          </a:stretch>
        </p:blipFill>
        <p:spPr>
          <a:xfrm>
            <a:off x="612648" y="1737360"/>
            <a:ext cx="10973104" cy="498238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dopamine_prediction_error">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Dopamine Reports Better and Worse Than Expected</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Above baseline when an outcome beats the prediction, below it when the outcome falls short, unchanged when it arrives as predicted: the </a:t>
            </a:r>
            <a:r>
              <a:rPr sz="2000" b="1" i="0">
                <a:solidFill>
                  <a:srgbClr val="222222"/>
                </a:solidFill>
                <a:latin typeface="Calibri"/>
              </a:rPr>
              <a:t>reward prediction error</a:t>
            </a:r>
            <a:r>
              <a:rPr sz="2000" b="0" i="0">
                <a:solidFill>
                  <a:srgbClr val="222222"/>
                </a:solidFill>
                <a:latin typeface="Calibri"/>
              </a:rPr>
              <a:t>, broadcast.</a:t>
            </a:r>
          </a:p>
        </p:txBody>
      </p:sp>
      <p:pic>
        <p:nvPicPr>
          <p:cNvPr id="4" name="img0" descr="Three rows, each showing a spike train from a dopaminergic cell across time with the moment of the outcome marked. In the top row, labeled better than predicted, the firing rises in a burst above the baseline rate at the outcome. In the middle row, labeled exactly as predicted, the firing continues at baseline with no change at the outcome. In the bottom row, labeled worse than predicted, the firing pauses and drops below baseline at the outcome. A note at the side reads: one number, released across a wide stretch of tissue. A small note beneath reads: schematic; the recordings were made in vertebrates, largely primates."/>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trace_made_physical">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500" b="1" i="0">
                <a:solidFill>
                  <a:srgbClr val="1F2A44"/>
                </a:solidFill>
                <a:latin typeface="Calibri"/>
              </a:rPr>
              <a:t>The Trace Made Physical, and the Other Signal From Elsewhere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synapse that was just active is left in an altered state that fades over seconds. A modulatory signal inside that window makes the change last; after it, nothing happens.</a:t>
            </a:r>
          </a:p>
        </p:txBody>
      </p:sp>
      <p:pic>
        <p:nvPicPr>
          <p:cNvPr id="4" name="img0" descr="A timeline beginning with a burst of activity at a synapse. After the burst a shaded band decays over a few seconds, labeled the altered state fades. Two arrivals of a modulatory signal are marked: one inside the band, followed by a box reading lasting change, and one after the band has faded, followed by a box reading nothing happens. A small separate panel at the right shows a single climbing fiber reaching a single output cell, labeled one fiber, one cell, one instruction, with a note reading the cerebellum: taken up in Module 6."/>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learning_has_a_schedul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Learning Has a Schedule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Connections are made in profusion (</a:t>
            </a:r>
            <a:r>
              <a:rPr sz="2000" b="1" i="0">
                <a:solidFill>
                  <a:srgbClr val="222222"/>
                </a:solidFill>
                <a:latin typeface="Calibri"/>
              </a:rPr>
              <a:t>synaptogenesis</a:t>
            </a:r>
            <a:r>
              <a:rPr sz="2000" b="0" i="0">
                <a:solidFill>
                  <a:srgbClr val="222222"/>
                </a:solidFill>
                <a:latin typeface="Calibri"/>
              </a:rPr>
              <a:t>), then cut back by activity (</a:t>
            </a:r>
            <a:r>
              <a:rPr sz="2000" b="1" i="0">
                <a:solidFill>
                  <a:srgbClr val="222222"/>
                </a:solidFill>
                <a:latin typeface="Calibri"/>
              </a:rPr>
              <a:t>pruning</a:t>
            </a:r>
            <a:r>
              <a:rPr sz="2000" b="0" i="0">
                <a:solidFill>
                  <a:srgbClr val="222222"/>
                </a:solidFill>
                <a:latin typeface="Calibri"/>
              </a:rPr>
              <a:t>). A </a:t>
            </a:r>
            <a:r>
              <a:rPr sz="2000" b="1" i="0">
                <a:solidFill>
                  <a:srgbClr val="222222"/>
                </a:solidFill>
                <a:latin typeface="Calibri"/>
              </a:rPr>
              <a:t>critical period</a:t>
            </a:r>
            <a:r>
              <a:rPr sz="2000" b="0" i="0">
                <a:solidFill>
                  <a:srgbClr val="222222"/>
                </a:solidFill>
                <a:latin typeface="Calibri"/>
              </a:rPr>
              <a:t> is a window when experience has an outsized, lasting effect on wiring.</a:t>
            </a:r>
          </a:p>
        </p:txBody>
      </p:sp>
      <p:pic>
        <p:nvPicPr>
          <p:cNvPr id="4" name="img0" descr="Two horizontal bands drawn one above the other, each representing a stretch of visual cortex divided into alternating regions. The upper band is labeled before deprivation and its regions alternate in roughly equal widths between two shades, one labeled left eye and the other labeled right eye. The lower band is labeled after one eye is closed early in life. In it the regions belonging to the open eye are much wider and those belonging to the closed eye are narrow strips. A bracket beneath the lower band marks the difference between the two and is labeled territory lost, not merely territory not gained."/>
          <p:cNvPicPr>
            <a:picLocks noChangeAspect="1"/>
          </p:cNvPicPr>
          <p:nvPr/>
        </p:nvPicPr>
        <p:blipFill>
          <a:blip r:embed="rId2"/>
          <a:stretch>
            <a:fillRect/>
          </a:stretch>
        </p:blipFill>
        <p:spPr>
          <a:xfrm>
            <a:off x="228600" y="1737360"/>
            <a:ext cx="11742801" cy="498275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what_the_evidence_support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300" b="1" i="0">
                <a:solidFill>
                  <a:srgbClr val="1F2A44"/>
                </a:solidFill>
                <a:latin typeface="Calibri"/>
              </a:rPr>
              <a:t>Critical Periods: What the Evidence Supports, and What It Does Not</a:t>
            </a:r>
          </a:p>
        </p:txBody>
      </p:sp>
      <p:graphicFrame>
        <p:nvGraphicFramePr>
          <p:cNvPr id="3" name="table"/>
          <p:cNvGraphicFramePr>
            <a:graphicFrameLocks noGrp="1"/>
          </p:cNvGraphicFramePr>
          <p:nvPr/>
        </p:nvGraphicFramePr>
        <p:xfrm>
          <a:off x="548640" y="1783080"/>
          <a:ext cx="11064240" cy="3840480"/>
        </p:xfrm>
        <a:graphic>
          <a:graphicData uri="http://schemas.openxmlformats.org/drawingml/2006/table">
            <a:tbl>
              <a:tblPr>
                <a:tableStyleId>{5C22544A-7EE6-4342-B048-85BDC9FD1C3A}</a:tableStyleId>
              </a:tblPr>
              <a:tblGrid>
                <a:gridCol w="5532120"/>
                <a:gridCol w="5532120"/>
              </a:tblGrid>
              <a:tr h="768096">
                <a:tc>
                  <a:txBody>
                    <a:bodyPr/>
                    <a:lstStyle/>
                    <a:p>
                      <a:r>
                        <a:rPr sz="2000" b="1" i="0">
                          <a:solidFill>
                            <a:srgbClr val="1F2A44"/>
                          </a:solidFill>
                          <a:latin typeface="Calibri"/>
                        </a:rPr>
                        <a:t>Supported</a:t>
                      </a:r>
                    </a:p>
                  </a:txBody>
                  <a:tcPr marL="73152" marR="73152" marT="18288" marB="18288">
                    <a:solidFill>
                      <a:srgbClr val="FFFFFF"/>
                    </a:solidFill>
                  </a:tcPr>
                </a:tc>
                <a:tc>
                  <a:txBody>
                    <a:bodyPr/>
                    <a:lstStyle/>
                    <a:p>
                      <a:r>
                        <a:rPr sz="2000" b="1" i="0">
                          <a:solidFill>
                            <a:srgbClr val="1F2A44"/>
                          </a:solidFill>
                          <a:latin typeface="Calibri"/>
                        </a:rPr>
                        <a:t>Not supported</a:t>
                      </a:r>
                    </a:p>
                  </a:txBody>
                  <a:tcPr marL="73152" marR="73152" marT="18288" marB="18288">
                    <a:solidFill>
                      <a:srgbClr val="FFFFFF"/>
                    </a:solidFill>
                  </a:tcPr>
                </a:tc>
              </a:tr>
              <a:tr h="768096">
                <a:tc>
                  <a:txBody>
                    <a:bodyPr/>
                    <a:lstStyle/>
                    <a:p>
                      <a:r>
                        <a:rPr sz="1900" b="0" i="0">
                          <a:solidFill>
                            <a:srgbClr val="222222"/>
                          </a:solidFill>
                          <a:latin typeface="Calibri"/>
                        </a:rPr>
                        <a:t>Early experience has effects on some capacities that are large, specific, and hard to reverse</a:t>
                      </a:r>
                    </a:p>
                  </a:txBody>
                  <a:tcPr marL="73152" marR="73152" marT="18288" marB="18288">
                    <a:solidFill>
                      <a:srgbClr val="FFFFFF"/>
                    </a:solidFill>
                  </a:tcPr>
                </a:tc>
                <a:tc>
                  <a:txBody>
                    <a:bodyPr/>
                    <a:lstStyle/>
                    <a:p>
                      <a:r>
                        <a:rPr sz="1900" b="0" i="0">
                          <a:solidFill>
                            <a:srgbClr val="222222"/>
                          </a:solidFill>
                          <a:latin typeface="Calibri"/>
                        </a:rPr>
                        <a:t>Development is a series of windows that slam shut</a:t>
                      </a:r>
                    </a:p>
                  </a:txBody>
                  <a:tcPr marL="73152" marR="73152" marT="18288" marB="18288">
                    <a:solidFill>
                      <a:srgbClr val="FFFFFF"/>
                    </a:solidFill>
                  </a:tcPr>
                </a:tc>
              </a:tr>
              <a:tr h="768096">
                <a:tc>
                  <a:txBody>
                    <a:bodyPr/>
                    <a:lstStyle/>
                    <a:p>
                      <a:r>
                        <a:rPr sz="1900" b="0" i="0">
                          <a:solidFill>
                            <a:srgbClr val="222222"/>
                          </a:solidFill>
                          <a:latin typeface="Calibri"/>
                        </a:rPr>
                        <a:t>The deprived eye and infant phoneme loss are the clearest cases</a:t>
                      </a:r>
                    </a:p>
                  </a:txBody>
                  <a:tcPr marL="73152" marR="73152" marT="18288" marB="18288">
                    <a:solidFill>
                      <a:srgbClr val="FFFFFF"/>
                    </a:solidFill>
                  </a:tcPr>
                </a:tc>
                <a:tc>
                  <a:txBody>
                    <a:bodyPr/>
                    <a:lstStyle/>
                    <a:p>
                      <a:r>
                        <a:rPr sz="1900" b="0" i="0">
                          <a:solidFill>
                            <a:srgbClr val="222222"/>
                          </a:solidFill>
                          <a:latin typeface="Calibri"/>
                        </a:rPr>
                        <a:t>Missing a window means a capacity is gone for good</a:t>
                      </a:r>
                    </a:p>
                  </a:txBody>
                  <a:tcPr marL="73152" marR="73152" marT="18288" marB="18288">
                    <a:solidFill>
                      <a:srgbClr val="FFFFFF"/>
                    </a:solidFill>
                  </a:tcPr>
                </a:tc>
              </a:tr>
              <a:tr h="768096">
                <a:tc>
                  <a:txBody>
                    <a:bodyPr/>
                    <a:lstStyle/>
                    <a:p>
                      <a:r>
                        <a:rPr sz="1900" b="0" i="0">
                          <a:solidFill>
                            <a:srgbClr val="222222"/>
                          </a:solidFill>
                          <a:latin typeface="Calibri"/>
                        </a:rPr>
                        <a:t>Recovery from early deprivation is usually partial</a:t>
                      </a:r>
                    </a:p>
                  </a:txBody>
                  <a:tcPr marL="73152" marR="73152" marT="18288" marB="18288">
                    <a:solidFill>
                      <a:srgbClr val="FFFFFF"/>
                    </a:solidFill>
                  </a:tcPr>
                </a:tc>
                <a:tc>
                  <a:txBody>
                    <a:bodyPr/>
                    <a:lstStyle/>
                    <a:p>
                      <a:r>
                        <a:rPr sz="1900" b="0" i="0">
                          <a:solidFill>
                            <a:srgbClr val="222222"/>
                          </a:solidFill>
                          <a:latin typeface="Calibri"/>
                        </a:rPr>
                        <a:t>Extra stimulation during a window produces a better capacity later</a:t>
                      </a:r>
                    </a:p>
                  </a:txBody>
                  <a:tcPr marL="73152" marR="73152" marT="18288" marB="18288">
                    <a:solidFill>
                      <a:srgbClr val="FFFFFF"/>
                    </a:solidFill>
                  </a:tcPr>
                </a:tc>
              </a:tr>
              <a:tr h="768096">
                <a:tc>
                  <a:txBody>
                    <a:bodyPr/>
                    <a:lstStyle/>
                    <a:p>
                      <a:r>
                        <a:rPr sz="1900" b="0" i="0">
                          <a:solidFill>
                            <a:srgbClr val="222222"/>
                          </a:solidFill>
                          <a:latin typeface="Calibri"/>
                        </a:rPr>
                        <a:t>Adults learn second languages</a:t>
                      </a:r>
                    </a:p>
                  </a:txBody>
                  <a:tcPr marL="73152" marR="73152" marT="18288" marB="18288">
                    <a:solidFill>
                      <a:srgbClr val="FFFFFF"/>
                    </a:solidFill>
                  </a:tcPr>
                </a:tc>
                <a:tc>
                  <a:txBody>
                    <a:bodyPr/>
                    <a:lstStyle/>
                    <a:p/>
                  </a:txBody>
                  <a:tcPr marL="73152" marR="73152" marT="18288" marB="18288">
                    <a:solidFill>
                      <a:srgbClr val="FFFFFF"/>
                    </a:solidFill>
                  </a:tcPr>
                </a:tc>
              </a:tr>
            </a:tbl>
          </a:graphicData>
        </a:graphic>
      </p:graphicFrame>
      <p:sp>
        <p:nvSpPr>
          <p:cNvPr id="4" name="body_box"/>
          <p:cNvSpPr txBox="1"/>
          <p:nvPr/>
        </p:nvSpPr>
        <p:spPr>
          <a:xfrm>
            <a:off x="109728" y="932688"/>
            <a:ext cx="11987784" cy="758952"/>
          </a:xfrm>
          <a:prstGeom prst="rect">
            <a:avLst/>
          </a:prstGeom>
          <a:noFill/>
        </p:spPr>
        <p:txBody>
          <a:bodyPr wrap="square">
            <a:spAutoFit/>
          </a:bodyPr>
          <a:lstStyle/>
          <a:p>
            <a:r>
              <a:rPr sz="2000" b="0" i="0">
                <a:solidFill>
                  <a:srgbClr val="222222"/>
                </a:solidFill>
                <a:latin typeface="Calibri"/>
              </a:rPr>
              <a:t>A window that closes changes what later learning has to work with. It does not end learning.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several_loci_several_regulator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One Principle, Several Loci, Several Regulators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Three places to change: synaptic strength, </a:t>
            </a:r>
            <a:r>
              <a:rPr sz="2000" b="1" i="0">
                <a:solidFill>
                  <a:srgbClr val="222222"/>
                </a:solidFill>
                <a:latin typeface="Calibri"/>
              </a:rPr>
              <a:t>intrinsic excitability</a:t>
            </a:r>
            <a:r>
              <a:rPr sz="2000" b="0" i="0">
                <a:solidFill>
                  <a:srgbClr val="222222"/>
                </a:solidFill>
                <a:latin typeface="Calibri"/>
              </a:rPr>
              <a:t>, whether a connection exists. Three regulators: a modulatory signal, an eligibility trace, </a:t>
            </a:r>
            <a:r>
              <a:rPr sz="2000" b="1" i="0">
                <a:solidFill>
                  <a:srgbClr val="222222"/>
                </a:solidFill>
                <a:latin typeface="Calibri"/>
              </a:rPr>
              <a:t>homeostatic plasticity</a:t>
            </a:r>
            <a:r>
              <a:rPr sz="2000" b="0" i="0">
                <a:solidFill>
                  <a:srgbClr val="222222"/>
                </a:solidFill>
                <a:latin typeface="Calibri"/>
              </a:rPr>
              <a:t> with competition.</a:t>
            </a:r>
          </a:p>
        </p:txBody>
      </p:sp>
      <p:pic>
        <p:nvPicPr>
          <p:cNvPr id="4" name="img0" descr="A header box reads one principle: a lasting change that is a function of activity. Below it, two columns. The left column, headed where the change is made, lists the strength of a synapse, how readily a cell fires, and whether a connection exists. The right column, headed what regulates it, lists a modulatory signal that gates the change and can set its direction, an eligibility trace that settles which synapses are still candidates, and homeostasis and competition that keep the totals in range. Lines connect every item on the left to every item on the right. A note at the foot reads: every mechanism in this lecture is one of each."/>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is_it_a_memory">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700" b="1" i="0">
                <a:solidFill>
                  <a:srgbClr val="1F2A44"/>
                </a:solidFill>
                <a:latin typeface="Calibri"/>
              </a:rPr>
              <a:t>A Synapse Changed and Stayed Changed. Is That a Memory?</a:t>
            </a:r>
          </a:p>
        </p:txBody>
      </p:sp>
      <p:graphicFrame>
        <p:nvGraphicFramePr>
          <p:cNvPr id="3" name="table"/>
          <p:cNvGraphicFramePr>
            <a:graphicFrameLocks noGrp="1"/>
          </p:cNvGraphicFramePr>
          <p:nvPr/>
        </p:nvGraphicFramePr>
        <p:xfrm>
          <a:off x="365760" y="1783080"/>
          <a:ext cx="11430000" cy="3840480"/>
        </p:xfrm>
        <a:graphic>
          <a:graphicData uri="http://schemas.openxmlformats.org/drawingml/2006/table">
            <a:tbl>
              <a:tblPr>
                <a:tableStyleId>{5C22544A-7EE6-4342-B048-85BDC9FD1C3A}</a:tableStyleId>
              </a:tblPr>
              <a:tblGrid>
                <a:gridCol w="2514600"/>
                <a:gridCol w="4457700"/>
                <a:gridCol w="4457700"/>
              </a:tblGrid>
              <a:tr h="768096">
                <a:tc>
                  <a:txBody>
                    <a:bodyPr/>
                    <a:lstStyle/>
                    <a:p/>
                  </a:txBody>
                  <a:tcPr marL="73152" marR="73152" marT="18288" marB="18288">
                    <a:solidFill>
                      <a:srgbClr val="FFFFFF"/>
                    </a:solidFill>
                  </a:tcPr>
                </a:tc>
                <a:tc>
                  <a:txBody>
                    <a:bodyPr/>
                    <a:lstStyle/>
                    <a:p>
                      <a:r>
                        <a:rPr sz="1800" b="1" i="0">
                          <a:solidFill>
                            <a:srgbClr val="1F2A44"/>
                          </a:solidFill>
                          <a:latin typeface="Calibri"/>
                        </a:rPr>
                        <a:t>A disposition</a:t>
                      </a:r>
                    </a:p>
                  </a:txBody>
                  <a:tcPr marL="73152" marR="73152" marT="18288" marB="18288">
                    <a:solidFill>
                      <a:srgbClr val="FFFFFF"/>
                    </a:solidFill>
                  </a:tcPr>
                </a:tc>
                <a:tc>
                  <a:txBody>
                    <a:bodyPr/>
                    <a:lstStyle/>
                    <a:p>
                      <a:r>
                        <a:rPr sz="1800" b="1" i="0">
                          <a:solidFill>
                            <a:srgbClr val="1F2A44"/>
                          </a:solidFill>
                          <a:latin typeface="Calibri"/>
                        </a:rPr>
                        <a:t>A record</a:t>
                      </a:r>
                    </a:p>
                  </a:txBody>
                  <a:tcPr marL="73152" marR="73152" marT="18288" marB="18288">
                    <a:solidFill>
                      <a:srgbClr val="FFFFFF"/>
                    </a:solidFill>
                  </a:tcPr>
                </a:tc>
              </a:tr>
              <a:tr h="768096">
                <a:tc>
                  <a:txBody>
                    <a:bodyPr/>
                    <a:lstStyle/>
                    <a:p>
                      <a:r>
                        <a:rPr sz="1700" b="0" i="0">
                          <a:solidFill>
                            <a:srgbClr val="222222"/>
                          </a:solidFill>
                          <a:latin typeface="Calibri"/>
                        </a:rPr>
                        <a:t>Committed at encoding</a:t>
                      </a:r>
                    </a:p>
                  </a:txBody>
                  <a:tcPr marL="73152" marR="73152" marT="18288" marB="18288">
                    <a:solidFill>
                      <a:srgbClr val="FFFFFF"/>
                    </a:solidFill>
                  </a:tcPr>
                </a:tc>
                <a:tc>
                  <a:txBody>
                    <a:bodyPr/>
                    <a:lstStyle/>
                    <a:p>
                      <a:r>
                        <a:rPr sz="1700" b="0" i="0">
                          <a:solidFill>
                            <a:srgbClr val="222222"/>
                          </a:solidFill>
                          <a:latin typeface="Calibri"/>
                        </a:rPr>
                        <a:t>Yes — what the change will do is fixed by the change</a:t>
                      </a:r>
                    </a:p>
                  </a:txBody>
                  <a:tcPr marL="73152" marR="73152" marT="18288" marB="18288">
                    <a:solidFill>
                      <a:srgbClr val="FFFFFF"/>
                    </a:solidFill>
                  </a:tcPr>
                </a:tc>
                <a:tc>
                  <a:txBody>
                    <a:bodyPr/>
                    <a:lstStyle/>
                    <a:p>
                      <a:r>
                        <a:rPr sz="1700" b="0" i="0">
                          <a:solidFill>
                            <a:srgbClr val="222222"/>
                          </a:solidFill>
                          <a:latin typeface="Calibri"/>
                        </a:rPr>
                        <a:t>No — what it is for is settled later</a:t>
                      </a:r>
                    </a:p>
                  </a:txBody>
                  <a:tcPr marL="73152" marR="73152" marT="18288" marB="18288">
                    <a:solidFill>
                      <a:srgbClr val="FFFFFF"/>
                    </a:solidFill>
                  </a:tcPr>
                </a:tc>
              </a:tr>
              <a:tr h="768096">
                <a:tc>
                  <a:txBody>
                    <a:bodyPr/>
                    <a:lstStyle/>
                    <a:p>
                      <a:r>
                        <a:rPr sz="1700" b="0" i="0">
                          <a:solidFill>
                            <a:srgbClr val="222222"/>
                          </a:solidFill>
                          <a:latin typeface="Calibri"/>
                        </a:rPr>
                        <a:t>A separate retrieval step</a:t>
                      </a:r>
                    </a:p>
                  </a:txBody>
                  <a:tcPr marL="73152" marR="73152" marT="18288" marB="18288">
                    <a:solidFill>
                      <a:srgbClr val="FFFFFF"/>
                    </a:solidFill>
                  </a:tcPr>
                </a:tc>
                <a:tc>
                  <a:txBody>
                    <a:bodyPr/>
                    <a:lstStyle/>
                    <a:p>
                      <a:r>
                        <a:rPr sz="1700" b="0" i="0">
                          <a:solidFill>
                            <a:srgbClr val="222222"/>
                          </a:solidFill>
                          <a:latin typeface="Calibri"/>
                        </a:rPr>
                        <a:t>Not needed; the change acts whenever the situation recurs</a:t>
                      </a:r>
                    </a:p>
                  </a:txBody>
                  <a:tcPr marL="73152" marR="73152" marT="18288" marB="18288">
                    <a:solidFill>
                      <a:srgbClr val="FFFFFF"/>
                    </a:solidFill>
                  </a:tcPr>
                </a:tc>
                <a:tc>
                  <a:txBody>
                    <a:bodyPr/>
                    <a:lstStyle/>
                    <a:p>
                      <a:r>
                        <a:rPr sz="1700" b="0" i="0">
                          <a:solidFill>
                            <a:srgbClr val="222222"/>
                          </a:solidFill>
                          <a:latin typeface="Calibri"/>
                        </a:rPr>
                        <a:t>Required, and it is where the use gets decided</a:t>
                      </a:r>
                    </a:p>
                  </a:txBody>
                  <a:tcPr marL="73152" marR="73152" marT="18288" marB="18288">
                    <a:solidFill>
                      <a:srgbClr val="FFFFFF"/>
                    </a:solidFill>
                  </a:tcPr>
                </a:tc>
              </a:tr>
              <a:tr h="768096">
                <a:tc>
                  <a:txBody>
                    <a:bodyPr/>
                    <a:lstStyle/>
                    <a:p>
                      <a:r>
                        <a:rPr sz="1700" b="0" i="0">
                          <a:solidFill>
                            <a:srgbClr val="222222"/>
                          </a:solidFill>
                          <a:latin typeface="Calibri"/>
                        </a:rPr>
                        <a:t>What it can report</a:t>
                      </a:r>
                    </a:p>
                  </a:txBody>
                  <a:tcPr marL="73152" marR="73152" marT="18288" marB="18288">
                    <a:solidFill>
                      <a:srgbClr val="FFFFFF"/>
                    </a:solidFill>
                  </a:tcPr>
                </a:tc>
                <a:tc>
                  <a:txBody>
                    <a:bodyPr/>
                    <a:lstStyle/>
                    <a:p>
                      <a:r>
                        <a:rPr sz="1700" b="0" i="0">
                          <a:solidFill>
                            <a:srgbClr val="222222"/>
                          </a:solidFill>
                          <a:latin typeface="Calibri"/>
                        </a:rPr>
                        <a:t>What tends to happen</a:t>
                      </a:r>
                    </a:p>
                  </a:txBody>
                  <a:tcPr marL="73152" marR="73152" marT="18288" marB="18288">
                    <a:solidFill>
                      <a:srgbClr val="FFFFFF"/>
                    </a:solidFill>
                  </a:tcPr>
                </a:tc>
                <a:tc>
                  <a:txBody>
                    <a:bodyPr/>
                    <a:lstStyle/>
                    <a:p>
                      <a:r>
                        <a:rPr sz="1700" b="0" i="0">
                          <a:solidFill>
                            <a:srgbClr val="222222"/>
                          </a:solidFill>
                          <a:latin typeface="Calibri"/>
                        </a:rPr>
                        <a:t>What happened, on a particular occasion</a:t>
                      </a:r>
                    </a:p>
                  </a:txBody>
                  <a:tcPr marL="73152" marR="73152" marT="18288" marB="18288">
                    <a:solidFill>
                      <a:srgbClr val="FFFFFF"/>
                    </a:solidFill>
                  </a:tcPr>
                </a:tc>
              </a:tr>
              <a:tr h="768096">
                <a:tc>
                  <a:txBody>
                    <a:bodyPr/>
                    <a:lstStyle/>
                    <a:p>
                      <a:r>
                        <a:rPr sz="1700" b="0" i="0">
                          <a:solidFill>
                            <a:srgbClr val="222222"/>
                          </a:solidFill>
                          <a:latin typeface="Calibri"/>
                        </a:rPr>
                        <a:t>Where it is taken up</a:t>
                      </a:r>
                    </a:p>
                  </a:txBody>
                  <a:tcPr marL="73152" marR="73152" marT="18288" marB="18288">
                    <a:solidFill>
                      <a:srgbClr val="FFFFFF"/>
                    </a:solidFill>
                  </a:tcPr>
                </a:tc>
                <a:tc>
                  <a:txBody>
                    <a:bodyPr/>
                    <a:lstStyle/>
                    <a:p>
                      <a:r>
                        <a:rPr sz="1700" b="0" i="0">
                          <a:solidFill>
                            <a:srgbClr val="222222"/>
                          </a:solidFill>
                          <a:latin typeface="Calibri"/>
                        </a:rPr>
                        <a:t>Module 5</a:t>
                      </a:r>
                    </a:p>
                  </a:txBody>
                  <a:tcPr marL="73152" marR="73152" marT="18288" marB="18288">
                    <a:solidFill>
                      <a:srgbClr val="FFFFFF"/>
                    </a:solidFill>
                  </a:tcPr>
                </a:tc>
                <a:tc>
                  <a:txBody>
                    <a:bodyPr/>
                    <a:lstStyle/>
                    <a:p>
                      <a:r>
                        <a:rPr sz="1700" b="0" i="0">
                          <a:solidFill>
                            <a:srgbClr val="222222"/>
                          </a:solidFill>
                          <a:latin typeface="Calibri"/>
                        </a:rPr>
                        <a:t>Module 10</a:t>
                      </a:r>
                    </a:p>
                  </a:txBody>
                  <a:tcPr marL="73152" marR="73152" marT="18288" marB="18288">
                    <a:solidFill>
                      <a:srgbClr val="FFFFFF"/>
                    </a:solidFill>
                  </a:tcPr>
                </a:tc>
              </a:tr>
            </a:tbl>
          </a:graphicData>
        </a:graphic>
      </p:graphicFrame>
      <p:sp>
        <p:nvSpPr>
          <p:cNvPr id="4" name="body_box"/>
          <p:cNvSpPr txBox="1"/>
          <p:nvPr/>
        </p:nvSpPr>
        <p:spPr>
          <a:xfrm>
            <a:off x="109728" y="932688"/>
            <a:ext cx="11987784" cy="758952"/>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disposition</a:t>
            </a:r>
            <a:r>
              <a:rPr sz="2000" b="0" i="0">
                <a:solidFill>
                  <a:srgbClr val="222222"/>
                </a:solidFill>
                <a:latin typeface="Calibri"/>
              </a:rPr>
              <a:t> is committed when it is laid down. A </a:t>
            </a:r>
            <a:r>
              <a:rPr sz="2000" b="1" i="0">
                <a:solidFill>
                  <a:srgbClr val="222222"/>
                </a:solidFill>
                <a:latin typeface="Calibri"/>
              </a:rPr>
              <a:t>record</a:t>
            </a:r>
            <a:r>
              <a:rPr sz="2000" b="0" i="0">
                <a:solidFill>
                  <a:srgbClr val="222222"/>
                </a:solidFill>
                <a:latin typeface="Calibri"/>
              </a:rPr>
              <a:t> is kept without its use being settled, and what it is for is decided at retrieval. Learning produces dispositions.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latent_learning">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Where a Disposition Stops Being Enough</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In sensory preconditioning and latent learning, something is kept before anything has settled what it is for. That is where records begin, and Module 10 takes them up.</a:t>
            </a:r>
          </a:p>
        </p:txBody>
      </p:sp>
      <p:pic>
        <p:nvPicPr>
          <p:cNvPr id="4" name="img0" descr="A schematic plot of errors in a maze against days. One curve, labeled rewarded from the start, declines steadily. A second curve, labeled no food at first, stays high and nearly flat for the first half of the days. At a point marked food introduced, the second curve drops sharply in a single step to meet the first. A note beside the drop reads: something was picked up while wandering, with no use settled at the time. A small label reads schematic, not data."/>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one_mechanism_several_job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One Mechanism, Several Jobs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same coincidence detection, gating and competition also wire a developing brain, tune sensory maps and support memory. The converse of multiple realizability, and why </a:t>
            </a:r>
            <a:r>
              <a:rPr sz="2000" b="1" i="0">
                <a:solidFill>
                  <a:srgbClr val="222222"/>
                </a:solidFill>
                <a:latin typeface="Calibri"/>
              </a:rPr>
              <a:t>reverse inference</a:t>
            </a:r>
            <a:r>
              <a:rPr sz="2000" b="0" i="0">
                <a:solidFill>
                  <a:srgbClr val="222222"/>
                </a:solidFill>
                <a:latin typeface="Calibri"/>
              </a:rPr>
              <a:t> is unsafe.</a:t>
            </a:r>
          </a:p>
        </p:txBody>
      </p:sp>
      <p:pic>
        <p:nvPicPr>
          <p:cNvPr id="4" name="img0" descr="Two diagrams side by side. The left, labeled multiple realizability, Module 1, shows one function box at the top with arrows fanning down to three different implementation boxes. The right, labeled the converse, shows one implementation box at the bottom, labeled coincidence detection, gating and competition, with arrows fanning up to three function boxes: learning, wiring a developing brain, tuning a sensory map, and supporting memory. A note under the right diagram reads: so finding the mechanism does not tell us the job, which is why reverse inference is unsafe."/>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name="what_separates_the_four">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What Separates the Four Kinds of Learning</a:t>
            </a:r>
          </a:p>
        </p:txBody>
      </p:sp>
      <p:sp>
        <p:nvSpPr>
          <p:cNvPr id="3" name="body_box"/>
          <p:cNvSpPr txBox="1"/>
          <p:nvPr/>
        </p:nvSpPr>
        <p:spPr>
          <a:xfrm>
            <a:off x="548640" y="1371600"/>
            <a:ext cx="11064240" cy="4206240"/>
          </a:xfrm>
          <a:prstGeom prst="rect">
            <a:avLst/>
          </a:prstGeom>
          <a:noFill/>
        </p:spPr>
        <p:txBody>
          <a:bodyPr wrap="square">
            <a:spAutoFit/>
          </a:bodyPr>
          <a:lstStyle/>
          <a:p>
            <a:pPr>
              <a:spcAft>
                <a:spcPts val="2200"/>
              </a:spcAft>
            </a:pPr>
            <a:r>
              <a:rPr sz="2000" b="0" i="0">
                <a:solidFill>
                  <a:srgbClr val="222222"/>
                </a:solidFill>
                <a:latin typeface="Calibri"/>
              </a:rPr>
              <a:t>Not what they change: all four change a weight. What separates them is how much of the world has to reach that weight before it moves, and who supplies the answer. One synapse, given the right third factor, implements all of it.</a:t>
            </a:r>
          </a:p>
          <a:p>
            <a:pPr>
              <a:defRPr sz="1000"/>
            </a:pPr>
          </a:p>
          <a:p>
            <a:pPr>
              <a:spcAft>
                <a:spcPts val="2200"/>
              </a:spcAft>
            </a:pPr>
            <a:r>
              <a:rPr sz="2000" b="0" i="0">
                <a:solidFill>
                  <a:srgbClr val="222222"/>
                </a:solidFill>
                <a:latin typeface="Calibri"/>
              </a:rPr>
              <a:t>Vocabulary about goals and errors earns its place exactly where something in the mechanism plays the part the word names.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name="where_marr_strain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800" b="1" i="0">
                <a:solidFill>
                  <a:srgbClr val="1F2A44"/>
                </a:solidFill>
                <a:latin typeface="Calibri"/>
              </a:rPr>
              <a:t>Three Places Marr's Levels Strained, and What Comes Next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levels have no slot for evidence. They were not independently specifiable here. And the implementation did not pick out one function. A principle reusable everywhere is specialized for nothing.</a:t>
            </a:r>
          </a:p>
        </p:txBody>
      </p:sp>
      <p:pic>
        <p:nvPicPr>
          <p:cNvPr id="4" name="img0" descr="Three cards in a row. The first reads no slot for evidence: blocking, devaluation, renewal and instinctive drift are findings, not levels. The second reads not independently specifiable: the algorithm was accepted because of a signal recorded below it. The third reads loose downward: one general principle does not pick out the function above it. An arrow from all three leads to a final box reading general-purpose and undifferentiated, so: what happens when an animal can afford specialists? labeled Module 6."/>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The scope of this lecture</a:t>
                      </a:r>
                    </a:p>
                  </a:txBody>
                  <a:tcPr marL="73152" marR="73152" marT="18288" marB="18288">
                    <a:solidFill>
                      <a:srgbClr val="FFFFFF"/>
                    </a:solidFill>
                  </a:tcPr>
                </a:tc>
                <a:tc>
                  <a:txBody>
                    <a:bodyPr/>
                    <a:lstStyle/>
                    <a:p>
                      <a:r>
                        <a:rPr sz="1000" b="0" i="0">
                          <a:solidFill>
                            <a:srgbClr val="222222"/>
                          </a:solidFill>
                          <a:latin typeface="Calibri"/>
                        </a:rPr>
                        <a:t>fig-where-account-stops.png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Long-term potentiation and long-term depression</a:t>
                      </a:r>
                    </a:p>
                  </a:txBody>
                  <a:tcPr marL="73152" marR="73152" marT="18288" marB="18288">
                    <a:solidFill>
                      <a:srgbClr val="FFFFFF"/>
                    </a:solidFill>
                  </a:tcPr>
                </a:tc>
                <a:tc>
                  <a:txBody>
                    <a:bodyPr/>
                    <a:lstStyle/>
                    <a:p>
                      <a:r>
                        <a:rPr sz="1000" b="0" i="0">
                          <a:solidFill>
                            <a:srgbClr val="222222"/>
                          </a:solidFill>
                          <a:latin typeface="Calibri"/>
                        </a:rPr>
                        <a:t>fig-ltp-ltd.png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The NMDA receptor beside the truth table for AND</a:t>
                      </a:r>
                    </a:p>
                  </a:txBody>
                  <a:tcPr marL="73152" marR="73152" marT="18288" marB="18288">
                    <a:solidFill>
                      <a:srgbClr val="FFFFFF"/>
                    </a:solidFill>
                  </a:tcPr>
                </a:tc>
                <a:tc>
                  <a:txBody>
                    <a:bodyPr/>
                    <a:lstStyle/>
                    <a:p>
                      <a:r>
                        <a:rPr sz="1000" b="0" i="0">
                          <a:solidFill>
                            <a:srgbClr val="222222"/>
                          </a:solidFill>
                          <a:latin typeface="Calibri"/>
                        </a:rPr>
                        <a:t>fig-nmda-and.png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The spike-timing window</a:t>
                      </a:r>
                    </a:p>
                  </a:txBody>
                  <a:tcPr marL="73152" marR="73152" marT="18288" marB="18288">
                    <a:solidFill>
                      <a:srgbClr val="FFFFFF"/>
                    </a:solidFill>
                  </a:tcPr>
                </a:tc>
                <a:tc>
                  <a:txBody>
                    <a:bodyPr/>
                    <a:lstStyle/>
                    <a:p>
                      <a:r>
                        <a:rPr sz="1000" b="0" i="0">
                          <a:solidFill>
                            <a:srgbClr val="222222"/>
                          </a:solidFill>
                          <a:latin typeface="Calibri"/>
                        </a:rPr>
                        <a:t>fig-stdp-window.png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The runaway loop and its two brakes</a:t>
                      </a:r>
                    </a:p>
                  </a:txBody>
                  <a:tcPr marL="73152" marR="73152" marT="18288" marB="18288">
                    <a:solidFill>
                      <a:srgbClr val="FFFFFF"/>
                    </a:solidFill>
                  </a:tcPr>
                </a:tc>
                <a:tc>
                  <a:txBody>
                    <a:bodyPr/>
                    <a:lstStyle/>
                    <a:p>
                      <a:r>
                        <a:rPr sz="1000" b="0" i="0">
                          <a:solidFill>
                            <a:srgbClr val="222222"/>
                          </a:solidFill>
                          <a:latin typeface="Calibri"/>
                        </a:rPr>
                        <a:t>fig-runaway.png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The gill-withdrawal reflex and the third cell</a:t>
                      </a:r>
                    </a:p>
                  </a:txBody>
                  <a:tcPr marL="73152" marR="73152" marT="18288" marB="18288">
                    <a:solidFill>
                      <a:srgbClr val="FFFFFF"/>
                    </a:solidFill>
                  </a:tcPr>
                </a:tc>
                <a:tc>
                  <a:txBody>
                    <a:bodyPr/>
                    <a:lstStyle/>
                    <a:p>
                      <a:r>
                        <a:rPr sz="1000" b="0" i="0">
                          <a:solidFill>
                            <a:srgbClr val="222222"/>
                          </a:solidFill>
                          <a:latin typeface="Calibri"/>
                        </a:rPr>
                        <a:t>fig-aplysia.png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The three factors that decide whether a synapse changes</a:t>
                      </a:r>
                    </a:p>
                  </a:txBody>
                  <a:tcPr marL="73152" marR="73152" marT="18288" marB="18288">
                    <a:solidFill>
                      <a:srgbClr val="FFFFFF"/>
                    </a:solidFill>
                  </a:tcPr>
                </a:tc>
                <a:tc>
                  <a:txBody>
                    <a:bodyPr/>
                    <a:lstStyle/>
                    <a:p>
                      <a:r>
                        <a:rPr sz="1000" b="0" i="0">
                          <a:solidFill>
                            <a:srgbClr val="222222"/>
                          </a:solidFill>
                          <a:latin typeface="Calibri"/>
                        </a:rPr>
                        <a:t>fig-three-factor.png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Three outcomes and a dopaminergic cell's response</a:t>
                      </a:r>
                    </a:p>
                  </a:txBody>
                  <a:tcPr marL="73152" marR="73152" marT="18288" marB="18288">
                    <a:solidFill>
                      <a:srgbClr val="FFFFFF"/>
                    </a:solidFill>
                  </a:tcPr>
                </a:tc>
                <a:tc>
                  <a:txBody>
                    <a:bodyPr/>
                    <a:lstStyle/>
                    <a:p>
                      <a:r>
                        <a:rPr sz="1000" b="0" i="0">
                          <a:solidFill>
                            <a:srgbClr val="222222"/>
                          </a:solidFill>
                          <a:latin typeface="Calibri"/>
                        </a:rPr>
                        <a:t>fig-dopamine-rpe.png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3127248"/>
        </p:xfrm>
        <a:graphic>
          <a:graphicData uri="http://schemas.openxmlformats.org/drawingml/2006/table">
            <a:tbl>
              <a:tblPr>
                <a:tableStyleId>{5C22544A-7EE6-4342-B048-85BDC9FD1C3A}</a:tableStyleId>
              </a:tblPr>
              <a:tblGrid>
                <a:gridCol w="674827"/>
                <a:gridCol w="2699308"/>
                <a:gridCol w="2699308"/>
                <a:gridCol w="1574596"/>
                <a:gridCol w="3599078"/>
              </a:tblGrid>
              <a:tr h="446749">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6749">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The eligibility trace at a synapse</a:t>
                      </a:r>
                    </a:p>
                  </a:txBody>
                  <a:tcPr marL="73152" marR="73152" marT="18288" marB="18288">
                    <a:solidFill>
                      <a:srgbClr val="FFFFFF"/>
                    </a:solidFill>
                  </a:tcPr>
                </a:tc>
                <a:tc>
                  <a:txBody>
                    <a:bodyPr/>
                    <a:lstStyle/>
                    <a:p>
                      <a:r>
                        <a:rPr sz="1000" b="0" i="0">
                          <a:solidFill>
                            <a:srgbClr val="222222"/>
                          </a:solidFill>
                          <a:latin typeface="Calibri"/>
                        </a:rPr>
                        <a:t>fig-trace-window.png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6749">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Two eyes competing for territory in visual cortex</a:t>
                      </a:r>
                    </a:p>
                  </a:txBody>
                  <a:tcPr marL="73152" marR="73152" marT="18288" marB="18288">
                    <a:solidFill>
                      <a:srgbClr val="FFFFFF"/>
                    </a:solidFill>
                  </a:tcPr>
                </a:tc>
                <a:tc>
                  <a:txBody>
                    <a:bodyPr/>
                    <a:lstStyle/>
                    <a:p>
                      <a:r>
                        <a:rPr sz="1000" b="0" i="0">
                          <a:solidFill>
                            <a:srgbClr val="222222"/>
                          </a:solidFill>
                          <a:latin typeface="Calibri"/>
                        </a:rPr>
                        <a:t>fig-competition.png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tr>
              <a:tr h="446749">
                <a:tc>
                  <a:txBody>
                    <a:bodyPr/>
                    <a:lstStyle/>
                    <a:p>
                      <a:r>
                        <a:rPr sz="1000" b="0" i="0">
                          <a:solidFill>
                            <a:srgbClr val="222222"/>
                          </a:solidFill>
                          <a:latin typeface="Calibri"/>
                        </a:rPr>
                        <a:t>13</a:t>
                      </a:r>
                    </a:p>
                  </a:txBody>
                  <a:tcPr marL="73152" marR="73152" marT="18288" marB="18288">
                    <a:solidFill>
                      <a:srgbClr val="FFFFFF"/>
                    </a:solidFill>
                  </a:tcPr>
                </a:tc>
                <a:tc>
                  <a:txBody>
                    <a:bodyPr/>
                    <a:lstStyle/>
                    <a:p>
                      <a:r>
                        <a:rPr sz="1000" b="0" i="0">
                          <a:solidFill>
                            <a:srgbClr val="222222"/>
                          </a:solidFill>
                          <a:latin typeface="Calibri"/>
                        </a:rPr>
                        <a:t>Three loci and three regulators</a:t>
                      </a:r>
                    </a:p>
                  </a:txBody>
                  <a:tcPr marL="73152" marR="73152" marT="18288" marB="18288">
                    <a:solidFill>
                      <a:srgbClr val="FFFFFF"/>
                    </a:solidFill>
                  </a:tcPr>
                </a:tc>
                <a:tc>
                  <a:txBody>
                    <a:bodyPr/>
                    <a:lstStyle/>
                    <a:p>
                      <a:r>
                        <a:rPr sz="1000" b="0" i="0">
                          <a:solidFill>
                            <a:srgbClr val="222222"/>
                          </a:solidFill>
                          <a:latin typeface="Calibri"/>
                        </a:rPr>
                        <a:t>fig-loci-regulators.png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6749">
                <a:tc>
                  <a:txBody>
                    <a:bodyPr/>
                    <a:lstStyle/>
                    <a:p>
                      <a:r>
                        <a:rPr sz="1000" b="0" i="0">
                          <a:solidFill>
                            <a:srgbClr val="222222"/>
                          </a:solidFill>
                          <a:latin typeface="Calibri"/>
                        </a:rPr>
                        <a:t>15</a:t>
                      </a:r>
                    </a:p>
                  </a:txBody>
                  <a:tcPr marL="73152" marR="73152" marT="18288" marB="18288">
                    <a:solidFill>
                      <a:srgbClr val="FFFFFF"/>
                    </a:solidFill>
                  </a:tcPr>
                </a:tc>
                <a:tc>
                  <a:txBody>
                    <a:bodyPr/>
                    <a:lstStyle/>
                    <a:p>
                      <a:r>
                        <a:rPr sz="1000" b="0" i="0">
                          <a:solidFill>
                            <a:srgbClr val="222222"/>
                          </a:solidFill>
                          <a:latin typeface="Calibri"/>
                        </a:rPr>
                        <a:t>Latent learning, schematically</a:t>
                      </a:r>
                    </a:p>
                  </a:txBody>
                  <a:tcPr marL="73152" marR="73152" marT="18288" marB="18288">
                    <a:solidFill>
                      <a:srgbClr val="FFFFFF"/>
                    </a:solidFill>
                  </a:tcPr>
                </a:tc>
                <a:tc>
                  <a:txBody>
                    <a:bodyPr/>
                    <a:lstStyle/>
                    <a:p>
                      <a:r>
                        <a:rPr sz="1000" b="0" i="0">
                          <a:solidFill>
                            <a:srgbClr val="222222"/>
                          </a:solidFill>
                          <a:latin typeface="Calibri"/>
                        </a:rPr>
                        <a:t>fig-latent-learning.png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6749">
                <a:tc>
                  <a:txBody>
                    <a:bodyPr/>
                    <a:lstStyle/>
                    <a:p>
                      <a:r>
                        <a:rPr sz="1000" b="0" i="0">
                          <a:solidFill>
                            <a:srgbClr val="222222"/>
                          </a:solidFill>
                          <a:latin typeface="Calibri"/>
                        </a:rPr>
                        <a:t>16</a:t>
                      </a:r>
                    </a:p>
                  </a:txBody>
                  <a:tcPr marL="73152" marR="73152" marT="18288" marB="18288">
                    <a:solidFill>
                      <a:srgbClr val="FFFFFF"/>
                    </a:solidFill>
                  </a:tcPr>
                </a:tc>
                <a:tc>
                  <a:txBody>
                    <a:bodyPr/>
                    <a:lstStyle/>
                    <a:p>
                      <a:r>
                        <a:rPr sz="1000" b="0" i="0">
                          <a:solidFill>
                            <a:srgbClr val="222222"/>
                          </a:solidFill>
                          <a:latin typeface="Calibri"/>
                        </a:rPr>
                        <a:t>Multiple realizability and its converse</a:t>
                      </a:r>
                    </a:p>
                  </a:txBody>
                  <a:tcPr marL="73152" marR="73152" marT="18288" marB="18288">
                    <a:solidFill>
                      <a:srgbClr val="FFFFFF"/>
                    </a:solidFill>
                  </a:tcPr>
                </a:tc>
                <a:tc>
                  <a:txBody>
                    <a:bodyPr/>
                    <a:lstStyle/>
                    <a:p>
                      <a:r>
                        <a:rPr sz="1000" b="0" i="0">
                          <a:solidFill>
                            <a:srgbClr val="222222"/>
                          </a:solidFill>
                          <a:latin typeface="Calibri"/>
                        </a:rPr>
                        <a:t>fig-converse.png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6754">
                <a:tc>
                  <a:txBody>
                    <a:bodyPr/>
                    <a:lstStyle/>
                    <a:p>
                      <a:r>
                        <a:rPr sz="1000" b="0" i="0">
                          <a:solidFill>
                            <a:srgbClr val="222222"/>
                          </a:solidFill>
                          <a:latin typeface="Calibri"/>
                        </a:rPr>
                        <a:t>18</a:t>
                      </a:r>
                    </a:p>
                  </a:txBody>
                  <a:tcPr marL="73152" marR="73152" marT="18288" marB="18288">
                    <a:solidFill>
                      <a:srgbClr val="FFFFFF"/>
                    </a:solidFill>
                  </a:tcPr>
                </a:tc>
                <a:tc>
                  <a:txBody>
                    <a:bodyPr/>
                    <a:lstStyle/>
                    <a:p>
                      <a:r>
                        <a:rPr sz="1000" b="0" i="0">
                          <a:solidFill>
                            <a:srgbClr val="222222"/>
                          </a:solidFill>
                          <a:latin typeface="Calibri"/>
                        </a:rPr>
                        <a:t>Three strains, and the handoff</a:t>
                      </a:r>
                    </a:p>
                  </a:txBody>
                  <a:tcPr marL="73152" marR="73152" marT="18288" marB="18288">
                    <a:solidFill>
                      <a:srgbClr val="FFFFFF"/>
                    </a:solidFill>
                  </a:tcPr>
                </a:tc>
                <a:tc>
                  <a:txBody>
                    <a:bodyPr/>
                    <a:lstStyle/>
                    <a:p>
                      <a:r>
                        <a:rPr sz="1000" b="0" i="0">
                          <a:solidFill>
                            <a:srgbClr val="222222"/>
                          </a:solidFill>
                          <a:latin typeface="Calibri"/>
                        </a:rPr>
                        <a:t>fig-three-strains.png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