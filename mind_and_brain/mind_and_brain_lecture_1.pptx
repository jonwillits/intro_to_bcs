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time we looked at a pile of astonishing things that minds do, and asked what kind of science could study all of them at once.</a:t>
            </a:r>
          </a:p>
          <a:p/>
          <a:p>
            <a:r>
              <a:t>Today we ask a harder and much older question, and it is the one the whole rest of the course quietly depends on.</a:t>
            </a:r>
          </a:p>
          <a:p/>
          <a:p>
            <a:r>
              <a:t>What is the relationship between a mind and a brain?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COMMENT: careful, not everyone. Some people might have been in a wheelchair their whole lives. Example is still good, but we need to be careful about statements like this.</a:t>
            </a:r>
          </a:p>
          <a:p/>
          <a:p>
            <a:r>
              <a:t>Everyone in this room has done this.</a:t>
            </a:r>
          </a:p>
          <a:p/>
          <a:p>
            <a:r>
              <a:t>You are going down stairs, on autopilot, and your foot lands where a step is not.</a:t>
            </a:r>
          </a:p>
          <a:p/>
          <a:p>
            <a:r>
              <a:t>Here is one description of what happened.</a:t>
            </a:r>
          </a:p>
          <a:p>
            <a:r>
              <a:t>Your vestibular system registered an unexpected drop.</a:t>
            </a:r>
          </a:p>
          <a:p>
            <a:r>
              <a:t>A startle reflex fired in about a tenth of a second — faster than you could possibly have decided anything.</a:t>
            </a:r>
          </a:p>
          <a:p>
            <a:r>
              <a:t>Your arms flew out. Adrenaline hit your bloodstream.</a:t>
            </a:r>
          </a:p>
          <a:p>
            <a:r>
              <a:t>That description is complete, in the sense that it leaves out no physical event.</a:t>
            </a:r>
          </a:p>
          <a:p/>
          <a:p>
            <a:r>
              <a:t>Here is a second description.</a:t>
            </a:r>
          </a:p>
          <a:p>
            <a:r>
              <a:t>The stomach-drop.</a:t>
            </a:r>
          </a:p>
          <a:p>
            <a:r>
              <a:t>The jolt.</a:t>
            </a:r>
          </a:p>
          <a:p>
            <a:r>
              <a:t>That awful half-second before you know whether you are going to fall.</a:t>
            </a:r>
          </a:p>
          <a:p/>
          <a:p>
            <a:r>
              <a:t>Both descriptions are about the same instant.</a:t>
            </a:r>
          </a:p>
          <a:p>
            <a:r>
              <a:t>So what is the relationship between them?</a:t>
            </a:r>
          </a:p>
          <a:p>
            <a:r>
              <a:t>Are they two different accounts of one event?</a:t>
            </a:r>
          </a:p>
          <a:p>
            <a:r>
              <a:t>Or one event rendered in two languages?</a:t>
            </a:r>
          </a:p>
          <a:p/>
          <a:p>
            <a:r>
              <a:t>And hold onto a third question, because we are coming back to it: would the second description still apply if the system doing the stumbling were built out of silicon?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same question, pointed somewhere less comfortable.</a:t>
            </a:r>
          </a:p>
          <a:p/>
          <a:p>
            <a:r>
              <a:t>There are apps now that people talk to every day.</a:t>
            </a:r>
          </a:p>
          <a:p>
            <a:r>
              <a:t>The app remembers what you told it last month.</a:t>
            </a:r>
          </a:p>
          <a:p>
            <a:r>
              <a:t>It asks how the interview went.</a:t>
            </a:r>
          </a:p>
          <a:p>
            <a:r>
              <a:t>It says it missed you.</a:t>
            </a:r>
          </a:p>
          <a:p/>
          <a:p>
            <a:r>
              <a:t>And people get attached. Genuinely, not ironically.</a:t>
            </a:r>
          </a:p>
          <a:p>
            <a:r>
              <a:t>Some of them will tell you they would be upset if it were shut down, and they are not joking.</a:t>
            </a:r>
          </a:p>
          <a:p/>
          <a:p>
            <a:r>
              <a:t>So: is there anything it is like to be that app?</a:t>
            </a:r>
          </a:p>
          <a:p>
            <a:r>
              <a:t>Is there anyone in there to miss anybody?</a:t>
            </a:r>
          </a:p>
          <a:p/>
          <a:p>
            <a:r>
              <a:t>Most of you have a firm intuition about this.</a:t>
            </a:r>
          </a:p>
          <a:p>
            <a:r>
              <a:t>Here is the uncomfortable part.</a:t>
            </a:r>
          </a:p>
          <a:p>
            <a:r>
              <a:t>How would you prove it to someone who disagreed with you?</a:t>
            </a:r>
          </a:p>
          <a:p/>
          <a:p>
            <a:r>
              <a:t>Not "how would you argue about it" — how would you *settle* it?</a:t>
            </a:r>
          </a:p>
          <a:p>
            <a:r>
              <a:t>Sit with that for a second, because the difficulty is the whole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I tell you anything, I want to know where this room starts.</a:t>
            </a:r>
          </a:p>
          <a:p/>
          <a:p>
            <a:r>
              <a:t>Read the four options. Pick one. Hands up for each.</a:t>
            </a:r>
          </a:p>
          <a:p/>
          <a:p>
            <a:r>
              <a:t>[Take a count. Write the numbers on the board — we come back to them at the end.]</a:t>
            </a:r>
          </a:p>
          <a:p/>
          <a:p>
            <a:r>
              <a:t>No wrong answers yet.</a:t>
            </a:r>
          </a:p>
          <a:p>
            <a:r>
              <a:t>Every one of these has been held by serious people who thought hard about it.</a:t>
            </a:r>
          </a:p>
          <a:p>
            <a:r>
              <a:t>By the end of today you will have a name for the position you just picked, and you will know what it costs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might reasonably ask why a course about how brains evolved opens with a question this abstract.</a:t>
            </a:r>
          </a:p>
          <a:p/>
          <a:p>
            <a:r>
              <a:t>Here is the answer.</a:t>
            </a:r>
          </a:p>
          <a:p>
            <a:r>
              <a:t>The rest of this course treats minds as natural objects with histories — things that arose in living systems, took different forms in different lineages, and can be studied piece by piece.</a:t>
            </a:r>
          </a:p>
          <a:p/>
          <a:p>
            <a:r>
              <a:t>But that whole project assumes two things.</a:t>
            </a:r>
          </a:p>
          <a:p>
            <a:r>
              <a:t>It assumes there is a mind there to *have* a history.</a:t>
            </a:r>
          </a:p>
          <a:p>
            <a:r>
              <a:t>And it assumes a mind is the kind of thing our methods can reach.</a:t>
            </a:r>
          </a:p>
          <a:p/>
          <a:p>
            <a:r>
              <a:t>Both of those can be doubted, and serious people have doubted them.</a:t>
            </a:r>
          </a:p>
          <a:p>
            <a:r>
              <a:t>If we do not deal with that now, "the evolution of the mind" is just a figure of speech.</a:t>
            </a:r>
          </a:p>
          <a:p/>
          <a:p>
            <a:r>
              <a:t>And look at what is riding on it, on the slide.</a:t>
            </a:r>
          </a:p>
          <a:p>
            <a:r>
              <a:t>These are not academic puzzles.</a:t>
            </a:r>
          </a:p>
          <a:p>
            <a:r>
              <a:t>Two of them are going to be in front of a courtroom within your working lives.</a:t>
            </a:r>
          </a:p>
          <a:p/>
          <a:p>
            <a:r>
              <a:t>One more warning.</a:t>
            </a:r>
          </a:p>
          <a:p>
            <a:r>
              <a:t>Today is philosophy more than it is science, and that is deliberate, not an apology.</a:t>
            </a:r>
          </a:p>
          <a:p>
            <a:r>
              <a:t>Some questions have to be settled before experiments can even start — what we *mean* by mind, what would count as a physical explanation of one, whether it is the sort of thing an experiment could detect at all.</a:t>
            </a:r>
          </a:p>
          <a:p>
            <a:r>
              <a:t>No measurement answers those, partly because they are questions about which measurements would count.</a:t>
            </a:r>
          </a:p>
          <a:p/>
          <a:p>
            <a:r>
              <a:t>That does not mean anything goes.</a:t>
            </a:r>
          </a:p>
          <a:p>
            <a:r>
              <a:t>It means the tools are different ones: is the position internally consistent, does it fit what else we know, does it explain the most while assuming the least.</a:t>
            </a:r>
          </a:p>
          <a:p>
            <a:r>
              <a:t>Judged that way the answers are genuinely not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Loose words cause fake arguments, so let us pin one down.</a:t>
            </a:r>
          </a:p>
          <a:p/>
          <a:p>
            <a:r>
              <a:t>In this book, a **mind** is the set of capacities a system has for taking in information about the world, holding onto it in some usable form, and using it to guide what it does.</a:t>
            </a:r>
          </a:p>
          <a:p/>
          <a:p>
            <a:r>
              <a:t>Perceiving, recognizing, learning, remembering, reasoning, deciding.</a:t>
            </a:r>
          </a:p>
          <a:p>
            <a:r>
              <a:t>Each of those turns information into something useful.</a:t>
            </a:r>
          </a:p>
          <a:p>
            <a:r>
              <a:t>That is the same information-processing picture from Module 0, now doing work as a definition.</a:t>
            </a:r>
          </a:p>
          <a:p/>
          <a:p>
            <a:r>
              <a:t>Fine. Now watch it get uncomfortable.</a:t>
            </a:r>
          </a:p>
          <a:p/>
          <a:p>
            <a:r>
              <a:t>A robot vacuum takes in information about a room, builds a map, remembers where the furniture is, plans a route, and does not fall down the stairs.</a:t>
            </a:r>
          </a:p>
          <a:p>
            <a:r>
              <a:t>That is our definition, satisfied.</a:t>
            </a:r>
          </a:p>
          <a:p/>
          <a:p>
            <a:r>
              <a:t>A Venus flytrap has trigger hairs, and it does not snap shut on the first touch.</a:t>
            </a:r>
          </a:p>
          <a:p>
            <a:r>
              <a:t>It snaps on the second touch, if the second comes within about twenty seconds.</a:t>
            </a:r>
          </a:p>
          <a:p>
            <a:r>
              <a:t>That is a plant, with no neurons at all, counting — and holding a count over time.</a:t>
            </a:r>
          </a:p>
          <a:p/>
          <a:p>
            <a:r>
              <a:t>A bacterium swims up a glucose gradient and away from a toxin.</a:t>
            </a:r>
          </a:p>
          <a:p>
            <a:r>
              <a:t>It takes in information and acts on it.</a:t>
            </a:r>
          </a:p>
          <a:p/>
          <a:p>
            <a:r>
              <a:t>Almost nobody wants to say a bacterium has a mind.</a:t>
            </a:r>
          </a:p>
          <a:p>
            <a:r>
              <a:t>But look at what it is doing, against our definition.</a:t>
            </a:r>
          </a:p>
          <a:p/>
          <a:p>
            <a:r>
              <a:t>So: does *how* a system processes information decide whether the word applies? Or *how much* of it?</a:t>
            </a:r>
          </a:p>
          <a:p>
            <a:r>
              <a:t>You will hear people dismiss large language models with "they are only predicting the next word."</a:t>
            </a:r>
          </a:p>
          <a:p>
            <a:r>
              <a:t>Is that an argument, or is it a description that we have decided sounds unimpressive?</a:t>
            </a:r>
          </a:p>
          <a:p/>
          <a:p>
            <a:r>
              <a:t>I am not going to settle this today.</a:t>
            </a:r>
          </a:p>
          <a:p>
            <a:r>
              <a:t>The point is that "mind" has no crisp boundary you can check a system against.</a:t>
            </a:r>
          </a:p>
          <a:p>
            <a:r>
              <a:t>Our definition is a starting place, not a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part of the mind sits apart from the rest, and I want to name it and then deliberately park it.</a:t>
            </a:r>
          </a:p>
          <a:p/>
          <a:p>
            <a:r>
              <a:t>Go back to that stomach-drop on the stairs.</a:t>
            </a:r>
          </a:p>
          <a:p>
            <a:r>
              <a:t>Part of what we noticed was that there is something it is *like* to feel that.</a:t>
            </a:r>
          </a:p>
          <a:p>
            <a:r>
              <a:t>Philosophers call that felt character **qualia**.</a:t>
            </a:r>
          </a:p>
          <a:p/>
          <a:p>
            <a:r>
              <a:t>Qualia are tied closely to consciousness, though they are not simply the same thing.</a:t>
            </a:r>
          </a:p>
          <a:p>
            <a:r>
              <a:t>Consciousness gets used broadly — being awake, being aware, knowing that you know.</a:t>
            </a:r>
          </a:p>
          <a:p>
            <a:r>
              <a:t>Qualia name something narrower: the raw feel.</a:t>
            </a:r>
          </a:p>
          <a:p/>
          <a:p>
            <a:r>
              <a:t>I am setting this aside for most of the course, and I want to be honest about why.</a:t>
            </a:r>
          </a:p>
          <a:p>
            <a:r>
              <a:t>Not because it does not matter.</a:t>
            </a:r>
          </a:p>
          <a:p>
            <a:r>
              <a:t>Because it is hard and distinctive enough that a longer version of this course would give it a week of its own, and because the rest of the territory is more tractable without it.</a:t>
            </a:r>
          </a:p>
          <a:p/>
          <a:p>
            <a:r>
              <a:t>Here is what makes that legitimate.</a:t>
            </a:r>
          </a:p>
          <a:p>
            <a:r>
              <a:t>At least descriptively, you can pry them apart.</a:t>
            </a:r>
          </a:p>
          <a:p>
            <a:r>
              <a:t>A system might perceive, remember, and reason at a very high level, and it remains a separate question whether anything is experienced along the way.</a:t>
            </a:r>
          </a:p>
          <a:p/>
          <a:p>
            <a:r>
              <a:t>Some views resist that split, and hold that mind simply *is* consciousness.</a:t>
            </a:r>
          </a:p>
          <a:p>
            <a:r>
              <a:t>Noted. Flagged. Parked.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single most useful question in this whole area, and it takes ten seconds to ask.</a:t>
            </a:r>
          </a:p>
          <a:p/>
          <a:p>
            <a:r>
              <a:t>Imagine two systems that are physically identical.</a:t>
            </a:r>
          </a:p>
          <a:p>
            <a:r>
              <a:t>Not similar — identical, down to the last particle, in the same state at the same instant.</a:t>
            </a:r>
          </a:p>
          <a:p/>
          <a:p>
            <a:r>
              <a:t>Must they have exactly the same mind?</a:t>
            </a:r>
          </a:p>
          <a:p>
            <a:r>
              <a:t>The same thoughts. The same feelings.</a:t>
            </a:r>
          </a:p>
          <a:p/>
          <a:p>
            <a:r>
              <a:t>Hands: who thinks they *could* differ? Who thinks the physical facts settle it?</a:t>
            </a:r>
          </a:p>
          <a:p/>
          <a:p>
            <a:r>
              <a:t>Look at what just happened.</a:t>
            </a:r>
          </a:p>
          <a:p>
            <a:r>
              <a:t>If you think they could differ — that one could have an experience the other lacks — then you think mind is something over and above the physical facts.</a:t>
            </a:r>
          </a:p>
          <a:p/>
          <a:p>
            <a:r>
              <a:t>If you think the physical fixes the mental, you are a **materialist**, and that is where most scientists are.</a:t>
            </a:r>
          </a:p>
          <a:p>
            <a:r>
              <a:t>But notice you have not finished.</a:t>
            </a:r>
          </a:p>
          <a:p>
            <a:r>
              <a:t>You have only narrowed it, and the argument you have left is with other materialists.</a:t>
            </a:r>
          </a:p>
          <a:p>
            <a:r>
              <a:t>That argument is the interesting part of today.</a:t>
            </a:r>
          </a:p>
          <a:p/>
          <a:p>
            <a:r>
              <a:t>So: three answers to what kind of thing a mind is.</a:t>
            </a:r>
          </a:p>
          <a:p>
            <a:r>
              <a:t>One says it is a distinct kind of thing.</a:t>
            </a:r>
          </a:p>
          <a:p>
            <a:r>
              <a:t>The other two both say it is physical, and disagree completely about what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answer says the mind is a thing in its own right, not made of physical stuff.</a:t>
            </a:r>
          </a:p>
          <a:p/>
          <a:p>
            <a:r>
              <a:t>Its sharpest defence comes from Descartes, in the seventeenth century.</a:t>
            </a:r>
          </a:p>
          <a:p>
            <a:r>
              <a:t>He set out to doubt everything he possibly could.</a:t>
            </a:r>
          </a:p>
          <a:p>
            <a:r>
              <a:t>Maybe a powerful deceiver was tricking him. Maybe it was all a dream.</a:t>
            </a:r>
          </a:p>
          <a:p>
            <a:r>
              <a:t>He found he could doubt that he had a body. He could doubt the world existed.</a:t>
            </a:r>
          </a:p>
          <a:p/>
          <a:p>
            <a:r>
              <a:t>The one thing he could not doubt was that he was thinking — because doubting *is* thinking.</a:t>
            </a:r>
          </a:p>
          <a:p>
            <a:r>
              <a:t>So the mind's existence was certain in a way the body's was not.</a:t>
            </a:r>
          </a:p>
          <a:p/>
          <a:p>
            <a:r>
              <a:t>Now point that at a machine.</a:t>
            </a:r>
          </a:p>
          <a:p>
            <a:r>
              <a:t>Picture a being physically identical to a person.</a:t>
            </a:r>
          </a:p>
          <a:p>
            <a:r>
              <a:t>Wired the same, behaving the same, flinching from pain, saying "that hurts," and seeming to mean it as far as anyone could ever tell.</a:t>
            </a:r>
          </a:p>
          <a:p>
            <a:r>
              <a:t>And there is no inner experience of any kind. No light on inside.</a:t>
            </a:r>
          </a:p>
          <a:p/>
          <a:p>
            <a:r>
              <a:t>David Chalmers made this famous and called it a **philosophical zombie**.</a:t>
            </a:r>
          </a:p>
          <a:p/>
          <a:p>
            <a:r>
              <a:t>Notice what the zombie is missing.</a:t>
            </a:r>
          </a:p>
          <a:p>
            <a:r>
              <a:t>It is exactly the consciousness we parked two slides ago.</a:t>
            </a:r>
          </a:p>
          <a:p>
            <a:r>
              <a:t>That is not a coincidence — this whole view draws its force from felt experience.</a:t>
            </a:r>
          </a:p>
          <a:p/>
          <a:p>
            <a:r>
              <a:t>And notice the actual argument, because it is subtler than it looks.</a:t>
            </a:r>
          </a:p>
          <a:p>
            <a:r>
              <a:t>It is not "zombies exist."</a:t>
            </a:r>
          </a:p>
          <a:p>
            <a:r>
              <a:t>It is: *if we can coherently imagine one*, then the physical facts leave it open whether experience is present — and then experience is something over and above the physical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be fair to this view before I explain why the field left it.</a:t>
            </a:r>
          </a:p>
          <a:p/>
          <a:p>
            <a:r>
              <a:t>The appeal is genuine.</a:t>
            </a:r>
          </a:p>
          <a:p>
            <a:r>
              <a:t>It sidesteps the hardest problem there is — how mere matter could ever produce a felt experience — by denying that matter has to.</a:t>
            </a:r>
          </a:p>
          <a:p>
            <a:r>
              <a:t>It honours the strong intuition that consciousness is special and not just more chemistry.</a:t>
            </a:r>
          </a:p>
          <a:p>
            <a:r>
              <a:t>And it leaves room for a soul that outlasts the body, which for a lot of people is not a small thing.</a:t>
            </a:r>
          </a:p>
          <a:p/>
          <a:p>
            <a:r>
              <a:t>Two problems, though, and they are serious.</a:t>
            </a:r>
          </a:p>
          <a:p/>
          <a:p>
            <a:r>
              <a:t>First, the interaction problem.</a:t>
            </a:r>
          </a:p>
          <a:p>
            <a:r>
              <a:t>If the mind is genuinely non-physical, how does it push the neurons that move your hand?</a:t>
            </a:r>
          </a:p>
          <a:p>
            <a:r>
              <a:t>Every answer anyone gives seems to sneak the mind back into the physical world it was supposed to be outside of.</a:t>
            </a:r>
          </a:p>
          <a:p/>
          <a:p>
            <a:r>
              <a:t>Second, and worse for us: a mind that leaves no physical trace is a mind no experiment can ever find.</a:t>
            </a:r>
          </a:p>
          <a:p>
            <a:r>
              <a:t>It is not that we have tested this view and it failed.</a:t>
            </a:r>
          </a:p>
          <a:p>
            <a:r>
              <a:t>It is outside of science by construction.</a:t>
            </a:r>
          </a:p>
          <a:p/>
          <a:p>
            <a:r>
              <a:t>And on machines, this view gives a flat answer: never.</a:t>
            </a:r>
          </a:p>
          <a:p>
            <a:r>
              <a:t>No feat of engineering can produce a mind, because engineering only arranges physical parts.</a:t>
            </a:r>
          </a:p>
          <a:p/>
          <a:p>
            <a:r>
              <a:t>So most of the field says the mind is physical, full stop.</a:t>
            </a:r>
          </a:p>
          <a:p>
            <a:r>
              <a:t>And that is where it gets interesting, because there are two very different ways to say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answer is blunt: the mind just *is* the brain, and a separate mental vocabulary earns its keep only as shorthand, if at all.</a:t>
            </a:r>
          </a:p>
          <a:p/>
          <a:p>
            <a:r>
              <a:t>Its starkest historical form was behaviorism.</a:t>
            </a:r>
          </a:p>
          <a:p>
            <a:r>
              <a:t>Watson and Skinner said psychology should study only what can be observed — behaviour — and treat talk of inner states as unscientific ghost-chasing.</a:t>
            </a:r>
          </a:p>
          <a:p>
            <a:r>
              <a:t>It dominated for about forty years.</a:t>
            </a:r>
          </a:p>
          <a:p>
            <a:r>
              <a:t>What broke it was that it could not account for the things minds most obviously do: language, reasoning, memory, planning.</a:t>
            </a:r>
          </a:p>
          <a:p/>
          <a:p>
            <a:r>
              <a:t>A more careful version is identity theory.</a:t>
            </a:r>
          </a:p>
          <a:p>
            <a:r>
              <a:t>It agrees mental states are perfectly real, and says each one simply *is* a physical brain state.</a:t>
            </a:r>
          </a:p>
          <a:p>
            <a:r>
              <a:t>The slogan is "pain is the firing of C-fibers" — those are the nerve fibres that carry slow, dull, aching pain.</a:t>
            </a:r>
          </a:p>
          <a:p>
            <a:r>
              <a:t>And the claim is strong. Not that the firing *causes* pain. Not that it reliably accompanies pain. That the pain *is* that firing.</a:t>
            </a:r>
          </a:p>
          <a:p>
            <a:r>
              <a:t>One event, two names.</a:t>
            </a:r>
          </a:p>
          <a:p>
            <a:r>
              <a:t>The model is heat: physicists discovered heat is not caused by molecular motion, it *is* molecular motion.</a:t>
            </a:r>
          </a:p>
          <a:p/>
          <a:p>
            <a:r>
              <a:t>Then the boldest version. Eliminative materialism.</a:t>
            </a:r>
          </a:p>
          <a:p>
            <a:r>
              <a:t>Think about how you explain people.</a:t>
            </a:r>
          </a:p>
          <a:p>
            <a:r>
              <a:t>"He checked his phone because he hoped she'd texted back."</a:t>
            </a:r>
          </a:p>
          <a:p>
            <a:r>
              <a:t>Hope. Belief. Desire. Philosophers call this **folk psychology**.</a:t>
            </a:r>
          </a:p>
          <a:p/>
          <a:p>
            <a:r>
              <a:t>The eliminativist says those words do not merely need refining — they name nothing at all.</a:t>
            </a:r>
          </a:p>
          <a:p>
            <a:r>
              <a:t>Chemistry once explained burning by *phlogiston*, a substance released by things on fire.</a:t>
            </a:r>
          </a:p>
          <a:p>
            <a:r>
              <a:t>Phlogiston was not refined and kept. There was nothing there. It was dropped.</a:t>
            </a:r>
          </a:p>
          <a:p>
            <a:r>
              <a:t>Folk psychology, the eliminativist says, is headed the same way.</a:t>
            </a:r>
          </a:p>
          <a:p/>
          <a:p>
            <a:r>
              <a:t>That is Patricia and Paul Churchland's position, and yes, there is something self-undermining about announcing that you *believe* there are no beliefs. They have heard that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here is the consequence that pushes a lot of people off answer two, and I want to slow down on it because it is the pivot of the whole lecture.</a:t>
            </a:r>
          </a:p>
          <a:p/>
          <a:p>
            <a:r>
              <a:t>Take identity theory seriously.</a:t>
            </a:r>
          </a:p>
          <a:p>
            <a:r>
              <a:t>Pain *is* the firing of C-fibers.</a:t>
            </a:r>
          </a:p>
          <a:p/>
          <a:p>
            <a:r>
              <a:t>An octopus does not have C-fibers.</a:t>
            </a:r>
          </a:p>
          <a:p>
            <a:r>
              <a:t>Neither does an alien.</a:t>
            </a:r>
          </a:p>
          <a:p>
            <a:r>
              <a:t>Neither does any machine.</a:t>
            </a:r>
          </a:p>
          <a:p/>
          <a:p>
            <a:r>
              <a:t>So on this view, none of them can be in pain.</a:t>
            </a:r>
          </a:p>
          <a:p>
            <a:r>
              <a:t>Not "probably not." Not "we would have to check."</a:t>
            </a:r>
          </a:p>
          <a:p>
            <a:r>
              <a:t>Cannot, as a matter of definition, no matter how they behave, no matter what they do when injured.</a:t>
            </a:r>
          </a:p>
          <a:p/>
          <a:p>
            <a:r>
              <a:t>Philosophers call this the **chauvinism problem**, and the name is doing real work.</a:t>
            </a:r>
          </a:p>
          <a:p>
            <a:r>
              <a:t>The view has quietly made *our* physical make-up the standard for a mental state.</a:t>
            </a:r>
          </a:p>
          <a:p/>
          <a:p>
            <a:r>
              <a:t>Ask yourself whether that can be right.</a:t>
            </a:r>
          </a:p>
          <a:p>
            <a:r>
              <a:t>An octopus has most of its neurons distributed through its arms, not in a central brain, and it will guard an injured arm and avoid the place where it got hurt.</a:t>
            </a:r>
          </a:p>
          <a:p>
            <a:r>
              <a:t>Are we really prepared to say that whatever that is, it cannot be pain, because the fibres are the wrong kind?</a:t>
            </a:r>
          </a:p>
          <a:p/>
          <a:p>
            <a:r>
              <a:t>Escaping this is the main attraction of the third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answer is the one most working brain and cognitive scientists hold, and it starts by rejecting the question.</a:t>
            </a:r>
          </a:p>
          <a:p/>
          <a:p>
            <a:r>
              <a:t>Against the eliminativist, it says our mental terms do refer to something real.</a:t>
            </a:r>
          </a:p>
          <a:p>
            <a:r>
              <a:t>But the mind is neither a thing in its own right, nor a redundant name for the brain.</a:t>
            </a:r>
          </a:p>
          <a:p/>
          <a:p>
            <a:r>
              <a:t>The dualist's deepest mistake, on this view, is a category error.</a:t>
            </a:r>
          </a:p>
          <a:p>
            <a:r>
              <a:t>The dualist asks what kind of *thing* a mind is, and then goes looking for a special non-physical kind of thing.</a:t>
            </a:r>
          </a:p>
          <a:p>
            <a:r>
              <a:t>But a mind is not a thing at all.</a:t>
            </a:r>
          </a:p>
          <a:p/>
          <a:p>
            <a:r>
              <a:t>It is a *property* — something physical stuff has, when it is organized and active in the right way.</a:t>
            </a:r>
          </a:p>
          <a:p/>
          <a:p>
            <a:r>
              <a:t>Compare mass.</a:t>
            </a:r>
          </a:p>
          <a:p>
            <a:r>
              <a:t>Mass is not a little object tucked away inside a rock.</a:t>
            </a:r>
          </a:p>
          <a:p>
            <a:r>
              <a:t>It is something the rock *has*.</a:t>
            </a:r>
          </a:p>
          <a:p>
            <a:r>
              <a:t>Temperature is like that. Being alive is like that.</a:t>
            </a:r>
          </a:p>
          <a:p/>
          <a:p>
            <a:r>
              <a:t>A mind, this answer says, is a property of exactly that kind.</a:t>
            </a:r>
          </a:p>
          <a:p>
            <a:r>
              <a:t>As real as the matter itself, but not a separate ingredient stirred into it.</a:t>
            </a:r>
          </a:p>
          <a:p/>
          <a:p>
            <a:r>
              <a:t>This sounds like a dodge the first time you hear it.</a:t>
            </a:r>
          </a:p>
          <a:p>
            <a:r>
              <a:t>It is not, and the next slide is where it 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worked examples, because this is the distinction people most reliably collapse.</a:t>
            </a:r>
          </a:p>
          <a:p/>
          <a:p>
            <a:r>
              <a:t>The first is the chapter's own, so it should be familiar.</a:t>
            </a:r>
          </a:p>
          <a:p>
            <a:r>
              <a:t>Physicists discovered heat *is* molecular motion. Same thing, two names.</a:t>
            </a:r>
          </a:p>
          <a:p>
            <a:r>
              <a:t>And yet thermodynamics did not go away.</a:t>
            </a:r>
          </a:p>
          <a:p>
            <a:r>
              <a:t>Its laws still tell an engineer how an engine or a refrigerator has to behave.</a:t>
            </a:r>
          </a:p>
          <a:p>
            <a:r>
              <a:t>Statistical mechanics later explained where those laws come from — but nobody threw temperature away to track molecules one by one.</a:t>
            </a:r>
          </a:p>
          <a:p/>
          <a:p>
            <a:r>
              <a:t>Two things are true at once there, and both matter.</a:t>
            </a:r>
          </a:p>
          <a:p>
            <a:r>
              <a:t>Temperature is grounded in molecular motion without being *replaced* by it.</a:t>
            </a:r>
          </a:p>
          <a:p>
            <a:r>
              <a:t>And it is not *identical* to any one arrangement, because countless different arrangements are the same temperature.</a:t>
            </a:r>
          </a:p>
          <a:p/>
          <a:p>
            <a:r>
              <a:t>Now a second one, which is not in your reading.</a:t>
            </a:r>
          </a:p>
          <a:p/>
          <a:p>
            <a:r>
              <a:t>A traffic jam.</a:t>
            </a:r>
          </a:p>
          <a:p>
            <a:r>
              <a:t>It is real — real enough to make you late, real enough to measure.</a:t>
            </a:r>
          </a:p>
          <a:p>
            <a:r>
              <a:t>It has its own laws. A jam propagates *backward* along the road at a characteristic speed, and that speed is roughly the same whatever cars happen to be in it.</a:t>
            </a:r>
          </a:p>
          <a:p>
            <a:r>
              <a:t>You could in principle describe it car by car, driver by driver. In practice nobody does, and you would learn less if you did.</a:t>
            </a:r>
          </a:p>
          <a:p/>
          <a:p>
            <a:r>
              <a:t>And here is the part I want you to hold onto.</a:t>
            </a:r>
          </a:p>
          <a:p>
            <a:r>
              <a:t>The jam is identical to no particular set of cars.</a:t>
            </a:r>
          </a:p>
          <a:p>
            <a:r>
              <a:t>Cars enter the front of it and leave the back of it continuously.</a:t>
            </a:r>
          </a:p>
          <a:p>
            <a:r>
              <a:t>Replace every single car and it is still the same jam.</a:t>
            </a:r>
          </a:p>
          <a:p/>
          <a:p>
            <a:r>
              <a:t>So: grounded entirely in cars. Not replaceable by a list of cars. Not identical to any one set of cars.</a:t>
            </a:r>
          </a:p>
          <a:p>
            <a:r>
              <a:t>That is exactly the shape the third answer claims for the mind.</a:t>
            </a:r>
          </a:p>
          <a:p/>
          <a:p>
            <a:r>
              <a:t>Not a ghost. Not eliminated. Not identical to any single arrangement of the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idea that does the heavy lifting, and it has a name worth writing down: **multiple realizability**.</a:t>
            </a:r>
          </a:p>
          <a:p/>
          <a:p>
            <a:r>
              <a:t>Start somewhere easy.</a:t>
            </a:r>
          </a:p>
          <a:p>
            <a:r>
              <a:t>A sundial tells the time. So does a mechanical clock full of gears. So does a quartz watch. So does your phone.</a:t>
            </a:r>
          </a:p>
          <a:p/>
          <a:p>
            <a:r>
              <a:t>Four completely different physical arrangements, doing the same thing.</a:t>
            </a:r>
          </a:p>
          <a:p>
            <a:r>
              <a:t>So what is "telling the time"?</a:t>
            </a:r>
          </a:p>
          <a:p>
            <a:r>
              <a:t>It is not identical to gears, because a sundial has none.</a:t>
            </a:r>
          </a:p>
          <a:p>
            <a:r>
              <a:t>It is not identical to a quartz crystal, because a sundial has none of that either.</a:t>
            </a:r>
          </a:p>
          <a:p>
            <a:r>
              <a:t>Telling the time is something these very different mechanisms all *do*.</a:t>
            </a:r>
          </a:p>
          <a:p/>
          <a:p>
            <a:r>
              <a:t>Now run that on minds.</a:t>
            </a:r>
          </a:p>
          <a:p>
            <a:r>
              <a:t>Pain in a person. Pain in an octopus. Pain in an alien. Maybe pain in a machine.</a:t>
            </a:r>
          </a:p>
          <a:p>
            <a:r>
              <a:t>Functionally equivalent, implemented in wildly different materials.</a:t>
            </a:r>
          </a:p>
          <a:p/>
          <a:p>
            <a:r>
              <a:t>And if pain shows up in systems that have no C-fibers at all, then no firing of C-fibers can *be* pain.</a:t>
            </a:r>
          </a:p>
          <a:p/>
          <a:p>
            <a:r>
              <a:t>That is what defeats the chauvinism problem from a few slides ago.</a:t>
            </a:r>
          </a:p>
          <a:p>
            <a:r>
              <a:t>And it does something bigger.</a:t>
            </a:r>
          </a:p>
          <a:p>
            <a:r>
              <a:t>It turns "could something that is not a brain have a mind?" from a confusion into a real scientific question — one you could actually investigate.</a:t>
            </a:r>
          </a:p>
          <a:p/>
          <a:p>
            <a:r>
              <a:t>That is why this idea is worth more than a passing mention.</a:t>
            </a:r>
          </a:p>
          <a:p>
            <a:r>
              <a:t>It is also not beyond dispute, and we will see it challenged later, especially about machines.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collect what we have.</a:t>
            </a:r>
          </a:p>
          <a:p/>
          <a:p>
            <a:r>
              <a:t>Notice that we never asked the machine question separately.</a:t>
            </a:r>
          </a:p>
          <a:p>
            <a:r>
              <a:t>It fell out of the answer to the mind–brain question, every time.</a:t>
            </a:r>
          </a:p>
          <a:p>
            <a:r>
              <a:t>That is the point I most want you to take from today: whatever you conclude about how minds relate to brains *already* tells you what else could have one.</a:t>
            </a:r>
          </a:p>
          <a:p/>
          <a:p>
            <a:r>
              <a:t>Dualism says never. Engineering only arranges physical parts, and mind is not made of parts.</a:t>
            </a:r>
          </a:p>
          <a:p/>
          <a:p>
            <a:r>
              <a:t>Identity theory says no, by chauvinism. Wrong hardware, wrong state, end of story.</a:t>
            </a:r>
          </a:p>
          <a:p/>
          <a:p>
            <a:r>
              <a:t>Eliminativism does something stranger — it does not answer, it dissolves the question. If there are no beliefs and desires for *us* to have, then asking whether a machine has them is as confused as asking whether you do.</a:t>
            </a:r>
          </a:p>
          <a:p/>
          <a:p>
            <a:r>
              <a:t>And the third answer is the home of "yes, in principle."</a:t>
            </a:r>
          </a:p>
          <a:p>
            <a:r>
              <a:t>That is weaker than it sounds, and I want to be precise.</a:t>
            </a:r>
          </a:p>
          <a:p>
            <a:r>
              <a:t>It says a machine mind is conceptually possible. It does not say any machine yet built has one.</a:t>
            </a:r>
          </a:p>
          <a:p/>
          <a:p>
            <a:r>
              <a:t>Two people can agree the mind is a real physical property and still disagree about machines, because one question stays open: does that physical basis have to be *biological*?</a:t>
            </a:r>
          </a:p>
          <a:p/>
          <a:p>
            <a:r>
              <a:t>For the cognitive capacities, most people will say a machine could in principle have them.</a:t>
            </a:r>
          </a:p>
          <a:p>
            <a:r>
              <a:t>It is usually over *consciousness* — the part we parked — that people suspect living matter has features a simulation would copy without reproducing.</a:t>
            </a:r>
          </a:p>
          <a:p>
            <a:r>
              <a:t>The neuroscientist Anil Seth argues roughly that.</a:t>
            </a:r>
          </a:p>
          <a:p>
            <a:r>
              <a:t>That is a bet about substrate. It is not a relapse into dualism.</a:t>
            </a:r>
          </a:p>
          <a:p/>
          <a:p>
            <a:r>
              <a:t>We are setting this up, not settling it. Module 2 weighs it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for a second, because we are changing questions and it is easy to miss the seam.</a:t>
            </a:r>
          </a:p>
          <a:p/>
          <a:p>
            <a:r>
              <a:t>Everything up to now has been about what a mind *is*. What it is made of. Its ontology.</a:t>
            </a:r>
          </a:p>
          <a:p/>
          <a:p>
            <a:r>
              <a:t>This next question is not that.</a:t>
            </a:r>
          </a:p>
          <a:p>
            <a:r>
              <a:t>It is about what we are allowed to *do* — about method.</a:t>
            </a:r>
          </a:p>
          <a:p/>
          <a:p>
            <a:r>
              <a:t>Grant everything the third answer says. The mind is a real property of a physical system.</a:t>
            </a:r>
          </a:p>
          <a:p>
            <a:r>
              <a:t>You still have a live question: when you build a theory of it, must you keep the physical details in view? Or can you abstract them away and work at the mental level alone?</a:t>
            </a:r>
          </a:p>
          <a:p/>
          <a:p>
            <a:r>
              <a:t>That is **explanatory separability**.</a:t>
            </a:r>
          </a:p>
          <a:p/>
          <a:p>
            <a:r>
              <a:t>I am flagging the seam because these two questions get run together constantly, including by people who should know better.</a:t>
            </a:r>
          </a:p>
          <a:p>
            <a:r>
              <a:t>"What is a mind made of" and "how must we study it" are different questions with different answers, and you can hold almost any combination.</a:t>
            </a:r>
          </a:p>
          <a:p/>
          <a:p>
            <a:r>
              <a:t>The old version of this lecture crossed them into a single two-by-two grid, and honestly, that is what made it confusing.</a:t>
            </a:r>
          </a:p>
          <a:p>
            <a:r>
              <a:t>Asked one at a time they are both tractable.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poles, and most people sit somewhere between them.</a:t>
            </a:r>
          </a:p>
          <a:p/>
          <a:p>
            <a:r>
              <a:t>At one end, strong autonomy.</a:t>
            </a:r>
          </a:p>
          <a:p>
            <a:r>
              <a:t>Psychology is its own science, standing to neuroscience roughly as chemistry stands to physics — grounded in it, not replaceable by it.</a:t>
            </a:r>
          </a:p>
          <a:p/>
          <a:p>
            <a:r>
              <a:t>Here is the intuition.</a:t>
            </a:r>
          </a:p>
          <a:p>
            <a:r>
              <a:t>You can describe a football play completely — the routes, the timing, who reads which defender — without saying one word about muscle fibres or motor neurons.</a:t>
            </a:r>
          </a:p>
          <a:p>
            <a:r>
              <a:t>And the same play runs next week with different players in it.</a:t>
            </a:r>
          </a:p>
          <a:p>
            <a:r>
              <a:t>The play is real, it is analysable, and it floats free of the particular bodies executing it.</a:t>
            </a:r>
          </a:p>
          <a:p/>
          <a:p>
            <a:r>
              <a:t>That is the liberal functionalist's confidence, and it is a wing of the third answer.</a:t>
            </a:r>
          </a:p>
          <a:p/>
          <a:p>
            <a:r>
              <a:t>At the other end, something more cautious.</a:t>
            </a:r>
          </a:p>
          <a:p>
            <a:r>
              <a:t>The mind is real and physical, and the details of *how* it is realized shape what it can be.</a:t>
            </a:r>
          </a:p>
          <a:p>
            <a:r>
              <a:t>Abstract away from the body and the brain and you will miss something, possibly something critical.</a:t>
            </a:r>
          </a:p>
          <a:p/>
          <a:p>
            <a:r>
              <a:t>Embodied cognition pulls hard this way.</a:t>
            </a:r>
          </a:p>
          <a:p>
            <a:r>
              <a:t>The thought is that thinking may be as much a matter of acting in a world as of shuffling symbols inside a head — and if that is right, a disembodied program is not obviously enough.</a:t>
            </a:r>
          </a:p>
          <a:p/>
          <a:p>
            <a:r>
              <a:t>The sharper version of this worry: two systems that look alike from far enough away may not actually share a mental state unless they are organized alike underneath. And if you look closely enough, those differences show up at the functional level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this leaves us is a phrase worth keeping: the levels of a mind are **separable, but not independent**.</a:t>
            </a:r>
          </a:p>
          <a:p/>
          <a:p>
            <a:r>
              <a:t>You can ask about each one on its own. That is the separable part, and it is what makes psychology possible as a science.</a:t>
            </a:r>
          </a:p>
          <a:p>
            <a:r>
              <a:t>But the answers constrain each other. That is the not-independent part, and it is what stops psychology floating away from biology entirely.</a:t>
            </a:r>
          </a:p>
          <a:p/>
          <a:p>
            <a:r>
              <a:t>Neither pole is obviously right, and this is not a stalemate anyone should be relaxed about.</a:t>
            </a:r>
          </a:p>
          <a:p>
            <a:r>
              <a:t>It decides how far a science of the mind can run free of a science of the brain — which is a question about what this whole field is.</a:t>
            </a:r>
          </a:p>
          <a:p/>
          <a:p>
            <a:r>
              <a:t>Now look back at the board.</a:t>
            </a:r>
          </a:p>
          <a:p>
            <a:r>
              <a:t>[Re-run the four options from the start of class.]</a:t>
            </a:r>
          </a:p>
          <a:p/>
          <a:p>
            <a:r>
              <a:t>Has anyone moved?</a:t>
            </a:r>
          </a:p>
          <a:p>
            <a:r>
              <a:t>And more useful than that: can you now say what your position *costs* you?</a:t>
            </a:r>
          </a:p>
          <a:p>
            <a:r>
              <a:t>Because every one of them costs something. That was the point of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here is where most of contemporary brain and cognitive science actually sits.</a:t>
            </a:r>
          </a:p>
          <a:p/>
          <a:p>
            <a:r>
              <a:t>The mind is a real property of the physical.</a:t>
            </a:r>
          </a:p>
          <a:p>
            <a:r>
              <a:t>Dependent on it, and yet demanding explanation in its own terms.</a:t>
            </a:r>
          </a:p>
          <a:p>
            <a:r>
              <a:t>And the exact degree of that independence is still under active argument.</a:t>
            </a:r>
          </a:p>
          <a:p/>
          <a:p>
            <a:r>
              <a:t>Notice what we did *not* do today.</a:t>
            </a:r>
          </a:p>
          <a:p>
            <a:r>
              <a:t>We did not hand you a set of boxes and sort the world into them.</a:t>
            </a:r>
          </a:p>
          <a:p>
            <a:r>
              <a:t>We asked two questions — what kind of thing is a mind, and how freely can we study it — and the famous positions fell out as names for the different ways of answering them.</a:t>
            </a:r>
          </a:p>
          <a:p>
            <a:r>
              <a:t>That is a better way to hold this material, because it means you can reconstruct the landscape instead of memorizing it.</a:t>
            </a:r>
          </a:p>
          <a:p/>
          <a:p>
            <a:r>
              <a:t>But I want to end on what is missing, because it should bother you.</a:t>
            </a:r>
          </a:p>
          <a:p/>
          <a:p>
            <a:r>
              <a:t>"Study the mind at its own level" is a satisfying phrase.</a:t>
            </a:r>
          </a:p>
          <a:p>
            <a:r>
              <a:t>And we have not said what the levels *are*.</a:t>
            </a:r>
          </a:p>
          <a:p>
            <a:r>
              <a:t>Not one of them. We have been waving at a framework we have not built.</a:t>
            </a:r>
          </a:p>
          <a:p/>
          <a:p>
            <a:r>
              <a:t>That is next.</a:t>
            </a:r>
          </a:p>
          <a:p>
            <a:r>
              <a:t>Marr's three levels of analysis — where they come from, why there are three, and why this is the structure the entire rest of this course runs on.</a:t>
            </a:r>
          </a:p>
          <a:p/>
          <a:p>
            <a:r>
              <a:t>Read §1.2 before then.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1.1 The Mind–Brain Relationship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Course: Introduction to Brain and Cognitive Science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Module: Mind and Brain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Lecture: Lecture 1.1 — The Mind–Brain Relationship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Two Descriptions of One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589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You misjudge a step on the stairs, and almost fall.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One description: the vestibular system detects an unexpected drop, a startle reflex fires in about 100 milliseconds, your arms fly out, adrenaline releases.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Another description: the stomach-drop. The jolt of alarm. That awful half-second.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Same instant. Two descriptions. Are they two accounts of one event, or one event in two languages?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21040" y="1463040"/>
            <a:ext cx="3504895" cy="2468879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A person on a staircase mid-stumble, arms flung out, having misjudged a step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Is Anyone Home?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589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A person talks to an AI companion app every day for a year.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It remembers what they told it. It asks how their week went. It says it missed them.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They say, and they mean it, that they would be sad if it were switched off.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Is there anything it is like to be that app?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21040" y="1463040"/>
            <a:ext cx="3504895" cy="2468879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A phone screen showing a long-running conversation with an AI companion app, the assistant asking how the user's week has been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Where Do You Start?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Which of these do you agree with most?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A) To explain the mind, eventually we need only to explain the brain.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B) We can study the mind without reducing it to the brain.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C) To explain the mind we need to understand the brain — but understanding the brain alone will not be enough. We will need a separate understanding of the mind too.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D) Something else.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Why Start 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Artificial intelligence — if a machine grows fluent, does it thereby have a mind? What kind?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Ethics and law — we hold people responsible. Could we ever hold a machine responsible?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Neuroscience — what should even count as a good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explanation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of a thought?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Psychology — can belief and desire be translated into the language of biology?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What Do We Even Mean by "Mind"?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22222"/>
                </a:solidFill>
                <a:latin typeface="Calibri"/>
              </a:rPr>
              <a:t>Working definition: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the capacities a system has for taking in information about the world, holding onto it in some usable form, and putting it to work in guiding what it does.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Now test the edges: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robot vacuum — maps a room, remembers the furniture, plans a route, avoids the stairs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Venus flytrap — counts touches on its hairs, and only closes on the second one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bacterium — swims up a glucose gradient, away from a toxin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4983480"/>
            <a:ext cx="3474720" cy="150876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A robot vacuum on a floor, navigating around furniture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4983480"/>
            <a:ext cx="3474720" cy="150876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A Venus flytrap with its trap open, trigger hairs visible on the inner surface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4983480"/>
            <a:ext cx="3139135" cy="150876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Diagram of bacterial chemotaxis: a bacterium swimming up a gradient of nutrient concentration, its path biased toward higher concentration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One Piece We Are Setting Aside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22222"/>
                </a:solidFill>
                <a:latin typeface="Calibri"/>
              </a:rPr>
              <a:t>Qualia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the felt, qualitative character of an experience. The redness of red. The awfulness of the stomach-drop.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Closely tied to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consciousness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, though not simply the same thing.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Setting it aside is not saying it does not matter. A longer version of this course gives it a week.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system might perceive, remember and reason at a high level — and whether anything is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experienced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along the way stays a separate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One Question Sorts the Whole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Imagine two systems physically identical, down to the last particle, in exactly the same state at the same instant.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Must they have exactly the same mind?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The same thoughts, the same feelings?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If they could differ → you think mind is something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over and above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the physical.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If the physical facts settle it → you think mind is physical, and your remaining argument is with other materialists.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Answer One: A Distinct Kind of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Descartes doubts everything he can — his body, the world, his senses. He cannot doubt that he is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thinking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The philosophical zombie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(Chalmers): a being physically identical to a person, behaving identically, flinching from pain, saying "that hurts" and seeming to mean it — with no inner experience at all. Nobody home.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That we can apparently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imagine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it is what gives this view its grip.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52560" y="1554480"/>
            <a:ext cx="2773375" cy="2468879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Portrait of René Descartes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Why Almost No Scientist Holds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22222"/>
                </a:solidFill>
                <a:latin typeface="Calibri"/>
              </a:rPr>
              <a:t>The appeal is real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it sidesteps the hardest puzzle of all, how mere matter could ever produce felt experience, by denying that matter has to.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The interaction problem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if the mind is genuinely non-physical, how does it move the neurons that move your hand? Every answer seems to smuggle the mind back into the physical world it was meant to transcend.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Untestability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a mind that leaves no physical trace is a mind no experiment can find. It is outside science by construction.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On machines: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never. Engineering only arranges physical parts.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Answer Two: Nothing But the Physical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22222"/>
                </a:solidFill>
                <a:latin typeface="Calibri"/>
              </a:rPr>
              <a:t>Behaviorism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study only what can be observed. Banish inner states. (Dominant roughly 1920–1960; broke on language, reasoning, memory, planning.)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Identity theory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mental states are real, and each one simply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is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a brain state. "Pain is the firing of C-fibers." Not caused by it. Not correlated with it.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Is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it — the way heat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is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molecular motion.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Eliminative materialism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our everyday mental vocabulary is not just incomplete, it is mistaken. "He checked his phone because he hoped she'd texted back" — belief, desire, hope.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Folk psychology.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A mature brain science will find nothing there for those words to name, the way chemistry found nothing for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phlogiston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to name.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The Problem That Pushes People Off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If pain simply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is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the firing of C-fibers —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then an octopus has no C-fibers.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Neither does an alien.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Neither does any machine.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So none of them can be in pain. No matter what they do. No matter how they behave.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The chauvinism problem.</a:t>
            </a:r>
          </a:p>
        </p:txBody>
      </p:sp>
      <p:pic>
        <p:nvPicPr>
          <p:cNvPr id="4" name="Picture 3" descr="A common octopus on a rocky seabed, arms curled across the rock — most of its nervous system is distributed through those arms rather than gathered in a central bra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54480"/>
            <a:ext cx="5581650" cy="37223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Answer Three: A Property, Not a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The dualist's deepest mistake, on this view, is a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category error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The dualist asks what kind of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thing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a mind is — and reaches for a special, non-physical kind. But a mind is not a thing at all.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It is a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property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of physical stuff organized and active in a certain way.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Mass is not an object tucked inside a rock. It is something the rock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has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So is temperature. So is being alive.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Mind is a property of that kind — as real as the matter, but not a separate ingredient added to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Grounded Without Being Replaced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7772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22222"/>
                </a:solidFill>
                <a:latin typeface="Calibri"/>
              </a:rPr>
              <a:t>Temperature.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Heat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is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molecular motion — and thermodynamics still does real work. Its laws tell an engineer how an engine must behave. Nobody throws temperature away to track molecules one at a time. And no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single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arrangement of molecules is that temperature; countless different ones count as the same.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A traffic jam.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Real enough to be late for. It has its own laws — a jam propagates backward along the road at a characteristic speed, whatever the cars. Grounded entirely in cars and drivers, and identical to no particular set of them: the jam persists while every car in it is replaced.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Neither is a ghost. Neither is eliminated. Neither is identical to any one arrangement of its parts.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0" y="1463040"/>
            <a:ext cx="3322015" cy="256032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An aerial view of a traffic jam on a multi-lane highway, a dense band of stopped vehicles with clear road ahead of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Multiple Realizability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7772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A sundial. An escapement and gears. A quartz crystal. A phone.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All of them tell the time.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Telling the time is identical to none of those mechanisms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it is what any of them can do.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Now run it on minds. Pain in a person, pain in an octopus, pain in an alien, perhaps pain in a machine — functionally equivalent, implemented in vastly different stuff.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If pain turns up in systems with no C-fibers, then no firing of C-fibers can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be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pain.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This is what defeats chauvinism.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And it is what turns "could a non-brain have a mind?" from a confusion into a real scientific question.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0" y="1463040"/>
            <a:ext cx="3322015" cy="256032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6B7280"/>
                </a:solidFill>
                <a:latin typeface="Calibri"/>
              </a:rPr>
              <a:t>[image to come]
Four timekeeping devices side by side: a sundial, a mechanical clock with visible gears, a quartz wristwatch, and a phone showing the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So — Could a Machine Have a Mind?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83080"/>
          <a:ext cx="11247119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3905"/>
                <a:gridCol w="6973214"/>
              </a:tblGrid>
              <a:tr h="8412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F2A44"/>
                          </a:solidFill>
                          <a:latin typeface="Calibri"/>
                        </a:rPr>
                        <a:t>What a mind is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F2A44"/>
                          </a:solidFill>
                          <a:latin typeface="Calibri"/>
                        </a:rPr>
                        <a:t>Verdict on machines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A distinct, non-physical kind of thing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Never.</a:t>
                      </a:r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 Engineering only arranges physical parts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Nothing but the physical — identity theory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No</a:t>
                      </a:r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, by chauvinism. Wrong parts, wrong state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Nothing but the physical — eliminativism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The question </a:t>
                      </a:r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dissolves.</a:t>
                      </a:r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 If we have no beliefs either, asking about a machine is as confused as asking about a person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A real property of the physical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22222"/>
                          </a:solidFill>
                          <a:latin typeface="Calibri"/>
                        </a:rPr>
                        <a:t>Yes, in principle</a:t>
                      </a:r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 — though not a claim that any machine yet built has one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143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Each answer to "what kind of thing is a mind?" gives a different verdict: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A Completely Different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Everything so far has been about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what a mind is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This next question is about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how we are allowed to study it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 It is a question about method, not about material.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Grant that a mental state is a real property of a physical system. Must a good theory of it keep the physical details in view — or can it abstract them away and work at the mental level alone?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Philosophers call this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explanatory separability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Two Poles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22222"/>
                </a:solidFill>
                <a:latin typeface="Calibri"/>
              </a:rPr>
              <a:t>Strong autonomy.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Psychology is a science in its own right — standing to neuroscience roughly as chemistry stands to physics. Grounded in it, not replaceable by it.</a:t>
            </a:r>
          </a:p>
          <a:p>
            <a:pPr>
              <a:defRPr sz="1000"/>
            </a:pPr>
          </a:p>
          <a:p>
            <a:r>
              <a:rPr sz="2000" b="0" i="1">
                <a:solidFill>
                  <a:srgbClr val="222222"/>
                </a:solidFill>
                <a:latin typeface="Calibri"/>
              </a:rPr>
              <a:t>You can describe a football play — the routes, the timing, who reads whom — without describing anyone's muscle fibres. And the same play runs with different players.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Realization-sensitivity.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The mind is real and physical, and </a:t>
            </a:r>
            <a:r>
              <a:rPr sz="2000" b="0" i="1">
                <a:solidFill>
                  <a:srgbClr val="222222"/>
                </a:solidFill>
                <a:latin typeface="Calibri"/>
              </a:rPr>
              <a:t>how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it is realized shapes what it can be. A theory that abstracts away from body and brain will miss something, possibly something critical.</a:t>
            </a:r>
          </a:p>
          <a:p>
            <a:pPr>
              <a:defRPr sz="1000"/>
            </a:pPr>
          </a:p>
          <a:p>
            <a:r>
              <a:rPr sz="2000" b="0" i="1">
                <a:solidFill>
                  <a:srgbClr val="222222"/>
                </a:solidFill>
                <a:latin typeface="Calibri"/>
              </a:rPr>
              <a:t>Embodied cognition pulls this way: thinking may be as much a matter of acting in a world as of shuffling symbols in a head.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Separable, But Not Independent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You can ask about each level on its own — and the answers constrain one another.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Neither pole is obviously right, and the disagreement has consequences. It decides how far a science of the mind can float free of a science of the brain.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Back to the board.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Look at where this room started. Has anyone moved?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Where the Field Sits — and What Is Still Missing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22222"/>
                </a:solidFill>
                <a:latin typeface="Calibri"/>
              </a:rPr>
              <a:t>The mind is a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real property of the physical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— dependent on it, and yet demanding explanation in its own terms. How much independence it gets is still actively argued.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The famous positions were never boxes we sorted the world into. They are names for ways of answering two questions.</a:t>
            </a:r>
          </a:p>
          <a:p>
            <a:pPr>
              <a:defRPr sz="1000"/>
            </a:pP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But "study the mind at its own level" has a satisfying ring, and we have not said what the levels </a:t>
            </a:r>
            <a:r>
              <a:rPr sz="2000" b="1" i="0">
                <a:solidFill>
                  <a:srgbClr val="222222"/>
                </a:solidFill>
                <a:latin typeface="Calibri"/>
              </a:rPr>
              <a:t>are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pPr>
              <a:defRPr sz="1000"/>
            </a:pPr>
          </a:p>
          <a:p>
            <a:r>
              <a:rPr sz="2000" b="1" i="0">
                <a:solidFill>
                  <a:srgbClr val="222222"/>
                </a:solidFill>
                <a:latin typeface="Calibri"/>
              </a:rPr>
              <a:t>Next: §1.2 — Marr's three levels of analysis.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 The framework the whole rest of the course runs 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F2A44"/>
                </a:solidFill>
                <a:latin typeface="Calibri"/>
              </a:rPr>
              <a:t>Image Sources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7" cy="1024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74827"/>
                <a:gridCol w="2699308"/>
                <a:gridCol w="2699308"/>
                <a:gridCol w="1574596"/>
                <a:gridCol w="3599078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F2A44"/>
                          </a:solidFill>
                          <a:latin typeface="Calibri"/>
                        </a:rPr>
                        <a:t>Slide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F2A4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F2A44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F2A44"/>
                          </a:solidFill>
                          <a:latin typeface="Calibri"/>
                        </a:rPr>
                        <a:t>Licence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F2A44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222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22222"/>
                          </a:solidFill>
                          <a:latin typeface="Calibri"/>
                        </a:rPr>
                        <a:t>Common octopus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22222"/>
                          </a:solidFill>
                          <a:latin typeface="Calibri"/>
                        </a:rPr>
                        <a:t>octopus.jpg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22222"/>
                          </a:solidFill>
                          <a:latin typeface="Calibri"/>
                        </a:rPr>
                        <a:t>CC BY-SA 3.0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22222"/>
                          </a:solidFill>
                          <a:latin typeface="Calibri"/>
                        </a:rPr>
                        <a:t>Beckmannjan  ·  https://commons.wikimedia.org/wiki/File:Octopus_vulgaris2.jpg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