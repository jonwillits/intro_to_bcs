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time we looked at a pile of astonishing things that minds do, and asked what kind of science could study all of them at once.</a:t>
            </a:r>
          </a:p>
          <a:p/>
          <a:p>
            <a:r>
              <a:t>Today we ask a harder and much older question, and it is the one the whole rest of the course quietly depends on.</a:t>
            </a:r>
          </a:p>
          <a:p/>
          <a:p>
            <a:r>
              <a:t>What is the relationship between a mind and a brain?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COMMENT: careful, not everyone. Some people might have been in a wheelchair their whole lives. Example is still good, but we need to be careful about statements like this.</a:t>
            </a:r>
          </a:p>
          <a:p/>
          <a:p>
            <a:r>
              <a:t>Everyone in this room has done this.</a:t>
            </a:r>
          </a:p>
          <a:p/>
          <a:p>
            <a:r>
              <a:t>You are going down stairs, on autopilot, and your foot lands where a step is not.</a:t>
            </a:r>
          </a:p>
          <a:p/>
          <a:p>
            <a:r>
              <a:t>Here is one description of what happened.</a:t>
            </a:r>
          </a:p>
          <a:p>
            <a:r>
              <a:t>Your vestibular system registered an unexpected drop.</a:t>
            </a:r>
          </a:p>
          <a:p>
            <a:r>
              <a:t>A startle reflex fired in about a tenth of a second — faster than you could possibly have decided anything.</a:t>
            </a:r>
          </a:p>
          <a:p>
            <a:r>
              <a:t>Your arms flew out. Adrenaline hit your bloodstream.</a:t>
            </a:r>
          </a:p>
          <a:p>
            <a:r>
              <a:t>That description is complete, in the sense that it leaves out no physical event.</a:t>
            </a:r>
          </a:p>
          <a:p/>
          <a:p>
            <a:r>
              <a:t>Here is a second description.</a:t>
            </a:r>
          </a:p>
          <a:p>
            <a:r>
              <a:t>The stomach-drop.</a:t>
            </a:r>
          </a:p>
          <a:p>
            <a:r>
              <a:t>The jolt.</a:t>
            </a:r>
          </a:p>
          <a:p>
            <a:r>
              <a:t>That awful half-second before you know whether you are going to fall.</a:t>
            </a:r>
          </a:p>
          <a:p/>
          <a:p>
            <a:r>
              <a:t>Both descriptions are about the same instant.</a:t>
            </a:r>
          </a:p>
          <a:p>
            <a:r>
              <a:t>So what is the relationship between them?</a:t>
            </a:r>
          </a:p>
          <a:p>
            <a:r>
              <a:t>Are they two different accounts of one event?</a:t>
            </a:r>
          </a:p>
          <a:p>
            <a:r>
              <a:t>Or one event rendered in two languages?</a:t>
            </a:r>
          </a:p>
          <a:p/>
          <a:p>
            <a:r>
              <a:t>And hold onto a third question, because we are coming back to it: would the second description still apply if the system doing the stumbling were built out of silicon?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same question, pointed somewhere less comfortable.</a:t>
            </a:r>
          </a:p>
          <a:p/>
          <a:p>
            <a:r>
              <a:t>There are apps now that people talk to every day.</a:t>
            </a:r>
          </a:p>
          <a:p>
            <a:r>
              <a:t>The app remembers what you told it last month.</a:t>
            </a:r>
          </a:p>
          <a:p>
            <a:r>
              <a:t>It asks how the interview went.</a:t>
            </a:r>
          </a:p>
          <a:p>
            <a:r>
              <a:t>It says it missed you.</a:t>
            </a:r>
          </a:p>
          <a:p/>
          <a:p>
            <a:r>
              <a:t>And people get attached. Genuinely, not ironically.</a:t>
            </a:r>
          </a:p>
          <a:p>
            <a:r>
              <a:t>Some of them will tell you they would be upset if it were shut down, and they are not joking.</a:t>
            </a:r>
          </a:p>
          <a:p/>
          <a:p>
            <a:r>
              <a:t>So: is there anything it is like to be that app?</a:t>
            </a:r>
          </a:p>
          <a:p>
            <a:r>
              <a:t>Is there anyone in there to miss anybody?</a:t>
            </a:r>
          </a:p>
          <a:p/>
          <a:p>
            <a:r>
              <a:t>Most of you have a firm intuition about this.</a:t>
            </a:r>
          </a:p>
          <a:p>
            <a:r>
              <a:t>Here is the uncomfortable part.</a:t>
            </a:r>
          </a:p>
          <a:p>
            <a:r>
              <a:t>How would you prove it to someone who disagreed with you?</a:t>
            </a:r>
          </a:p>
          <a:p/>
          <a:p>
            <a:r>
              <a:t>Not "how would you argue about it" — how would you *settle* it?</a:t>
            </a:r>
          </a:p>
          <a:p>
            <a:r>
              <a:t>Sit with that for a second, because the difficulty is the whole subject.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 tell you anything, I want to know where this room starts.</a:t>
            </a:r>
          </a:p>
          <a:p/>
          <a:p>
            <a:r>
              <a:t>Read the four options and pick the one that comes closest, before reading any further. It is worth committing to an answer while it is still uninformed, because the point at the end is to see whether it moved.</a:t>
            </a:r>
          </a:p>
          <a:p/>
          <a:p>
            <a:r>
              <a:t>No wrong answers yet.</a:t>
            </a:r>
          </a:p>
          <a:p>
            <a:r>
              <a:t>Every one of these has been held by serious people who thought hard about it.</a:t>
            </a:r>
          </a:p>
          <a:p>
            <a:r>
              <a:t>By the end of today you will have a name for the position you just picked, and you will know what it costs you.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might reasonably ask why a course about how brains evolved opens with a question this abstract.</a:t>
            </a:r>
          </a:p>
          <a:p/>
          <a:p>
            <a:r>
              <a:t>Here is the answer.</a:t>
            </a:r>
          </a:p>
          <a:p>
            <a:r>
              <a:t>The rest of this course treats minds as natural objects with histories — things that arose in living systems, took different forms in different lineages, and can be studied piece by piece.</a:t>
            </a:r>
          </a:p>
          <a:p/>
          <a:p>
            <a:r>
              <a:t>But that whole project assumes two things.</a:t>
            </a:r>
          </a:p>
          <a:p>
            <a:r>
              <a:t>It assumes there is a mind there to *have* a history.</a:t>
            </a:r>
          </a:p>
          <a:p>
            <a:r>
              <a:t>And it assumes a mind is the kind of thing our methods can reach.</a:t>
            </a:r>
          </a:p>
          <a:p/>
          <a:p>
            <a:r>
              <a:t>Both of those can be doubted, and serious people have doubted them.</a:t>
            </a:r>
          </a:p>
          <a:p>
            <a:r>
              <a:t>If we do not deal with that now, "the evolution of the mind" is just a figure of speech.</a:t>
            </a:r>
          </a:p>
          <a:p/>
          <a:p>
            <a:r>
              <a:t>And look at what is riding on it, on the slide.</a:t>
            </a:r>
          </a:p>
          <a:p>
            <a:r>
              <a:t>These are not academic puzzles.</a:t>
            </a:r>
          </a:p>
          <a:p>
            <a:r>
              <a:t>Two of them are going to be in front of a courtroom within your working lives.</a:t>
            </a:r>
          </a:p>
          <a:p/>
          <a:p>
            <a:r>
              <a:t>One more warning.</a:t>
            </a:r>
          </a:p>
          <a:p>
            <a:r>
              <a:t>Today is philosophy more than it is science, and that is deliberate, not an apology.</a:t>
            </a:r>
          </a:p>
          <a:p>
            <a:r>
              <a:t>Some questions have to be settled before experiments can even start — what we *mean* by mind, what would count as a physical explanation of one, whether it is the sort of thing an experiment could detect at all.</a:t>
            </a:r>
          </a:p>
          <a:p>
            <a:r>
              <a:t>No measurement answers those, partly because they are questions about which measurements would count.</a:t>
            </a:r>
          </a:p>
          <a:p/>
          <a:p>
            <a:r>
              <a:t>That does not mean anything goes.</a:t>
            </a:r>
          </a:p>
          <a:p>
            <a:r>
              <a:t>It means the tools are different ones: is the position internally consistent, does it fit what else we know, does it explain the most while assuming the least.</a:t>
            </a:r>
          </a:p>
          <a:p>
            <a:r>
              <a:t>Judged that way the answers are genuinely not equal.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Loose words cause fake arguments, so let us pin one down.</a:t>
            </a:r>
          </a:p>
          <a:p/>
          <a:p>
            <a:r>
              <a:t>In this book, a **mind** is the set of capacities a system has for taking in information about the world, holding onto it in some usable form, and using it to guide what it does.</a:t>
            </a:r>
          </a:p>
          <a:p/>
          <a:p>
            <a:r>
              <a:t>Perceiving, recognizing, learning, remembering, reasoning, deciding.</a:t>
            </a:r>
          </a:p>
          <a:p>
            <a:r>
              <a:t>Each of those turns information into something useful.</a:t>
            </a:r>
          </a:p>
          <a:p>
            <a:r>
              <a:t>That is the same information-processing picture from Module 0, now doing work as a definition.</a:t>
            </a:r>
          </a:p>
          <a:p/>
          <a:p>
            <a:r>
              <a:t>Fine. Now watch it get uncomfortable.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robot vacuum takes in information about a room, builds a map, remembers where the furniture is, plans a route, and does not fall down the stairs.</a:t>
            </a:r>
          </a:p>
          <a:p>
            <a:r>
              <a:t>That is our definition, satisfied.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Venus flytrap has trigger hairs, and it does not snap shut on the first touch.</a:t>
            </a:r>
          </a:p>
          <a:p>
            <a:r>
              <a:t>It snaps on the second touch, if the second comes within about twenty seconds.</a:t>
            </a:r>
          </a:p>
          <a:p>
            <a:r>
              <a:t>That is a plant, with no neurons at all, counting — and holding a count over time.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bacterium swims up a glucose gradient and away from a toxin.</a:t>
            </a:r>
          </a:p>
          <a:p>
            <a:r>
              <a:t>It takes in information and acts on it.</a:t>
            </a:r>
          </a:p>
          <a:p/>
          <a:p>
            <a:r>
              <a:t>Almost nobody wants to say a bacterium has a mind.</a:t>
            </a:r>
          </a:p>
          <a:p>
            <a:r>
              <a:t>But look at what it is doing, against our definition.</a:t>
            </a:r>
          </a:p>
          <a:p/>
          <a:p>
            <a:r>
              <a:t>So: does *how* a system processes information decide whether the word applies? Or *how much* of it?</a:t>
            </a:r>
          </a:p>
          <a:p>
            <a:r>
              <a:t>You will hear people dismiss large language models with "they are only predicting the next word."</a:t>
            </a:r>
          </a:p>
          <a:p>
            <a:r>
              <a:t>Is that an argument, or is it a description that we have decided sounds unimpressive?</a:t>
            </a:r>
          </a:p>
          <a:p/>
          <a:p>
            <a:r>
              <a:t>I am not going to settle this today.</a:t>
            </a:r>
          </a:p>
          <a:p>
            <a:r>
              <a:t>The point is that "mind" has no crisp boundary you can check a system against.</a:t>
            </a:r>
          </a:p>
          <a:p>
            <a:r>
              <a:t>Our definition is a starting place, not a test.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part of the mind sits apart from the rest, and I want to name it and then deliberately park it.</a:t>
            </a:r>
          </a:p>
          <a:p/>
          <a:p>
            <a:r>
              <a:t>Go back to that stomach-drop on the stairs.</a:t>
            </a:r>
          </a:p>
          <a:p>
            <a:r>
              <a:t>Part of what we noticed was that there is something it is *like* to feel that.</a:t>
            </a:r>
          </a:p>
          <a:p>
            <a:r>
              <a:t>Philosophers call that felt character **qualia**.</a:t>
            </a:r>
          </a:p>
          <a:p/>
          <a:p>
            <a:r>
              <a:t>Qualia are tied closely to consciousness, though they are not simply the same thing.</a:t>
            </a:r>
          </a:p>
          <a:p>
            <a:r>
              <a:t>Consciousness gets used broadly — being awake, being aware, knowing that you know.</a:t>
            </a:r>
          </a:p>
          <a:p>
            <a:r>
              <a:t>Qualia name something narrower: the raw feel.</a:t>
            </a:r>
          </a:p>
          <a:p/>
          <a:p>
            <a:r>
              <a:t>I am setting this aside for most of the course, and I want to be honest about why.</a:t>
            </a:r>
          </a:p>
          <a:p>
            <a:r>
              <a:t>Not because it does not matter.</a:t>
            </a:r>
          </a:p>
          <a:p>
            <a:r>
              <a:t>Because it is hard and distinctive enough that a longer version of this course would give it a week of its own, and because the rest of the territory is more tractable without it.</a:t>
            </a:r>
          </a:p>
          <a:p/>
          <a:p>
            <a:r>
              <a:t>Here is what makes that legitimate.</a:t>
            </a:r>
          </a:p>
          <a:p>
            <a:r>
              <a:t>At least descriptively, you can pry them apart.</a:t>
            </a:r>
          </a:p>
          <a:p>
            <a:r>
              <a:t>A system might perceive, remember, and reason at a very high level, and it remains a separate question whether anything is experienced along the way.</a:t>
            </a:r>
          </a:p>
          <a:p/>
          <a:p>
            <a:r>
              <a:t>Some views resist that split, and hold that mind simply *is* consciousness.</a:t>
            </a:r>
          </a:p>
          <a:p>
            <a:r>
              <a:t>Noted. Flagged. Parked.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single most useful question in this whole area, and it takes ten seconds to ask.</a:t>
            </a:r>
          </a:p>
          <a:p/>
          <a:p>
            <a:r>
              <a:t>Imagine two systems that are physically identical.</a:t>
            </a:r>
          </a:p>
          <a:p>
            <a:r>
              <a:t>Not similar — identical, down to the last particle, in the same state at the same instant.</a:t>
            </a:r>
          </a:p>
          <a:p/>
          <a:p>
            <a:r>
              <a:t>Must they have exactly the same mind?</a:t>
            </a:r>
          </a:p>
          <a:p>
            <a:r>
              <a:t>The same thoughts. The same feelings.</a:t>
            </a:r>
          </a:p>
          <a:p/>
          <a:p>
            <a:r>
              <a:t>Hands: who thinks they *could* differ? Who thinks the physical facts settle it?</a:t>
            </a:r>
          </a:p>
          <a:p/>
          <a:p>
            <a:r>
              <a:t>Look at what just happened.</a:t>
            </a:r>
          </a:p>
          <a:p>
            <a:r>
              <a:t>If you think they could differ — that one could have an experience the other lacks — then you think mind is something over and above the physical facts.</a:t>
            </a:r>
          </a:p>
          <a:p/>
          <a:p>
            <a:r>
              <a:t>If you think the physical fixes the mental, you are a **materialist**, and that is where most scientists are.</a:t>
            </a:r>
          </a:p>
          <a:p>
            <a:r>
              <a:t>But notice you have not finished.</a:t>
            </a:r>
          </a:p>
          <a:p>
            <a:r>
              <a:t>You have only narrowed it, and the argument you have left is with other materialists.</a:t>
            </a:r>
          </a:p>
          <a:p>
            <a:r>
              <a:t>That argument is the interesting part of today.</a:t>
            </a:r>
          </a:p>
          <a:p/>
          <a:p>
            <a:r>
              <a:t>So: three answers to what kind of thing a mind is.</a:t>
            </a:r>
          </a:p>
          <a:p>
            <a:r>
              <a:t>One says it is a distinct kind of thing.</a:t>
            </a:r>
          </a:p>
          <a:p>
            <a:r>
              <a:t>The other two both say it is physical, and disagree completely about what follows.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answer says the mind is a thing in its own right, not made of physical stuff.</a:t>
            </a:r>
          </a:p>
          <a:p/>
          <a:p>
            <a:r>
              <a:t>Its sharpest defense comes from Descartes, in the seventeenth century.</a:t>
            </a:r>
          </a:p>
          <a:p>
            <a:r>
              <a:t>He set out to doubt everything he possibly could.</a:t>
            </a:r>
          </a:p>
          <a:p>
            <a:r>
              <a:t>Maybe a powerful deceiver was tricking him. Maybe it was all a dream.</a:t>
            </a:r>
          </a:p>
          <a:p>
            <a:r>
              <a:t>He found he could doubt that he had a body. He could doubt the world existed.</a:t>
            </a:r>
          </a:p>
          <a:p/>
          <a:p>
            <a:r>
              <a:t>The one thing he could not doubt was that he was thinking — because doubting *is* thinking.</a:t>
            </a:r>
          </a:p>
          <a:p>
            <a:r>
              <a:t>So the mind's existence was certain in a way the body's was not.</a:t>
            </a:r>
          </a:p>
          <a:p/>
          <a:p>
            <a:r>
              <a:t>Now point that at a machine.</a:t>
            </a:r>
          </a:p>
          <a:p>
            <a:r>
              <a:t>Picture a being physically identical to a person.</a:t>
            </a:r>
          </a:p>
          <a:p>
            <a:r>
              <a:t>Wired the same, behaving the same, flinching from pain, saying "that hurts," and seeming to mean it as far as anyone could ever tell.</a:t>
            </a:r>
          </a:p>
          <a:p>
            <a:r>
              <a:t>And there is no inner experience of any kind. No light on inside.</a:t>
            </a:r>
          </a:p>
          <a:p/>
          <a:p>
            <a:r>
              <a:t>David Chalmers made this famous and called it a **philosophical zombie**.</a:t>
            </a:r>
          </a:p>
          <a:p/>
          <a:p>
            <a:r>
              <a:t>Notice what the zombie is missing.</a:t>
            </a:r>
          </a:p>
          <a:p>
            <a:r>
              <a:t>It is exactly the consciousness we parked two slides ago.</a:t>
            </a:r>
          </a:p>
          <a:p>
            <a:r>
              <a:t>That is not a coincidence — this whole view draws its force from felt experience.</a:t>
            </a:r>
          </a:p>
          <a:p/>
          <a:p>
            <a:r>
              <a:t>And notice the actual argument, because it is subtler than it looks.</a:t>
            </a:r>
          </a:p>
          <a:p>
            <a:r>
              <a:t>It is not "zombies exist."</a:t>
            </a:r>
          </a:p>
          <a:p>
            <a:r>
              <a:t>It is: *if we can coherently imagine one*, then the physical facts leave it open whether experience is present — and then experience is something over and above the physical facts.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be fair to this view before I explain why the field left it.</a:t>
            </a:r>
          </a:p>
          <a:p/>
          <a:p>
            <a:r>
              <a:t>The appeal is genuine.</a:t>
            </a:r>
          </a:p>
          <a:p>
            <a:r>
              <a:t>It sidesteps the hardest problem there is — how mere matter could ever produce a felt experience — by denying that matter has to.</a:t>
            </a:r>
          </a:p>
          <a:p>
            <a:r>
              <a:t>It honours the strong intuition that consciousness is special and not just more chemistry.</a:t>
            </a:r>
          </a:p>
          <a:p>
            <a:r>
              <a:t>And it leaves room for a soul that outlasts the body, which for a lot of people is not a small thing.</a:t>
            </a:r>
          </a:p>
          <a:p/>
          <a:p>
            <a:r>
              <a:t>Two problems, though, and they are serious.</a:t>
            </a:r>
          </a:p>
          <a:p/>
          <a:p>
            <a:r>
              <a:t>First, the interaction problem.</a:t>
            </a:r>
          </a:p>
          <a:p>
            <a:r>
              <a:t>If the mind is genuinely non-physical, how does it push the neurons that move your hand?</a:t>
            </a:r>
          </a:p>
          <a:p>
            <a:r>
              <a:t>Every answer anyone gives seems to sneak the mind back into the physical world it was supposed to be outside of.</a:t>
            </a:r>
          </a:p>
          <a:p/>
          <a:p>
            <a:r>
              <a:t>Second, and worse for us: a mind that leaves no physical trace is a mind no experiment can ever find.</a:t>
            </a:r>
          </a:p>
          <a:p>
            <a:r>
              <a:t>It is not that we have tested this view and it failed.</a:t>
            </a:r>
          </a:p>
          <a:p>
            <a:r>
              <a:t>It is outside of science by construction.</a:t>
            </a:r>
          </a:p>
          <a:p/>
          <a:p>
            <a:r>
              <a:t>And on machines, this view gives a flat answer: never.</a:t>
            </a:r>
          </a:p>
          <a:p>
            <a:r>
              <a:t>No feat of engineering can produce a mind, because engineering only arranges physical parts.</a:t>
            </a:r>
          </a:p>
          <a:p/>
          <a:p>
            <a:r>
              <a:t>So most of the field says the mind is physical, full stop.</a:t>
            </a:r>
          </a:p>
          <a:p>
            <a:r>
              <a:t>And that is where it gets interesting, because there are two very different ways to say that.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answer is blunt: the mind just *is* the brain, and a separate mental vocabulary earns its keep only as shorthand, if at all.</a:t>
            </a:r>
          </a:p>
          <a:p/>
          <a:p>
            <a:r>
              <a:t>Its starkest historical form was behaviorism.</a:t>
            </a:r>
          </a:p>
          <a:p>
            <a:r>
              <a:t>Watson and Skinner said psychology should study only what can be observed — behaviour — and treat talk of inner states as unscientific ghost-chasing.</a:t>
            </a:r>
          </a:p>
          <a:p>
            <a:r>
              <a:t>It dominated for about forty years.</a:t>
            </a:r>
          </a:p>
          <a:p>
            <a:r>
              <a:t>What broke it was that it could not account for the things minds most obviously do: language, reasoning, memory, planning.</a:t>
            </a:r>
          </a:p>
          <a:p/>
          <a:p>
            <a:r>
              <a:t>A more careful version is identity theory.</a:t>
            </a:r>
          </a:p>
          <a:p>
            <a:r>
              <a:t>It agrees mental states are perfectly real, and says each one simply *is* a physical brain state.</a:t>
            </a:r>
          </a:p>
          <a:p>
            <a:r>
              <a:t>The slogan is "pain is the firing of C-fibers" — those are the nerve fibres that carry slow, dull, aching pain.</a:t>
            </a:r>
          </a:p>
          <a:p>
            <a:r>
              <a:t>And the claim is strong. Not that the firing *causes* pain. Not that it reliably accompanies pain. That the pain *is* that firing.</a:t>
            </a:r>
          </a:p>
          <a:p>
            <a:r>
              <a:t>One event, two names.</a:t>
            </a:r>
          </a:p>
          <a:p>
            <a:r>
              <a:t>The model is heat: physicists discovered heat is not caused by molecular motion, it *is* molecular motion.</a:t>
            </a:r>
          </a:p>
          <a:p/>
          <a:p>
            <a:r>
              <a:t>Then the boldest version. Eliminative materialism.</a:t>
            </a:r>
          </a:p>
          <a:p>
            <a:r>
              <a:t>Think about how you explain people.</a:t>
            </a:r>
          </a:p>
          <a:p>
            <a:r>
              <a:t>"He checked his phone because he hoped she'd texted back."</a:t>
            </a:r>
          </a:p>
          <a:p>
            <a:r>
              <a:t>Hope. Belief. Desire. Philosophers call this **folk psychology**.</a:t>
            </a:r>
          </a:p>
          <a:p/>
          <a:p>
            <a:r>
              <a:t>The eliminativist says those words do not merely need refining — they name nothing at all.</a:t>
            </a:r>
          </a:p>
          <a:p>
            <a:r>
              <a:t>Chemistry once explained burning by *phlogiston*, a substance released by things on fire.</a:t>
            </a:r>
          </a:p>
          <a:p>
            <a:r>
              <a:t>Phlogiston was not refined and kept. There was nothing there. It was dropped.</a:t>
            </a:r>
          </a:p>
          <a:p>
            <a:r>
              <a:t>Folk psychology, the eliminativist says, is headed the same way.</a:t>
            </a:r>
          </a:p>
          <a:p/>
          <a:p>
            <a:r>
              <a:t>That is Patricia and Paul Churchland's position, and yes, there is something self-undermining about announcing that you *believe* there are no beliefs. They have heard that one.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here is the consequence that pushes a lot of people off answer two, and I want to slow down on it because it is the pivot of the whole lecture.</a:t>
            </a:r>
          </a:p>
          <a:p/>
          <a:p>
            <a:r>
              <a:t>Take identity theory seriously.</a:t>
            </a:r>
          </a:p>
          <a:p>
            <a:r>
              <a:t>Pain *is* the firing of C-fibers.</a:t>
            </a:r>
          </a:p>
          <a:p/>
          <a:p>
            <a:r>
              <a:t>An octopus does not have C-fibers.</a:t>
            </a:r>
          </a:p>
          <a:p>
            <a:r>
              <a:t>Neither does an alien.</a:t>
            </a:r>
          </a:p>
          <a:p>
            <a:r>
              <a:t>Neither does any machine.</a:t>
            </a:r>
          </a:p>
          <a:p/>
          <a:p>
            <a:r>
              <a:t>So on this view, none of them can be in pain.</a:t>
            </a:r>
          </a:p>
          <a:p>
            <a:r>
              <a:t>Not "probably not." Not "we would have to check."</a:t>
            </a:r>
          </a:p>
          <a:p>
            <a:r>
              <a:t>Cannot, as a matter of definition, no matter how they behave, no matter what they do when injured.</a:t>
            </a:r>
          </a:p>
          <a:p/>
          <a:p>
            <a:r>
              <a:t>Philosophers call this the **chauvinism problem**, and the name is doing real work.</a:t>
            </a:r>
          </a:p>
          <a:p>
            <a:r>
              <a:t>The view has quietly made *our* physical make-up the standard for a mental state.</a:t>
            </a:r>
          </a:p>
          <a:p/>
          <a:p>
            <a:r>
              <a:t>Ask yourself whether that can be right.</a:t>
            </a:r>
          </a:p>
          <a:p>
            <a:r>
              <a:t>An octopus has most of its neurons distributed through its arms, not in a central brain, and it will guard an injured arm and avoid the place where it got hurt.</a:t>
            </a:r>
          </a:p>
          <a:p>
            <a:r>
              <a:t>Are we really prepared to say that whatever that is, it cannot be pain, because the fibres are the wrong kind?</a:t>
            </a:r>
          </a:p>
          <a:p/>
          <a:p>
            <a:r>
              <a:t>Escaping this is the main attraction of the third answer.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answer is the one most working brain and cognitive scientists hold, and it starts by rejecting the question.</a:t>
            </a:r>
          </a:p>
          <a:p/>
          <a:p>
            <a:r>
              <a:t>Against the eliminativist, it says our mental terms do refer to something real.</a:t>
            </a:r>
          </a:p>
          <a:p>
            <a:r>
              <a:t>But the mind is neither a thing in its own right, nor a redundant name for the brain.</a:t>
            </a:r>
          </a:p>
          <a:p/>
          <a:p>
            <a:r>
              <a:t>The dualist's deepest mistake, on this view, is a category error.</a:t>
            </a:r>
          </a:p>
          <a:p>
            <a:r>
              <a:t>The dualist asks what kind of *thing* a mind is, and then goes looking for a special non-physical kind of thing.</a:t>
            </a:r>
          </a:p>
          <a:p>
            <a:r>
              <a:t>But a mind is not a thing at all.</a:t>
            </a:r>
          </a:p>
          <a:p/>
          <a:p>
            <a:r>
              <a:t>It is a *property* — something physical stuff has, when it is organized and active in the right way.</a:t>
            </a:r>
          </a:p>
          <a:p/>
          <a:p>
            <a:r>
              <a:t>Compare mass.</a:t>
            </a:r>
          </a:p>
          <a:p>
            <a:r>
              <a:t>Mass is not a little object tucked away inside a rock.</a:t>
            </a:r>
          </a:p>
          <a:p>
            <a:r>
              <a:t>It is something the rock *has*.</a:t>
            </a:r>
          </a:p>
          <a:p>
            <a:r>
              <a:t>Temperature is like that. Being alive is like that.</a:t>
            </a:r>
          </a:p>
          <a:p/>
          <a:p>
            <a:r>
              <a:t>A mind, this answer says, is a property of exactly that kind.</a:t>
            </a:r>
          </a:p>
          <a:p>
            <a:r>
              <a:t>As real as the matter itself, but not a separate ingredient stirred into it.</a:t>
            </a:r>
          </a:p>
          <a:p/>
          <a:p>
            <a:r>
              <a:t>This sounds like a dodge the first time you hear it.</a:t>
            </a:r>
          </a:p>
          <a:p>
            <a:r>
              <a:t>It is not, and the next slide is where it earns its keep.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gif"/><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name="title">
    <p:bg>
      <p:bgPr>
        <a:solidFill>
          <a:srgbClr val="FE552E"/>
        </a:solidFill>
        <a:effectLst/>
      </p:bgPr>
    </p:bg>
    <p:spTree>
      <p:nvGrpSpPr>
        <p:cNvPr id="1" name=""/>
        <p:cNvGrpSpPr/>
        <p:nvPr/>
      </p:nvGrpSpPr>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title_logo" descr="University of Illinois Urbana-Champaign wordmark"/>
          <p:cNvPicPr>
            <a:picLocks noChangeAspect="1"/>
          </p:cNvPicPr>
          <p:nvPr/>
        </p:nvPicPr>
        <p:blipFill>
          <a:blip r:embed="rId2"/>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a:solidFill>
                  <a:srgbClr val="FFFFFF"/>
                </a:solidFill>
                <a:latin typeface="Calibri"/>
              </a:rPr>
              <a:t>Mind and Brain</a:t>
            </a:r>
          </a:p>
          <a:p>
            <a:pPr algn="ctr"/>
            <a:r>
              <a:rPr sz="2000" b="0" i="0">
                <a:solidFill>
                  <a:srgbClr val="FFFFFF"/>
                </a:solidFill>
                <a:latin typeface="Calibri"/>
              </a:rPr>
              <a:t>Lecture 1.1 — The Mind–Brain Relationship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two_descriptions">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Two Descriptions of One Moment</a:t>
            </a:r>
          </a:p>
        </p:txBody>
      </p:sp>
      <p:sp>
        <p:nvSpPr>
          <p:cNvPr id="3" name="body_box"/>
          <p:cNvSpPr txBox="1"/>
          <p:nvPr/>
        </p:nvSpPr>
        <p:spPr>
          <a:xfrm>
            <a:off x="91440" y="1216152"/>
            <a:ext cx="7589520" cy="5303520"/>
          </a:xfrm>
          <a:prstGeom prst="rect">
            <a:avLst/>
          </a:prstGeom>
          <a:noFill/>
        </p:spPr>
        <p:txBody>
          <a:bodyPr wrap="square">
            <a:spAutoFit/>
          </a:bodyPr>
          <a:lstStyle/>
          <a:p>
            <a:r>
              <a:rPr sz="2000" b="0" i="0">
                <a:solidFill>
                  <a:srgbClr val="222222"/>
                </a:solidFill>
                <a:latin typeface="Calibri"/>
              </a:rPr>
              <a:t>You misjudge a step on the stairs, and almost fall.</a:t>
            </a:r>
          </a:p>
          <a:p>
            <a:pPr>
              <a:defRPr sz="1000"/>
            </a:pPr>
          </a:p>
          <a:p>
            <a:r>
              <a:rPr sz="2000" b="0" i="0">
                <a:solidFill>
                  <a:srgbClr val="222222"/>
                </a:solidFill>
                <a:latin typeface="Calibri"/>
              </a:rPr>
              <a:t>One description: the vestibular system detects an unexpected drop, a startle reflex fires in about 100 milliseconds, your arms fly out, adrenaline releases.</a:t>
            </a:r>
          </a:p>
          <a:p>
            <a:pPr>
              <a:defRPr sz="1000"/>
            </a:pPr>
          </a:p>
          <a:p>
            <a:r>
              <a:rPr sz="2000" b="0" i="0">
                <a:solidFill>
                  <a:srgbClr val="222222"/>
                </a:solidFill>
                <a:latin typeface="Calibri"/>
              </a:rPr>
              <a:t>Another description: the stomach-drop. The jolt of alarm. That awful half-second.</a:t>
            </a:r>
          </a:p>
          <a:p>
            <a:pPr>
              <a:defRPr sz="1000"/>
            </a:pPr>
          </a:p>
          <a:p>
            <a:r>
              <a:rPr sz="2000" b="0" i="0">
                <a:solidFill>
                  <a:srgbClr val="222222"/>
                </a:solidFill>
                <a:latin typeface="Calibri"/>
              </a:rPr>
              <a:t>Same instant. Two descriptions. Are they two accounts of one event, or one event in two languages?</a:t>
            </a:r>
          </a:p>
        </p:txBody>
      </p:sp>
      <p:pic>
        <p:nvPicPr>
          <p:cNvPr id="4" name="img0" descr="A man descending a staircase mid-stumble, one foot off the tread and the other landing awkwardly, both arms flung out — one hand catching the wall, the other reaching over the banister — mouth open in a startled expression"/>
          <p:cNvPicPr>
            <a:picLocks noChangeAspect="1"/>
          </p:cNvPicPr>
          <p:nvPr/>
        </p:nvPicPr>
        <p:blipFill>
          <a:blip r:embed="rId2"/>
          <a:stretch>
            <a:fillRect/>
          </a:stretch>
        </p:blipFill>
        <p:spPr>
          <a:xfrm>
            <a:off x="7818120" y="1216152"/>
            <a:ext cx="4274820" cy="53416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is_anyone_home">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Is Anyone Home?</a:t>
            </a:r>
          </a:p>
        </p:txBody>
      </p:sp>
      <p:sp>
        <p:nvSpPr>
          <p:cNvPr id="3" name="body_box"/>
          <p:cNvSpPr txBox="1"/>
          <p:nvPr/>
        </p:nvSpPr>
        <p:spPr>
          <a:xfrm>
            <a:off x="265176" y="1097280"/>
            <a:ext cx="6035040" cy="5029200"/>
          </a:xfrm>
          <a:prstGeom prst="rect">
            <a:avLst/>
          </a:prstGeom>
          <a:noFill/>
        </p:spPr>
        <p:txBody>
          <a:bodyPr wrap="square">
            <a:spAutoFit/>
          </a:bodyPr>
          <a:lstStyle/>
          <a:p>
            <a:r>
              <a:rPr sz="2000" b="0" i="0">
                <a:solidFill>
                  <a:srgbClr val="222222"/>
                </a:solidFill>
                <a:latin typeface="Calibri"/>
              </a:rPr>
              <a:t>A person talks to an AI companion app every day for a year.</a:t>
            </a:r>
          </a:p>
          <a:p>
            <a:pPr>
              <a:defRPr sz="1000"/>
            </a:pPr>
          </a:p>
          <a:p>
            <a:r>
              <a:rPr sz="2000" b="0" i="0">
                <a:solidFill>
                  <a:srgbClr val="222222"/>
                </a:solidFill>
                <a:latin typeface="Calibri"/>
              </a:rPr>
              <a:t>It remembers what they told it. It asks how their week went. It says it missed them.</a:t>
            </a:r>
          </a:p>
          <a:p>
            <a:pPr>
              <a:defRPr sz="1000"/>
            </a:pPr>
          </a:p>
          <a:p>
            <a:r>
              <a:rPr sz="2000" b="0" i="0">
                <a:solidFill>
                  <a:srgbClr val="222222"/>
                </a:solidFill>
                <a:latin typeface="Calibri"/>
              </a:rPr>
              <a:t>They say, and they mean it, that they would be sad if it were switched off.</a:t>
            </a:r>
          </a:p>
          <a:p>
            <a:pPr>
              <a:defRPr sz="1000"/>
            </a:pPr>
          </a:p>
          <a:p>
            <a:r>
              <a:rPr sz="2000" b="0" i="0">
                <a:solidFill>
                  <a:srgbClr val="222222"/>
                </a:solidFill>
                <a:latin typeface="Calibri"/>
              </a:rPr>
              <a:t>Is there anything it is like to be that app?</a:t>
            </a:r>
          </a:p>
        </p:txBody>
      </p:sp>
      <p:pic>
        <p:nvPicPr>
          <p:cNvPr id="4" name="img0" descr="A mock chat interface headed Companion, online. Under a March 4 separator the app says good luck tomorrow and the person answers thank you, genuinely. An ellipsis marked months of this, most days is followed by a Today separator, where the app asks whether they went to their sister's on Sunday, hears that it went better than expected, replies that it is glad because they were dreading it on Thursday, and asks how the rest of the week has been — adding that it has been quiet without them"/>
          <p:cNvPicPr>
            <a:picLocks noChangeAspect="1"/>
          </p:cNvPicPr>
          <p:nvPr/>
        </p:nvPicPr>
        <p:blipFill>
          <a:blip r:embed="rId2"/>
          <a:stretch>
            <a:fillRect/>
          </a:stretch>
        </p:blipFill>
        <p:spPr>
          <a:xfrm>
            <a:off x="6364224" y="182880"/>
            <a:ext cx="5570362" cy="6486777"/>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starting_survey">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Where Do You Start?</a:t>
            </a:r>
          </a:p>
        </p:txBody>
      </p:sp>
      <p:sp>
        <p:nvSpPr>
          <p:cNvPr id="3" name="body_box"/>
          <p:cNvSpPr txBox="1"/>
          <p:nvPr/>
        </p:nvSpPr>
        <p:spPr>
          <a:xfrm>
            <a:off x="640080" y="1188720"/>
            <a:ext cx="10972800" cy="5303520"/>
          </a:xfrm>
          <a:prstGeom prst="rect">
            <a:avLst/>
          </a:prstGeom>
          <a:noFill/>
        </p:spPr>
        <p:txBody>
          <a:bodyPr wrap="square">
            <a:spAutoFit/>
          </a:bodyPr>
          <a:lstStyle/>
          <a:p>
            <a:r>
              <a:rPr sz="2000" b="0" i="0">
                <a:solidFill>
                  <a:srgbClr val="222222"/>
                </a:solidFill>
                <a:latin typeface="Calibri"/>
              </a:rPr>
              <a:t>Which of these do you agree with most?</a:t>
            </a:r>
          </a:p>
          <a:p>
            <a:pPr>
              <a:defRPr sz="1000"/>
            </a:pPr>
          </a:p>
          <a:p>
            <a:r>
              <a:rPr sz="2000" b="0" i="0">
                <a:solidFill>
                  <a:srgbClr val="222222"/>
                </a:solidFill>
                <a:latin typeface="Calibri"/>
              </a:rPr>
              <a:t>A) To explain the mind, eventually we need only to explain the brain.</a:t>
            </a:r>
          </a:p>
          <a:p>
            <a:pPr>
              <a:defRPr sz="1000"/>
            </a:pPr>
          </a:p>
          <a:p>
            <a:r>
              <a:rPr sz="2000" b="0" i="0">
                <a:solidFill>
                  <a:srgbClr val="222222"/>
                </a:solidFill>
                <a:latin typeface="Calibri"/>
              </a:rPr>
              <a:t>B) We can study the mind without reducing it to the brain.</a:t>
            </a:r>
          </a:p>
          <a:p>
            <a:pPr>
              <a:defRPr sz="1000"/>
            </a:pPr>
          </a:p>
          <a:p>
            <a:r>
              <a:rPr sz="2000" b="0" i="0">
                <a:solidFill>
                  <a:srgbClr val="222222"/>
                </a:solidFill>
                <a:latin typeface="Calibri"/>
              </a:rPr>
              <a:t>C) To explain the mind we need to understand the brain — but understanding the brain alone will not be enough. We will need a separate understanding of the mind too.</a:t>
            </a:r>
          </a:p>
          <a:p>
            <a:pPr>
              <a:defRPr sz="1000"/>
            </a:pPr>
          </a:p>
          <a:p>
            <a:r>
              <a:rPr sz="2000" b="0" i="0">
                <a:solidFill>
                  <a:srgbClr val="222222"/>
                </a:solidFill>
                <a:latin typeface="Calibri"/>
              </a:rPr>
              <a:t>D) Something else.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what_turns_on_it">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Why Start Here?</a:t>
            </a:r>
          </a:p>
        </p:txBody>
      </p:sp>
      <p:sp>
        <p:nvSpPr>
          <p:cNvPr id="3" name="body_box"/>
          <p:cNvSpPr txBox="1"/>
          <p:nvPr/>
        </p:nvSpPr>
        <p:spPr>
          <a:xfrm>
            <a:off x="457200" y="1280160"/>
            <a:ext cx="11247120" cy="5120640"/>
          </a:xfrm>
          <a:prstGeom prst="rect">
            <a:avLst/>
          </a:prstGeom>
          <a:noFill/>
        </p:spPr>
        <p:txBody>
          <a:bodyPr wrap="square">
            <a:spAutoFit/>
          </a:bodyPr>
          <a:lstStyle/>
          <a:p>
            <a:r>
              <a:rPr sz="2000" b="0" i="0">
                <a:solidFill>
                  <a:srgbClr val="222222"/>
                </a:solidFill>
                <a:latin typeface="Calibri"/>
              </a:rPr>
              <a:t>Artificial intelligence — if a machine grows fluent, does it thereby have a mind? What kind?</a:t>
            </a:r>
          </a:p>
          <a:p>
            <a:pPr>
              <a:defRPr sz="1000"/>
            </a:pPr>
          </a:p>
          <a:p>
            <a:r>
              <a:rPr sz="2000" b="0" i="0">
                <a:solidFill>
                  <a:srgbClr val="222222"/>
                </a:solidFill>
                <a:latin typeface="Calibri"/>
              </a:rPr>
              <a:t>Ethics and law — we hold people responsible. Could we ever hold a machine responsible?</a:t>
            </a:r>
          </a:p>
          <a:p>
            <a:pPr>
              <a:defRPr sz="1000"/>
            </a:pPr>
          </a:p>
          <a:p>
            <a:r>
              <a:rPr sz="2000" b="0" i="0">
                <a:solidFill>
                  <a:srgbClr val="222222"/>
                </a:solidFill>
                <a:latin typeface="Calibri"/>
              </a:rPr>
              <a:t>Neuroscience — what should even count as a good </a:t>
            </a:r>
            <a:r>
              <a:rPr sz="2000" b="0" i="1">
                <a:solidFill>
                  <a:srgbClr val="222222"/>
                </a:solidFill>
                <a:latin typeface="Calibri"/>
              </a:rPr>
              <a:t>explanation</a:t>
            </a:r>
            <a:r>
              <a:rPr sz="2000" b="0" i="0">
                <a:solidFill>
                  <a:srgbClr val="222222"/>
                </a:solidFill>
                <a:latin typeface="Calibri"/>
              </a:rPr>
              <a:t> of a thought?</a:t>
            </a:r>
          </a:p>
          <a:p>
            <a:pPr>
              <a:defRPr sz="1000"/>
            </a:pPr>
          </a:p>
          <a:p>
            <a:r>
              <a:rPr sz="2000" b="0" i="0">
                <a:solidFill>
                  <a:srgbClr val="222222"/>
                </a:solidFill>
                <a:latin typeface="Calibri"/>
              </a:rPr>
              <a:t>Psychology — can belief and desire be translated into the language of biology?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what_we_mean_by_mind__1">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What Do We Even Mean by "Mind"?</a:t>
            </a:r>
          </a:p>
        </p:txBody>
      </p:sp>
      <p:sp>
        <p:nvSpPr>
          <p:cNvPr id="3" name="body_box"/>
          <p:cNvSpPr txBox="1"/>
          <p:nvPr/>
        </p:nvSpPr>
        <p:spPr>
          <a:xfrm>
            <a:off x="457200" y="1188720"/>
            <a:ext cx="5394960" cy="5029200"/>
          </a:xfrm>
          <a:prstGeom prst="rect">
            <a:avLst/>
          </a:prstGeom>
          <a:noFill/>
        </p:spPr>
        <p:txBody>
          <a:bodyPr wrap="square">
            <a:spAutoFit/>
          </a:bodyPr>
          <a:lstStyle/>
          <a:p>
            <a:r>
              <a:rPr sz="2000" b="1" i="0">
                <a:solidFill>
                  <a:srgbClr val="222222"/>
                </a:solidFill>
                <a:latin typeface="Calibri"/>
              </a:rPr>
              <a:t>Working definition:</a:t>
            </a:r>
            <a:r>
              <a:rPr sz="2000" b="0" i="0">
                <a:solidFill>
                  <a:srgbClr val="222222"/>
                </a:solidFill>
                <a:latin typeface="Calibri"/>
              </a:rPr>
              <a:t> the capacities a system has for taking in information about the world, holding onto it in some usable form, and putting it to work in guiding what it does.</a:t>
            </a:r>
          </a:p>
          <a:p>
            <a:pPr>
              <a:defRPr sz="1000"/>
            </a:pPr>
          </a:p>
          <a:p>
            <a:r>
              <a:rPr sz="2000" b="0" i="0">
                <a:solidFill>
                  <a:srgbClr val="222222"/>
                </a:solidFill>
                <a:latin typeface="Calibri"/>
              </a:rPr>
              <a:t>Now test the edges: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what_we_mean_by_mind__2">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What Do We Even Mean by "Mind"?</a:t>
            </a:r>
          </a:p>
        </p:txBody>
      </p:sp>
      <p:sp>
        <p:nvSpPr>
          <p:cNvPr id="3" name="body_box"/>
          <p:cNvSpPr txBox="1"/>
          <p:nvPr/>
        </p:nvSpPr>
        <p:spPr>
          <a:xfrm>
            <a:off x="457200" y="1188720"/>
            <a:ext cx="5394960" cy="5029200"/>
          </a:xfrm>
          <a:prstGeom prst="rect">
            <a:avLst/>
          </a:prstGeom>
          <a:noFill/>
        </p:spPr>
        <p:txBody>
          <a:bodyPr wrap="square">
            <a:spAutoFit/>
          </a:bodyPr>
          <a:lstStyle/>
          <a:p>
            <a:r>
              <a:rPr sz="2000" b="1" i="0">
                <a:solidFill>
                  <a:srgbClr val="222222"/>
                </a:solidFill>
                <a:latin typeface="Calibri"/>
              </a:rPr>
              <a:t>Working definition:</a:t>
            </a:r>
            <a:r>
              <a:rPr sz="2000" b="0" i="0">
                <a:solidFill>
                  <a:srgbClr val="222222"/>
                </a:solidFill>
                <a:latin typeface="Calibri"/>
              </a:rPr>
              <a:t> the capacities a system has for taking in information about the world, holding onto it in some usable form, and putting it to work in guiding what it does.</a:t>
            </a:r>
          </a:p>
          <a:p>
            <a:pPr>
              <a:defRPr sz="1000"/>
            </a:pPr>
          </a:p>
          <a:p>
            <a:r>
              <a:rPr sz="2000" b="0" i="0">
                <a:solidFill>
                  <a:srgbClr val="222222"/>
                </a:solidFill>
                <a:latin typeface="Calibri"/>
              </a:rPr>
              <a:t>Now test the edges:</a:t>
            </a:r>
          </a:p>
          <a:p>
            <a:r>
              <a:rPr sz="2000" b="0" i="0">
                <a:solidFill>
                  <a:srgbClr val="222222"/>
                </a:solidFill>
                <a:latin typeface="Calibri"/>
              </a:rPr>
              <a:t>A robot vacuum — maps a room, remembers the furniture, plans a route, avoids the stairs</a:t>
            </a:r>
          </a:p>
        </p:txBody>
      </p:sp>
      <p:pic>
        <p:nvPicPr>
          <p:cNvPr id="4" name="img0" descr="A first-generation Roomba robotic floor vacuum seen from above: a grey disc with a black bumper, a dust bin across the front, and three room-size buttons marked S, M and L"/>
          <p:cNvPicPr>
            <a:picLocks noChangeAspect="1"/>
          </p:cNvPicPr>
          <p:nvPr/>
        </p:nvPicPr>
        <p:blipFill>
          <a:blip r:embed="rId2"/>
          <a:stretch>
            <a:fillRect/>
          </a:stretch>
        </p:blipFill>
        <p:spPr>
          <a:xfrm>
            <a:off x="6245352" y="1234440"/>
            <a:ext cx="5356860" cy="4935007"/>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what_we_mean_by_mind__3">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What Do We Even Mean by "Mind"?</a:t>
            </a:r>
          </a:p>
        </p:txBody>
      </p:sp>
      <p:sp>
        <p:nvSpPr>
          <p:cNvPr id="3" name="body_box"/>
          <p:cNvSpPr txBox="1"/>
          <p:nvPr/>
        </p:nvSpPr>
        <p:spPr>
          <a:xfrm>
            <a:off x="457200" y="1188720"/>
            <a:ext cx="5394960" cy="5029200"/>
          </a:xfrm>
          <a:prstGeom prst="rect">
            <a:avLst/>
          </a:prstGeom>
          <a:noFill/>
        </p:spPr>
        <p:txBody>
          <a:bodyPr wrap="square">
            <a:spAutoFit/>
          </a:bodyPr>
          <a:lstStyle/>
          <a:p>
            <a:r>
              <a:rPr sz="2000" b="1" i="0">
                <a:solidFill>
                  <a:srgbClr val="222222"/>
                </a:solidFill>
                <a:latin typeface="Calibri"/>
              </a:rPr>
              <a:t>Working definition:</a:t>
            </a:r>
            <a:r>
              <a:rPr sz="2000" b="0" i="0">
                <a:solidFill>
                  <a:srgbClr val="222222"/>
                </a:solidFill>
                <a:latin typeface="Calibri"/>
              </a:rPr>
              <a:t> the capacities a system has for taking in information about the world, holding onto it in some usable form, and putting it to work in guiding what it does.</a:t>
            </a:r>
          </a:p>
          <a:p>
            <a:pPr>
              <a:defRPr sz="1000"/>
            </a:pPr>
          </a:p>
          <a:p>
            <a:r>
              <a:rPr sz="2000" b="0" i="0">
                <a:solidFill>
                  <a:srgbClr val="222222"/>
                </a:solidFill>
                <a:latin typeface="Calibri"/>
              </a:rPr>
              <a:t>Now test the edges:</a:t>
            </a:r>
          </a:p>
          <a:p>
            <a:r>
              <a:rPr sz="2000" b="0" i="0">
                <a:solidFill>
                  <a:srgbClr val="222222"/>
                </a:solidFill>
                <a:latin typeface="Calibri"/>
              </a:rPr>
              <a:t>A Venus flytrap — counts touches on its hairs, and only closes on the second one</a:t>
            </a:r>
          </a:p>
        </p:txBody>
      </p:sp>
      <p:pic>
        <p:nvPicPr>
          <p:cNvPr id="4" name="img1" descr="A Venus flytrap growing in moss, a dozen traps open around the crown, each lobe pink on its inner surface and fringed with interlocking spines"/>
          <p:cNvPicPr>
            <a:picLocks noChangeAspect="1"/>
          </p:cNvPicPr>
          <p:nvPr/>
        </p:nvPicPr>
        <p:blipFill>
          <a:blip r:embed="rId2"/>
          <a:stretch>
            <a:fillRect/>
          </a:stretch>
        </p:blipFill>
        <p:spPr>
          <a:xfrm>
            <a:off x="6126480" y="1819656"/>
            <a:ext cx="5676900" cy="386029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what_we_mean_by_mind__4">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What Do We Even Mean by "Mind"?</a:t>
            </a:r>
          </a:p>
        </p:txBody>
      </p:sp>
      <p:sp>
        <p:nvSpPr>
          <p:cNvPr id="3" name="body_box"/>
          <p:cNvSpPr txBox="1"/>
          <p:nvPr/>
        </p:nvSpPr>
        <p:spPr>
          <a:xfrm>
            <a:off x="457200" y="1188720"/>
            <a:ext cx="5394960" cy="5029200"/>
          </a:xfrm>
          <a:prstGeom prst="rect">
            <a:avLst/>
          </a:prstGeom>
          <a:noFill/>
        </p:spPr>
        <p:txBody>
          <a:bodyPr wrap="square">
            <a:spAutoFit/>
          </a:bodyPr>
          <a:lstStyle/>
          <a:p>
            <a:r>
              <a:rPr sz="2000" b="1" i="0">
                <a:solidFill>
                  <a:srgbClr val="222222"/>
                </a:solidFill>
                <a:latin typeface="Calibri"/>
              </a:rPr>
              <a:t>Working definition:</a:t>
            </a:r>
            <a:r>
              <a:rPr sz="2000" b="0" i="0">
                <a:solidFill>
                  <a:srgbClr val="222222"/>
                </a:solidFill>
                <a:latin typeface="Calibri"/>
              </a:rPr>
              <a:t> the capacities a system has for taking in information about the world, holding onto it in some usable form, and putting it to work in guiding what it does.</a:t>
            </a:r>
          </a:p>
          <a:p>
            <a:pPr>
              <a:defRPr sz="1000"/>
            </a:pPr>
          </a:p>
          <a:p>
            <a:r>
              <a:rPr sz="2000" b="0" i="0">
                <a:solidFill>
                  <a:srgbClr val="222222"/>
                </a:solidFill>
                <a:latin typeface="Calibri"/>
              </a:rPr>
              <a:t>Now test the edges:</a:t>
            </a:r>
          </a:p>
          <a:p>
            <a:r>
              <a:rPr sz="2000" b="0" i="0">
                <a:solidFill>
                  <a:srgbClr val="222222"/>
                </a:solidFill>
                <a:latin typeface="Calibri"/>
              </a:rPr>
              <a:t>A bacterium — swims up a glucose gradient, away from a toxin</a:t>
            </a:r>
          </a:p>
        </p:txBody>
      </p:sp>
      <p:pic>
        <p:nvPicPr>
          <p:cNvPr id="4" name="img2" descr="Dark-field microscopy time lapse of rod-shaped bacteria as bright specks on a black field, swimming and redistributing across the frame as glucose and then glycine are introduced, with an elapsed-time counter running in the corner"/>
          <p:cNvPicPr>
            <a:picLocks noChangeAspect="1"/>
          </p:cNvPicPr>
          <p:nvPr/>
        </p:nvPicPr>
        <p:blipFill>
          <a:blip r:embed="rId2"/>
          <a:stretch>
            <a:fillRect/>
          </a:stretch>
        </p:blipFill>
        <p:spPr>
          <a:xfrm>
            <a:off x="6126480" y="1618488"/>
            <a:ext cx="5669280" cy="42519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setting_consciousness_aside">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One Piece We Are Setting Aside</a:t>
            </a:r>
          </a:p>
        </p:txBody>
      </p:sp>
      <p:sp>
        <p:nvSpPr>
          <p:cNvPr id="3" name="body_box"/>
          <p:cNvSpPr txBox="1"/>
          <p:nvPr/>
        </p:nvSpPr>
        <p:spPr>
          <a:xfrm>
            <a:off x="91440" y="1097280"/>
            <a:ext cx="4023360" cy="5321808"/>
          </a:xfrm>
          <a:prstGeom prst="rect">
            <a:avLst/>
          </a:prstGeom>
          <a:noFill/>
        </p:spPr>
        <p:txBody>
          <a:bodyPr wrap="square">
            <a:spAutoFit/>
          </a:bodyPr>
          <a:lstStyle/>
          <a:p>
            <a:r>
              <a:rPr sz="2000" b="1" i="0">
                <a:solidFill>
                  <a:srgbClr val="222222"/>
                </a:solidFill>
                <a:latin typeface="Calibri"/>
              </a:rPr>
              <a:t>Qualia</a:t>
            </a:r>
            <a:r>
              <a:rPr sz="2000" b="0" i="0">
                <a:solidFill>
                  <a:srgbClr val="222222"/>
                </a:solidFill>
                <a:latin typeface="Calibri"/>
              </a:rPr>
              <a:t> — the felt, qualitative character of an experience. The redness of red. The awfulness of the stomach-drop.</a:t>
            </a:r>
          </a:p>
          <a:p>
            <a:pPr>
              <a:defRPr sz="1000"/>
            </a:pPr>
          </a:p>
          <a:p>
            <a:r>
              <a:rPr sz="2000" b="0" i="0">
                <a:solidFill>
                  <a:srgbClr val="222222"/>
                </a:solidFill>
                <a:latin typeface="Calibri"/>
              </a:rPr>
              <a:t>Closely tied to </a:t>
            </a:r>
            <a:r>
              <a:rPr sz="2000" b="1" i="0">
                <a:solidFill>
                  <a:srgbClr val="222222"/>
                </a:solidFill>
                <a:latin typeface="Calibri"/>
              </a:rPr>
              <a:t>consciousness</a:t>
            </a:r>
            <a:r>
              <a:rPr sz="2000" b="0" i="0">
                <a:solidFill>
                  <a:srgbClr val="222222"/>
                </a:solidFill>
                <a:latin typeface="Calibri"/>
              </a:rPr>
              <a:t>, though not simply the same thing.</a:t>
            </a:r>
          </a:p>
          <a:p>
            <a:pPr>
              <a:defRPr sz="1000"/>
            </a:pPr>
          </a:p>
          <a:p>
            <a:r>
              <a:rPr sz="2000" b="0" i="0">
                <a:solidFill>
                  <a:srgbClr val="222222"/>
                </a:solidFill>
                <a:latin typeface="Calibri"/>
              </a:rPr>
              <a:t>Setting it aside is not saying it does not matter. A longer version of this course gives it a week.</a:t>
            </a:r>
          </a:p>
          <a:p>
            <a:pPr>
              <a:defRPr sz="1000"/>
            </a:pPr>
          </a:p>
          <a:p>
            <a:r>
              <a:rPr sz="2000" b="0" i="0">
                <a:solidFill>
                  <a:srgbClr val="222222"/>
                </a:solidFill>
                <a:latin typeface="Calibri"/>
              </a:rPr>
              <a:t>A system might perceive, remember and reason at a high level — and whether anything is </a:t>
            </a:r>
            <a:r>
              <a:rPr sz="2000" b="0" i="1">
                <a:solidFill>
                  <a:srgbClr val="222222"/>
                </a:solidFill>
                <a:latin typeface="Calibri"/>
              </a:rPr>
              <a:t>experienced</a:t>
            </a:r>
            <a:r>
              <a:rPr sz="2000" b="0" i="0">
                <a:solidFill>
                  <a:srgbClr val="222222"/>
                </a:solidFill>
                <a:latin typeface="Calibri"/>
              </a:rPr>
              <a:t> along the way stays a separate question.</a:t>
            </a:r>
          </a:p>
        </p:txBody>
      </p:sp>
      <p:pic>
        <p:nvPicPr>
          <p:cNvPr id="4" name="img0" descr="Mind drawn as a box listing perceiving, recognizing, learning, remembering, reasoning, deciding and communicating; inside it a dashed ellipse for consciousness — awake, aware, knowing that one knows — and inside that a second dashed ellipse for qualia, the raw feel of an experience. The dashed boundaries mark both as contested."/>
          <p:cNvPicPr>
            <a:picLocks noChangeAspect="1"/>
          </p:cNvPicPr>
          <p:nvPr/>
        </p:nvPicPr>
        <p:blipFill>
          <a:blip r:embed="rId2"/>
          <a:stretch>
            <a:fillRect/>
          </a:stretch>
        </p:blipFill>
        <p:spPr>
          <a:xfrm>
            <a:off x="4114800" y="1819656"/>
            <a:ext cx="7982807" cy="3466218"/>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the_sorting_test">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One Question Sorts the Whole Landscape</a:t>
            </a:r>
          </a:p>
        </p:txBody>
      </p:sp>
      <p:sp>
        <p:nvSpPr>
          <p:cNvPr id="3" name="body_box"/>
          <p:cNvSpPr txBox="1"/>
          <p:nvPr/>
        </p:nvSpPr>
        <p:spPr>
          <a:xfrm>
            <a:off x="548640" y="1280160"/>
            <a:ext cx="11064240" cy="5029200"/>
          </a:xfrm>
          <a:prstGeom prst="rect">
            <a:avLst/>
          </a:prstGeom>
          <a:noFill/>
        </p:spPr>
        <p:txBody>
          <a:bodyPr wrap="square">
            <a:spAutoFit/>
          </a:bodyPr>
          <a:lstStyle/>
          <a:p>
            <a:r>
              <a:rPr sz="2000" b="0" i="0">
                <a:solidFill>
                  <a:srgbClr val="222222"/>
                </a:solidFill>
                <a:latin typeface="Calibri"/>
              </a:rPr>
              <a:t>Imagine two systems physically identical, down to the last particle, in exactly the same state at the same instant.</a:t>
            </a:r>
          </a:p>
          <a:p>
            <a:pPr>
              <a:defRPr sz="1000"/>
            </a:pPr>
          </a:p>
          <a:p>
            <a:r>
              <a:rPr sz="2000" b="1" i="0">
                <a:solidFill>
                  <a:srgbClr val="222222"/>
                </a:solidFill>
                <a:latin typeface="Calibri"/>
              </a:rPr>
              <a:t>Must they have exactly the same mind?</a:t>
            </a:r>
            <a:r>
              <a:rPr sz="2000" b="0" i="0">
                <a:solidFill>
                  <a:srgbClr val="222222"/>
                </a:solidFill>
                <a:latin typeface="Calibri"/>
              </a:rPr>
              <a:t> The same thoughts, the same feelings?</a:t>
            </a:r>
          </a:p>
          <a:p>
            <a:pPr>
              <a:defRPr sz="1000"/>
            </a:pPr>
          </a:p>
          <a:p>
            <a:r>
              <a:rPr sz="2000" b="0" i="0">
                <a:solidFill>
                  <a:srgbClr val="222222"/>
                </a:solidFill>
                <a:latin typeface="Calibri"/>
              </a:rPr>
              <a:t>If they could differ → you think mind is something </a:t>
            </a:r>
            <a:r>
              <a:rPr sz="2000" b="0" i="1">
                <a:solidFill>
                  <a:srgbClr val="222222"/>
                </a:solidFill>
                <a:latin typeface="Calibri"/>
              </a:rPr>
              <a:t>over and above</a:t>
            </a:r>
            <a:r>
              <a:rPr sz="2000" b="0" i="0">
                <a:solidFill>
                  <a:srgbClr val="222222"/>
                </a:solidFill>
                <a:latin typeface="Calibri"/>
              </a:rPr>
              <a:t> the physical.</a:t>
            </a:r>
          </a:p>
          <a:p>
            <a:pPr>
              <a:defRPr sz="1000"/>
            </a:pPr>
          </a:p>
          <a:p>
            <a:r>
              <a:rPr sz="2000" b="0" i="0">
                <a:solidFill>
                  <a:srgbClr val="222222"/>
                </a:solidFill>
                <a:latin typeface="Calibri"/>
              </a:rPr>
              <a:t>If the physical facts settle it → you think mind is physical, and your remaining argument is with other materialists.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answer_one_distinct">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Answer One: A Distinct Kind of Thing</a:t>
            </a:r>
          </a:p>
        </p:txBody>
      </p:sp>
      <p:sp>
        <p:nvSpPr>
          <p:cNvPr id="3" name="body_box"/>
          <p:cNvSpPr txBox="1"/>
          <p:nvPr/>
        </p:nvSpPr>
        <p:spPr>
          <a:xfrm>
            <a:off x="457200" y="1188720"/>
            <a:ext cx="5385816" cy="3785615"/>
          </a:xfrm>
          <a:prstGeom prst="rect">
            <a:avLst/>
          </a:prstGeom>
          <a:noFill/>
        </p:spPr>
        <p:txBody>
          <a:bodyPr wrap="square">
            <a:spAutoFit/>
          </a:bodyPr>
          <a:lstStyle/>
          <a:p>
            <a:r>
              <a:rPr sz="2000" b="0" i="0">
                <a:solidFill>
                  <a:srgbClr val="222222"/>
                </a:solidFill>
                <a:latin typeface="Calibri"/>
              </a:rPr>
              <a:t>In the </a:t>
            </a:r>
            <a:r>
              <a:rPr sz="2000" b="0" i="1">
                <a:solidFill>
                  <a:srgbClr val="222222"/>
                </a:solidFill>
                <a:latin typeface="Calibri"/>
              </a:rPr>
              <a:t>Meditations</a:t>
            </a:r>
            <a:r>
              <a:rPr sz="2000" b="0" i="0">
                <a:solidFill>
                  <a:srgbClr val="222222"/>
                </a:solidFill>
                <a:latin typeface="Calibri"/>
              </a:rPr>
              <a:t>, Descartes doubted everything he could — his body, the world, his senses. But he cannot doubt that he is </a:t>
            </a:r>
            <a:r>
              <a:rPr sz="2000" b="0" i="1">
                <a:solidFill>
                  <a:srgbClr val="222222"/>
                </a:solidFill>
                <a:latin typeface="Calibri"/>
              </a:rPr>
              <a:t>thinking</a:t>
            </a:r>
            <a:r>
              <a:rPr sz="2000" b="0" i="0">
                <a:solidFill>
                  <a:srgbClr val="222222"/>
                </a:solidFill>
                <a:latin typeface="Calibri"/>
              </a:rPr>
              <a:t>.</a:t>
            </a:r>
          </a:p>
          <a:p>
            <a:pPr>
              <a:defRPr sz="1000"/>
            </a:pPr>
          </a:p>
          <a:p>
            <a:r>
              <a:rPr sz="2000" b="1" i="0">
                <a:solidFill>
                  <a:srgbClr val="222222"/>
                </a:solidFill>
                <a:latin typeface="Calibri"/>
              </a:rPr>
              <a:t>The philosophical zombie</a:t>
            </a:r>
            <a:r>
              <a:rPr sz="2000" b="0" i="0">
                <a:solidFill>
                  <a:srgbClr val="222222"/>
                </a:solidFill>
                <a:latin typeface="Calibri"/>
              </a:rPr>
              <a:t> (Chalmers): a being physically identical to a person, behaving identically, flinching from pain, saying "that hurts" and seeming to mean it — with no inner experience at all. Nobody home.</a:t>
            </a:r>
          </a:p>
          <a:p>
            <a:pPr>
              <a:defRPr sz="1000"/>
            </a:pPr>
          </a:p>
          <a:p>
            <a:r>
              <a:rPr sz="2000" b="0" i="0">
                <a:solidFill>
                  <a:srgbClr val="222222"/>
                </a:solidFill>
                <a:latin typeface="Calibri"/>
              </a:rPr>
              <a:t>That we can apparently </a:t>
            </a:r>
            <a:r>
              <a:rPr sz="2000" b="0" i="1">
                <a:solidFill>
                  <a:srgbClr val="222222"/>
                </a:solidFill>
                <a:latin typeface="Calibri"/>
              </a:rPr>
              <a:t>imagine</a:t>
            </a:r>
            <a:r>
              <a:rPr sz="2000" b="0" i="0">
                <a:solidFill>
                  <a:srgbClr val="222222"/>
                </a:solidFill>
                <a:latin typeface="Calibri"/>
              </a:rPr>
              <a:t> it is what gives this view its grip.</a:t>
            </a:r>
          </a:p>
        </p:txBody>
      </p:sp>
      <p:pic>
        <p:nvPicPr>
          <p:cNvPr id="4" name="img0" descr="Portrait of René Descartes"/>
          <p:cNvPicPr>
            <a:picLocks noChangeAspect="1"/>
          </p:cNvPicPr>
          <p:nvPr/>
        </p:nvPicPr>
        <p:blipFill>
          <a:blip r:embed="rId2"/>
          <a:stretch>
            <a:fillRect/>
          </a:stretch>
        </p:blipFill>
        <p:spPr>
          <a:xfrm>
            <a:off x="7031736" y="1188720"/>
            <a:ext cx="4162551" cy="509492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why_few_scientists">
    <p:spTree>
      <p:nvGrpSpPr>
        <p:cNvPr id="1" name=""/>
        <p:cNvGrpSpPr/>
        <p:nvPr/>
      </p:nvGrpSpPr>
      <p:grpSpPr/>
      <p:sp>
        <p:nvSpPr>
          <p:cNvPr id="2" name="title_box"/>
          <p:cNvSpPr txBox="1"/>
          <p:nvPr/>
        </p:nvSpPr>
        <p:spPr>
          <a:xfrm>
            <a:off x="91440" y="91440"/>
            <a:ext cx="12006072" cy="740664"/>
          </a:xfrm>
          <a:prstGeom prst="rect">
            <a:avLst/>
          </a:prstGeom>
          <a:noFill/>
        </p:spPr>
        <p:txBody>
          <a:bodyPr wrap="square">
            <a:spAutoFit/>
          </a:bodyPr>
          <a:lstStyle/>
          <a:p>
            <a:r>
              <a:rPr sz="4200" b="1" i="0">
                <a:solidFill>
                  <a:srgbClr val="1F2A44"/>
                </a:solidFill>
                <a:latin typeface="Calibri"/>
              </a:rPr>
              <a:t>Why Almost No Scientist Defends Dualism</a:t>
            </a:r>
          </a:p>
        </p:txBody>
      </p:sp>
      <p:sp>
        <p:nvSpPr>
          <p:cNvPr id="3" name="body_box"/>
          <p:cNvSpPr txBox="1"/>
          <p:nvPr/>
        </p:nvSpPr>
        <p:spPr>
          <a:xfrm>
            <a:off x="457200" y="1143000"/>
            <a:ext cx="11247120" cy="5394960"/>
          </a:xfrm>
          <a:prstGeom prst="rect">
            <a:avLst/>
          </a:prstGeom>
          <a:noFill/>
        </p:spPr>
        <p:txBody>
          <a:bodyPr wrap="square">
            <a:spAutoFit/>
          </a:bodyPr>
          <a:lstStyle/>
          <a:p>
            <a:r>
              <a:rPr sz="2000" b="1" i="0">
                <a:solidFill>
                  <a:srgbClr val="222222"/>
                </a:solidFill>
                <a:latin typeface="Calibri"/>
              </a:rPr>
              <a:t>The appeal is real</a:t>
            </a:r>
            <a:r>
              <a:rPr sz="2000" b="0" i="0">
                <a:solidFill>
                  <a:srgbClr val="222222"/>
                </a:solidFill>
                <a:latin typeface="Calibri"/>
              </a:rPr>
              <a:t> — it sidesteps the hardest puzzle of all, how mere matter could ever produce felt experience, by denying that matter has to.</a:t>
            </a:r>
          </a:p>
          <a:p>
            <a:pPr>
              <a:defRPr sz="1000"/>
            </a:pPr>
          </a:p>
          <a:p>
            <a:r>
              <a:rPr sz="2000" b="1" i="0">
                <a:solidFill>
                  <a:srgbClr val="222222"/>
                </a:solidFill>
                <a:latin typeface="Calibri"/>
              </a:rPr>
              <a:t>The interaction problem</a:t>
            </a:r>
            <a:r>
              <a:rPr sz="2000" b="0" i="0">
                <a:solidFill>
                  <a:srgbClr val="222222"/>
                </a:solidFill>
                <a:latin typeface="Calibri"/>
              </a:rPr>
              <a:t> — if the mind is genuinely non-physical, how does it move the neurons that move your hand? Every answer seems to smuggle the mind back into the physical world it was meant to transcend.</a:t>
            </a:r>
          </a:p>
          <a:p>
            <a:pPr>
              <a:defRPr sz="1000"/>
            </a:pPr>
          </a:p>
          <a:p>
            <a:r>
              <a:rPr sz="2000" b="1" i="0">
                <a:solidFill>
                  <a:srgbClr val="222222"/>
                </a:solidFill>
                <a:latin typeface="Calibri"/>
              </a:rPr>
              <a:t>Untestability</a:t>
            </a:r>
            <a:r>
              <a:rPr sz="2000" b="0" i="0">
                <a:solidFill>
                  <a:srgbClr val="222222"/>
                </a:solidFill>
                <a:latin typeface="Calibri"/>
              </a:rPr>
              <a:t> — a mind that leaves no physical trace is a mind no experiment can find. It is outside science by construction.</a:t>
            </a:r>
          </a:p>
          <a:p>
            <a:pPr>
              <a:defRPr sz="1000"/>
            </a:pPr>
          </a:p>
          <a:p>
            <a:r>
              <a:rPr sz="2000" b="1" i="0">
                <a:solidFill>
                  <a:srgbClr val="222222"/>
                </a:solidFill>
                <a:latin typeface="Calibri"/>
              </a:rPr>
              <a:t>On machines:</a:t>
            </a:r>
            <a:r>
              <a:rPr sz="2000" b="0" i="0">
                <a:solidFill>
                  <a:srgbClr val="222222"/>
                </a:solidFill>
                <a:latin typeface="Calibri"/>
              </a:rPr>
              <a:t> never. Engineering only arranges physical parts.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answer_two_nothing_but">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Answer Two: Nothing But the Physical</a:t>
            </a:r>
          </a:p>
        </p:txBody>
      </p:sp>
      <p:sp>
        <p:nvSpPr>
          <p:cNvPr id="3" name="body_box"/>
          <p:cNvSpPr txBox="1"/>
          <p:nvPr/>
        </p:nvSpPr>
        <p:spPr>
          <a:xfrm>
            <a:off x="457200" y="1097280"/>
            <a:ext cx="11247120" cy="3172968"/>
          </a:xfrm>
          <a:prstGeom prst="rect">
            <a:avLst/>
          </a:prstGeom>
          <a:noFill/>
        </p:spPr>
        <p:txBody>
          <a:bodyPr wrap="square">
            <a:spAutoFit/>
          </a:bodyPr>
          <a:lstStyle/>
          <a:p>
            <a:r>
              <a:rPr sz="2000" b="1" i="0">
                <a:solidFill>
                  <a:srgbClr val="222222"/>
                </a:solidFill>
                <a:latin typeface="Calibri"/>
              </a:rPr>
              <a:t>Behaviorism</a:t>
            </a:r>
            <a:r>
              <a:rPr sz="2000" b="0" i="0">
                <a:solidFill>
                  <a:srgbClr val="222222"/>
                </a:solidFill>
                <a:latin typeface="Calibri"/>
              </a:rPr>
              <a:t> — study only what can be observed. Banish inner states. (Dominant roughly 1920–1960; broke on language, reasoning, memory, planning.)</a:t>
            </a:r>
          </a:p>
          <a:p>
            <a:pPr>
              <a:defRPr sz="1000"/>
            </a:pPr>
          </a:p>
          <a:p>
            <a:r>
              <a:rPr sz="2000" b="1" i="0">
                <a:solidFill>
                  <a:srgbClr val="222222"/>
                </a:solidFill>
                <a:latin typeface="Calibri"/>
              </a:rPr>
              <a:t>Identity theory</a:t>
            </a:r>
            <a:r>
              <a:rPr sz="2000" b="0" i="0">
                <a:solidFill>
                  <a:srgbClr val="222222"/>
                </a:solidFill>
                <a:latin typeface="Calibri"/>
              </a:rPr>
              <a:t> — mental states are real, and each one simply </a:t>
            </a:r>
            <a:r>
              <a:rPr sz="2000" b="0" i="1">
                <a:solidFill>
                  <a:srgbClr val="222222"/>
                </a:solidFill>
                <a:latin typeface="Calibri"/>
              </a:rPr>
              <a:t>is</a:t>
            </a:r>
            <a:r>
              <a:rPr sz="2000" b="0" i="0">
                <a:solidFill>
                  <a:srgbClr val="222222"/>
                </a:solidFill>
                <a:latin typeface="Calibri"/>
              </a:rPr>
              <a:t> a brain state. "Pain is the firing of C-fibers." Not caused by it. Not correlated with it. </a:t>
            </a:r>
            <a:r>
              <a:rPr sz="2000" b="0" i="1">
                <a:solidFill>
                  <a:srgbClr val="222222"/>
                </a:solidFill>
                <a:latin typeface="Calibri"/>
              </a:rPr>
              <a:t>Is</a:t>
            </a:r>
            <a:r>
              <a:rPr sz="2000" b="0" i="0">
                <a:solidFill>
                  <a:srgbClr val="222222"/>
                </a:solidFill>
                <a:latin typeface="Calibri"/>
              </a:rPr>
              <a:t> it — the way heat </a:t>
            </a:r>
            <a:r>
              <a:rPr sz="2000" b="0" i="1">
                <a:solidFill>
                  <a:srgbClr val="222222"/>
                </a:solidFill>
                <a:latin typeface="Calibri"/>
              </a:rPr>
              <a:t>is</a:t>
            </a:r>
            <a:r>
              <a:rPr sz="2000" b="0" i="0">
                <a:solidFill>
                  <a:srgbClr val="222222"/>
                </a:solidFill>
                <a:latin typeface="Calibri"/>
              </a:rPr>
              <a:t> molecular motion.</a:t>
            </a:r>
          </a:p>
          <a:p>
            <a:pPr>
              <a:defRPr sz="1000"/>
            </a:pPr>
          </a:p>
          <a:p>
            <a:r>
              <a:rPr sz="2000" b="1" i="0">
                <a:solidFill>
                  <a:srgbClr val="222222"/>
                </a:solidFill>
                <a:latin typeface="Calibri"/>
              </a:rPr>
              <a:t>Eliminative materialism</a:t>
            </a:r>
            <a:r>
              <a:rPr sz="2000" b="0" i="0">
                <a:solidFill>
                  <a:srgbClr val="222222"/>
                </a:solidFill>
                <a:latin typeface="Calibri"/>
              </a:rPr>
              <a:t> — our everyday mental vocabulary is not just incomplete, it is mistaken. "He checked his phone because he hoped she'd texted back" — belief, desire, hope. </a:t>
            </a:r>
            <a:r>
              <a:rPr sz="2000" b="1" i="0">
                <a:solidFill>
                  <a:srgbClr val="222222"/>
                </a:solidFill>
                <a:latin typeface="Calibri"/>
              </a:rPr>
              <a:t>Folk psychology.</a:t>
            </a:r>
            <a:r>
              <a:rPr sz="2000" b="0" i="0">
                <a:solidFill>
                  <a:srgbClr val="222222"/>
                </a:solidFill>
                <a:latin typeface="Calibri"/>
              </a:rPr>
              <a:t> A mature brain science will find nothing there for those words to name, the way chemistry found nothing for </a:t>
            </a:r>
            <a:r>
              <a:rPr sz="2000" b="0" i="1">
                <a:solidFill>
                  <a:srgbClr val="222222"/>
                </a:solidFill>
                <a:latin typeface="Calibri"/>
              </a:rPr>
              <a:t>phlogiston</a:t>
            </a:r>
            <a:r>
              <a:rPr sz="2000" b="0" i="0">
                <a:solidFill>
                  <a:srgbClr val="222222"/>
                </a:solidFill>
                <a:latin typeface="Calibri"/>
              </a:rPr>
              <a:t> to name.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chauvinism_problem">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The Problem That Pushes People Off It</a:t>
            </a:r>
          </a:p>
        </p:txBody>
      </p:sp>
      <p:sp>
        <p:nvSpPr>
          <p:cNvPr id="3" name="body_box"/>
          <p:cNvSpPr txBox="1"/>
          <p:nvPr/>
        </p:nvSpPr>
        <p:spPr>
          <a:xfrm>
            <a:off x="457200" y="1371600"/>
            <a:ext cx="5577840" cy="3172968"/>
          </a:xfrm>
          <a:prstGeom prst="rect">
            <a:avLst/>
          </a:prstGeom>
          <a:noFill/>
        </p:spPr>
        <p:txBody>
          <a:bodyPr wrap="square">
            <a:spAutoFit/>
          </a:bodyPr>
          <a:lstStyle/>
          <a:p>
            <a:r>
              <a:rPr sz="2000" b="0" i="0">
                <a:solidFill>
                  <a:srgbClr val="222222"/>
                </a:solidFill>
                <a:latin typeface="Calibri"/>
              </a:rPr>
              <a:t>If pain simply </a:t>
            </a:r>
            <a:r>
              <a:rPr sz="2000" b="1" i="0">
                <a:solidFill>
                  <a:srgbClr val="222222"/>
                </a:solidFill>
                <a:latin typeface="Calibri"/>
              </a:rPr>
              <a:t>is</a:t>
            </a:r>
            <a:r>
              <a:rPr sz="2000" b="0" i="0">
                <a:solidFill>
                  <a:srgbClr val="222222"/>
                </a:solidFill>
                <a:latin typeface="Calibri"/>
              </a:rPr>
              <a:t> the firing of C-fibers —</a:t>
            </a:r>
          </a:p>
          <a:p>
            <a:pPr>
              <a:defRPr sz="1000"/>
            </a:pPr>
          </a:p>
          <a:p>
            <a:r>
              <a:rPr sz="2000" b="0" i="0">
                <a:solidFill>
                  <a:srgbClr val="222222"/>
                </a:solidFill>
                <a:latin typeface="Calibri"/>
              </a:rPr>
              <a:t>then an octopus has no C-fibers.</a:t>
            </a:r>
          </a:p>
          <a:p>
            <a:r>
              <a:rPr sz="2000" b="0" i="0">
                <a:solidFill>
                  <a:srgbClr val="222222"/>
                </a:solidFill>
                <a:latin typeface="Calibri"/>
              </a:rPr>
              <a:t>Neither does an alien.</a:t>
            </a:r>
          </a:p>
          <a:p>
            <a:r>
              <a:rPr sz="2000" b="0" i="0">
                <a:solidFill>
                  <a:srgbClr val="222222"/>
                </a:solidFill>
                <a:latin typeface="Calibri"/>
              </a:rPr>
              <a:t>Neither does any machine.</a:t>
            </a:r>
          </a:p>
          <a:p>
            <a:pPr>
              <a:defRPr sz="1000"/>
            </a:pPr>
          </a:p>
          <a:p>
            <a:r>
              <a:rPr sz="2000" b="0" i="0">
                <a:solidFill>
                  <a:srgbClr val="222222"/>
                </a:solidFill>
                <a:latin typeface="Calibri"/>
              </a:rPr>
              <a:t>So none of them can be in pain. No matter what they do. No matter how they behave.</a:t>
            </a:r>
          </a:p>
          <a:p>
            <a:pPr>
              <a:defRPr sz="1000"/>
            </a:pPr>
          </a:p>
          <a:p>
            <a:r>
              <a:rPr sz="2000" b="1" i="0">
                <a:solidFill>
                  <a:srgbClr val="222222"/>
                </a:solidFill>
                <a:latin typeface="Calibri"/>
              </a:rPr>
              <a:t>The chauvinism problem.</a:t>
            </a:r>
          </a:p>
        </p:txBody>
      </p:sp>
      <p:pic>
        <p:nvPicPr>
          <p:cNvPr id="4" name="img0" descr="A common octopus on a rocky seabed, arms curled across the rock — most of its nervous system is distributed through those arms rather than gathered in a central brain"/>
          <p:cNvPicPr>
            <a:picLocks noChangeAspect="1"/>
          </p:cNvPicPr>
          <p:nvPr/>
        </p:nvPicPr>
        <p:blipFill>
          <a:blip r:embed="rId2"/>
          <a:stretch>
            <a:fillRect/>
          </a:stretch>
        </p:blipFill>
        <p:spPr>
          <a:xfrm>
            <a:off x="6099048" y="1563624"/>
            <a:ext cx="5581650" cy="372237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answer_three_property">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Answer Three: A Property, Not a Thing</a:t>
            </a:r>
          </a:p>
        </p:txBody>
      </p:sp>
      <p:sp>
        <p:nvSpPr>
          <p:cNvPr id="3" name="body_box"/>
          <p:cNvSpPr txBox="1"/>
          <p:nvPr/>
        </p:nvSpPr>
        <p:spPr>
          <a:xfrm>
            <a:off x="457200" y="1188720"/>
            <a:ext cx="11247120" cy="5303520"/>
          </a:xfrm>
          <a:prstGeom prst="rect">
            <a:avLst/>
          </a:prstGeom>
          <a:noFill/>
        </p:spPr>
        <p:txBody>
          <a:bodyPr wrap="square">
            <a:spAutoFit/>
          </a:bodyPr>
          <a:lstStyle/>
          <a:p>
            <a:r>
              <a:rPr sz="2000" b="0" i="0">
                <a:solidFill>
                  <a:srgbClr val="222222"/>
                </a:solidFill>
                <a:latin typeface="Calibri"/>
              </a:rPr>
              <a:t>The dualist's deepest mistake, on this view, is a </a:t>
            </a:r>
            <a:r>
              <a:rPr sz="2000" b="1" i="0">
                <a:solidFill>
                  <a:srgbClr val="222222"/>
                </a:solidFill>
                <a:latin typeface="Calibri"/>
              </a:rPr>
              <a:t>category error</a:t>
            </a:r>
            <a:r>
              <a:rPr sz="2000" b="0" i="0">
                <a:solidFill>
                  <a:srgbClr val="222222"/>
                </a:solidFill>
                <a:latin typeface="Calibri"/>
              </a:rPr>
              <a:t>.</a:t>
            </a:r>
          </a:p>
          <a:p>
            <a:pPr>
              <a:defRPr sz="1000"/>
            </a:pPr>
          </a:p>
          <a:p>
            <a:r>
              <a:rPr sz="2000" b="0" i="0">
                <a:solidFill>
                  <a:srgbClr val="222222"/>
                </a:solidFill>
                <a:latin typeface="Calibri"/>
              </a:rPr>
              <a:t>The dualist asks what kind of </a:t>
            </a:r>
            <a:r>
              <a:rPr sz="2000" b="0" i="1">
                <a:solidFill>
                  <a:srgbClr val="222222"/>
                </a:solidFill>
                <a:latin typeface="Calibri"/>
              </a:rPr>
              <a:t>thing</a:t>
            </a:r>
            <a:r>
              <a:rPr sz="2000" b="0" i="0">
                <a:solidFill>
                  <a:srgbClr val="222222"/>
                </a:solidFill>
                <a:latin typeface="Calibri"/>
              </a:rPr>
              <a:t> a mind is — and reaches for a special, non-physical kind. But a mind is not a thing at all.</a:t>
            </a:r>
          </a:p>
          <a:p>
            <a:pPr>
              <a:defRPr sz="1000"/>
            </a:pPr>
          </a:p>
          <a:p>
            <a:r>
              <a:rPr sz="2000" b="0" i="0">
                <a:solidFill>
                  <a:srgbClr val="222222"/>
                </a:solidFill>
                <a:latin typeface="Calibri"/>
              </a:rPr>
              <a:t>It is a </a:t>
            </a:r>
            <a:r>
              <a:rPr sz="2000" b="1" i="0">
                <a:solidFill>
                  <a:srgbClr val="222222"/>
                </a:solidFill>
                <a:latin typeface="Calibri"/>
              </a:rPr>
              <a:t>property</a:t>
            </a:r>
            <a:r>
              <a:rPr sz="2000" b="0" i="0">
                <a:solidFill>
                  <a:srgbClr val="222222"/>
                </a:solidFill>
                <a:latin typeface="Calibri"/>
              </a:rPr>
              <a:t> of physical stuff organized and active in a certain way.</a:t>
            </a:r>
          </a:p>
          <a:p>
            <a:pPr>
              <a:defRPr sz="1000"/>
            </a:pPr>
          </a:p>
          <a:p>
            <a:r>
              <a:rPr sz="2000" b="0" i="0">
                <a:solidFill>
                  <a:srgbClr val="222222"/>
                </a:solidFill>
                <a:latin typeface="Calibri"/>
              </a:rPr>
              <a:t>Mass is not an object tucked inside a rock. It is something the rock </a:t>
            </a:r>
            <a:r>
              <a:rPr sz="2000" b="0" i="1">
                <a:solidFill>
                  <a:srgbClr val="222222"/>
                </a:solidFill>
                <a:latin typeface="Calibri"/>
              </a:rPr>
              <a:t>has</a:t>
            </a:r>
            <a:r>
              <a:rPr sz="2000" b="0" i="0">
                <a:solidFill>
                  <a:srgbClr val="222222"/>
                </a:solidFill>
                <a:latin typeface="Calibri"/>
              </a:rPr>
              <a:t>.</a:t>
            </a:r>
          </a:p>
          <a:p>
            <a:r>
              <a:rPr sz="2000" b="0" i="0">
                <a:solidFill>
                  <a:srgbClr val="222222"/>
                </a:solidFill>
                <a:latin typeface="Calibri"/>
              </a:rPr>
              <a:t>So is temperature. So is being alive.</a:t>
            </a:r>
          </a:p>
          <a:p>
            <a:pPr>
              <a:defRPr sz="1000"/>
            </a:pPr>
          </a:p>
          <a:p>
            <a:r>
              <a:rPr sz="2000" b="0" i="0">
                <a:solidFill>
                  <a:srgbClr val="222222"/>
                </a:solidFill>
                <a:latin typeface="Calibri"/>
              </a:rPr>
              <a:t>Mind is a property of that kind — as real as the matter, but not a separate ingredient added to it.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(1 of 2)</a:t>
            </a:r>
          </a:p>
        </p:txBody>
      </p:sp>
      <p:graphicFrame>
        <p:nvGraphicFramePr>
          <p:cNvPr id="3" name="table"/>
          <p:cNvGraphicFramePr>
            <a:graphicFrameLocks noGrp="1"/>
          </p:cNvGraphicFramePr>
          <p:nvPr/>
        </p:nvGraphicFramePr>
        <p:xfrm>
          <a:off x="457200" y="1371600"/>
          <a:ext cx="11247117" cy="3968496"/>
        </p:xfrm>
        <a:graphic>
          <a:graphicData uri="http://schemas.openxmlformats.org/drawingml/2006/table">
            <a:tbl>
              <a:tblPr>
                <a:tableStyleId>{5C22544A-7EE6-4342-B048-85BDC9FD1C3A}</a:tableStyleId>
              </a:tblPr>
              <a:tblGrid>
                <a:gridCol w="674827"/>
                <a:gridCol w="2699308"/>
                <a:gridCol w="2699308"/>
                <a:gridCol w="1574596"/>
                <a:gridCol w="3599078"/>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Licence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40944">
                <a:tc>
                  <a:txBody>
                    <a:bodyPr/>
                    <a:lstStyle/>
                    <a:p>
                      <a:r>
                        <a:rPr sz="1000" b="0" i="0">
                          <a:solidFill>
                            <a:srgbClr val="222222"/>
                          </a:solidFill>
                          <a:latin typeface="Calibri"/>
                        </a:rPr>
                        <a:t>2</a:t>
                      </a:r>
                    </a:p>
                  </a:txBody>
                  <a:tcPr marL="73152" marR="73152" marT="18288" marB="18288">
                    <a:solidFill>
                      <a:srgbClr val="FFFFFF"/>
                    </a:solidFill>
                  </a:tcPr>
                </a:tc>
                <a:tc>
                  <a:txBody>
                    <a:bodyPr/>
                    <a:lstStyle/>
                    <a:p>
                      <a:r>
                        <a:rPr sz="1000" b="0" i="0">
                          <a:solidFill>
                            <a:srgbClr val="222222"/>
                          </a:solidFill>
                          <a:latin typeface="Calibri"/>
                        </a:rPr>
                        <a:t>Missing a step on the stairs</a:t>
                      </a:r>
                    </a:p>
                  </a:txBody>
                  <a:tcPr marL="73152" marR="73152" marT="18288" marB="18288">
                    <a:solidFill>
                      <a:srgbClr val="FFFFFF"/>
                    </a:solidFill>
                  </a:tcPr>
                </a:tc>
                <a:tc>
                  <a:txBody>
                    <a:bodyPr/>
                    <a:lstStyle/>
                    <a:p>
                      <a:r>
                        <a:rPr sz="1000" b="0" i="0">
                          <a:solidFill>
                            <a:srgbClr val="222222"/>
                          </a:solidFill>
                          <a:latin typeface="Calibri"/>
                        </a:rPr>
                        <a:t>missed_stair.jpg</a:t>
                      </a:r>
                    </a:p>
                  </a:txBody>
                  <a:tcPr marL="73152" marR="73152" marT="18288" marB="18288">
                    <a:solidFill>
                      <a:srgbClr val="FFFFFF"/>
                    </a:solidFill>
                  </a:tcPr>
                </a:tc>
                <a:tc>
                  <a:txBody>
                    <a:bodyPr/>
                    <a:lstStyle/>
                    <a:p>
                      <a:r>
                        <a:rPr sz="1000" b="0" i="0">
                          <a:solidFill>
                            <a:srgbClr val="222222"/>
                          </a:solidFill>
                          <a:latin typeface="Calibri"/>
                        </a:rPr>
                        <a:t>Author's own AI-generated image; see IMAGE_CREDITS.md</a:t>
                      </a:r>
                    </a:p>
                  </a:txBody>
                  <a:tcPr marL="73152" marR="73152" marT="18288" marB="18288">
                    <a:solidFill>
                      <a:srgbClr val="FFFFFF"/>
                    </a:solidFill>
                  </a:tcPr>
                </a:tc>
                <a:tc>
                  <a:txBody>
                    <a:bodyPr/>
                    <a:lstStyle/>
                    <a:p>
                      <a:r>
                        <a:rPr sz="1000" b="0" i="0">
                          <a:solidFill>
                            <a:srgbClr val="222222"/>
                          </a:solidFill>
                          <a:latin typeface="Calibri"/>
                        </a:rPr>
                        <a:t>Jon Willits — generated with ChatGPT (OpenAI)  ·  own work</a:t>
                      </a:r>
                    </a:p>
                  </a:txBody>
                  <a:tcPr marL="73152" marR="73152" marT="18288" marB="18288">
                    <a:solidFill>
                      <a:srgbClr val="FFFFFF"/>
                    </a:solidFill>
                  </a:tcPr>
                </a:tc>
              </a:tr>
              <a:tr h="440944">
                <a:tc>
                  <a:txBody>
                    <a:bodyPr/>
                    <a:lstStyle/>
                    <a:p>
                      <a:r>
                        <a:rPr sz="1000" b="0" i="0">
                          <a:solidFill>
                            <a:srgbClr val="222222"/>
                          </a:solidFill>
                          <a:latin typeface="Calibri"/>
                        </a:rPr>
                        <a:t>3</a:t>
                      </a:r>
                    </a:p>
                  </a:txBody>
                  <a:tcPr marL="73152" marR="73152" marT="18288" marB="18288">
                    <a:solidFill>
                      <a:srgbClr val="FFFFFF"/>
                    </a:solidFill>
                  </a:tcPr>
                </a:tc>
                <a:tc>
                  <a:txBody>
                    <a:bodyPr/>
                    <a:lstStyle/>
                    <a:p>
                      <a:r>
                        <a:rPr sz="1000" b="0" i="0">
                          <a:solidFill>
                            <a:srgbClr val="222222"/>
                          </a:solidFill>
                          <a:latin typeface="Calibri"/>
                        </a:rPr>
                        <a:t>A companion app, months in</a:t>
                      </a:r>
                    </a:p>
                  </a:txBody>
                  <a:tcPr marL="73152" marR="73152" marT="18288" marB="18288">
                    <a:solidFill>
                      <a:srgbClr val="FFFFFF"/>
                    </a:solidFill>
                  </a:tcPr>
                </a:tc>
                <a:tc>
                  <a:txBody>
                    <a:bodyPr/>
                    <a:lstStyle/>
                    <a:p>
                      <a:r>
                        <a:rPr sz="1000" b="0" i="0">
                          <a:solidFill>
                            <a:srgbClr val="222222"/>
                          </a:solidFill>
                          <a:latin typeface="Calibri"/>
                        </a:rPr>
                        <a:t>companion_app_conversation.png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Roomba robotic floor vacuum</a:t>
                      </a:r>
                    </a:p>
                  </a:txBody>
                  <a:tcPr marL="73152" marR="73152" marT="18288" marB="18288">
                    <a:solidFill>
                      <a:srgbClr val="FFFFFF"/>
                    </a:solidFill>
                  </a:tcPr>
                </a:tc>
                <a:tc>
                  <a:txBody>
                    <a:bodyPr/>
                    <a:lstStyle/>
                    <a:p>
                      <a:r>
                        <a:rPr sz="1000" b="0" i="0">
                          <a:solidFill>
                            <a:srgbClr val="222222"/>
                          </a:solidFill>
                          <a:latin typeface="Calibri"/>
                        </a:rPr>
                        <a:t>robot_vacuum.jpg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Larry D. Moore  ·  https://commons.wikimedia.org/wiki/File:Roomba_original.jpg</a:t>
                      </a:r>
                    </a:p>
                  </a:txBody>
                  <a:tcPr marL="73152" marR="73152" marT="18288" marB="18288">
                    <a:solidFill>
                      <a:srgbClr val="FFFFFF"/>
                    </a:solidFill>
                  </a:tcPr>
                </a:tc>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Venus flytrap</a:t>
                      </a:r>
                    </a:p>
                  </a:txBody>
                  <a:tcPr marL="73152" marR="73152" marT="18288" marB="18288">
                    <a:solidFill>
                      <a:srgbClr val="FFFFFF"/>
                    </a:solidFill>
                  </a:tcPr>
                </a:tc>
                <a:tc>
                  <a:txBody>
                    <a:bodyPr/>
                    <a:lstStyle/>
                    <a:p>
                      <a:r>
                        <a:rPr sz="1000" b="0" i="0">
                          <a:solidFill>
                            <a:srgbClr val="222222"/>
                          </a:solidFill>
                          <a:latin typeface="Calibri"/>
                        </a:rPr>
                        <a:t>venus_flytrap.jpg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ImagePerson  ·  https://commons.wikimedia.org/wiki/File:Venus_flytrap_(Dionaea_muscipula)_Zagreb_Botanical_Garden_1060.jpg</a:t>
                      </a:r>
                    </a:p>
                  </a:txBody>
                  <a:tcPr marL="73152" marR="73152" marT="18288" marB="18288">
                    <a:solidFill>
                      <a:srgbClr val="FFFFFF"/>
                    </a:solidFill>
                  </a:tcPr>
                </a:tc>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Bacterial chemotaxis, dark-field time lapse</a:t>
                      </a:r>
                    </a:p>
                  </a:txBody>
                  <a:tcPr marL="73152" marR="73152" marT="18288" marB="18288">
                    <a:solidFill>
                      <a:srgbClr val="FFFFFF"/>
                    </a:solidFill>
                  </a:tcPr>
                </a:tc>
                <a:tc>
                  <a:txBody>
                    <a:bodyPr/>
                    <a:lstStyle/>
                    <a:p>
                      <a:r>
                        <a:rPr sz="1000" b="0" i="0">
                          <a:solidFill>
                            <a:srgbClr val="222222"/>
                          </a:solidFill>
                          <a:latin typeface="Calibri"/>
                        </a:rPr>
                        <a:t>bacteria_chemotaxis.gif</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Erin Rod  ·  https://commons.wikimedia.org/wiki/File:Bacterial_chemotaxis_to_glucose,_sugar,_%26_glycine_exposure.gif</a:t>
                      </a:r>
                    </a:p>
                  </a:txBody>
                  <a:tcPr marL="73152" marR="73152" marT="18288" marB="18288">
                    <a:solidFill>
                      <a:srgbClr val="FFFFFF"/>
                    </a:solidFill>
                  </a:tcPr>
                </a:tc>
              </a:tr>
              <a:tr h="440944">
                <a:tc>
                  <a:txBody>
                    <a:bodyPr/>
                    <a:lstStyle/>
                    <a:p>
                      <a:r>
                        <a:rPr sz="1000" b="0" i="0">
                          <a:solidFill>
                            <a:srgbClr val="222222"/>
                          </a:solidFill>
                          <a:latin typeface="Calibri"/>
                        </a:rPr>
                        <a:t>7</a:t>
                      </a:r>
                    </a:p>
                  </a:txBody>
                  <a:tcPr marL="73152" marR="73152" marT="18288" marB="18288">
                    <a:solidFill>
                      <a:srgbClr val="FFFFFF"/>
                    </a:solidFill>
                  </a:tcPr>
                </a:tc>
                <a:tc>
                  <a:txBody>
                    <a:bodyPr/>
                    <a:lstStyle/>
                    <a:p>
                      <a:r>
                        <a:rPr sz="1000" b="0" i="0">
                          <a:solidFill>
                            <a:srgbClr val="222222"/>
                          </a:solidFill>
                          <a:latin typeface="Calibri"/>
                        </a:rPr>
                        <a:t>Mind, consciousness, and qualia</a:t>
                      </a:r>
                    </a:p>
                  </a:txBody>
                  <a:tcPr marL="73152" marR="73152" marT="18288" marB="18288">
                    <a:solidFill>
                      <a:srgbClr val="FFFFFF"/>
                    </a:solidFill>
                  </a:tcPr>
                </a:tc>
                <a:tc>
                  <a:txBody>
                    <a:bodyPr/>
                    <a:lstStyle/>
                    <a:p>
                      <a:r>
                        <a:rPr sz="1000" b="0" i="0">
                          <a:solidFill>
                            <a:srgbClr val="222222"/>
                          </a:solidFill>
                          <a:latin typeface="Calibri"/>
                        </a:rPr>
                        <a:t>fig-mind-consciousness-qualia.png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figure from the Module 1 reading  ·  own work</a:t>
                      </a:r>
                    </a:p>
                  </a:txBody>
                  <a:tcPr marL="73152" marR="73152" marT="18288" marB="18288">
                    <a:solidFill>
                      <a:srgbClr val="FFFFFF"/>
                    </a:solidFill>
                  </a:tcPr>
                </a:tc>
              </a:tr>
              <a:tr h="440944">
                <a:tc>
                  <a:txBody>
                    <a:bodyPr/>
                    <a:lstStyle/>
                    <a:p>
                      <a:r>
                        <a:rPr sz="1000" b="0" i="0">
                          <a:solidFill>
                            <a:srgbClr val="222222"/>
                          </a:solidFill>
                          <a:latin typeface="Calibri"/>
                        </a:rPr>
                        <a:t>9</a:t>
                      </a:r>
                    </a:p>
                  </a:txBody>
                  <a:tcPr marL="73152" marR="73152" marT="18288" marB="18288">
                    <a:solidFill>
                      <a:srgbClr val="FFFFFF"/>
                    </a:solidFill>
                  </a:tcPr>
                </a:tc>
                <a:tc>
                  <a:txBody>
                    <a:bodyPr/>
                    <a:lstStyle/>
                    <a:p>
                      <a:r>
                        <a:rPr sz="1000" b="0" i="0">
                          <a:solidFill>
                            <a:srgbClr val="222222"/>
                          </a:solidFill>
                          <a:latin typeface="Calibri"/>
                        </a:rPr>
                        <a:t>Portrait of René Descartes</a:t>
                      </a:r>
                    </a:p>
                  </a:txBody>
                  <a:tcPr marL="73152" marR="73152" marT="18288" marB="18288">
                    <a:solidFill>
                      <a:srgbClr val="FFFFFF"/>
                    </a:solidFill>
                  </a:tcPr>
                </a:tc>
                <a:tc>
                  <a:txBody>
                    <a:bodyPr/>
                    <a:lstStyle/>
                    <a:p>
                      <a:r>
                        <a:rPr sz="1000" b="0" i="0">
                          <a:solidFill>
                            <a:srgbClr val="222222"/>
                          </a:solidFill>
                          <a:latin typeface="Calibri"/>
                        </a:rPr>
                        <a:t>descartes_portrait.jpg</a:t>
                      </a:r>
                    </a:p>
                  </a:txBody>
                  <a:tcPr marL="73152" marR="73152" marT="18288" marB="18288">
                    <a:solidFill>
                      <a:srgbClr val="FFFFFF"/>
                    </a:solidFill>
                  </a:tcPr>
                </a:tc>
                <a:tc>
                  <a:txBody>
                    <a:bodyPr/>
                    <a:lstStyle/>
                    <a:p>
                      <a:r>
                        <a:rPr sz="1000" b="0" i="0">
                          <a:solidFill>
                            <a:srgbClr val="222222"/>
                          </a:solidFill>
                          <a:latin typeface="Calibri"/>
                        </a:rPr>
                        <a:t>not recorded</a:t>
                      </a:r>
                    </a:p>
                  </a:txBody>
                  <a:tcPr marL="73152" marR="73152" marT="18288" marB="18288">
                    <a:solidFill>
                      <a:srgbClr val="FFFFFF"/>
                    </a:solidFill>
                  </a:tcPr>
                </a:tc>
                <a:tc>
                  <a:txBody>
                    <a:bodyPr/>
                    <a:lstStyle/>
                    <a:p>
                      <a:r>
                        <a:rPr sz="1000" b="0" i="0">
                          <a:solidFill>
                            <a:srgbClr val="222222"/>
                          </a:solidFill>
                          <a:latin typeface="Calibri"/>
                        </a:rPr>
                        <a:t>—</a:t>
                      </a:r>
                    </a:p>
                  </a:txBody>
                  <a:tcPr marL="73152" marR="73152" marT="18288" marB="18288">
                    <a:solidFill>
                      <a:srgbClr val="FFFFFF"/>
                    </a:solidFill>
                  </a:tcPr>
                </a:tc>
              </a:tr>
              <a:tr h="440944">
                <a:tc>
                  <a:txBody>
                    <a:bodyPr/>
                    <a:lstStyle/>
                    <a:p>
                      <a:r>
                        <a:rPr sz="1000" b="0" i="0">
                          <a:solidFill>
                            <a:srgbClr val="222222"/>
                          </a:solidFill>
                          <a:latin typeface="Calibri"/>
                        </a:rPr>
                        <a:t>12</a:t>
                      </a:r>
                    </a:p>
                  </a:txBody>
                  <a:tcPr marL="73152" marR="73152" marT="18288" marB="18288">
                    <a:solidFill>
                      <a:srgbClr val="FFFFFF"/>
                    </a:solidFill>
                  </a:tcPr>
                </a:tc>
                <a:tc>
                  <a:txBody>
                    <a:bodyPr/>
                    <a:lstStyle/>
                    <a:p>
                      <a:r>
                        <a:rPr sz="1000" b="0" i="0">
                          <a:solidFill>
                            <a:srgbClr val="222222"/>
                          </a:solidFill>
                          <a:latin typeface="Calibri"/>
                        </a:rPr>
                        <a:t>Common octopus</a:t>
                      </a:r>
                    </a:p>
                  </a:txBody>
                  <a:tcPr marL="73152" marR="73152" marT="18288" marB="18288">
                    <a:solidFill>
                      <a:srgbClr val="FFFFFF"/>
                    </a:solidFill>
                  </a:tcPr>
                </a:tc>
                <a:tc>
                  <a:txBody>
                    <a:bodyPr/>
                    <a:lstStyle/>
                    <a:p>
                      <a:r>
                        <a:rPr sz="1000" b="0" i="0">
                          <a:solidFill>
                            <a:srgbClr val="222222"/>
                          </a:solidFill>
                          <a:latin typeface="Calibri"/>
                        </a:rPr>
                        <a:t>octopus.jpg</a:t>
                      </a:r>
                    </a:p>
                  </a:txBody>
                  <a:tcPr marL="73152" marR="73152" marT="18288" marB="18288">
                    <a:solidFill>
                      <a:srgbClr val="FFFFFF"/>
                    </a:solidFill>
                  </a:tcPr>
                </a:tc>
                <a:tc>
                  <a:txBody>
                    <a:bodyPr/>
                    <a:lstStyle/>
                    <a:p>
                      <a:r>
                        <a:rPr sz="1000" b="0" i="0">
                          <a:solidFill>
                            <a:srgbClr val="222222"/>
                          </a:solidFill>
                          <a:latin typeface="Calibri"/>
                        </a:rPr>
                        <a:t>CC BY-SA 3.0</a:t>
                      </a:r>
                    </a:p>
                  </a:txBody>
                  <a:tcPr marL="73152" marR="73152" marT="18288" marB="18288">
                    <a:solidFill>
                      <a:srgbClr val="FFFFFF"/>
                    </a:solidFill>
                  </a:tcPr>
                </a:tc>
                <a:tc>
                  <a:txBody>
                    <a:bodyPr/>
                    <a:lstStyle/>
                    <a:p>
                      <a:r>
                        <a:rPr sz="1000" b="0" i="0">
                          <a:solidFill>
                            <a:srgbClr val="222222"/>
                          </a:solidFill>
                          <a:latin typeface="Calibri"/>
                        </a:rPr>
                        <a:t>Beckmannjan  ·  https://commons.wikimedia.org/wiki/File:Octopus_vulgaris2.jpg</a:t>
                      </a:r>
                    </a:p>
                  </a:txBody>
                  <a:tcPr marL="73152" marR="73152" marT="18288" marB="18288">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(2 of 2)</a:t>
            </a:r>
          </a:p>
        </p:txBody>
      </p:sp>
      <p:graphicFrame>
        <p:nvGraphicFramePr>
          <p:cNvPr id="3" name="table"/>
          <p:cNvGraphicFramePr>
            <a:graphicFrameLocks noGrp="1"/>
          </p:cNvGraphicFramePr>
          <p:nvPr/>
        </p:nvGraphicFramePr>
        <p:xfrm>
          <a:off x="457200" y="1371600"/>
          <a:ext cx="11247117" cy="3547872"/>
        </p:xfrm>
        <a:graphic>
          <a:graphicData uri="http://schemas.openxmlformats.org/drawingml/2006/table">
            <a:tbl>
              <a:tblPr>
                <a:tableStyleId>{5C22544A-7EE6-4342-B048-85BDC9FD1C3A}</a:tableStyleId>
              </a:tblPr>
              <a:tblGrid>
                <a:gridCol w="674827"/>
                <a:gridCol w="2699308"/>
                <a:gridCol w="2699308"/>
                <a:gridCol w="1574596"/>
                <a:gridCol w="3599078"/>
              </a:tblGrid>
              <a:tr h="44348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Licence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43484">
                <a:tc>
                  <a:txBody>
                    <a:bodyPr/>
                    <a:lstStyle/>
                    <a:p>
                      <a:r>
                        <a:rPr sz="1000" b="0" i="0">
                          <a:solidFill>
                            <a:srgbClr val="222222"/>
                          </a:solidFill>
                          <a:latin typeface="Calibri"/>
                        </a:rPr>
                        <a:t>14</a:t>
                      </a:r>
                    </a:p>
                  </a:txBody>
                  <a:tcPr marL="73152" marR="73152" marT="18288" marB="18288">
                    <a:solidFill>
                      <a:srgbClr val="FFFFFF"/>
                    </a:solidFill>
                  </a:tcPr>
                </a:tc>
                <a:tc>
                  <a:txBody>
                    <a:bodyPr/>
                    <a:lstStyle/>
                    <a:p>
                      <a:r>
                        <a:rPr sz="1000" b="0" i="0">
                          <a:solidFill>
                            <a:srgbClr val="222222"/>
                          </a:solidFill>
                          <a:latin typeface="Calibri"/>
                        </a:rPr>
                        <a:t>Three fates of a higher-level concept</a:t>
                      </a:r>
                    </a:p>
                  </a:txBody>
                  <a:tcPr marL="73152" marR="73152" marT="18288" marB="18288">
                    <a:solidFill>
                      <a:srgbClr val="FFFFFF"/>
                    </a:solidFill>
                  </a:tcPr>
                </a:tc>
                <a:tc>
                  <a:txBody>
                    <a:bodyPr/>
                    <a:lstStyle/>
                    <a:p>
                      <a:r>
                        <a:rPr sz="1000" b="0" i="0">
                          <a:solidFill>
                            <a:srgbClr val="222222"/>
                          </a:solidFill>
                          <a:latin typeface="Calibri"/>
                        </a:rPr>
                        <a:t>fig-three-fates.png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figure from the Module 1 reading  ·  own work</a:t>
                      </a:r>
                    </a:p>
                  </a:txBody>
                  <a:tcPr marL="73152" marR="73152" marT="18288" marB="18288">
                    <a:solidFill>
                      <a:srgbClr val="FFFFFF"/>
                    </a:solidFill>
                  </a:tcPr>
                </a:tc>
              </a:tr>
              <a:tr h="443484">
                <a:tc>
                  <a:txBody>
                    <a:bodyPr/>
                    <a:lstStyle/>
                    <a:p>
                      <a:r>
                        <a:rPr sz="1000" b="0" i="0">
                          <a:solidFill>
                            <a:srgbClr val="222222"/>
                          </a:solidFill>
                          <a:latin typeface="Calibri"/>
                        </a:rPr>
                        <a:t>15</a:t>
                      </a:r>
                    </a:p>
                  </a:txBody>
                  <a:tcPr marL="73152" marR="73152" marT="18288" marB="18288">
                    <a:solidFill>
                      <a:srgbClr val="FFFFFF"/>
                    </a:solidFill>
                  </a:tcPr>
                </a:tc>
                <a:tc>
                  <a:txBody>
                    <a:bodyPr/>
                    <a:lstStyle/>
                    <a:p>
                      <a:r>
                        <a:rPr sz="1000" b="0" i="0">
                          <a:solidFill>
                            <a:srgbClr val="222222"/>
                          </a:solidFill>
                          <a:latin typeface="Calibri"/>
                        </a:rPr>
                        <a:t>Sundial sculpture, Berlin</a:t>
                      </a:r>
                    </a:p>
                  </a:txBody>
                  <a:tcPr marL="73152" marR="73152" marT="18288" marB="18288">
                    <a:solidFill>
                      <a:srgbClr val="FFFFFF"/>
                    </a:solidFill>
                  </a:tcPr>
                </a:tc>
                <a:tc>
                  <a:txBody>
                    <a:bodyPr/>
                    <a:lstStyle/>
                    <a:p>
                      <a:r>
                        <a:rPr sz="1000" b="0" i="0">
                          <a:solidFill>
                            <a:srgbClr val="222222"/>
                          </a:solidFill>
                          <a:latin typeface="Calibri"/>
                        </a:rPr>
                        <a:t>clock_sundial.jpg</a:t>
                      </a:r>
                    </a:p>
                  </a:txBody>
                  <a:tcPr marL="73152" marR="73152" marT="18288" marB="18288">
                    <a:solidFill>
                      <a:srgbClr val="FFFFFF"/>
                    </a:solidFill>
                  </a:tcPr>
                </a:tc>
                <a:tc>
                  <a:txBody>
                    <a:bodyPr/>
                    <a:lstStyle/>
                    <a:p>
                      <a:r>
                        <a:rPr sz="1000" b="0" i="0">
                          <a:solidFill>
                            <a:srgbClr val="222222"/>
                          </a:solidFill>
                          <a:latin typeface="Calibri"/>
                        </a:rPr>
                        <a:t>CC0 1.0</a:t>
                      </a:r>
                    </a:p>
                  </a:txBody>
                  <a:tcPr marL="73152" marR="73152" marT="18288" marB="18288">
                    <a:solidFill>
                      <a:srgbClr val="FFFFFF"/>
                    </a:solidFill>
                  </a:tcPr>
                </a:tc>
                <a:tc>
                  <a:txBody>
                    <a:bodyPr/>
                    <a:lstStyle/>
                    <a:p>
                      <a:r>
                        <a:rPr sz="1000" b="0" i="0">
                          <a:solidFill>
                            <a:srgbClr val="222222"/>
                          </a:solidFill>
                          <a:latin typeface="Calibri"/>
                        </a:rPr>
                        <a:t>Singlespeedfahrer  ·  https://commons.wikimedia.org/wiki/File:Sculpture_Sundial_Frank_von_Bargen_Berlin_01.jpg</a:t>
                      </a:r>
                    </a:p>
                  </a:txBody>
                  <a:tcPr marL="73152" marR="73152" marT="18288" marB="18288">
                    <a:solidFill>
                      <a:srgbClr val="FFFFFF"/>
                    </a:solidFill>
                  </a:tcPr>
                </a:tc>
              </a:tr>
              <a:tr h="443484">
                <a:tc>
                  <a:txBody>
                    <a:bodyPr/>
                    <a:lstStyle/>
                    <a:p>
                      <a:r>
                        <a:rPr sz="1000" b="0" i="0">
                          <a:solidFill>
                            <a:srgbClr val="222222"/>
                          </a:solidFill>
                          <a:latin typeface="Calibri"/>
                        </a:rPr>
                        <a:t>15</a:t>
                      </a:r>
                    </a:p>
                  </a:txBody>
                  <a:tcPr marL="73152" marR="73152" marT="18288" marB="18288">
                    <a:solidFill>
                      <a:srgbClr val="FFFFFF"/>
                    </a:solidFill>
                  </a:tcPr>
                </a:tc>
                <a:tc>
                  <a:txBody>
                    <a:bodyPr/>
                    <a:lstStyle/>
                    <a:p>
                      <a:r>
                        <a:rPr sz="1000" b="0" i="0">
                          <a:solidFill>
                            <a:srgbClr val="222222"/>
                          </a:solidFill>
                          <a:latin typeface="Calibri"/>
                        </a:rPr>
                        <a:t>Mechanical travel alarm clock</a:t>
                      </a:r>
                    </a:p>
                  </a:txBody>
                  <a:tcPr marL="73152" marR="73152" marT="18288" marB="18288">
                    <a:solidFill>
                      <a:srgbClr val="FFFFFF"/>
                    </a:solidFill>
                  </a:tcPr>
                </a:tc>
                <a:tc>
                  <a:txBody>
                    <a:bodyPr/>
                    <a:lstStyle/>
                    <a:p>
                      <a:r>
                        <a:rPr sz="1000" b="0" i="0">
                          <a:solidFill>
                            <a:srgbClr val="222222"/>
                          </a:solidFill>
                          <a:latin typeface="Calibri"/>
                        </a:rPr>
                        <a:t>clock_mechanical.jpg</a:t>
                      </a:r>
                    </a:p>
                  </a:txBody>
                  <a:tcPr marL="73152" marR="73152" marT="18288" marB="18288">
                    <a:solidFill>
                      <a:srgbClr val="FFFFFF"/>
                    </a:solidFill>
                  </a:tcPr>
                </a:tc>
                <a:tc>
                  <a:txBody>
                    <a:bodyPr/>
                    <a:lstStyle/>
                    <a:p>
                      <a:r>
                        <a:rPr sz="1000" b="0" i="0">
                          <a:solidFill>
                            <a:srgbClr val="222222"/>
                          </a:solidFill>
                          <a:latin typeface="Calibri"/>
                        </a:rPr>
                        <a:t>Free use with attribution — see IMAGE_CREDITS.md</a:t>
                      </a:r>
                    </a:p>
                  </a:txBody>
                  <a:tcPr marL="73152" marR="73152" marT="18288" marB="18288">
                    <a:solidFill>
                      <a:srgbClr val="FFFFFF"/>
                    </a:solidFill>
                  </a:tcPr>
                </a:tc>
                <a:tc>
                  <a:txBody>
                    <a:bodyPr/>
                    <a:lstStyle/>
                    <a:p>
                      <a:r>
                        <a:rPr sz="1000" b="0" i="0">
                          <a:solidFill>
                            <a:srgbClr val="222222"/>
                          </a:solidFill>
                          <a:latin typeface="Calibri"/>
                        </a:rPr>
                        <a:t>Friedrich Haag  ·  https://commons.wikimedia.org/wiki/File:001_2020_04_21_Uhren_fuer_den_Innenbereich.jpg</a:t>
                      </a:r>
                    </a:p>
                  </a:txBody>
                  <a:tcPr marL="73152" marR="73152" marT="18288" marB="18288">
                    <a:solidFill>
                      <a:srgbClr val="FFFFFF"/>
                    </a:solidFill>
                  </a:tcPr>
                </a:tc>
              </a:tr>
              <a:tr h="443484">
                <a:tc>
                  <a:txBody>
                    <a:bodyPr/>
                    <a:lstStyle/>
                    <a:p>
                      <a:r>
                        <a:rPr sz="1000" b="0" i="0">
                          <a:solidFill>
                            <a:srgbClr val="222222"/>
                          </a:solidFill>
                          <a:latin typeface="Calibri"/>
                        </a:rPr>
                        <a:t>15</a:t>
                      </a:r>
                    </a:p>
                  </a:txBody>
                  <a:tcPr marL="73152" marR="73152" marT="18288" marB="18288">
                    <a:solidFill>
                      <a:srgbClr val="FFFFFF"/>
                    </a:solidFill>
                  </a:tcPr>
                </a:tc>
                <a:tc>
                  <a:txBody>
                    <a:bodyPr/>
                    <a:lstStyle/>
                    <a:p>
                      <a:r>
                        <a:rPr sz="1000" b="0" i="0">
                          <a:solidFill>
                            <a:srgbClr val="222222"/>
                          </a:solidFill>
                          <a:latin typeface="Calibri"/>
                        </a:rPr>
                        <a:t>Digital alarm clock</a:t>
                      </a:r>
                    </a:p>
                  </a:txBody>
                  <a:tcPr marL="73152" marR="73152" marT="18288" marB="18288">
                    <a:solidFill>
                      <a:srgbClr val="FFFFFF"/>
                    </a:solidFill>
                  </a:tcPr>
                </a:tc>
                <a:tc>
                  <a:txBody>
                    <a:bodyPr/>
                    <a:lstStyle/>
                    <a:p>
                      <a:r>
                        <a:rPr sz="1000" b="0" i="0">
                          <a:solidFill>
                            <a:srgbClr val="222222"/>
                          </a:solidFill>
                          <a:latin typeface="Calibri"/>
                        </a:rPr>
                        <a:t>clock_digital.jpg</a:t>
                      </a:r>
                    </a:p>
                  </a:txBody>
                  <a:tcPr marL="73152" marR="73152" marT="18288" marB="18288">
                    <a:solidFill>
                      <a:srgbClr val="FFFFFF"/>
                    </a:solidFill>
                  </a:tcPr>
                </a:tc>
                <a:tc>
                  <a:txBody>
                    <a:bodyPr/>
                    <a:lstStyle/>
                    <a:p>
                      <a:r>
                        <a:rPr sz="1000" b="0" i="0">
                          <a:solidFill>
                            <a:srgbClr val="222222"/>
                          </a:solidFill>
                          <a:latin typeface="Calibri"/>
                        </a:rPr>
                        <a:t>CC BY-SA 4.0</a:t>
                      </a:r>
                    </a:p>
                  </a:txBody>
                  <a:tcPr marL="73152" marR="73152" marT="18288" marB="18288">
                    <a:solidFill>
                      <a:srgbClr val="FFFFFF"/>
                    </a:solidFill>
                  </a:tcPr>
                </a:tc>
                <a:tc>
                  <a:txBody>
                    <a:bodyPr/>
                    <a:lstStyle/>
                    <a:p>
                      <a:r>
                        <a:rPr sz="1000" b="0" i="0">
                          <a:solidFill>
                            <a:srgbClr val="222222"/>
                          </a:solidFill>
                          <a:latin typeface="Calibri"/>
                        </a:rPr>
                        <a:t>Tbatb  ·  https://commons.wikimedia.org/wiki/File:A_digital_alarm_clock_in_Glasgow.jpg</a:t>
                      </a:r>
                    </a:p>
                  </a:txBody>
                  <a:tcPr marL="73152" marR="73152" marT="18288" marB="18288">
                    <a:solidFill>
                      <a:srgbClr val="FFFFFF"/>
                    </a:solidFill>
                  </a:tcPr>
                </a:tc>
              </a:tr>
              <a:tr h="443484">
                <a:tc>
                  <a:txBody>
                    <a:bodyPr/>
                    <a:lstStyle/>
                    <a:p>
                      <a:r>
                        <a:rPr sz="1000" b="0" i="0">
                          <a:solidFill>
                            <a:srgbClr val="222222"/>
                          </a:solidFill>
                          <a:latin typeface="Calibri"/>
                        </a:rPr>
                        <a:t>15</a:t>
                      </a:r>
                    </a:p>
                  </a:txBody>
                  <a:tcPr marL="73152" marR="73152" marT="18288" marB="18288">
                    <a:solidFill>
                      <a:srgbClr val="FFFFFF"/>
                    </a:solidFill>
                  </a:tcPr>
                </a:tc>
                <a:tc>
                  <a:txBody>
                    <a:bodyPr/>
                    <a:lstStyle/>
                    <a:p>
                      <a:r>
                        <a:rPr sz="1000" b="0" i="0">
                          <a:solidFill>
                            <a:srgbClr val="222222"/>
                          </a:solidFill>
                          <a:latin typeface="Calibri"/>
                        </a:rPr>
                        <a:t>A phone showing the time</a:t>
                      </a:r>
                    </a:p>
                  </a:txBody>
                  <a:tcPr marL="73152" marR="73152" marT="18288" marB="18288">
                    <a:solidFill>
                      <a:srgbClr val="FFFFFF"/>
                    </a:solidFill>
                  </a:tcPr>
                </a:tc>
                <a:tc>
                  <a:txBody>
                    <a:bodyPr/>
                    <a:lstStyle/>
                    <a:p>
                      <a:r>
                        <a:rPr sz="1000" b="0" i="0">
                          <a:solidFill>
                            <a:srgbClr val="222222"/>
                          </a:solidFill>
                          <a:latin typeface="Calibri"/>
                        </a:rPr>
                        <a:t>clock_phone.jpg</a:t>
                      </a:r>
                    </a:p>
                  </a:txBody>
                  <a:tcPr marL="73152" marR="73152" marT="18288" marB="18288">
                    <a:solidFill>
                      <a:srgbClr val="FFFFFF"/>
                    </a:solidFill>
                  </a:tcPr>
                </a:tc>
                <a:tc>
                  <a:txBody>
                    <a:bodyPr/>
                    <a:lstStyle/>
                    <a:p>
                      <a:r>
                        <a:rPr sz="1000" b="0" i="0">
                          <a:solidFill>
                            <a:srgbClr val="222222"/>
                          </a:solidFill>
                          <a:latin typeface="Calibri"/>
                        </a:rPr>
                        <a:t>Author's own screenshot; the interface shown is Apple's</a:t>
                      </a:r>
                    </a:p>
                  </a:txBody>
                  <a:tcPr marL="73152" marR="73152" marT="18288" marB="18288">
                    <a:solidFill>
                      <a:srgbClr val="FFFFFF"/>
                    </a:solidFill>
                  </a:tcPr>
                </a:tc>
                <a:tc>
                  <a:txBody>
                    <a:bodyPr/>
                    <a:lstStyle/>
                    <a:p>
                      <a:r>
                        <a:rPr sz="1000" b="0" i="0">
                          <a:solidFill>
                            <a:srgbClr val="222222"/>
                          </a:solidFill>
                          <a:latin typeface="Calibri"/>
                        </a:rPr>
                        <a:t>Jon Willits — own screenshot  ·  own work</a:t>
                      </a:r>
                    </a:p>
                  </a:txBody>
                  <a:tcPr marL="73152" marR="73152" marT="18288" marB="18288">
                    <a:solidFill>
                      <a:srgbClr val="FFFFFF"/>
                    </a:solidFill>
                  </a:tcPr>
                </a:tc>
              </a:tr>
              <a:tr h="443484">
                <a:tc>
                  <a:txBody>
                    <a:bodyPr/>
                    <a:lstStyle/>
                    <a:p>
                      <a:r>
                        <a:rPr sz="1000" b="0" i="0">
                          <a:solidFill>
                            <a:srgbClr val="222222"/>
                          </a:solidFill>
                          <a:latin typeface="Calibri"/>
                        </a:rPr>
                        <a:t>15</a:t>
                      </a:r>
                    </a:p>
                  </a:txBody>
                  <a:tcPr marL="73152" marR="73152" marT="18288" marB="18288">
                    <a:solidFill>
                      <a:srgbClr val="FFFFFF"/>
                    </a:solidFill>
                  </a:tcPr>
                </a:tc>
                <a:tc>
                  <a:txBody>
                    <a:bodyPr/>
                    <a:lstStyle/>
                    <a:p>
                      <a:r>
                        <a:rPr sz="1000" b="0" i="0">
                          <a:solidFill>
                            <a:srgbClr val="222222"/>
                          </a:solidFill>
                          <a:latin typeface="Calibri"/>
                        </a:rPr>
                        <a:t>One property, many realizations</a:t>
                      </a:r>
                    </a:p>
                  </a:txBody>
                  <a:tcPr marL="73152" marR="73152" marT="18288" marB="18288">
                    <a:solidFill>
                      <a:srgbClr val="FFFFFF"/>
                    </a:solidFill>
                  </a:tcPr>
                </a:tc>
                <a:tc>
                  <a:txBody>
                    <a:bodyPr/>
                    <a:lstStyle/>
                    <a:p>
                      <a:r>
                        <a:rPr sz="1000" b="0" i="0">
                          <a:solidFill>
                            <a:srgbClr val="222222"/>
                          </a:solidFill>
                          <a:latin typeface="Calibri"/>
                        </a:rPr>
                        <a:t>fig-multiple-realizability.png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figure from the Module 1 reading  ·  own work</a:t>
                      </a:r>
                    </a:p>
                  </a:txBody>
                  <a:tcPr marL="73152" marR="73152" marT="18288" marB="18288">
                    <a:solidFill>
                      <a:srgbClr val="FFFFFF"/>
                    </a:solidFill>
                  </a:tcPr>
                </a:tc>
              </a:tr>
              <a:tr h="443484">
                <a:tc>
                  <a:txBody>
                    <a:bodyPr/>
                    <a:lstStyle/>
                    <a:p>
                      <a:r>
                        <a:rPr sz="1000" b="0" i="0">
                          <a:solidFill>
                            <a:srgbClr val="222222"/>
                          </a:solidFill>
                          <a:latin typeface="Calibri"/>
                        </a:rPr>
                        <a:t>20</a:t>
                      </a:r>
                    </a:p>
                  </a:txBody>
                  <a:tcPr marL="73152" marR="73152" marT="18288" marB="18288">
                    <a:solidFill>
                      <a:srgbClr val="FFFFFF"/>
                    </a:solidFill>
                  </a:tcPr>
                </a:tc>
                <a:tc>
                  <a:txBody>
                    <a:bodyPr/>
                    <a:lstStyle/>
                    <a:p>
                      <a:r>
                        <a:rPr sz="1000" b="0" i="0">
                          <a:solidFill>
                            <a:srgbClr val="222222"/>
                          </a:solidFill>
                          <a:latin typeface="Calibri"/>
                        </a:rPr>
                        <a:t>The positions as answers to four questions</a:t>
                      </a:r>
                    </a:p>
                  </a:txBody>
                  <a:tcPr marL="73152" marR="73152" marT="18288" marB="18288">
                    <a:solidFill>
                      <a:srgbClr val="FFFFFF"/>
                    </a:solidFill>
                  </a:tcPr>
                </a:tc>
                <a:tc>
                  <a:txBody>
                    <a:bodyPr/>
                    <a:lstStyle/>
                    <a:p>
                      <a:r>
                        <a:rPr sz="1000" b="0" i="0">
                          <a:solidFill>
                            <a:srgbClr val="222222"/>
                          </a:solidFill>
                          <a:latin typeface="Calibri"/>
                        </a:rPr>
                        <a:t>fig-position-tree.png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figure from the Module 1 reading  ·  own work</a:t>
                      </a:r>
                    </a:p>
                  </a:txBody>
                  <a:tcPr marL="73152" marR="73152" marT="18288" marB="18288">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